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8" r:id="rId2"/>
  </p:sldMasterIdLst>
  <p:notesMasterIdLst>
    <p:notesMasterId r:id="rId17"/>
  </p:notesMasterIdLst>
  <p:handoutMasterIdLst>
    <p:handoutMasterId r:id="rId18"/>
  </p:handoutMasterIdLst>
  <p:sldIdLst>
    <p:sldId id="256" r:id="rId3"/>
    <p:sldId id="330" r:id="rId4"/>
    <p:sldId id="324" r:id="rId5"/>
    <p:sldId id="326" r:id="rId6"/>
    <p:sldId id="327" r:id="rId7"/>
    <p:sldId id="328" r:id="rId8"/>
    <p:sldId id="318" r:id="rId9"/>
    <p:sldId id="319" r:id="rId10"/>
    <p:sldId id="322" r:id="rId11"/>
    <p:sldId id="323" r:id="rId12"/>
    <p:sldId id="311" r:id="rId13"/>
    <p:sldId id="313" r:id="rId14"/>
    <p:sldId id="316" r:id="rId15"/>
    <p:sldId id="317" r:id="rId16"/>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F0F4C2-C28D-4D40-9616-20E2E07D3462}" v="15" dt="2025-12-02T03:20:00.2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42" autoAdjust="0"/>
    <p:restoredTop sz="86797" autoAdjust="0"/>
  </p:normalViewPr>
  <p:slideViewPr>
    <p:cSldViewPr>
      <p:cViewPr varScale="1">
        <p:scale>
          <a:sx n="71" d="100"/>
          <a:sy n="71" d="100"/>
        </p:scale>
        <p:origin x="2045" y="62"/>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delMainMaster">
      <pc:chgData name="Zonghua Gu" userId="9a7e1853e1951ef5" providerId="LiveId" clId="{CF1FAA12-072C-4ED5-BA76-0FFFAEFDB88A}" dt="2025-12-02T03:50:26.238" v="313" actId="20577"/>
      <pc:docMkLst>
        <pc:docMk/>
      </pc:docMkLst>
      <pc:sldChg chg="modSp mod">
        <pc:chgData name="Zonghua Gu" userId="9a7e1853e1951ef5" providerId="LiveId" clId="{CF1FAA12-072C-4ED5-BA76-0FFFAEFDB88A}" dt="2025-12-02T03:50:26.238" v="313" actId="20577"/>
        <pc:sldMkLst>
          <pc:docMk/>
          <pc:sldMk cId="1227639730" sldId="256"/>
        </pc:sldMkLst>
        <pc:spChg chg="mod">
          <ac:chgData name="Zonghua Gu" userId="9a7e1853e1951ef5" providerId="LiveId" clId="{CF1FAA12-072C-4ED5-BA76-0FFFAEFDB88A}" dt="2025-12-02T03:50:26.238" v="313" actId="20577"/>
          <ac:spMkLst>
            <pc:docMk/>
            <pc:sldMk cId="1227639730" sldId="256"/>
            <ac:spMk id="5" creationId="{00000000-0000-0000-0000-000000000000}"/>
          </ac:spMkLst>
        </pc:spChg>
      </pc:sldChg>
      <pc:sldChg chg="modSp mod">
        <pc:chgData name="Zonghua Gu" userId="9a7e1853e1951ef5" providerId="LiveId" clId="{CF1FAA12-072C-4ED5-BA76-0FFFAEFDB88A}" dt="2025-12-02T02:47:08.946" v="153" actId="6549"/>
        <pc:sldMkLst>
          <pc:docMk/>
          <pc:sldMk cId="2231599014" sldId="313"/>
        </pc:sldMkLst>
        <pc:spChg chg="mod">
          <ac:chgData name="Zonghua Gu" userId="9a7e1853e1951ef5" providerId="LiveId" clId="{CF1FAA12-072C-4ED5-BA76-0FFFAEFDB88A}" dt="2025-12-02T02:43:44.219" v="148" actId="27636"/>
          <ac:spMkLst>
            <pc:docMk/>
            <pc:sldMk cId="2231599014" sldId="313"/>
            <ac:spMk id="4" creationId="{00000000-0000-0000-0000-000000000000}"/>
          </ac:spMkLst>
        </pc:spChg>
        <pc:spChg chg="mod">
          <ac:chgData name="Zonghua Gu" userId="9a7e1853e1951ef5" providerId="LiveId" clId="{CF1FAA12-072C-4ED5-BA76-0FFFAEFDB88A}" dt="2025-12-02T02:47:08.946" v="153" actId="6549"/>
          <ac:spMkLst>
            <pc:docMk/>
            <pc:sldMk cId="2231599014" sldId="313"/>
            <ac:spMk id="9" creationId="{00000000-0000-0000-0000-000000000000}"/>
          </ac:spMkLst>
        </pc:spChg>
      </pc:sldChg>
      <pc:sldChg chg="del">
        <pc:chgData name="Zonghua Gu" userId="9a7e1853e1951ef5" providerId="LiveId" clId="{CF1FAA12-072C-4ED5-BA76-0FFFAEFDB88A}" dt="2025-12-02T02:30:56.181" v="139" actId="47"/>
        <pc:sldMkLst>
          <pc:docMk/>
          <pc:sldMk cId="380073498" sldId="314"/>
        </pc:sldMkLst>
      </pc:sldChg>
      <pc:sldChg chg="add del">
        <pc:chgData name="Zonghua Gu" userId="9a7e1853e1951ef5" providerId="LiveId" clId="{CF1FAA12-072C-4ED5-BA76-0FFFAEFDB88A}" dt="2025-12-02T02:41:06.491" v="140" actId="47"/>
        <pc:sldMkLst>
          <pc:docMk/>
          <pc:sldMk cId="931078930" sldId="315"/>
        </pc:sldMkLst>
      </pc:sldChg>
      <pc:sldChg chg="modSp add mod">
        <pc:chgData name="Zonghua Gu" userId="9a7e1853e1951ef5" providerId="LiveId" clId="{CF1FAA12-072C-4ED5-BA76-0FFFAEFDB88A}" dt="2025-12-02T02:30:28.954" v="138" actId="27636"/>
        <pc:sldMkLst>
          <pc:docMk/>
          <pc:sldMk cId="711508281" sldId="316"/>
        </pc:sldMkLst>
        <pc:spChg chg="mod">
          <ac:chgData name="Zonghua Gu" userId="9a7e1853e1951ef5" providerId="LiveId" clId="{CF1FAA12-072C-4ED5-BA76-0FFFAEFDB88A}" dt="2025-12-02T02:30:28.954" v="138" actId="27636"/>
          <ac:spMkLst>
            <pc:docMk/>
            <pc:sldMk cId="711508281" sldId="316"/>
            <ac:spMk id="4" creationId="{306AF55F-06A9-F112-5FB4-9B7BF0166B2C}"/>
          </ac:spMkLst>
        </pc:spChg>
      </pc:sldChg>
      <pc:sldChg chg="modSp add mod">
        <pc:chgData name="Zonghua Gu" userId="9a7e1853e1951ef5" providerId="LiveId" clId="{CF1FAA12-072C-4ED5-BA76-0FFFAEFDB88A}" dt="2025-12-02T02:47:21.650" v="155"/>
        <pc:sldMkLst>
          <pc:docMk/>
          <pc:sldMk cId="1263936613" sldId="317"/>
        </pc:sldMkLst>
        <pc:spChg chg="mod">
          <ac:chgData name="Zonghua Gu" userId="9a7e1853e1951ef5" providerId="LiveId" clId="{CF1FAA12-072C-4ED5-BA76-0FFFAEFDB88A}" dt="2025-12-02T02:47:21.650" v="155"/>
          <ac:spMkLst>
            <pc:docMk/>
            <pc:sldMk cId="1263936613" sldId="317"/>
            <ac:spMk id="2" creationId="{80381413-78DE-49B8-B0C8-1A5AEBD8A8DF}"/>
          </ac:spMkLst>
        </pc:spChg>
      </pc:sldChg>
      <pc:sldChg chg="modSp">
        <pc:chgData name="Zonghua Gu" userId="9a7e1853e1951ef5" providerId="LiveId" clId="{CF1FAA12-072C-4ED5-BA76-0FFFAEFDB88A}" dt="2025-12-02T02:54:45.482" v="191" actId="20577"/>
        <pc:sldMkLst>
          <pc:docMk/>
          <pc:sldMk cId="2889144330" sldId="319"/>
        </pc:sldMkLst>
        <pc:spChg chg="mod">
          <ac:chgData name="Zonghua Gu" userId="9a7e1853e1951ef5" providerId="LiveId" clId="{CF1FAA12-072C-4ED5-BA76-0FFFAEFDB88A}" dt="2025-12-02T02:54:45.482" v="191" actId="20577"/>
          <ac:spMkLst>
            <pc:docMk/>
            <pc:sldMk cId="2889144330" sldId="319"/>
            <ac:spMk id="9" creationId="{00000000-0000-0000-0000-000000000000}"/>
          </ac:spMkLst>
        </pc:spChg>
      </pc:sldChg>
      <pc:sldChg chg="add del">
        <pc:chgData name="Zonghua Gu" userId="9a7e1853e1951ef5" providerId="LiveId" clId="{CF1FAA12-072C-4ED5-BA76-0FFFAEFDB88A}" dt="2025-12-02T02:41:06.491" v="140" actId="47"/>
        <pc:sldMkLst>
          <pc:docMk/>
          <pc:sldMk cId="3414502414" sldId="320"/>
        </pc:sldMkLst>
      </pc:sldChg>
      <pc:sldChg chg="modSp mod">
        <pc:chgData name="Zonghua Gu" userId="9a7e1853e1951ef5" providerId="LiveId" clId="{CF1FAA12-072C-4ED5-BA76-0FFFAEFDB88A}" dt="2025-12-02T03:20:18.634" v="295" actId="20577"/>
        <pc:sldMkLst>
          <pc:docMk/>
          <pc:sldMk cId="4107115112" sldId="323"/>
        </pc:sldMkLst>
        <pc:spChg chg="mod">
          <ac:chgData name="Zonghua Gu" userId="9a7e1853e1951ef5" providerId="LiveId" clId="{CF1FAA12-072C-4ED5-BA76-0FFFAEFDB88A}" dt="2025-12-02T03:20:18.634" v="295" actId="20577"/>
          <ac:spMkLst>
            <pc:docMk/>
            <pc:sldMk cId="4107115112" sldId="323"/>
            <ac:spMk id="4" creationId="{00000000-0000-0000-0000-000000000000}"/>
          </ac:spMkLst>
        </pc:spChg>
        <pc:spChg chg="mod">
          <ac:chgData name="Zonghua Gu" userId="9a7e1853e1951ef5" providerId="LiveId" clId="{CF1FAA12-072C-4ED5-BA76-0FFFAEFDB88A}" dt="2025-12-02T03:00:15.552" v="267" actId="1076"/>
          <ac:spMkLst>
            <pc:docMk/>
            <pc:sldMk cId="4107115112" sldId="323"/>
            <ac:spMk id="5" creationId="{00000000-0000-0000-0000-000000000000}"/>
          </ac:spMkLst>
        </pc:spChg>
        <pc:spChg chg="mod">
          <ac:chgData name="Zonghua Gu" userId="9a7e1853e1951ef5" providerId="LiveId" clId="{CF1FAA12-072C-4ED5-BA76-0FFFAEFDB88A}" dt="2025-12-02T03:00:15.552" v="267" actId="1076"/>
          <ac:spMkLst>
            <pc:docMk/>
            <pc:sldMk cId="4107115112" sldId="323"/>
            <ac:spMk id="10" creationId="{00000000-0000-0000-0000-000000000000}"/>
          </ac:spMkLst>
        </pc:spChg>
      </pc:sldChg>
      <pc:sldChg chg="modSp mod">
        <pc:chgData name="Zonghua Gu" userId="9a7e1853e1951ef5" providerId="LiveId" clId="{CF1FAA12-072C-4ED5-BA76-0FFFAEFDB88A}" dt="2025-12-02T02:51:52.477" v="157" actId="20577"/>
        <pc:sldMkLst>
          <pc:docMk/>
          <pc:sldMk cId="1063495253" sldId="326"/>
        </pc:sldMkLst>
        <pc:spChg chg="mod">
          <ac:chgData name="Zonghua Gu" userId="9a7e1853e1951ef5" providerId="LiveId" clId="{CF1FAA12-072C-4ED5-BA76-0FFFAEFDB88A}" dt="2025-12-02T02:51:52.477" v="157" actId="20577"/>
          <ac:spMkLst>
            <pc:docMk/>
            <pc:sldMk cId="1063495253" sldId="326"/>
            <ac:spMk id="4" creationId="{00000000-0000-0000-0000-000000000000}"/>
          </ac:spMkLst>
        </pc:spChg>
      </pc:sldChg>
      <pc:sldChg chg="modSp del mod">
        <pc:chgData name="Zonghua Gu" userId="9a7e1853e1951ef5" providerId="LiveId" clId="{CF1FAA12-072C-4ED5-BA76-0FFFAEFDB88A}" dt="2025-12-02T03:22:08.710" v="296" actId="47"/>
        <pc:sldMkLst>
          <pc:docMk/>
          <pc:sldMk cId="4123800152" sldId="329"/>
        </pc:sldMkLst>
        <pc:spChg chg="mod">
          <ac:chgData name="Zonghua Gu" userId="9a7e1853e1951ef5" providerId="LiveId" clId="{CF1FAA12-072C-4ED5-BA76-0FFFAEFDB88A}" dt="2025-12-02T02:54:13.908" v="188" actId="20577"/>
          <ac:spMkLst>
            <pc:docMk/>
            <pc:sldMk cId="4123800152" sldId="329"/>
            <ac:spMk id="2" creationId="{1107FB9E-3835-5619-671A-69C59CA82F57}"/>
          </ac:spMkLst>
        </pc:spChg>
      </pc:sldChg>
      <pc:sldChg chg="addSp modSp add">
        <pc:chgData name="Zonghua Gu" userId="9a7e1853e1951ef5" providerId="LiveId" clId="{CF1FAA12-072C-4ED5-BA76-0FFFAEFDB88A}" dt="2025-12-02T02:30:28.845" v="137"/>
        <pc:sldMkLst>
          <pc:docMk/>
          <pc:sldMk cId="3877779242" sldId="330"/>
        </pc:sldMkLst>
        <pc:spChg chg="add mod">
          <ac:chgData name="Zonghua Gu" userId="9a7e1853e1951ef5" providerId="LiveId" clId="{CF1FAA12-072C-4ED5-BA76-0FFFAEFDB88A}" dt="2025-12-02T02:30:28.845" v="137"/>
          <ac:spMkLst>
            <pc:docMk/>
            <pc:sldMk cId="3877779242" sldId="330"/>
            <ac:spMk id="2" creationId="{16E97F0F-FB59-0BA9-A773-9E1AD66DA5B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12/1/2025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12/1/2025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282291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4</a:t>
            </a:fld>
            <a:endParaRPr lang="en-US">
              <a:solidFill>
                <a:prstClr val="black"/>
              </a:solidFill>
              <a:latin typeface="Calibri"/>
            </a:endParaRPr>
          </a:p>
        </p:txBody>
      </p:sp>
    </p:spTree>
    <p:extLst>
      <p:ext uri="{BB962C8B-B14F-4D97-AF65-F5344CB8AC3E}">
        <p14:creationId xmlns:p14="http://schemas.microsoft.com/office/powerpoint/2010/main" val="3245090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5</a:t>
            </a:fld>
            <a:endParaRPr lang="en-US">
              <a:solidFill>
                <a:prstClr val="black"/>
              </a:solidFill>
              <a:latin typeface="Calibri"/>
            </a:endParaRPr>
          </a:p>
        </p:txBody>
      </p:sp>
    </p:spTree>
    <p:extLst>
      <p:ext uri="{BB962C8B-B14F-4D97-AF65-F5344CB8AC3E}">
        <p14:creationId xmlns:p14="http://schemas.microsoft.com/office/powerpoint/2010/main" val="769705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6</a:t>
            </a:fld>
            <a:endParaRPr lang="en-US">
              <a:solidFill>
                <a:prstClr val="black"/>
              </a:solidFill>
              <a:latin typeface="Calibri"/>
            </a:endParaRPr>
          </a:p>
        </p:txBody>
      </p:sp>
    </p:spTree>
    <p:extLst>
      <p:ext uri="{BB962C8B-B14F-4D97-AF65-F5344CB8AC3E}">
        <p14:creationId xmlns:p14="http://schemas.microsoft.com/office/powerpoint/2010/main" val="912428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Since each timer interrupt triggers an ISR software execution, timer interrupt frequency should not be higher than 1KHz. </a:t>
            </a:r>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3183069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12/1/2025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12/1/2025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12/1/2025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12/1/2025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12/1/2025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12/1/2025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12/1/2025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12/1/2025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12/1/2025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12/1/2025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12/1/2025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12/1/2025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12/1/2025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12/1/2025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12/1/2025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12/1/2025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0.png"/><Relationship Id="rId7" Type="http://schemas.openxmlformats.org/officeDocument/2006/relationships/image" Target="../media/image140.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41.png"/><Relationship Id="rId5" Type="http://schemas.openxmlformats.org/officeDocument/2006/relationships/image" Target="../media/image120.png"/><Relationship Id="rId4" Type="http://schemas.openxmlformats.org/officeDocument/2006/relationships/image" Target="../media/image110.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5.xml"/><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2025</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923330"/>
          </a:xfrm>
          <a:prstGeom prst="rect">
            <a:avLst/>
          </a:prstGeom>
          <a:noFill/>
        </p:spPr>
        <p:txBody>
          <a:bodyPr wrap="square" rtlCol="0">
            <a:spAutoFit/>
          </a:bodyPr>
          <a:lstStyle/>
          <a:p>
            <a:pPr algn="r" defTabSz="685800"/>
            <a:r>
              <a:rPr lang="en-US" b="1">
                <a:solidFill>
                  <a:srgbClr val="C00000"/>
                </a:solidFill>
                <a:latin typeface="Gill Sans MT"/>
              </a:rPr>
              <a:t>Chapter 16</a:t>
            </a:r>
            <a:endParaRPr lang="en-US" b="1" dirty="0">
              <a:solidFill>
                <a:srgbClr val="C00000"/>
              </a:solidFill>
              <a:latin typeface="Gill Sans MT"/>
            </a:endParaRPr>
          </a:p>
          <a:p>
            <a:pPr algn="r" defTabSz="685800"/>
            <a:r>
              <a:rPr lang="en-US" b="1" dirty="0">
                <a:solidFill>
                  <a:srgbClr val="C00000"/>
                </a:solidFill>
                <a:latin typeface="Gill Sans MT"/>
              </a:rPr>
              <a:t>General Purpose Timer and PWM</a:t>
            </a:r>
          </a:p>
          <a:p>
            <a:pPr algn="r" defTabSz="685800"/>
            <a:r>
              <a:rPr lang="en-US" b="1" dirty="0">
                <a:solidFill>
                  <a:srgbClr val="C00000"/>
                </a:solidFill>
                <a:latin typeface="Gill Sans MT"/>
              </a:rPr>
              <a:t>Exercises ANS</a:t>
            </a: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26690" y="438811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26690" y="438811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215484"/>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215484"/>
                <a:ext cx="8229600" cy="381000"/>
              </a:xfrm>
              <a:prstGeom prst="rect">
                <a:avLst/>
              </a:prstGeom>
              <a:blipFill>
                <a:blip r:embed="rId5"/>
                <a:stretch>
                  <a:fillRect l="-370" t="-26984" b="-269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81000" y="2529260"/>
                <a:ext cx="8534400" cy="6840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num>
                        <m:den>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den>
                      </m:f>
                      <m:r>
                        <a:rPr lang="en-US" b="0" i="1" smtClean="0">
                          <a:latin typeface="Cambria Math" panose="02040503050406030204" pitchFamily="18" charset="0"/>
                          <a:ea typeface="DengXian" panose="02010600030101010101" pitchFamily="2" charset="-122"/>
                          <a:cs typeface="Times New Roman" panose="02020603050405020304" pitchFamily="18" charset="0"/>
                        </a:rPr>
                        <m:t>= </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81000" y="2529260"/>
                <a:ext cx="8534400" cy="684033"/>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69348" y="4037596"/>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1 (Low-True):</a:t>
            </a:r>
            <a:endParaRPr lang="en-US"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63051" y="3124200"/>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63051" y="3124200"/>
                <a:ext cx="8229600" cy="381000"/>
              </a:xfrm>
              <a:prstGeom prst="rect">
                <a:avLst/>
              </a:prstGeom>
              <a:blipFill>
                <a:blip r:embed="rId7"/>
                <a:stretch>
                  <a:fillRect l="-370" t="-29032" b="-27419"/>
                </a:stretch>
              </a:blipFill>
            </p:spPr>
            <p:txBody>
              <a:bodyPr/>
              <a:lstStyle/>
              <a:p>
                <a:r>
                  <a:rPr lang="en-US">
                    <a:noFill/>
                  </a:rPr>
                  <a:t> </a:t>
                </a:r>
              </a:p>
            </p:txBody>
          </p:sp>
        </mc:Fallback>
      </mc:AlternateContent>
      <p:sp>
        <p:nvSpPr>
          <p:cNvPr id="20" name="Content Placeholder 3"/>
          <p:cNvSpPr txBox="1">
            <a:spLocks/>
          </p:cNvSpPr>
          <p:nvPr/>
        </p:nvSpPr>
        <p:spPr>
          <a:xfrm>
            <a:off x="457200" y="5013207"/>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2 (High-True):</a:t>
            </a:r>
            <a:endParaRPr lang="en-US" dirty="0"/>
          </a:p>
        </p:txBody>
      </p:sp>
      <mc:AlternateContent xmlns:mc="http://schemas.openxmlformats.org/markup-compatibility/2006" xmlns:a14="http://schemas.microsoft.com/office/drawing/2010/main">
        <mc:Choice Requires="a14">
          <p:sp>
            <p:nvSpPr>
              <p:cNvPr id="21" name="Rectangle 20"/>
              <p:cNvSpPr/>
              <p:nvPr/>
            </p:nvSpPr>
            <p:spPr>
              <a:xfrm>
                <a:off x="1326690" y="534111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26690" y="534111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405843"/>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405843"/>
                <a:ext cx="8534400" cy="617092"/>
              </a:xfrm>
              <a:prstGeom prst="rect">
                <a:avLst/>
              </a:prstGeom>
              <a:blipFill>
                <a:blip r:embed="rId9"/>
                <a:stretch>
                  <a:fillRect/>
                </a:stretch>
              </a:blipFill>
            </p:spPr>
            <p:txBody>
              <a:bodyPr/>
              <a:lstStyle/>
              <a:p>
                <a:r>
                  <a:rPr lang="en-US">
                    <a:noFill/>
                  </a:rPr>
                  <a:t> </a:t>
                </a:r>
              </a:p>
            </p:txBody>
          </p:sp>
        </mc:Fallback>
      </mc:AlternateContent>
      <p:sp>
        <p:nvSpPr>
          <p:cNvPr id="2" name="Horizontal Scroll 6">
            <a:extLst>
              <a:ext uri="{FF2B5EF4-FFF2-40B4-BE49-F238E27FC236}">
                <a16:creationId xmlns:a16="http://schemas.microsoft.com/office/drawing/2014/main" id="{16E97F0F-FB59-0BA9-A773-9E1AD66DA5B3}"/>
              </a:ext>
            </a:extLst>
          </p:cNvPr>
          <p:cNvSpPr/>
          <p:nvPr/>
        </p:nvSpPr>
        <p:spPr>
          <a:xfrm>
            <a:off x="124937" y="-35721"/>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3877779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286000"/>
          </a:xfrm>
        </p:spPr>
        <p:txBody>
          <a:bodyPr>
            <a:normAutofit/>
          </a:bodyPr>
          <a:lstStyle/>
          <a:p>
            <a:pPr lvl="0">
              <a:buClr>
                <a:srgbClr val="4F81BD"/>
              </a:buClr>
            </a:pPr>
            <a:r>
              <a:rPr lang="en-US" sz="2000" dirty="0">
                <a:solidFill>
                  <a:prstClr val="black"/>
                </a:solidFill>
              </a:rPr>
              <a:t>Suppose Timer Clock </a:t>
            </a:r>
            <a:r>
              <a:rPr lang="en-US" altLang="zh-CN" sz="2000" dirty="0">
                <a:solidFill>
                  <a:prstClr val="black"/>
                </a:solidFill>
              </a:rPr>
              <a:t>Frequency</a:t>
            </a:r>
            <a:r>
              <a:rPr lang="en-US" sz="2000" dirty="0">
                <a:solidFill>
                  <a:prstClr val="black"/>
                </a:solidFill>
              </a:rPr>
              <a:t> = </a:t>
            </a:r>
            <a:r>
              <a:rPr lang="en-US" sz="2000" dirty="0">
                <a:solidFill>
                  <a:prstClr val="black"/>
                </a:solidFill>
                <a:latin typeface="Consolas" panose="020B0609020204030204" pitchFamily="49" charset="0"/>
              </a:rPr>
              <a:t>80MHz</a:t>
            </a:r>
          </a:p>
          <a:p>
            <a:r>
              <a:rPr lang="en-US" sz="2000" dirty="0"/>
              <a:t>Goal: Timer Frequency = 100Hz</a:t>
            </a:r>
          </a:p>
          <a:p>
            <a:pPr lvl="0">
              <a:buClr>
                <a:srgbClr val="4F81BD"/>
              </a:buClr>
            </a:pPr>
            <a:r>
              <a:rPr lang="en-US" sz="2000" dirty="0">
                <a:solidFill>
                  <a:prstClr val="black"/>
                </a:solidFill>
              </a:rPr>
              <a:t>What should the ARR value be for 1. up-counting </a:t>
            </a:r>
            <a:r>
              <a:rPr lang="en-US" altLang="zh-CN" sz="2000" dirty="0">
                <a:solidFill>
                  <a:prstClr val="black"/>
                </a:solidFill>
              </a:rPr>
              <a:t>mode</a:t>
            </a:r>
            <a:r>
              <a:rPr lang="en-US" sz="2000" dirty="0">
                <a:solidFill>
                  <a:prstClr val="black"/>
                </a:solidFill>
              </a:rPr>
              <a:t>; 2. down-counting mode; 3. center-aligned counting mode?</a:t>
            </a:r>
          </a:p>
        </p:txBody>
      </p:sp>
    </p:spTree>
    <p:custDataLst>
      <p:tags r:id="rId1"/>
    </p:custDataLst>
    <p:extLst>
      <p:ext uri="{BB962C8B-B14F-4D97-AF65-F5344CB8AC3E}">
        <p14:creationId xmlns:p14="http://schemas.microsoft.com/office/powerpoint/2010/main" val="27199843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 ANS</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133600"/>
          </a:xfrm>
        </p:spPr>
        <p:txBody>
          <a:bodyPr>
            <a:normAutofit/>
          </a:bodyPr>
          <a:lstStyle/>
          <a:p>
            <a:r>
              <a:rPr lang="en-US" sz="2000" dirty="0"/>
              <a:t>Suppose Timer Clock </a:t>
            </a:r>
            <a:r>
              <a:rPr lang="en-US" altLang="zh-CN" sz="2000" dirty="0"/>
              <a:t>Frequency</a:t>
            </a:r>
            <a:r>
              <a:rPr lang="en-US" sz="2000" dirty="0"/>
              <a:t> = </a:t>
            </a:r>
            <a:r>
              <a:rPr lang="en-US" sz="2000" dirty="0">
                <a:latin typeface="Consolas" panose="020B0609020204030204" pitchFamily="49" charset="0"/>
              </a:rPr>
              <a:t>80MHz</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
        <p:nvSpPr>
          <p:cNvPr id="10" name="TextBox 9"/>
          <p:cNvSpPr txBox="1"/>
          <p:nvPr/>
        </p:nvSpPr>
        <p:spPr>
          <a:xfrm>
            <a:off x="706079" y="5050303"/>
            <a:ext cx="7980400" cy="1200329"/>
          </a:xfrm>
          <a:prstGeom prst="rect">
            <a:avLst/>
          </a:prstGeom>
          <a:noFill/>
        </p:spPr>
        <p:txBody>
          <a:bodyPr wrap="square" rtlCol="0">
            <a:spAutoFit/>
          </a:bodyPr>
          <a:lstStyle/>
          <a:p>
            <a:r>
              <a:rPr lang="en-US" dirty="0"/>
              <a:t>But a 16-bit ARR register has value range of [0, 65535], so ARR value of 799999 or 400000 is out of range </a:t>
            </a:r>
            <a:r>
              <a:rPr lang="en-US" dirty="0">
                <a:sym typeface="Wingdings" panose="05000000000000000000" pitchFamily="2" charset="2"/>
              </a:rPr>
              <a:t> cannot generate a 10ms timer from a 80MHz Timer Clock!</a:t>
            </a:r>
            <a:endParaRPr lang="en-US" dirty="0"/>
          </a:p>
          <a:p>
            <a:r>
              <a:rPr lang="en-US" dirty="0"/>
              <a:t>Solution: use </a:t>
            </a:r>
            <a:r>
              <a:rPr lang="en-US" dirty="0" err="1"/>
              <a:t>prescaler</a:t>
            </a:r>
            <a:r>
              <a:rPr lang="en-US" dirty="0"/>
              <a:t> (PSC) to reduce Timer Clock Frequency</a:t>
            </a:r>
          </a:p>
        </p:txBody>
      </p:sp>
      <p:sp>
        <p:nvSpPr>
          <p:cNvPr id="11" name="Rectangle 10"/>
          <p:cNvSpPr/>
          <p:nvPr/>
        </p:nvSpPr>
        <p:spPr>
          <a:xfrm>
            <a:off x="374209" y="3212068"/>
            <a:ext cx="4273991" cy="369332"/>
          </a:xfrm>
          <a:prstGeom prst="rect">
            <a:avLst/>
          </a:prstGeom>
        </p:spPr>
        <p:txBody>
          <a:bodyPr wrap="none">
            <a:spAutoFit/>
          </a:bodyPr>
          <a:lstStyle/>
          <a:p>
            <a:r>
              <a:rPr lang="en-US" altLang="zh-CN" dirty="0"/>
              <a:t>For </a:t>
            </a:r>
            <a:r>
              <a:rPr lang="en-US" dirty="0"/>
              <a:t>up-counting or down-counting mode: </a:t>
            </a:r>
          </a:p>
        </p:txBody>
      </p:sp>
      <p:sp>
        <p:nvSpPr>
          <p:cNvPr id="12" name="Rectangle 11"/>
          <p:cNvSpPr/>
          <p:nvPr/>
        </p:nvSpPr>
        <p:spPr>
          <a:xfrm>
            <a:off x="4623456" y="3212068"/>
            <a:ext cx="3429016" cy="369332"/>
          </a:xfrm>
          <a:prstGeom prst="rect">
            <a:avLst/>
          </a:prstGeom>
        </p:spPr>
        <p:txBody>
          <a:bodyPr wrap="none">
            <a:spAutoFit/>
          </a:bodyPr>
          <a:lstStyle/>
          <a:p>
            <a:r>
              <a:rPr lang="en-US" altLang="zh-CN" dirty="0"/>
              <a:t>For </a:t>
            </a:r>
            <a:r>
              <a:rPr lang="en-US" dirty="0"/>
              <a:t>center-aligned counting mode: </a:t>
            </a:r>
          </a:p>
        </p:txBody>
      </p:sp>
      <mc:AlternateContent xmlns:mc="http://schemas.openxmlformats.org/markup-compatibility/2006" xmlns:a14="http://schemas.microsoft.com/office/drawing/2010/main">
        <mc:Choice Requires="a14">
          <p:sp>
            <p:nvSpPr>
              <p:cNvPr id="13" name="Rectangle 12"/>
              <p:cNvSpPr/>
              <p:nvPr/>
            </p:nvSpPr>
            <p:spPr>
              <a:xfrm>
                <a:off x="319596" y="3733800"/>
                <a:ext cx="4075218"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80</m:t>
                          </m:r>
                          <m:r>
                            <a:rPr lang="en-US" i="1">
                              <a:latin typeface="Cambria Math" panose="02040503050406030204" pitchFamily="18" charset="0"/>
                            </a:rPr>
                            <m:t>𝑀𝐻𝑧</m:t>
                          </m:r>
                        </m:num>
                        <m:den>
                          <m:r>
                            <a:rPr lang="en-US" b="0" i="1" smtClean="0">
                              <a:latin typeface="Cambria Math" panose="02040503050406030204" pitchFamily="18" charset="0"/>
                            </a:rPr>
                            <m:t>𝐴𝑅𝑅</m:t>
                          </m:r>
                          <m:r>
                            <a:rPr lang="en-US" i="1">
                              <a:latin typeface="Cambria Math" panose="02040503050406030204" pitchFamily="18" charset="0"/>
                            </a:rPr>
                            <m:t>+1</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3" name="Rectangle 12"/>
              <p:cNvSpPr>
                <a:spLocks noRot="1" noChangeAspect="1" noMove="1" noResize="1" noEditPoints="1" noAdjustHandles="1" noChangeArrowheads="1" noChangeShapeType="1" noTextEdit="1"/>
              </p:cNvSpPr>
              <p:nvPr/>
            </p:nvSpPr>
            <p:spPr>
              <a:xfrm>
                <a:off x="319596" y="3733800"/>
                <a:ext cx="4075218" cy="6235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19596" y="4510364"/>
                <a:ext cx="17671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=799999</m:t>
                      </m:r>
                    </m:oMath>
                  </m:oMathPara>
                </a14:m>
                <a:endParaRPr lang="en-US" i="1" dirty="0"/>
              </a:p>
            </p:txBody>
          </p:sp>
        </mc:Choice>
        <mc:Fallback xmlns="">
          <p:sp>
            <p:nvSpPr>
              <p:cNvPr id="14" name="Rectangle 13"/>
              <p:cNvSpPr>
                <a:spLocks noRot="1" noChangeAspect="1" noMove="1" noResize="1" noEditPoints="1" noAdjustHandles="1" noChangeArrowheads="1" noChangeShapeType="1" noTextEdit="1"/>
              </p:cNvSpPr>
              <p:nvPr/>
            </p:nvSpPr>
            <p:spPr>
              <a:xfrm>
                <a:off x="319596" y="4510364"/>
                <a:ext cx="176715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611582" y="3733800"/>
                <a:ext cx="4074897"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80</m:t>
                          </m:r>
                          <m:r>
                            <a:rPr lang="en-US" i="1">
                              <a:latin typeface="Cambria Math" panose="02040503050406030204" pitchFamily="18" charset="0"/>
                            </a:rPr>
                            <m:t>𝑀𝐻𝑧</m:t>
                          </m:r>
                        </m:num>
                        <m:den>
                          <m:r>
                            <a:rPr lang="en-US" b="0" i="1" smtClean="0">
                              <a:latin typeface="Cambria Math" panose="02040503050406030204" pitchFamily="18" charset="0"/>
                            </a:rPr>
                            <m:t>2∗</m:t>
                          </m:r>
                          <m:r>
                            <a:rPr lang="en-US" b="0" i="1" smtClean="0">
                              <a:latin typeface="Cambria Math" panose="02040503050406030204" pitchFamily="18" charset="0"/>
                            </a:rPr>
                            <m:t>𝐴𝑅𝑅</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5" name="Rectangle 14"/>
              <p:cNvSpPr>
                <a:spLocks noRot="1" noChangeAspect="1" noMove="1" noResize="1" noEditPoints="1" noAdjustHandles="1" noChangeArrowheads="1" noChangeShapeType="1" noTextEdit="1"/>
              </p:cNvSpPr>
              <p:nvPr/>
            </p:nvSpPr>
            <p:spPr>
              <a:xfrm>
                <a:off x="4611582" y="3733800"/>
                <a:ext cx="4074897" cy="61709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11582" y="4510364"/>
                <a:ext cx="17671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=400000</m:t>
                      </m:r>
                    </m:oMath>
                  </m:oMathPara>
                </a14:m>
                <a:endParaRPr lang="en-US" i="1" dirty="0"/>
              </a:p>
            </p:txBody>
          </p:sp>
        </mc:Choice>
        <mc:Fallback xmlns="">
          <p:sp>
            <p:nvSpPr>
              <p:cNvPr id="16" name="Rectangle 15"/>
              <p:cNvSpPr>
                <a:spLocks noRot="1" noChangeAspect="1" noMove="1" noResize="1" noEditPoints="1" noAdjustHandles="1" noChangeArrowheads="1" noChangeShapeType="1" noTextEdit="1"/>
              </p:cNvSpPr>
              <p:nvPr/>
            </p:nvSpPr>
            <p:spPr>
              <a:xfrm>
                <a:off x="4611582" y="4510364"/>
                <a:ext cx="1767150" cy="369332"/>
              </a:xfrm>
              <a:prstGeom prst="rect">
                <a:avLst/>
              </a:prstGeom>
              <a:blipFill>
                <a:blip r:embed="rId7"/>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063495253"/>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7747672" cy="1335540"/>
          </a:xfrm>
        </p:spPr>
        <p:txBody>
          <a:bodyPr>
            <a:noAutofit/>
          </a:bodyPr>
          <a:lstStyle/>
          <a:p>
            <a:r>
              <a:rPr lang="en-US" sz="2000" dirty="0"/>
              <a:t>Suppose CPU Clock </a:t>
            </a:r>
            <a:r>
              <a:rPr lang="en-US" altLang="zh-CN" sz="2000" dirty="0"/>
              <a:t>Frequency</a:t>
            </a:r>
            <a:r>
              <a:rPr lang="en-US" sz="2000" dirty="0"/>
              <a:t> = </a:t>
            </a:r>
            <a:r>
              <a:rPr lang="en-US" sz="2000" dirty="0">
                <a:latin typeface="Consolas" panose="020B0609020204030204" pitchFamily="49" charset="0"/>
              </a:rPr>
              <a:t>80MHz, PSC=79</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Tree>
    <p:custDataLst>
      <p:tags r:id="rId1"/>
    </p:custDataLst>
    <p:extLst>
      <p:ext uri="{BB962C8B-B14F-4D97-AF65-F5344CB8AC3E}">
        <p14:creationId xmlns:p14="http://schemas.microsoft.com/office/powerpoint/2010/main" val="134236884"/>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r>
              <a:rPr lang="en-US" altLang="zh-CN" dirty="0"/>
              <a:t> ANS</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8153400" cy="1335540"/>
          </a:xfrm>
        </p:spPr>
        <p:txBody>
          <a:bodyPr>
            <a:normAutofit lnSpcReduction="10000"/>
          </a:bodyPr>
          <a:lstStyle/>
          <a:p>
            <a:r>
              <a:rPr lang="en-US" sz="1800" dirty="0"/>
              <a:t>Suppose CPU Clock </a:t>
            </a:r>
            <a:r>
              <a:rPr lang="en-US" altLang="zh-CN" sz="1800" dirty="0"/>
              <a:t>Frequency</a:t>
            </a:r>
            <a:r>
              <a:rPr lang="en-US" sz="1800" dirty="0"/>
              <a:t> = </a:t>
            </a:r>
            <a:r>
              <a:rPr lang="en-US" sz="1800" dirty="0">
                <a:latin typeface="Consolas" panose="020B0609020204030204" pitchFamily="49" charset="0"/>
              </a:rPr>
              <a:t>80MHz, </a:t>
            </a:r>
            <a:r>
              <a:rPr lang="en-US" altLang="zh-CN" sz="1800" dirty="0" err="1"/>
              <a:t>prescaler</a:t>
            </a:r>
            <a:r>
              <a:rPr lang="en-US" altLang="zh-CN" sz="1800" dirty="0"/>
              <a:t> </a:t>
            </a:r>
            <a:r>
              <a:rPr lang="en-US" sz="1800" dirty="0">
                <a:latin typeface="Consolas" panose="020B0609020204030204" pitchFamily="49" charset="0"/>
              </a:rPr>
              <a:t>PSC=79</a:t>
            </a:r>
          </a:p>
          <a:p>
            <a:r>
              <a:rPr lang="en-US" sz="1800" dirty="0"/>
              <a:t>Goal: Timer Frequency = </a:t>
            </a:r>
            <a:r>
              <a:rPr lang="en-US" sz="1800" dirty="0">
                <a:latin typeface="Consolas" panose="020B0609020204030204" pitchFamily="49" charset="0"/>
              </a:rPr>
              <a:t>100Hz</a:t>
            </a:r>
          </a:p>
          <a:p>
            <a:r>
              <a:rPr lang="en-US" sz="1800" dirty="0"/>
              <a:t>What should the ARR value be for 1. up-counting </a:t>
            </a:r>
            <a:r>
              <a:rPr lang="en-US" altLang="zh-CN" sz="1800" dirty="0"/>
              <a:t>mode</a:t>
            </a:r>
            <a:r>
              <a:rPr lang="en-US" sz="1800" dirty="0"/>
              <a:t>; 2. down-counting mode; 3. center-aligned counting mode?</a:t>
            </a:r>
          </a:p>
        </p:txBody>
      </p:sp>
      <p:sp>
        <p:nvSpPr>
          <p:cNvPr id="9" name="Rectangle 8"/>
          <p:cNvSpPr/>
          <p:nvPr/>
        </p:nvSpPr>
        <p:spPr>
          <a:xfrm>
            <a:off x="4623456" y="3212068"/>
            <a:ext cx="3429016" cy="369332"/>
          </a:xfrm>
          <a:prstGeom prst="rect">
            <a:avLst/>
          </a:prstGeom>
        </p:spPr>
        <p:txBody>
          <a:bodyPr wrap="none">
            <a:spAutoFit/>
          </a:bodyPr>
          <a:lstStyle/>
          <a:p>
            <a:r>
              <a:rPr lang="en-US" altLang="zh-CN" dirty="0"/>
              <a:t>For </a:t>
            </a:r>
            <a:r>
              <a:rPr lang="en-US" dirty="0"/>
              <a:t>center-aligned counting mode: </a:t>
            </a:r>
          </a:p>
        </p:txBody>
      </p:sp>
      <p:sp>
        <p:nvSpPr>
          <p:cNvPr id="10" name="TextBox 9"/>
          <p:cNvSpPr txBox="1"/>
          <p:nvPr/>
        </p:nvSpPr>
        <p:spPr>
          <a:xfrm>
            <a:off x="531679" y="5334000"/>
            <a:ext cx="8285200" cy="646331"/>
          </a:xfrm>
          <a:prstGeom prst="rect">
            <a:avLst/>
          </a:prstGeom>
          <a:noFill/>
        </p:spPr>
        <p:txBody>
          <a:bodyPr wrap="square" rtlCol="0">
            <a:spAutoFit/>
          </a:bodyPr>
          <a:lstStyle/>
          <a:p>
            <a:r>
              <a:rPr lang="en-US" altLang="zh-CN" dirty="0"/>
              <a:t>With </a:t>
            </a:r>
            <a:r>
              <a:rPr lang="en-US" dirty="0" err="1"/>
              <a:t>prescaler</a:t>
            </a:r>
            <a:r>
              <a:rPr lang="en-US" dirty="0"/>
              <a:t>, the ARR value of 9999 or 5000 is now within the range of 16-bit ARR register.</a:t>
            </a:r>
          </a:p>
        </p:txBody>
      </p:sp>
      <mc:AlternateContent xmlns:mc="http://schemas.openxmlformats.org/markup-compatibility/2006" xmlns:a14="http://schemas.microsoft.com/office/drawing/2010/main">
        <mc:Choice Requires="a14">
          <p:sp>
            <p:nvSpPr>
              <p:cNvPr id="11" name="Rectangle 10"/>
              <p:cNvSpPr/>
              <p:nvPr/>
            </p:nvSpPr>
            <p:spPr>
              <a:xfrm>
                <a:off x="533400" y="2378770"/>
                <a:ext cx="6400800" cy="6346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𝐹𝑟𝑒𝑞</m:t>
                          </m:r>
                          <m:r>
                            <a:rPr lang="en-US" i="1">
                              <a:solidFill>
                                <a:prstClr val="black"/>
                              </a:solidFill>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sSub>
                                <m:sSubPr>
                                  <m:ctrlPr>
                                    <a:rPr lang="en-US" i="1">
                                      <a:solidFill>
                                        <a:prstClr val="black"/>
                                      </a:solidFill>
                                      <a:latin typeface="Cambria Math" panose="02040503050406030204" pitchFamily="18" charset="0"/>
                                    </a:rPr>
                                  </m:ctrlPr>
                                </m:sSubPr>
                                <m:e>
                                  <m:r>
                                    <a:rPr lang="en-US" b="0" i="1" smtClean="0">
                                      <a:solidFill>
                                        <a:prstClr val="black"/>
                                      </a:solidFill>
                                      <a:latin typeface="Cambria Math" panose="02040503050406030204" pitchFamily="18" charset="0"/>
                                    </a:rPr>
                                    <m:t>𝐾</m:t>
                                  </m:r>
                                </m:e>
                                <m:sub>
                                  <m:r>
                                    <a:rPr lang="en-US" i="1">
                                      <a:solidFill>
                                        <a:prstClr val="black"/>
                                      </a:solidFill>
                                      <a:latin typeface="Cambria Math"/>
                                    </a:rPr>
                                    <m:t>𝑃𝑆𝐶</m:t>
                                  </m:r>
                                </m:sub>
                              </m:sSub>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r>
                        <a:rPr lang="en-US" b="0" i="1" smtClean="0">
                          <a:solidFill>
                            <a:prstClr val="black"/>
                          </a:solidFill>
                          <a:latin typeface="Cambria Math" panose="02040503050406030204" pitchFamily="18" charset="0"/>
                        </a:rPr>
                        <m:t>=</m:t>
                      </m:r>
                      <m:f>
                        <m:fPr>
                          <m:ctrlPr>
                            <a:rPr lang="en-US" b="0" i="1" smtClean="0">
                              <a:solidFill>
                                <a:prstClr val="black"/>
                              </a:solidFill>
                              <a:latin typeface="Cambria Math" panose="02040503050406030204" pitchFamily="18" charset="0"/>
                            </a:rPr>
                          </m:ctrlPr>
                        </m:fPr>
                        <m:num>
                          <m:r>
                            <a:rPr lang="en-US" b="0" i="1" smtClean="0">
                              <a:solidFill>
                                <a:prstClr val="black"/>
                              </a:solidFill>
                              <a:latin typeface="Cambria Math" panose="02040503050406030204" pitchFamily="18" charset="0"/>
                            </a:rPr>
                            <m:t>80</m:t>
                          </m:r>
                          <m:r>
                            <a:rPr lang="en-US" b="0" i="1" smtClean="0">
                              <a:solidFill>
                                <a:prstClr val="black"/>
                              </a:solidFill>
                              <a:latin typeface="Cambria Math" panose="02040503050406030204" pitchFamily="18" charset="0"/>
                            </a:rPr>
                            <m:t>𝑀𝐻𝑧</m:t>
                          </m:r>
                        </m:num>
                        <m:den>
                          <m:r>
                            <a:rPr lang="en-US" b="0" i="1" smtClean="0">
                              <a:solidFill>
                                <a:prstClr val="black"/>
                              </a:solidFill>
                              <a:latin typeface="Cambria Math" panose="02040503050406030204" pitchFamily="18" charset="0"/>
                            </a:rPr>
                            <m:t>80</m:t>
                          </m:r>
                        </m:den>
                      </m:f>
                      <m:r>
                        <a:rPr lang="en-US" b="0"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𝑀𝐻𝑧</m:t>
                      </m:r>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533400" y="2378770"/>
                <a:ext cx="6400800" cy="63466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19596" y="3733800"/>
                <a:ext cx="4075218"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𝑀𝐻𝑧</m:t>
                          </m:r>
                        </m:num>
                        <m:den>
                          <m:r>
                            <a:rPr lang="en-US" b="0" i="1" smtClean="0">
                              <a:latin typeface="Cambria Math" panose="02040503050406030204" pitchFamily="18" charset="0"/>
                            </a:rPr>
                            <m:t>𝐴𝑅𝑅</m:t>
                          </m:r>
                          <m:r>
                            <a:rPr lang="en-US" i="1">
                              <a:latin typeface="Cambria Math" panose="02040503050406030204" pitchFamily="18" charset="0"/>
                            </a:rPr>
                            <m:t>+1</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3" name="Rectangle 12"/>
              <p:cNvSpPr>
                <a:spLocks noRot="1" noChangeAspect="1" noMove="1" noResize="1" noEditPoints="1" noAdjustHandles="1" noChangeArrowheads="1" noChangeShapeType="1" noTextEdit="1"/>
              </p:cNvSpPr>
              <p:nvPr/>
            </p:nvSpPr>
            <p:spPr>
              <a:xfrm>
                <a:off x="319596" y="3733800"/>
                <a:ext cx="4075218" cy="62350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19596" y="4510364"/>
                <a:ext cx="15106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=9999</m:t>
                      </m:r>
                    </m:oMath>
                  </m:oMathPara>
                </a14:m>
                <a:endParaRPr lang="en-US" i="1" dirty="0"/>
              </a:p>
            </p:txBody>
          </p:sp>
        </mc:Choice>
        <mc:Fallback xmlns="">
          <p:sp>
            <p:nvSpPr>
              <p:cNvPr id="14" name="Rectangle 13"/>
              <p:cNvSpPr>
                <a:spLocks noRot="1" noChangeAspect="1" noMove="1" noResize="1" noEditPoints="1" noAdjustHandles="1" noChangeArrowheads="1" noChangeShapeType="1" noTextEdit="1"/>
              </p:cNvSpPr>
              <p:nvPr/>
            </p:nvSpPr>
            <p:spPr>
              <a:xfrm>
                <a:off x="319596" y="4510364"/>
                <a:ext cx="151067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611582" y="3733800"/>
                <a:ext cx="4074897"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𝑀𝐻𝑧</m:t>
                          </m:r>
                        </m:num>
                        <m:den>
                          <m:r>
                            <a:rPr lang="en-US" b="0" i="1" smtClean="0">
                              <a:latin typeface="Cambria Math" panose="02040503050406030204" pitchFamily="18" charset="0"/>
                            </a:rPr>
                            <m:t>2∗</m:t>
                          </m:r>
                          <m:r>
                            <a:rPr lang="en-US" b="0" i="1" smtClean="0">
                              <a:latin typeface="Cambria Math" panose="02040503050406030204" pitchFamily="18" charset="0"/>
                            </a:rPr>
                            <m:t>𝐴𝑅𝑅</m:t>
                          </m:r>
                        </m:den>
                      </m:f>
                      <m:r>
                        <a:rPr lang="en-US" i="1">
                          <a:latin typeface="Cambria Math" panose="02040503050406030204" pitchFamily="18" charset="0"/>
                        </a:rPr>
                        <m:t>=</m:t>
                      </m:r>
                      <m:r>
                        <a:rPr lang="en-US" b="0" i="1" smtClean="0">
                          <a:latin typeface="Cambria Math" panose="02040503050406030204" pitchFamily="18" charset="0"/>
                        </a:rPr>
                        <m:t>10</m:t>
                      </m:r>
                      <m:r>
                        <a:rPr lang="en-US" i="1">
                          <a:latin typeface="Cambria Math" panose="02040503050406030204" pitchFamily="18" charset="0"/>
                        </a:rPr>
                        <m:t>0</m:t>
                      </m:r>
                      <m:r>
                        <a:rPr lang="en-US" i="1">
                          <a:latin typeface="Cambria Math" panose="02040503050406030204" pitchFamily="18" charset="0"/>
                        </a:rPr>
                        <m:t>𝐻𝑧</m:t>
                      </m:r>
                    </m:oMath>
                  </m:oMathPara>
                </a14:m>
                <a:endParaRPr lang="en-US" i="1" dirty="0"/>
              </a:p>
            </p:txBody>
          </p:sp>
        </mc:Choice>
        <mc:Fallback xmlns="">
          <p:sp>
            <p:nvSpPr>
              <p:cNvPr id="15" name="Rectangle 14"/>
              <p:cNvSpPr>
                <a:spLocks noRot="1" noChangeAspect="1" noMove="1" noResize="1" noEditPoints="1" noAdjustHandles="1" noChangeArrowheads="1" noChangeShapeType="1" noTextEdit="1"/>
              </p:cNvSpPr>
              <p:nvPr/>
            </p:nvSpPr>
            <p:spPr>
              <a:xfrm>
                <a:off x="4611582" y="3733800"/>
                <a:ext cx="4074897" cy="61709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11582" y="4510364"/>
                <a:ext cx="15106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=5000</m:t>
                      </m:r>
                    </m:oMath>
                  </m:oMathPara>
                </a14:m>
                <a:endParaRPr lang="en-US" i="1" dirty="0"/>
              </a:p>
            </p:txBody>
          </p:sp>
        </mc:Choice>
        <mc:Fallback xmlns="">
          <p:sp>
            <p:nvSpPr>
              <p:cNvPr id="16" name="Rectangle 15"/>
              <p:cNvSpPr>
                <a:spLocks noRot="1" noChangeAspect="1" noMove="1" noResize="1" noEditPoints="1" noAdjustHandles="1" noChangeArrowheads="1" noChangeShapeType="1" noTextEdit="1"/>
              </p:cNvSpPr>
              <p:nvPr/>
            </p:nvSpPr>
            <p:spPr>
              <a:xfrm>
                <a:off x="4611582" y="4510364"/>
                <a:ext cx="1510670" cy="369332"/>
              </a:xfrm>
              <a:prstGeom prst="rect">
                <a:avLst/>
              </a:prstGeom>
              <a:blipFill>
                <a:blip r:embed="rId8"/>
                <a:stretch>
                  <a:fillRect/>
                </a:stretch>
              </a:blipFill>
            </p:spPr>
            <p:txBody>
              <a:bodyPr/>
              <a:lstStyle/>
              <a:p>
                <a:r>
                  <a:rPr lang="en-US">
                    <a:noFill/>
                  </a:rPr>
                  <a:t> </a:t>
                </a:r>
              </a:p>
            </p:txBody>
          </p:sp>
        </mc:Fallback>
      </mc:AlternateContent>
      <p:sp>
        <p:nvSpPr>
          <p:cNvPr id="17" name="Rectangle 16"/>
          <p:cNvSpPr/>
          <p:nvPr/>
        </p:nvSpPr>
        <p:spPr>
          <a:xfrm>
            <a:off x="374209" y="3212068"/>
            <a:ext cx="4273991" cy="369332"/>
          </a:xfrm>
          <a:prstGeom prst="rect">
            <a:avLst/>
          </a:prstGeom>
        </p:spPr>
        <p:txBody>
          <a:bodyPr wrap="none">
            <a:spAutoFit/>
          </a:bodyPr>
          <a:lstStyle/>
          <a:p>
            <a:r>
              <a:rPr lang="en-US" altLang="zh-CN" dirty="0"/>
              <a:t>For </a:t>
            </a:r>
            <a:r>
              <a:rPr lang="en-US" dirty="0"/>
              <a:t>up-counting or down-counting mode: </a:t>
            </a:r>
          </a:p>
        </p:txBody>
      </p:sp>
    </p:spTree>
    <p:custDataLst>
      <p:tags r:id="rId1"/>
    </p:custDataLst>
    <p:extLst>
      <p:ext uri="{BB962C8B-B14F-4D97-AF65-F5344CB8AC3E}">
        <p14:creationId xmlns:p14="http://schemas.microsoft.com/office/powerpoint/2010/main" val="13636816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4 </a:t>
            </a:r>
            <a:r>
              <a:rPr lang="en-US" sz="2100" dirty="0" err="1"/>
              <a:t>MHz.</a:t>
            </a:r>
            <a:r>
              <a:rPr lang="en-US" sz="2100" dirty="0"/>
              <a:t> </a:t>
            </a:r>
          </a:p>
          <a:p>
            <a:pPr lvl="2"/>
            <a:r>
              <a:rPr lang="en-US" sz="2100" dirty="0" err="1"/>
              <a:t>Prescaler</a:t>
            </a:r>
            <a:r>
              <a:rPr lang="en-US" sz="2100" dirty="0"/>
              <a:t> PSC = 39</a:t>
            </a:r>
          </a:p>
          <a:p>
            <a:pPr lvl="2"/>
            <a:r>
              <a:rPr lang="en-US" sz="2100" dirty="0"/>
              <a:t>Counting direction: center-aligned counting</a:t>
            </a:r>
          </a:p>
          <a:p>
            <a:pPr lvl="2"/>
            <a:r>
              <a:rPr lang="en-US" sz="2100" dirty="0"/>
              <a:t>Desired timer frequency = 100 Hz</a:t>
            </a:r>
          </a:p>
          <a:p>
            <a:r>
              <a:rPr lang="en-US" sz="2800" dirty="0"/>
              <a:t>Calculate the ARR.</a:t>
            </a:r>
            <a:endParaRPr lang="en-US" dirty="0"/>
          </a:p>
          <a:p>
            <a:pPr marL="0" indent="0">
              <a:buNone/>
            </a:pPr>
            <a:endParaRPr lang="en-US" dirty="0"/>
          </a:p>
        </p:txBody>
      </p:sp>
    </p:spTree>
    <p:extLst>
      <p:ext uri="{BB962C8B-B14F-4D97-AF65-F5344CB8AC3E}">
        <p14:creationId xmlns:p14="http://schemas.microsoft.com/office/powerpoint/2010/main" val="1182917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4 </a:t>
            </a:r>
            <a:r>
              <a:rPr lang="en-US" sz="2100" dirty="0" err="1"/>
              <a:t>MHz.</a:t>
            </a:r>
            <a:r>
              <a:rPr lang="en-US" sz="2100" dirty="0"/>
              <a:t> </a:t>
            </a:r>
          </a:p>
          <a:p>
            <a:pPr lvl="2"/>
            <a:r>
              <a:rPr lang="en-US" sz="2100" dirty="0" err="1"/>
              <a:t>Prescaler</a:t>
            </a:r>
            <a:r>
              <a:rPr lang="en-US" sz="2100" dirty="0"/>
              <a:t> PSC = 39</a:t>
            </a:r>
          </a:p>
          <a:p>
            <a:pPr lvl="2"/>
            <a:r>
              <a:rPr lang="en-US" sz="2100" dirty="0"/>
              <a:t>Counting direction: center-aligned counting</a:t>
            </a:r>
          </a:p>
          <a:p>
            <a:pPr lvl="2"/>
            <a:r>
              <a:rPr lang="en-US" sz="2100" dirty="0"/>
              <a:t>Desired timer frequency = 100 Hz</a:t>
            </a:r>
          </a:p>
          <a:p>
            <a:r>
              <a:rPr lang="en-US" sz="2800" dirty="0"/>
              <a:t>Calculate the ARR.</a:t>
            </a:r>
            <a:endParaRPr lang="en-US" dirty="0"/>
          </a:p>
          <a:p>
            <a:endParaRPr lang="en-US" dirty="0"/>
          </a:p>
        </p:txBody>
      </p:sp>
      <mc:AlternateContent xmlns:mc="http://schemas.openxmlformats.org/markup-compatibility/2006" xmlns:a14="http://schemas.microsoft.com/office/drawing/2010/main">
        <mc:Choice Requires="a14">
          <p:sp>
            <p:nvSpPr>
              <p:cNvPr id="5" name="Rectangle 4"/>
              <p:cNvSpPr/>
              <p:nvPr/>
            </p:nvSpPr>
            <p:spPr>
              <a:xfrm>
                <a:off x="1143000" y="3769115"/>
                <a:ext cx="6248400" cy="498085"/>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i="1">
                            <a:latin typeface="Cambria Math" panose="02040503050406030204" pitchFamily="18" charset="0"/>
                          </a:rPr>
                          <m:t>𝑇𝑖𝑚𝑒𝑟</m:t>
                        </m:r>
                        <m:r>
                          <a:rPr lang="en-US" smtClean="0">
                            <a:latin typeface="Cambria Math" panose="02040503050406030204" pitchFamily="18" charset="0"/>
                          </a:rPr>
                          <m:t> </m:t>
                        </m:r>
                        <m:r>
                          <a:rPr lang="en-US" b="0" i="1" smtClean="0">
                            <a:latin typeface="Cambria Math" panose="02040503050406030204" pitchFamily="18" charset="0"/>
                          </a:rPr>
                          <m:t>𝐶𝑙</m:t>
                        </m:r>
                        <m:r>
                          <a:rPr lang="en-US" i="1" smtClean="0">
                            <a:latin typeface="Cambria Math" panose="02040503050406030204" pitchFamily="18" charset="0"/>
                          </a:rPr>
                          <m:t>𝑜𝑐𝑘</m:t>
                        </m:r>
                        <m:r>
                          <a:rPr lang="en-US" i="1" smtClean="0">
                            <a:latin typeface="Cambria Math" panose="02040503050406030204" pitchFamily="18" charset="0"/>
                          </a:rPr>
                          <m:t> </m:t>
                        </m:r>
                        <m:r>
                          <a:rPr lang="en-US" b="0" i="1" smtClean="0">
                            <a:latin typeface="Cambria Math" panose="02040503050406030204" pitchFamily="18" charset="0"/>
                          </a:rPr>
                          <m:t>𝐹</m:t>
                        </m:r>
                        <m:r>
                          <a:rPr lang="en-US" i="1" smtClean="0">
                            <a:latin typeface="Cambria Math" panose="02040503050406030204" pitchFamily="18" charset="0"/>
                          </a:rPr>
                          <m:t>𝑟𝑒𝑞</m:t>
                        </m:r>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dirty="0"/>
                  <a:t> = </a:t>
                </a:r>
                <a14:m>
                  <m:oMath xmlns:m="http://schemas.openxmlformats.org/officeDocument/2006/math">
                    <m:f>
                      <m:fPr>
                        <m:ctrlPr>
                          <a:rPr lang="en-US" i="1">
                            <a:solidFill>
                              <a:prstClr val="black"/>
                            </a:solidFill>
                            <a:latin typeface="Cambria Math" panose="02040503050406030204" pitchFamily="18" charset="0"/>
                          </a:rPr>
                        </m:ctrlPr>
                      </m:fPr>
                      <m:num>
                        <m:r>
                          <a:rPr lang="en-US" b="0" i="1" smtClean="0">
                            <a:solidFill>
                              <a:prstClr val="black"/>
                            </a:solidFill>
                            <a:latin typeface="Cambria Math" panose="02040503050406030204" pitchFamily="18" charset="0"/>
                          </a:rPr>
                          <m:t>4 </m:t>
                        </m:r>
                        <m:r>
                          <m:rPr>
                            <m:sty m:val="p"/>
                          </m:rPr>
                          <a:rPr lang="en-US" altLang="zh-CN" i="1">
                            <a:solidFill>
                              <a:prstClr val="black"/>
                            </a:solidFill>
                            <a:latin typeface="Cambria Math" panose="02040503050406030204" pitchFamily="18" charset="0"/>
                          </a:rPr>
                          <m:t>MHz</m:t>
                        </m:r>
                      </m:num>
                      <m:den>
                        <m:r>
                          <a:rPr lang="en-US" b="0" i="1" smtClean="0">
                            <a:solidFill>
                              <a:prstClr val="black"/>
                            </a:solidFill>
                            <a:latin typeface="Cambria Math" panose="02040503050406030204" pitchFamily="18" charset="0"/>
                          </a:rPr>
                          <m:t>40</m:t>
                        </m:r>
                      </m:den>
                    </m:f>
                    <m:r>
                      <a:rPr lang="en-US" altLang="zh-CN" i="1">
                        <a:solidFill>
                          <a:prstClr val="black"/>
                        </a:solidFill>
                        <a:latin typeface="Cambria Math" panose="02040503050406030204" pitchFamily="18" charset="0"/>
                      </a:rPr>
                      <m:t>=</m:t>
                    </m:r>
                  </m:oMath>
                </a14:m>
                <a:r>
                  <a:rPr lang="en-US" dirty="0"/>
                  <a:t>0.1 </a:t>
                </a:r>
                <a:r>
                  <a:rPr lang="en-US" altLang="zh-CN" dirty="0"/>
                  <a:t>MHz</a:t>
                </a:r>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143000" y="3769115"/>
                <a:ext cx="6248400" cy="498085"/>
              </a:xfrm>
              <a:prstGeom prst="rect">
                <a:avLst/>
              </a:prstGeom>
              <a:blipFill>
                <a:blip r:embed="rId2"/>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066800" y="4466590"/>
                <a:ext cx="5297604"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𝑇𝑖𝑚𝑒𝑟</m:t>
                      </m:r>
                      <m:r>
                        <a:rPr lang="en-US">
                          <a:latin typeface="Cambria Math" panose="02040503050406030204" pitchFamily="18" charset="0"/>
                        </a:rPr>
                        <m:t> </m:t>
                      </m:r>
                      <m:r>
                        <a:rPr lang="en-US" b="0" i="1" smtClean="0">
                          <a:latin typeface="Cambria Math" panose="02040503050406030204" pitchFamily="18" charset="0"/>
                        </a:rPr>
                        <m:t>𝐹</m:t>
                      </m:r>
                      <m:r>
                        <a:rPr lang="en-US" i="1">
                          <a:latin typeface="Cambria Math" panose="02040503050406030204" pitchFamily="18" charset="0"/>
                        </a:rPr>
                        <m:t>𝑟𝑒𝑞</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𝑇𝑖𝑚𝑒𝑟</m:t>
                          </m:r>
                        </m:sub>
                      </m:sSub>
                      <m:r>
                        <a:rPr lang="en-US">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panose="02040503050406030204" pitchFamily="18" charset="0"/>
                                </a:rPr>
                                <m:t>_</m:t>
                              </m:r>
                              <m:r>
                                <a:rPr lang="en-US" b="0" i="1" smtClean="0">
                                  <a:solidFill>
                                    <a:prstClr val="black"/>
                                  </a:solidFill>
                                  <a:latin typeface="Cambria Math" panose="02040503050406030204" pitchFamily="18" charset="0"/>
                                </a:rPr>
                                <m:t>𝐶𝑁𝑇</m:t>
                              </m:r>
                            </m:sub>
                          </m:sSub>
                        </m:num>
                        <m:den>
                          <m:r>
                            <a:rPr lang="en-US" i="1">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den>
                      </m:f>
                      <m:r>
                        <a:rPr lang="en-US" i="1">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0.1 </m:t>
                          </m:r>
                          <m:r>
                            <a:rPr lang="en-US" i="1">
                              <a:latin typeface="Cambria Math" panose="02040503050406030204" pitchFamily="18" charset="0"/>
                            </a:rPr>
                            <m:t>𝑀𝐻𝑧</m:t>
                          </m:r>
                        </m:num>
                        <m:den>
                          <m:r>
                            <a:rPr lang="en-US">
                              <a:latin typeface="Cambria Math" panose="02040503050406030204" pitchFamily="18" charset="0"/>
                            </a:rPr>
                            <m:t>2∗</m:t>
                          </m:r>
                          <m:r>
                            <m:rPr>
                              <m:sty m:val="p"/>
                            </m:rPr>
                            <a:rPr lang="en-US">
                              <a:latin typeface="Cambria Math" panose="02040503050406030204" pitchFamily="18" charset="0"/>
                            </a:rPr>
                            <m:t>ARR</m:t>
                          </m:r>
                        </m:den>
                      </m:f>
                      <m:r>
                        <a:rPr lang="en-US">
                          <a:latin typeface="Cambria Math" panose="02040503050406030204" pitchFamily="18" charset="0"/>
                        </a:rPr>
                        <m:t>=100</m:t>
                      </m:r>
                      <m:r>
                        <a:rPr lang="en-US" i="1">
                          <a:latin typeface="Cambria Math" panose="02040503050406030204" pitchFamily="18" charset="0"/>
                        </a:rPr>
                        <m:t>𝐻𝑧</m:t>
                      </m:r>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066800" y="4466590"/>
                <a:ext cx="5297604" cy="61709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143000" y="5283072"/>
                <a:ext cx="138243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𝐴𝑅𝑅</m:t>
                      </m:r>
                      <m:r>
                        <a:rPr lang="en-US" b="0" i="1" smtClean="0">
                          <a:latin typeface="Cambria Math" panose="02040503050406030204" pitchFamily="18" charset="0"/>
                        </a:rPr>
                        <m:t>=500</m:t>
                      </m:r>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1143000" y="5283072"/>
                <a:ext cx="1382430" cy="36933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89144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Frequency and Timer Frequency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p:cNvSpPr>
            <a:spLocks noGrp="1"/>
          </p:cNvSpPr>
          <p:nvPr>
            <p:ph sz="quarter" idx="1"/>
          </p:nvPr>
        </p:nvSpPr>
        <p:spPr/>
        <p:txBody>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endParaRPr lang="en-US" dirty="0"/>
          </a:p>
        </p:txBody>
      </p:sp>
    </p:spTree>
    <p:extLst>
      <p:ext uri="{BB962C8B-B14F-4D97-AF65-F5344CB8AC3E}">
        <p14:creationId xmlns:p14="http://schemas.microsoft.com/office/powerpoint/2010/main" val="1271958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Clock Frequency and Timer Frequency ANS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p:cNvSpPr>
            <a:spLocks noGrp="1"/>
          </p:cNvSpPr>
          <p:nvPr>
            <p:ph sz="quarter" idx="1"/>
          </p:nvPr>
        </p:nvSpPr>
        <p:spPr/>
        <p:txBody>
          <a:bodyPr>
            <a:normAutofit fontScale="77500" lnSpcReduction="20000"/>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p>
          <a:p>
            <a:r>
              <a:rPr lang="en-US" dirty="0"/>
              <a:t>PSC, ARR are both in the range </a:t>
            </a:r>
            <a:r>
              <a:rPr lang="en-US" altLang="zh-CN" dirty="0"/>
              <a:t>[0, 2</a:t>
            </a:r>
            <a:r>
              <a:rPr lang="en-US" altLang="zh-CN" baseline="30000" dirty="0"/>
              <a:t>16</a:t>
            </a:r>
            <a:r>
              <a:rPr lang="en-US" altLang="zh-CN" dirty="0"/>
              <a:t>-1=65535]</a:t>
            </a:r>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 realistic Timer Frequency should not be higher than 1 KHz. Hardware can generate high frequency </a:t>
            </a:r>
            <a:r>
              <a:rPr lang="en-US"/>
              <a:t>timer interrupts</a:t>
            </a:r>
            <a:r>
              <a:rPr lang="en-US" dirty="0"/>
              <a:t>, but software latency and Interrupt Service Routine (ISR) overhead are the real constraints.)</a:t>
            </a:r>
          </a:p>
          <a:p>
            <a:endParaRPr lang="en-US" dirty="0"/>
          </a:p>
        </p:txBody>
      </p:sp>
      <mc:AlternateContent xmlns:mc="http://schemas.openxmlformats.org/markup-compatibility/2006" xmlns:a14="http://schemas.microsoft.com/office/drawing/2010/main">
        <mc:Choice Requires="a14">
          <p:sp>
            <p:nvSpPr>
              <p:cNvPr id="5" name="Rectangle 4"/>
              <p:cNvSpPr/>
              <p:nvPr/>
            </p:nvSpPr>
            <p:spPr>
              <a:xfrm>
                <a:off x="1042123" y="2994720"/>
                <a:ext cx="6901605" cy="504818"/>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altLang="zh-CN" dirty="0">
                    <a:solidFill>
                      <a:prstClr val="black"/>
                    </a:solidFill>
                  </a:rPr>
                  <a:t>=</a:t>
                </a:r>
                <a14:m>
                  <m:oMath xmlns:m="http://schemas.openxmlformats.org/officeDocument/2006/math">
                    <m:r>
                      <a:rPr lang="en-US" i="0">
                        <a:latin typeface="Cambria Math" panose="02040503050406030204" pitchFamily="18" charset="0"/>
                      </a:rPr>
                      <m:t> </m:t>
                    </m:r>
                    <m:f>
                      <m:fPr>
                        <m:ctrlPr>
                          <a:rPr lang="en-US" i="1">
                            <a:latin typeface="Cambria Math" panose="02040503050406030204" pitchFamily="18" charset="0"/>
                          </a:rPr>
                        </m:ctrlPr>
                      </m:fPr>
                      <m:num>
                        <m:r>
                          <a:rPr lang="en-US" b="0" i="0" smtClean="0">
                            <a:latin typeface="Cambria Math" panose="02040503050406030204" pitchFamily="18" charset="0"/>
                          </a:rPr>
                          <m:t>400 </m:t>
                        </m:r>
                        <m:r>
                          <m:rPr>
                            <m:sty m:val="p"/>
                          </m:rPr>
                          <a:rPr lang="en-US" b="0" i="0" smtClean="0">
                            <a:latin typeface="Cambria Math" panose="02040503050406030204" pitchFamily="18" charset="0"/>
                          </a:rPr>
                          <m:t>MHz</m:t>
                        </m:r>
                      </m:num>
                      <m:den>
                        <m:r>
                          <m:rPr>
                            <m:sty m:val="p"/>
                          </m:rPr>
                          <a:rPr lang="en-US" b="0" i="0" smtClean="0">
                            <a:latin typeface="Cambria Math" panose="02040503050406030204" pitchFamily="18" charset="0"/>
                          </a:rPr>
                          <m:t>PSC</m:t>
                        </m:r>
                        <m:r>
                          <a:rPr lang="en-US" b="0" i="0" smtClean="0">
                            <a:latin typeface="Cambria Math" panose="02040503050406030204" pitchFamily="18" charset="0"/>
                          </a:rPr>
                          <m:t>+1 </m:t>
                        </m:r>
                      </m:den>
                    </m:f>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0" smtClean="0">
                                <a:latin typeface="Cambria Math" panose="02040503050406030204" pitchFamily="18" charset="0"/>
                              </a:rPr>
                              <m:t>400</m:t>
                            </m:r>
                            <m:r>
                              <m:rPr>
                                <m:sty m:val="p"/>
                              </m:rPr>
                              <a:rPr lang="en-US" b="0" i="0" smtClean="0">
                                <a:latin typeface="Cambria Math" panose="02040503050406030204" pitchFamily="18" charset="0"/>
                              </a:rPr>
                              <m:t>MHz</m:t>
                            </m:r>
                          </m:num>
                          <m:den>
                            <m:r>
                              <a:rPr lang="en-US" b="0" i="0" smtClean="0">
                                <a:latin typeface="Cambria Math" panose="02040503050406030204" pitchFamily="18" charset="0"/>
                              </a:rPr>
                              <m:t>65536</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0" smtClean="0">
                                <a:latin typeface="Cambria Math" panose="02040503050406030204" pitchFamily="18" charset="0"/>
                              </a:rPr>
                              <m:t>400</m:t>
                            </m:r>
                            <m:r>
                              <m:rPr>
                                <m:sty m:val="p"/>
                              </m:rPr>
                              <a:rPr lang="en-US" b="0" i="0" smtClean="0">
                                <a:latin typeface="Cambria Math" panose="02040503050406030204" pitchFamily="18" charset="0"/>
                              </a:rPr>
                              <m:t>MHz</m:t>
                            </m:r>
                          </m:num>
                          <m:den>
                            <m:r>
                              <a:rPr lang="en-US" b="0" i="0" smtClean="0">
                                <a:latin typeface="Cambria Math" panose="02040503050406030204" pitchFamily="18" charset="0"/>
                              </a:rPr>
                              <m:t>1</m:t>
                            </m:r>
                          </m:den>
                        </m:f>
                      </m:e>
                    </m:d>
                    <m:r>
                      <a:rPr lang="en-US" b="0" i="0" smtClean="0">
                        <a:latin typeface="Cambria Math" panose="02040503050406030204" pitchFamily="18" charset="0"/>
                      </a:rPr>
                      <m:t>=[6.1 </m:t>
                    </m:r>
                    <m:r>
                      <m:rPr>
                        <m:sty m:val="p"/>
                      </m:rPr>
                      <a:rPr lang="en-US" b="0" i="0" smtClean="0">
                        <a:latin typeface="Cambria Math" panose="02040503050406030204" pitchFamily="18" charset="0"/>
                      </a:rPr>
                      <m:t>KHz</m:t>
                    </m:r>
                    <m:r>
                      <a:rPr lang="en-US" b="0" i="0" smtClean="0">
                        <a:latin typeface="Cambria Math" panose="02040503050406030204" pitchFamily="18" charset="0"/>
                      </a:rPr>
                      <m:t>, 400</m:t>
                    </m:r>
                    <m:r>
                      <m:rPr>
                        <m:sty m:val="p"/>
                      </m:rPr>
                      <a:rPr lang="en-US" b="0" i="0" smtClean="0">
                        <a:latin typeface="Cambria Math" panose="02040503050406030204" pitchFamily="18" charset="0"/>
                      </a:rPr>
                      <m:t>MHz</m:t>
                    </m:r>
                    <m:r>
                      <a:rPr lang="en-US" b="0" i="0" smtClean="0">
                        <a:latin typeface="Cambria Math" panose="02040503050406030204" pitchFamily="18" charset="0"/>
                      </a:rPr>
                      <m:t>]</m:t>
                    </m:r>
                  </m:oMath>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042123" y="2994720"/>
                <a:ext cx="6901605" cy="504818"/>
              </a:xfrm>
              <a:prstGeom prst="rect">
                <a:avLst/>
              </a:prstGeom>
              <a:blipFill>
                <a:blip r:embed="rId3"/>
                <a:stretch>
                  <a:fillRect b="-48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143000" y="3886200"/>
                <a:ext cx="6464975" cy="7087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baseline="-25000" smtClean="0">
                          <a:latin typeface="Cambria Math" panose="02040503050406030204" pitchFamily="18" charset="0"/>
                        </a:rPr>
                        <m:t>𝑇𝑖𝑚𝑒𝑟</m:t>
                      </m:r>
                      <m:r>
                        <a:rPr lang="en-US">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i="1">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6.1</m:t>
                              </m:r>
                              <m:r>
                                <a:rPr lang="en-US" b="0" i="1" smtClean="0">
                                  <a:latin typeface="Cambria Math" panose="02040503050406030204" pitchFamily="18" charset="0"/>
                                </a:rPr>
                                <m:t>𝐾𝐻𝑧</m:t>
                              </m:r>
                            </m:num>
                            <m:den>
                              <m:r>
                                <a:rPr lang="en-US" b="0" i="1" smtClean="0">
                                  <a:latin typeface="Cambria Math" panose="02040503050406030204" pitchFamily="18" charset="0"/>
                                </a:rPr>
                                <m:t>65536</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400</m:t>
                              </m:r>
                              <m:r>
                                <a:rPr lang="en-US" b="0" i="1" smtClean="0">
                                  <a:latin typeface="Cambria Math" panose="02040503050406030204" pitchFamily="18" charset="0"/>
                                </a:rPr>
                                <m:t>𝑀𝐻𝑧</m:t>
                              </m:r>
                            </m:num>
                            <m:den>
                              <m:r>
                                <a:rPr lang="en-US" b="0" i="1" smtClean="0">
                                  <a:latin typeface="Cambria Math" panose="02040503050406030204" pitchFamily="18" charset="0"/>
                                </a:rPr>
                                <m:t>1</m:t>
                              </m:r>
                            </m:den>
                          </m:f>
                        </m:e>
                      </m:d>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[0.09</m:t>
                      </m:r>
                      <m:r>
                        <a:rPr lang="en-US" b="0" i="1" smtClean="0">
                          <a:solidFill>
                            <a:prstClr val="black"/>
                          </a:solidFill>
                          <a:latin typeface="Cambria Math" panose="02040503050406030204" pitchFamily="18" charset="0"/>
                        </a:rPr>
                        <m:t>𝐻𝑧</m:t>
                      </m:r>
                      <m:r>
                        <a:rPr lang="en-US" b="0" i="1" smtClean="0">
                          <a:solidFill>
                            <a:prstClr val="black"/>
                          </a:solidFill>
                          <a:latin typeface="Cambria Math" panose="02040503050406030204" pitchFamily="18" charset="0"/>
                        </a:rPr>
                        <m:t>, 400 </m:t>
                      </m:r>
                      <m:r>
                        <a:rPr lang="en-US" b="0" i="1" smtClean="0">
                          <a:solidFill>
                            <a:prstClr val="black"/>
                          </a:solidFill>
                          <a:latin typeface="Cambria Math" panose="02040503050406030204" pitchFamily="18" charset="0"/>
                        </a:rPr>
                        <m:t>𝑀𝐻𝑧</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1143000" y="3886200"/>
                <a:ext cx="6464975" cy="70872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07115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duty cycle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endParaRPr lang="en-US" dirty="0"/>
          </a:p>
        </p:txBody>
      </p:sp>
    </p:spTree>
    <p:extLst>
      <p:ext uri="{BB962C8B-B14F-4D97-AF65-F5344CB8AC3E}">
        <p14:creationId xmlns:p14="http://schemas.microsoft.com/office/powerpoint/2010/main" val="2573725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p:cNvSpPr>
            <a:spLocks noGrp="1"/>
          </p:cNvSpPr>
          <p:nvPr>
            <p:ph sz="quarter" idx="1"/>
          </p:nvPr>
        </p:nvSpPr>
        <p:spPr>
          <a:xfrm>
            <a:off x="457200" y="1219200"/>
            <a:ext cx="8229600" cy="2286000"/>
          </a:xfrm>
        </p:spPr>
        <p:txBody>
          <a:bodyPr>
            <a:normAutofit fontScale="62500" lnSpcReduction="20000"/>
          </a:bodyPr>
          <a:lstStyle/>
          <a:p>
            <a:pPr lvl="0"/>
            <a:r>
              <a:rPr lang="en-US" sz="2800" dirty="0"/>
              <a:t>Suppose a 16-bit timer has the following setting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p>
          <a:p>
            <a:r>
              <a:rPr lang="en-US" sz="2800" dirty="0"/>
              <a:t>ANS:</a:t>
            </a:r>
            <a:endParaRPr lang="en-US" dirty="0"/>
          </a:p>
        </p:txBody>
      </p:sp>
      <p:sp>
        <p:nvSpPr>
          <p:cNvPr id="5" name="Title 4"/>
          <p:cNvSpPr>
            <a:spLocks noGrp="1"/>
          </p:cNvSpPr>
          <p:nvPr>
            <p:ph type="title"/>
          </p:nvPr>
        </p:nvSpPr>
        <p:spPr/>
        <p:txBody>
          <a:bodyPr/>
          <a:lstStyle/>
          <a:p>
            <a:r>
              <a:rPr lang="en-US"/>
              <a:t>PWM duty cycle ANS</a:t>
            </a:r>
            <a:endParaRPr lang="en-US" dirty="0"/>
          </a:p>
        </p:txBody>
      </p:sp>
      <mc:AlternateContent xmlns:mc="http://schemas.openxmlformats.org/markup-compatibility/2006" xmlns:a14="http://schemas.microsoft.com/office/drawing/2010/main">
        <mc:Choice Requires="a14">
          <p:sp>
            <p:nvSpPr>
              <p:cNvPr id="6" name="Rectangle 5"/>
              <p:cNvSpPr/>
              <p:nvPr/>
            </p:nvSpPr>
            <p:spPr>
              <a:xfrm>
                <a:off x="807159" y="3376415"/>
                <a:ext cx="7117641" cy="498085"/>
              </a:xfrm>
              <a:prstGeom prst="rect">
                <a:avLst/>
              </a:prstGeom>
            </p:spPr>
            <p:txBody>
              <a:bodyPr wrap="square">
                <a:spAutoFit/>
              </a:bodyPr>
              <a:lstStyle/>
              <a:p>
                <a14:m>
                  <m:oMath xmlns:m="http://schemas.openxmlformats.org/officeDocument/2006/math">
                    <m:sSub>
                      <m:sSubPr>
                        <m:ctrlPr>
                          <a:rPr lang="en-US" i="1" smtClean="0">
                            <a:solidFill>
                              <a:prstClr val="black"/>
                            </a:solidFill>
                            <a:latin typeface="Cambria Math" panose="02040503050406030204" pitchFamily="18" charset="0"/>
                          </a:rPr>
                        </m:ctrlPr>
                      </m:sSubPr>
                      <m:e>
                        <m:r>
                          <a:rPr lang="en-US" i="1">
                            <a:latin typeface="Cambria Math" panose="02040503050406030204" pitchFamily="18" charset="0"/>
                          </a:rPr>
                          <m:t>𝑇𝑖𝑚𝑒𝑟</m:t>
                        </m:r>
                        <m:r>
                          <a:rPr lang="en-US">
                            <a:latin typeface="Cambria Math" panose="02040503050406030204" pitchFamily="18" charset="0"/>
                          </a:rPr>
                          <m:t> </m:t>
                        </m:r>
                        <m:r>
                          <a:rPr lang="en-US" b="0" i="1" smtClean="0">
                            <a:latin typeface="Cambria Math" panose="02040503050406030204" pitchFamily="18" charset="0"/>
                          </a:rPr>
                          <m:t>𝐶𝑙𝑜𝑐𝑘</m:t>
                        </m:r>
                        <m:r>
                          <a:rPr lang="en-US" b="0" i="1" smtClean="0">
                            <a:latin typeface="Cambria Math" panose="02040503050406030204" pitchFamily="18" charset="0"/>
                          </a:rPr>
                          <m:t> </m:t>
                        </m:r>
                        <m:r>
                          <a:rPr lang="en-US" b="0" i="1" smtClean="0">
                            <a:latin typeface="Cambria Math" panose="02040503050406030204" pitchFamily="18" charset="0"/>
                          </a:rPr>
                          <m:t>𝐹𝑟𝑒𝑞</m:t>
                        </m:r>
                        <m:r>
                          <a:rPr lang="en-US" b="0" i="1" smtClean="0">
                            <a:latin typeface="Cambria Math" panose="02040503050406030204" pitchFamily="18" charset="0"/>
                          </a:rPr>
                          <m:t> </m:t>
                        </m:r>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a14:m>
                <a:r>
                  <a:rPr lang="en-US" altLang="zh-CN" dirty="0">
                    <a:solidFill>
                      <a:prstClr val="black"/>
                    </a:solidFill>
                  </a:rPr>
                  <a:t>=</a:t>
                </a:r>
                <a14:m>
                  <m:oMath xmlns:m="http://schemas.openxmlformats.org/officeDocument/2006/math">
                    <m:r>
                      <a:rPr lang="en-US" i="0">
                        <a:latin typeface="Cambria Math" panose="02040503050406030204" pitchFamily="18" charset="0"/>
                      </a:rPr>
                      <m:t> </m:t>
                    </m:r>
                    <m:f>
                      <m:fPr>
                        <m:ctrlPr>
                          <a:rPr lang="en-US" i="1">
                            <a:latin typeface="Cambria Math" panose="02040503050406030204" pitchFamily="18" charset="0"/>
                          </a:rPr>
                        </m:ctrlPr>
                      </m:fPr>
                      <m:num>
                        <m:r>
                          <a:rPr lang="en-US" i="0">
                            <a:latin typeface="Cambria Math" panose="02040503050406030204" pitchFamily="18" charset="0"/>
                          </a:rPr>
                          <m:t>16 </m:t>
                        </m:r>
                        <m:r>
                          <a:rPr lang="en-US" i="1">
                            <a:latin typeface="Cambria Math" panose="02040503050406030204" pitchFamily="18" charset="0"/>
                          </a:rPr>
                          <m:t>𝑀𝐻𝑧</m:t>
                        </m:r>
                      </m:num>
                      <m:den>
                        <m:r>
                          <a:rPr lang="en-US" i="0">
                            <a:latin typeface="Cambria Math" panose="02040503050406030204" pitchFamily="18" charset="0"/>
                          </a:rPr>
                          <m:t>159</m:t>
                        </m:r>
                        <m:r>
                          <a:rPr lang="en-US" b="0" i="0" smtClean="0">
                            <a:latin typeface="Cambria Math" panose="02040503050406030204" pitchFamily="18" charset="0"/>
                          </a:rPr>
                          <m:t>+1</m:t>
                        </m:r>
                        <m:r>
                          <a:rPr lang="en-US" i="0">
                            <a:latin typeface="Cambria Math" panose="02040503050406030204" pitchFamily="18" charset="0"/>
                          </a:rPr>
                          <m:t> </m:t>
                        </m:r>
                      </m:den>
                    </m:f>
                    <m:r>
                      <a:rPr lang="en-US" i="0">
                        <a:latin typeface="Cambria Math" panose="02040503050406030204" pitchFamily="18" charset="0"/>
                      </a:rPr>
                      <m:t>=0.1</m:t>
                    </m:r>
                    <m:r>
                      <a:rPr lang="en-US" i="1">
                        <a:latin typeface="Cambria Math" panose="02040503050406030204" pitchFamily="18" charset="0"/>
                      </a:rPr>
                      <m:t>𝑀𝐻𝑧</m:t>
                    </m:r>
                  </m:oMath>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807159" y="3376415"/>
                <a:ext cx="7117641" cy="498085"/>
              </a:xfrm>
              <a:prstGeom prst="rect">
                <a:avLst/>
              </a:prstGeom>
              <a:blipFill>
                <a:blip r:embed="rId2"/>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807159" y="3973663"/>
                <a:ext cx="5309659" cy="623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𝑇𝑖𝑚𝑒𝑟</m:t>
                      </m:r>
                      <m:r>
                        <a:rPr lang="en-US" i="0">
                          <a:latin typeface="Cambria Math" panose="02040503050406030204" pitchFamily="18" charset="0"/>
                        </a:rPr>
                        <m:t> </m:t>
                      </m:r>
                      <m:r>
                        <a:rPr lang="en-US" b="0" i="1" smtClean="0">
                          <a:latin typeface="Cambria Math" panose="02040503050406030204" pitchFamily="18" charset="0"/>
                        </a:rPr>
                        <m:t>𝐹</m:t>
                      </m:r>
                      <m:r>
                        <a:rPr lang="en-US" i="1">
                          <a:latin typeface="Cambria Math" panose="02040503050406030204" pitchFamily="18" charset="0"/>
                        </a:rPr>
                        <m:t>𝑟𝑒𝑞</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𝑇𝑖𝑚𝑒𝑟</m:t>
                          </m:r>
                        </m:sub>
                      </m:sSub>
                      <m:r>
                        <a:rPr lang="en-US" i="0">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den>
                      </m:f>
                      <m:r>
                        <a:rPr lang="en-US" b="0" i="1" smtClean="0">
                          <a:solidFill>
                            <a:prstClr val="black"/>
                          </a:solidFill>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0.1 </m:t>
                          </m:r>
                          <m:r>
                            <a:rPr lang="en-US" i="1">
                              <a:latin typeface="Cambria Math" panose="02040503050406030204" pitchFamily="18" charset="0"/>
                            </a:rPr>
                            <m:t>𝑀𝐻𝑧</m:t>
                          </m:r>
                        </m:num>
                        <m:den>
                          <m:r>
                            <a:rPr lang="en-US" i="1">
                              <a:latin typeface="Cambria Math" panose="02040503050406030204" pitchFamily="18" charset="0"/>
                            </a:rPr>
                            <m:t>1999+1</m:t>
                          </m:r>
                        </m:den>
                      </m:f>
                      <m:r>
                        <a:rPr lang="en-US" i="1">
                          <a:latin typeface="Cambria Math" panose="02040503050406030204" pitchFamily="18" charset="0"/>
                        </a:rPr>
                        <m:t>=50</m:t>
                      </m:r>
                      <m:r>
                        <a:rPr lang="en-US" i="1">
                          <a:latin typeface="Cambria Math" panose="02040503050406030204" pitchFamily="18" charset="0"/>
                        </a:rPr>
                        <m:t>𝐻𝑧</m:t>
                      </m:r>
                    </m:oMath>
                  </m:oMathPara>
                </a14:m>
                <a:endParaRPr lang="en-US" i="1" dirty="0"/>
              </a:p>
            </p:txBody>
          </p:sp>
        </mc:Choice>
        <mc:Fallback xmlns="">
          <p:sp>
            <p:nvSpPr>
              <p:cNvPr id="7" name="Rectangle 6"/>
              <p:cNvSpPr>
                <a:spLocks noRot="1" noChangeAspect="1" noMove="1" noResize="1" noEditPoints="1" noAdjustHandles="1" noChangeArrowheads="1" noChangeShapeType="1" noTextEdit="1"/>
              </p:cNvSpPr>
              <p:nvPr/>
            </p:nvSpPr>
            <p:spPr>
              <a:xfrm>
                <a:off x="807159" y="3973663"/>
                <a:ext cx="5309659" cy="623504"/>
              </a:xfrm>
              <a:prstGeom prst="rect">
                <a:avLst/>
              </a:prstGeom>
              <a:blipFill>
                <a:blip r:embed="rId3"/>
                <a:stretch>
                  <a:fillRect/>
                </a:stretch>
              </a:blipFill>
            </p:spPr>
            <p:txBody>
              <a:bodyPr/>
              <a:lstStyle/>
              <a:p>
                <a:r>
                  <a:rPr lang="en-US">
                    <a:noFill/>
                  </a:rPr>
                  <a:t> </a:t>
                </a:r>
              </a:p>
            </p:txBody>
          </p:sp>
        </mc:Fallback>
      </mc:AlternateContent>
      <p:sp>
        <p:nvSpPr>
          <p:cNvPr id="8" name="Rectangle 7"/>
          <p:cNvSpPr/>
          <p:nvPr/>
        </p:nvSpPr>
        <p:spPr>
          <a:xfrm>
            <a:off x="640625" y="5410200"/>
            <a:ext cx="7868442" cy="707886"/>
          </a:xfrm>
          <a:prstGeom prst="rect">
            <a:avLst/>
          </a:prstGeom>
        </p:spPr>
        <p:txBody>
          <a:bodyPr wrap="square">
            <a:spAutoFit/>
          </a:bodyPr>
          <a:lstStyle/>
          <a:p>
            <a:pPr>
              <a:spcBef>
                <a:spcPts val="1000"/>
              </a:spcBef>
            </a:pPr>
            <a:r>
              <a:rPr lang="en-US" sz="2000" dirty="0">
                <a:latin typeface="Times New Roman" panose="02020603050405020304" pitchFamily="18" charset="0"/>
                <a:ea typeface="SimSun" panose="02010600030101010101" pitchFamily="2" charset="-122"/>
              </a:rPr>
              <a:t>PWM output is high on when the counter is 499, 500, 501, …, 1999, a total of 1501 cycles. (This statement is not required in the exam.)</a:t>
            </a:r>
          </a:p>
        </p:txBody>
      </p:sp>
      <mc:AlternateContent xmlns:mc="http://schemas.openxmlformats.org/markup-compatibility/2006" xmlns:a14="http://schemas.microsoft.com/office/drawing/2010/main">
        <mc:Choice Requires="a14">
          <p:sp>
            <p:nvSpPr>
              <p:cNvPr id="9" name="Rectangle 8"/>
              <p:cNvSpPr/>
              <p:nvPr/>
            </p:nvSpPr>
            <p:spPr>
              <a:xfrm>
                <a:off x="807159" y="4600977"/>
                <a:ext cx="6367192" cy="6229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b="0" i="0"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𝐶𝐶𝑅</m:t>
                          </m:r>
                        </m:num>
                        <m:den>
                          <m:r>
                            <a:rPr lang="en-US" b="0" i="1" smtClean="0">
                              <a:latin typeface="Cambria Math" panose="02040503050406030204" pitchFamily="18" charset="0"/>
                            </a:rPr>
                            <m:t>𝐴𝑅𝑅</m:t>
                          </m:r>
                          <m:r>
                            <a:rPr lang="en-US" b="0" i="1" smtClean="0">
                              <a:latin typeface="Cambria Math" panose="02040503050406030204" pitchFamily="18" charset="0"/>
                            </a:rPr>
                            <m:t>+1</m:t>
                          </m:r>
                        </m:den>
                      </m:f>
                      <m:r>
                        <a:rPr lang="en-US" b="0" i="0" smtClean="0">
                          <a:latin typeface="Cambria Math" panose="02040503050406030204" pitchFamily="18" charset="0"/>
                        </a:rPr>
                        <m:t>=</m:t>
                      </m:r>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499</m:t>
                          </m:r>
                        </m:num>
                        <m:den>
                          <m:r>
                            <a:rPr lang="en-US" b="0" i="1" smtClean="0">
                              <a:latin typeface="Cambria Math" panose="02040503050406030204" pitchFamily="18" charset="0"/>
                            </a:rPr>
                            <m:t>1999+1</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1501</m:t>
                          </m:r>
                        </m:num>
                        <m:den>
                          <m:r>
                            <a:rPr lang="en-US" b="0" i="0" smtClean="0">
                              <a:latin typeface="Cambria Math" panose="02040503050406030204" pitchFamily="18" charset="0"/>
                            </a:rPr>
                            <m:t>2000</m:t>
                          </m:r>
                        </m:den>
                      </m:f>
                      <m:r>
                        <a:rPr lang="en-US" i="0">
                          <a:latin typeface="Cambria Math" panose="02040503050406030204" pitchFamily="18" charset="0"/>
                        </a:rPr>
                        <m:t>=</m:t>
                      </m:r>
                      <m:r>
                        <a:rPr lang="en-US" b="0" i="0" smtClean="0">
                          <a:latin typeface="Cambria Math" panose="02040503050406030204" pitchFamily="18" charset="0"/>
                        </a:rPr>
                        <m:t>0.</m:t>
                      </m:r>
                      <m:r>
                        <a:rPr lang="en-US" i="0">
                          <a:latin typeface="Cambria Math" panose="02040503050406030204" pitchFamily="18" charset="0"/>
                        </a:rPr>
                        <m:t>7505</m:t>
                      </m:r>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807159" y="4600977"/>
                <a:ext cx="6367192" cy="62292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31599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2112C-584F-361C-F04D-047D28B34543}"/>
              </a:ext>
            </a:extLst>
          </p:cNvPr>
          <p:cNvSpPr>
            <a:spLocks noGrp="1"/>
          </p:cNvSpPr>
          <p:nvPr>
            <p:ph type="title"/>
          </p:nvPr>
        </p:nvSpPr>
        <p:spPr/>
        <p:txBody>
          <a:bodyPr/>
          <a:lstStyle/>
          <a:p>
            <a:r>
              <a:rPr lang="en-US" dirty="0">
                <a:solidFill>
                  <a:schemeClr val="bg1">
                    <a:lumMod val="75000"/>
                  </a:schemeClr>
                </a:solidFill>
              </a:rPr>
              <a:t>Interrupt (NOT COVERED)</a:t>
            </a:r>
          </a:p>
        </p:txBody>
      </p:sp>
      <p:sp>
        <p:nvSpPr>
          <p:cNvPr id="3" name="Slide Number Placeholder 2">
            <a:extLst>
              <a:ext uri="{FF2B5EF4-FFF2-40B4-BE49-F238E27FC236}">
                <a16:creationId xmlns:a16="http://schemas.microsoft.com/office/drawing/2014/main" id="{B6D5C9B9-7D76-0284-08B6-A91735096445}"/>
              </a:ext>
            </a:extLst>
          </p:cNvPr>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Content Placeholder 3">
            <a:extLst>
              <a:ext uri="{FF2B5EF4-FFF2-40B4-BE49-F238E27FC236}">
                <a16:creationId xmlns:a16="http://schemas.microsoft.com/office/drawing/2014/main" id="{306AF55F-06A9-F112-5FB4-9B7BF0166B2C}"/>
              </a:ext>
            </a:extLst>
          </p:cNvPr>
          <p:cNvSpPr>
            <a:spLocks noGrp="1"/>
          </p:cNvSpPr>
          <p:nvPr>
            <p:ph sz="quarter" idx="1"/>
          </p:nvPr>
        </p:nvSpPr>
        <p:spPr>
          <a:xfrm>
            <a:off x="457200" y="1219200"/>
            <a:ext cx="5562600" cy="4937760"/>
          </a:xfrm>
        </p:spPr>
        <p:txBody>
          <a:bodyPr>
            <a:normAutofit fontScale="77500" lnSpcReduction="20000"/>
          </a:bodyPr>
          <a:lstStyle/>
          <a:p>
            <a:r>
              <a:rPr lang="en-US" dirty="0">
                <a:solidFill>
                  <a:schemeClr val="bg1">
                    <a:lumMod val="75000"/>
                  </a:schemeClr>
                </a:solidFill>
              </a:rPr>
              <a:t>Suppose register </a:t>
            </a:r>
            <a:r>
              <a:rPr lang="en-US" i="1" dirty="0" err="1">
                <a:solidFill>
                  <a:schemeClr val="bg1">
                    <a:lumMod val="75000"/>
                  </a:schemeClr>
                </a:solidFill>
              </a:rPr>
              <a:t>i</a:t>
            </a:r>
            <a:r>
              <a:rPr lang="en-US" dirty="0">
                <a:solidFill>
                  <a:schemeClr val="bg1">
                    <a:lumMod val="75000"/>
                  </a:schemeClr>
                </a:solidFill>
              </a:rPr>
              <a:t> (</a:t>
            </a:r>
            <a:r>
              <a:rPr lang="en-US" i="1" dirty="0" err="1">
                <a:solidFill>
                  <a:schemeClr val="bg1">
                    <a:lumMod val="75000"/>
                  </a:schemeClr>
                </a:solidFill>
              </a:rPr>
              <a:t>i</a:t>
            </a:r>
            <a:r>
              <a:rPr lang="en-US" dirty="0">
                <a:solidFill>
                  <a:schemeClr val="bg1">
                    <a:lumMod val="75000"/>
                  </a:schemeClr>
                </a:solidFill>
              </a:rPr>
              <a:t> ≤ 12) is initialized to have a value of </a:t>
            </a:r>
            <a:r>
              <a:rPr lang="en-US" i="1" dirty="0" err="1">
                <a:solidFill>
                  <a:schemeClr val="bg1">
                    <a:lumMod val="75000"/>
                  </a:schemeClr>
                </a:solidFill>
              </a:rPr>
              <a:t>i</a:t>
            </a:r>
            <a:r>
              <a:rPr lang="en-US" dirty="0">
                <a:solidFill>
                  <a:schemeClr val="bg1">
                    <a:lumMod val="75000"/>
                  </a:schemeClr>
                </a:solidFill>
              </a:rPr>
              <a:t> (e.g. r0 = 0, r1= 1, r2 = 2, r3 = 3, etc.). Assume the main stack (MSP) is used. (Recall: in the interrupt handler, if LR = 0xFFFFFFF9, then the main stack (MSP) is used. If LR = 0xFFFFFFFD, then the process stack (PSP) is used. ) The program status register (PSR) = 0x00000020, PC = 0x08000020, and LR = 0x20008020, when the interrupt occurs.</a:t>
            </a:r>
          </a:p>
          <a:p>
            <a:r>
              <a:rPr lang="en-US" dirty="0">
                <a:solidFill>
                  <a:schemeClr val="bg1">
                    <a:lumMod val="75000"/>
                  </a:schemeClr>
                </a:solidFill>
              </a:rPr>
              <a:t>(1) Show the stack content immediately before the PUSH instruction runs. Suppose the stack pointer SP, </a:t>
            </a:r>
            <a:r>
              <a:rPr lang="en-US" i="1" dirty="0">
                <a:solidFill>
                  <a:schemeClr val="bg1">
                    <a:lumMod val="75000"/>
                  </a:schemeClr>
                </a:solidFill>
              </a:rPr>
              <a:t>i.e.</a:t>
            </a:r>
            <a:r>
              <a:rPr lang="en-US" dirty="0">
                <a:solidFill>
                  <a:schemeClr val="bg1">
                    <a:lumMod val="75000"/>
                  </a:schemeClr>
                </a:solidFill>
              </a:rPr>
              <a:t> MSP in this case, was 0x20000600 immediately before the system timer interrupt occurs</a:t>
            </a:r>
          </a:p>
          <a:p>
            <a:r>
              <a:rPr lang="en-US" dirty="0">
                <a:solidFill>
                  <a:schemeClr val="bg1">
                    <a:lumMod val="75000"/>
                  </a:schemeClr>
                </a:solidFill>
              </a:rPr>
              <a:t>(2) What are the values of these registers (R0-R12, LR, SP, PC, and PSR) immediately after the interrupt exits?</a:t>
            </a:r>
          </a:p>
        </p:txBody>
      </p:sp>
      <p:graphicFrame>
        <p:nvGraphicFramePr>
          <p:cNvPr id="6" name="Table 5">
            <a:extLst>
              <a:ext uri="{FF2B5EF4-FFF2-40B4-BE49-F238E27FC236}">
                <a16:creationId xmlns:a16="http://schemas.microsoft.com/office/drawing/2014/main" id="{03ED02B2-B7A4-6AE0-0F84-7EDDFDACF3E1}"/>
              </a:ext>
            </a:extLst>
          </p:cNvPr>
          <p:cNvGraphicFramePr>
            <a:graphicFrameLocks noGrp="1"/>
          </p:cNvGraphicFramePr>
          <p:nvPr/>
        </p:nvGraphicFramePr>
        <p:xfrm>
          <a:off x="6172200" y="1752600"/>
          <a:ext cx="2835275" cy="3878580"/>
        </p:xfrm>
        <a:graphic>
          <a:graphicData uri="http://schemas.openxmlformats.org/drawingml/2006/table">
            <a:tbl>
              <a:tblPr firstRow="1" firstCol="1" bandRow="1"/>
              <a:tblGrid>
                <a:gridCol w="2835275">
                  <a:extLst>
                    <a:ext uri="{9D8B030D-6E8A-4147-A177-3AD203B41FA5}">
                      <a16:colId xmlns:a16="http://schemas.microsoft.com/office/drawing/2014/main" val="1987105656"/>
                    </a:ext>
                  </a:extLst>
                </a:gridCol>
              </a:tblGrid>
              <a:tr h="2122170">
                <a:tc>
                  <a:txBody>
                    <a:bodyPr/>
                    <a:lstStyle/>
                    <a:p>
                      <a:pPr>
                        <a:spcBef>
                          <a:spcPts val="300"/>
                        </a:spcBef>
                        <a:buNone/>
                      </a:pPr>
                      <a:r>
                        <a:rPr lang="en-US" sz="1400" dirty="0" err="1">
                          <a:effectLst/>
                          <a:latin typeface="Consolas" panose="020B0609020204030204" pitchFamily="49" charset="0"/>
                          <a:ea typeface="SimSun" panose="02010600030101010101" pitchFamily="2" charset="-122"/>
                          <a:cs typeface="Consolas" panose="020B0609020204030204" pitchFamily="49" charset="0"/>
                        </a:rPr>
                        <a:t>SysTick_Handler</a:t>
                      </a:r>
                      <a:r>
                        <a:rPr lang="en-US" sz="1400" dirty="0">
                          <a:effectLst/>
                          <a:latin typeface="Consolas" panose="020B0609020204030204" pitchFamily="49" charset="0"/>
                          <a:ea typeface="SimSun" panose="02010600030101010101" pitchFamily="2" charset="-122"/>
                          <a:cs typeface="Consolas" panose="020B0609020204030204" pitchFamily="49" charset="0"/>
                        </a:rPr>
                        <a:t> PROC</a:t>
                      </a:r>
                      <a:endParaRPr lang="en-US" sz="2000" dirty="0">
                        <a:effectLst/>
                        <a:latin typeface="Times New Roman" panose="02020603050405020304" pitchFamily="18" charset="0"/>
                        <a:ea typeface="SimSun" panose="02010600030101010101" pitchFamily="2" charset="-122"/>
                      </a:endParaRPr>
                    </a:p>
                    <a:p>
                      <a:pPr>
                        <a:spcBef>
                          <a:spcPts val="300"/>
                        </a:spcBef>
                        <a:buNone/>
                      </a:pPr>
                      <a:r>
                        <a:rPr lang="en-US" sz="1400" dirty="0">
                          <a:effectLst/>
                          <a:latin typeface="Consolas" panose="020B0609020204030204" pitchFamily="49" charset="0"/>
                          <a:ea typeface="SimSun" panose="02010600030101010101" pitchFamily="2" charset="-122"/>
                          <a:cs typeface="Consolas" panose="020B0609020204030204" pitchFamily="49" charset="0"/>
                        </a:rPr>
                        <a:t>    EXPORT </a:t>
                      </a:r>
                      <a:r>
                        <a:rPr lang="en-US" sz="1400" dirty="0" err="1">
                          <a:effectLst/>
                          <a:latin typeface="Consolas" panose="020B0609020204030204" pitchFamily="49" charset="0"/>
                          <a:ea typeface="SimSun" panose="02010600030101010101" pitchFamily="2" charset="-122"/>
                          <a:cs typeface="Consolas" panose="020B0609020204030204" pitchFamily="49" charset="0"/>
                        </a:rPr>
                        <a:t>SysTick_Handler</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PUSH {</a:t>
                      </a:r>
                      <a:r>
                        <a:rPr lang="en-US" sz="1400" dirty="0" err="1">
                          <a:effectLst/>
                          <a:latin typeface="Consolas" panose="020B0609020204030204" pitchFamily="49" charset="0"/>
                          <a:ea typeface="SimSun" panose="02010600030101010101" pitchFamily="2" charset="-122"/>
                          <a:cs typeface="Consolas" panose="020B0609020204030204" pitchFamily="49" charset="0"/>
                        </a:rPr>
                        <a:t>lr</a:t>
                      </a:r>
                      <a:r>
                        <a:rPr lang="en-US" sz="1400" dirty="0">
                          <a:effectLst/>
                          <a:latin typeface="Consolas" panose="020B0609020204030204" pitchFamily="49" charset="0"/>
                          <a:ea typeface="SimSun" panose="02010600030101010101" pitchFamily="2" charset="-122"/>
                          <a:cs typeface="Consolas" panose="020B0609020204030204" pitchFamily="49" charset="0"/>
                        </a:rPr>
                        <a:t>, r0, r7}</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r0, r0,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r1, r1,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r2, r2,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r3, r3,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r4, r4,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r5, r5,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r6, r6,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r7, r7,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r8, r8,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r9, r9,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r10, r10,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r11, r11,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ADD  r12, r12, #1</a:t>
                      </a:r>
                      <a:endParaRPr lang="en-US" sz="2000" dirty="0">
                        <a:effectLst/>
                        <a:latin typeface="Times New Roman" panose="02020603050405020304" pitchFamily="18" charset="0"/>
                        <a:ea typeface="SimSun" panose="02010600030101010101" pitchFamily="2" charset="-122"/>
                      </a:endParaRPr>
                    </a:p>
                    <a:p>
                      <a:pPr>
                        <a:buNone/>
                      </a:pPr>
                      <a:r>
                        <a:rPr lang="en-US" sz="1400" dirty="0">
                          <a:effectLst/>
                          <a:latin typeface="Consolas" panose="020B0609020204030204" pitchFamily="49" charset="0"/>
                          <a:ea typeface="SimSun" panose="02010600030101010101" pitchFamily="2" charset="-122"/>
                          <a:cs typeface="Consolas" panose="020B0609020204030204" pitchFamily="49" charset="0"/>
                        </a:rPr>
                        <a:t>    POP  {r0, r7, pc}</a:t>
                      </a:r>
                      <a:endParaRPr lang="en-US" sz="2000" dirty="0">
                        <a:effectLst/>
                        <a:latin typeface="Times New Roman" panose="02020603050405020304" pitchFamily="18" charset="0"/>
                        <a:ea typeface="SimSun" panose="02010600030101010101" pitchFamily="2" charset="-122"/>
                      </a:endParaRPr>
                    </a:p>
                    <a:p>
                      <a:pPr>
                        <a:spcAft>
                          <a:spcPts val="300"/>
                        </a:spcAft>
                        <a:buNone/>
                      </a:pPr>
                      <a:r>
                        <a:rPr lang="en-US" sz="1400" dirty="0">
                          <a:effectLst/>
                          <a:latin typeface="Consolas" panose="020B0609020204030204" pitchFamily="49" charset="0"/>
                          <a:ea typeface="SimSun" panose="02010600030101010101" pitchFamily="2" charset="-122"/>
                          <a:cs typeface="Consolas" panose="020B0609020204030204" pitchFamily="49" charset="0"/>
                        </a:rPr>
                        <a:t>    ENDP</a:t>
                      </a:r>
                      <a:endParaRPr lang="en-US" sz="20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4318800"/>
                  </a:ext>
                </a:extLst>
              </a:tr>
            </a:tbl>
          </a:graphicData>
        </a:graphic>
      </p:graphicFrame>
    </p:spTree>
    <p:extLst>
      <p:ext uri="{BB962C8B-B14F-4D97-AF65-F5344CB8AC3E}">
        <p14:creationId xmlns:p14="http://schemas.microsoft.com/office/powerpoint/2010/main" val="711508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81413-78DE-49B8-B0C8-1A5AEBD8A8DF}"/>
              </a:ext>
            </a:extLst>
          </p:cNvPr>
          <p:cNvSpPr>
            <a:spLocks noGrp="1"/>
          </p:cNvSpPr>
          <p:nvPr>
            <p:ph type="title"/>
          </p:nvPr>
        </p:nvSpPr>
        <p:spPr/>
        <p:txBody>
          <a:bodyPr/>
          <a:lstStyle/>
          <a:p>
            <a:r>
              <a:rPr lang="en-US" dirty="0">
                <a:solidFill>
                  <a:schemeClr val="bg1">
                    <a:lumMod val="75000"/>
                  </a:schemeClr>
                </a:solidFill>
              </a:rPr>
              <a:t>Interrupt ANS (NOT COVERED)</a:t>
            </a:r>
          </a:p>
        </p:txBody>
      </p:sp>
      <p:sp>
        <p:nvSpPr>
          <p:cNvPr id="3" name="Slide Number Placeholder 2">
            <a:extLst>
              <a:ext uri="{FF2B5EF4-FFF2-40B4-BE49-F238E27FC236}">
                <a16:creationId xmlns:a16="http://schemas.microsoft.com/office/drawing/2014/main" id="{9B209CD3-AAB9-9C6F-15DF-BA9391900195}"/>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4" name="Content Placeholder 3">
            <a:extLst>
              <a:ext uri="{FF2B5EF4-FFF2-40B4-BE49-F238E27FC236}">
                <a16:creationId xmlns:a16="http://schemas.microsoft.com/office/drawing/2014/main" id="{01048E9F-978D-E1AC-E55B-891E2B164B3B}"/>
              </a:ext>
            </a:extLst>
          </p:cNvPr>
          <p:cNvSpPr>
            <a:spLocks noGrp="1"/>
          </p:cNvSpPr>
          <p:nvPr>
            <p:ph sz="quarter" idx="1"/>
          </p:nvPr>
        </p:nvSpPr>
        <p:spPr/>
        <p:txBody>
          <a:bodyPr/>
          <a:lstStyle/>
          <a:p>
            <a:r>
              <a:rPr lang="en-US" dirty="0"/>
              <a:t>(1)</a:t>
            </a:r>
          </a:p>
        </p:txBody>
      </p:sp>
      <p:graphicFrame>
        <p:nvGraphicFramePr>
          <p:cNvPr id="7" name="Table 6">
            <a:extLst>
              <a:ext uri="{FF2B5EF4-FFF2-40B4-BE49-F238E27FC236}">
                <a16:creationId xmlns:a16="http://schemas.microsoft.com/office/drawing/2014/main" id="{236CC83D-E382-1C35-9A67-05FC90821CD7}"/>
              </a:ext>
            </a:extLst>
          </p:cNvPr>
          <p:cNvGraphicFramePr>
            <a:graphicFrameLocks noGrp="1"/>
          </p:cNvGraphicFramePr>
          <p:nvPr/>
        </p:nvGraphicFramePr>
        <p:xfrm>
          <a:off x="1524000" y="1371600"/>
          <a:ext cx="3810000" cy="3764280"/>
        </p:xfrm>
        <a:graphic>
          <a:graphicData uri="http://schemas.openxmlformats.org/drawingml/2006/table">
            <a:tbl>
              <a:tblPr firstRow="1" bandRow="1">
                <a:tableStyleId>{5940675A-B579-460E-94D1-54222C63F5DA}</a:tableStyleId>
              </a:tblPr>
              <a:tblGrid>
                <a:gridCol w="1905000">
                  <a:extLst>
                    <a:ext uri="{9D8B030D-6E8A-4147-A177-3AD203B41FA5}">
                      <a16:colId xmlns:a16="http://schemas.microsoft.com/office/drawing/2014/main" val="3952883727"/>
                    </a:ext>
                  </a:extLst>
                </a:gridCol>
                <a:gridCol w="1905000">
                  <a:extLst>
                    <a:ext uri="{9D8B030D-6E8A-4147-A177-3AD203B41FA5}">
                      <a16:colId xmlns:a16="http://schemas.microsoft.com/office/drawing/2014/main" val="575375637"/>
                    </a:ext>
                  </a:extLst>
                </a:gridCol>
              </a:tblGrid>
              <a:tr h="370840">
                <a:tc>
                  <a:txBody>
                    <a:bodyPr/>
                    <a:lstStyle/>
                    <a:p>
                      <a:pPr marL="457200" algn="l">
                        <a:buNone/>
                      </a:pPr>
                      <a:r>
                        <a:rPr lang="en-US" sz="1400" dirty="0">
                          <a:solidFill>
                            <a:schemeClr val="bg1">
                              <a:lumMod val="75000"/>
                            </a:schemeClr>
                          </a:solidFill>
                          <a:effectLst/>
                        </a:rPr>
                        <a:t>0x20000600</a:t>
                      </a:r>
                      <a:endParaRPr lang="en-US" sz="1400" dirty="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 </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1515543264"/>
                  </a:ext>
                </a:extLst>
              </a:tr>
              <a:tr h="370840">
                <a:tc>
                  <a:txBody>
                    <a:bodyPr/>
                    <a:lstStyle/>
                    <a:p>
                      <a:pPr marL="457200" algn="l">
                        <a:buNone/>
                      </a:pPr>
                      <a:r>
                        <a:rPr lang="en-US" sz="1400">
                          <a:solidFill>
                            <a:schemeClr val="bg1">
                              <a:lumMod val="75000"/>
                            </a:schemeClr>
                          </a:solidFill>
                          <a:effectLst/>
                        </a:rPr>
                        <a:t>0x200005FC</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0x00000020 (PSR)</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667204674"/>
                  </a:ext>
                </a:extLst>
              </a:tr>
              <a:tr h="370840">
                <a:tc>
                  <a:txBody>
                    <a:bodyPr/>
                    <a:lstStyle/>
                    <a:p>
                      <a:pPr marL="457200" algn="l">
                        <a:buNone/>
                      </a:pPr>
                      <a:r>
                        <a:rPr lang="en-US" sz="1400">
                          <a:solidFill>
                            <a:schemeClr val="bg1">
                              <a:lumMod val="75000"/>
                            </a:schemeClr>
                          </a:solidFill>
                          <a:effectLst/>
                        </a:rPr>
                        <a:t>0x200005F8</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dirty="0">
                          <a:solidFill>
                            <a:schemeClr val="bg1">
                              <a:lumMod val="75000"/>
                            </a:schemeClr>
                          </a:solidFill>
                          <a:effectLst/>
                        </a:rPr>
                        <a:t>0x08000020 (PC)</a:t>
                      </a:r>
                      <a:endParaRPr lang="en-US" sz="1400" dirty="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1689526887"/>
                  </a:ext>
                </a:extLst>
              </a:tr>
              <a:tr h="370840">
                <a:tc>
                  <a:txBody>
                    <a:bodyPr/>
                    <a:lstStyle/>
                    <a:p>
                      <a:pPr marL="457200" algn="l">
                        <a:buNone/>
                      </a:pPr>
                      <a:r>
                        <a:rPr lang="en-US" sz="1400">
                          <a:solidFill>
                            <a:schemeClr val="bg1">
                              <a:lumMod val="75000"/>
                            </a:schemeClr>
                          </a:solidFill>
                          <a:effectLst/>
                        </a:rPr>
                        <a:t>0x200005F4</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dirty="0">
                          <a:solidFill>
                            <a:schemeClr val="bg1">
                              <a:lumMod val="75000"/>
                            </a:schemeClr>
                          </a:solidFill>
                          <a:effectLst/>
                        </a:rPr>
                        <a:t>0x20008020 (LR)</a:t>
                      </a:r>
                      <a:endParaRPr lang="en-US" sz="1400" dirty="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142994718"/>
                  </a:ext>
                </a:extLst>
              </a:tr>
              <a:tr h="370840">
                <a:tc>
                  <a:txBody>
                    <a:bodyPr/>
                    <a:lstStyle/>
                    <a:p>
                      <a:pPr marL="457200" algn="l">
                        <a:buNone/>
                      </a:pPr>
                      <a:r>
                        <a:rPr lang="en-US" sz="1400">
                          <a:solidFill>
                            <a:schemeClr val="bg1">
                              <a:lumMod val="75000"/>
                            </a:schemeClr>
                          </a:solidFill>
                          <a:effectLst/>
                        </a:rPr>
                        <a:t>0x200005F0</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dirty="0">
                          <a:solidFill>
                            <a:schemeClr val="bg1">
                              <a:lumMod val="75000"/>
                            </a:schemeClr>
                          </a:solidFill>
                          <a:effectLst/>
                        </a:rPr>
                        <a:t>12 (R12)</a:t>
                      </a:r>
                      <a:endParaRPr lang="en-US" sz="1400" dirty="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789351382"/>
                  </a:ext>
                </a:extLst>
              </a:tr>
              <a:tr h="370840">
                <a:tc>
                  <a:txBody>
                    <a:bodyPr/>
                    <a:lstStyle/>
                    <a:p>
                      <a:pPr marL="457200" algn="l">
                        <a:buNone/>
                      </a:pPr>
                      <a:r>
                        <a:rPr lang="en-US" sz="1400">
                          <a:solidFill>
                            <a:schemeClr val="bg1">
                              <a:lumMod val="75000"/>
                            </a:schemeClr>
                          </a:solidFill>
                          <a:effectLst/>
                        </a:rPr>
                        <a:t>0x200005EC</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3 (R3)</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67961182"/>
                  </a:ext>
                </a:extLst>
              </a:tr>
              <a:tr h="370840">
                <a:tc>
                  <a:txBody>
                    <a:bodyPr/>
                    <a:lstStyle/>
                    <a:p>
                      <a:pPr marL="457200" algn="l">
                        <a:buNone/>
                      </a:pPr>
                      <a:r>
                        <a:rPr lang="en-US" sz="1400">
                          <a:solidFill>
                            <a:schemeClr val="bg1">
                              <a:lumMod val="75000"/>
                            </a:schemeClr>
                          </a:solidFill>
                          <a:effectLst/>
                        </a:rPr>
                        <a:t>0x200005E8</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2 (R2)</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219792115"/>
                  </a:ext>
                </a:extLst>
              </a:tr>
              <a:tr h="370840">
                <a:tc>
                  <a:txBody>
                    <a:bodyPr/>
                    <a:lstStyle/>
                    <a:p>
                      <a:pPr marL="457200" algn="l">
                        <a:buNone/>
                      </a:pPr>
                      <a:r>
                        <a:rPr lang="en-US" sz="1400">
                          <a:solidFill>
                            <a:schemeClr val="bg1">
                              <a:lumMod val="75000"/>
                            </a:schemeClr>
                          </a:solidFill>
                          <a:effectLst/>
                        </a:rPr>
                        <a:t>0x200005E4</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1 (R1)</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1654564635"/>
                  </a:ext>
                </a:extLst>
              </a:tr>
              <a:tr h="370840">
                <a:tc>
                  <a:txBody>
                    <a:bodyPr/>
                    <a:lstStyle/>
                    <a:p>
                      <a:pPr marL="457200" algn="l">
                        <a:buNone/>
                      </a:pPr>
                      <a:r>
                        <a:rPr lang="en-US" sz="1400">
                          <a:solidFill>
                            <a:schemeClr val="bg1">
                              <a:lumMod val="75000"/>
                            </a:schemeClr>
                          </a:solidFill>
                          <a:effectLst/>
                        </a:rPr>
                        <a:t>0x200005E0</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a:solidFill>
                            <a:schemeClr val="bg1">
                              <a:lumMod val="75000"/>
                            </a:schemeClr>
                          </a:solidFill>
                          <a:effectLst/>
                        </a:rPr>
                        <a:t>0 (R0)</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444150665"/>
                  </a:ext>
                </a:extLst>
              </a:tr>
              <a:tr h="370840">
                <a:tc>
                  <a:txBody>
                    <a:bodyPr/>
                    <a:lstStyle/>
                    <a:p>
                      <a:pPr marL="457200" algn="l">
                        <a:buNone/>
                      </a:pPr>
                      <a:r>
                        <a:rPr lang="en-US" sz="1400">
                          <a:solidFill>
                            <a:schemeClr val="bg1">
                              <a:lumMod val="75000"/>
                            </a:schemeClr>
                          </a:solidFill>
                          <a:effectLst/>
                        </a:rPr>
                        <a:t>0x200005DC</a:t>
                      </a:r>
                      <a:endParaRPr lang="en-US" sz="140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tc>
                  <a:txBody>
                    <a:bodyPr/>
                    <a:lstStyle/>
                    <a:p>
                      <a:pPr marL="457200" algn="l">
                        <a:buNone/>
                      </a:pPr>
                      <a:r>
                        <a:rPr lang="en-US" sz="1400" dirty="0">
                          <a:solidFill>
                            <a:schemeClr val="bg1">
                              <a:lumMod val="75000"/>
                            </a:schemeClr>
                          </a:solidFill>
                          <a:effectLst/>
                        </a:rPr>
                        <a:t> </a:t>
                      </a:r>
                      <a:endParaRPr lang="en-US" sz="1400" dirty="0">
                        <a:solidFill>
                          <a:schemeClr val="bg1">
                            <a:lumMod val="75000"/>
                          </a:schemeClr>
                        </a:solidFill>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053191397"/>
                  </a:ext>
                </a:extLst>
              </a:tr>
            </a:tbl>
          </a:graphicData>
        </a:graphic>
      </p:graphicFrame>
    </p:spTree>
    <p:extLst>
      <p:ext uri="{BB962C8B-B14F-4D97-AF65-F5344CB8AC3E}">
        <p14:creationId xmlns:p14="http://schemas.microsoft.com/office/powerpoint/2010/main" val="12639366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18.9|6.9|6.4"/>
</p:tagLst>
</file>

<file path=ppt/tags/tag2.xml><?xml version="1.0" encoding="utf-8"?>
<p:tagLst xmlns:a="http://schemas.openxmlformats.org/drawingml/2006/main" xmlns:r="http://schemas.openxmlformats.org/officeDocument/2006/relationships" xmlns:p="http://schemas.openxmlformats.org/presentationml/2006/main">
  <p:tag name="TIMING" val="|15|18.9|6.9|6.4"/>
</p:tagLst>
</file>

<file path=ppt/tags/tag3.xml><?xml version="1.0" encoding="utf-8"?>
<p:tagLst xmlns:a="http://schemas.openxmlformats.org/drawingml/2006/main" xmlns:r="http://schemas.openxmlformats.org/officeDocument/2006/relationships" xmlns:p="http://schemas.openxmlformats.org/presentationml/2006/main">
  <p:tag name="TIMING" val="|15|18.9|6.9|6.4"/>
</p:tagLst>
</file>

<file path=ppt/tags/tag4.xml><?xml version="1.0" encoding="utf-8"?>
<p:tagLst xmlns:a="http://schemas.openxmlformats.org/drawingml/2006/main" xmlns:r="http://schemas.openxmlformats.org/officeDocument/2006/relationships" xmlns:p="http://schemas.openxmlformats.org/presentationml/2006/main">
  <p:tag name="TIMING" val="|15|18.9|6.9|6.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3295</TotalTime>
  <Words>2000</Words>
  <Application>Microsoft Office PowerPoint</Application>
  <PresentationFormat>On-screen Show (4:3)</PresentationFormat>
  <Paragraphs>178</Paragraphs>
  <Slides>14</Slides>
  <Notes>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14</vt:i4>
      </vt:variant>
    </vt:vector>
  </HeadingPairs>
  <TitlesOfParts>
    <vt:vector size="26" baseType="lpstr">
      <vt:lpstr>Bookman Old Style (Headings)</vt:lpstr>
      <vt:lpstr>Gill Sans Light</vt:lpstr>
      <vt:lpstr>Bookman Old Style</vt:lpstr>
      <vt:lpstr>Calibri</vt:lpstr>
      <vt:lpstr>Cambria Math</vt:lpstr>
      <vt:lpstr>Consolas</vt:lpstr>
      <vt:lpstr>Gill Sans MT</vt:lpstr>
      <vt:lpstr>Times New Roman</vt:lpstr>
      <vt:lpstr>Wingdings</vt:lpstr>
      <vt:lpstr>Wingdings 3</vt:lpstr>
      <vt:lpstr>Origin</vt:lpstr>
      <vt:lpstr>2_Origin</vt:lpstr>
      <vt:lpstr>PowerPoint Presentation</vt:lpstr>
      <vt:lpstr>Summary of Equations</vt:lpstr>
      <vt:lpstr>Calculating ARR</vt:lpstr>
      <vt:lpstr>Calculating ARR ANS</vt:lpstr>
      <vt:lpstr>Calculating ARR with prescaler</vt:lpstr>
      <vt:lpstr>Calculating ARR with prescaler ANS</vt:lpstr>
      <vt:lpstr>Calculating the ARR</vt:lpstr>
      <vt:lpstr>Calculating the ARR ANS</vt:lpstr>
      <vt:lpstr>Clock Frequency and Timer Frequency</vt:lpstr>
      <vt:lpstr>Clock Frequency and Timer Frequency ANS</vt:lpstr>
      <vt:lpstr>PWM duty cycle</vt:lpstr>
      <vt:lpstr>PWM duty cycle ANS</vt:lpstr>
      <vt:lpstr>Interrupt (NOT COVERED)</vt:lpstr>
      <vt:lpstr>Interrupt ANS (NOT COVERED)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352</cp:revision>
  <cp:lastPrinted>2018-03-23T02:32:24Z</cp:lastPrinted>
  <dcterms:created xsi:type="dcterms:W3CDTF">2013-02-03T05:36:57Z</dcterms:created>
  <dcterms:modified xsi:type="dcterms:W3CDTF">2025-12-02T03:50:28Z</dcterms:modified>
</cp:coreProperties>
</file>