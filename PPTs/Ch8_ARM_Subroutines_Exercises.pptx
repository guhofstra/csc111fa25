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1" r:id="rId3"/>
    <p:sldId id="280" r:id="rId4"/>
    <p:sldId id="371" r:id="rId5"/>
    <p:sldId id="367" r:id="rId6"/>
    <p:sldId id="257" r:id="rId7"/>
    <p:sldId id="281" r:id="rId8"/>
    <p:sldId id="283" r:id="rId9"/>
    <p:sldId id="353" r:id="rId10"/>
    <p:sldId id="354" r:id="rId11"/>
    <p:sldId id="751" r:id="rId12"/>
    <p:sldId id="763" r:id="rId13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FF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062DF-8177-434E-B118-2B5E45DF7CD2}" v="1" dt="2025-10-21T19:03:41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824"/>
    <p:restoredTop sz="94674"/>
  </p:normalViewPr>
  <p:slideViewPr>
    <p:cSldViewPr>
      <p:cViewPr varScale="1">
        <p:scale>
          <a:sx n="78" d="100"/>
          <a:sy n="78" d="100"/>
        </p:scale>
        <p:origin x="14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5-10-21T19:03:41.087" v="14"/>
      <pc:docMkLst>
        <pc:docMk/>
      </pc:docMkLst>
      <pc:sldChg chg="modSp mod">
        <pc:chgData name="Zonghua Gu" userId="9a7e1853e1951ef5" providerId="LiveId" clId="{CF1FAA12-072C-4ED5-BA76-0FFFAEFDB88A}" dt="2025-10-05T02:46:59.426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0-05T02:46:59.426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10-05T02:53:43.754" v="13"/>
        <pc:sldMkLst>
          <pc:docMk/>
          <pc:sldMk cId="2707139683" sldId="353"/>
        </pc:sldMkLst>
      </pc:sldChg>
      <pc:sldChg chg="add del">
        <pc:chgData name="Zonghua Gu" userId="9a7e1853e1951ef5" providerId="LiveId" clId="{CF1FAA12-072C-4ED5-BA76-0FFFAEFDB88A}" dt="2025-10-05T02:53:43.754" v="13"/>
        <pc:sldMkLst>
          <pc:docMk/>
          <pc:sldMk cId="4056115254" sldId="354"/>
        </pc:sldMkLst>
      </pc:sldChg>
      <pc:sldChg chg="add">
        <pc:chgData name="Zonghua Gu" userId="9a7e1853e1951ef5" providerId="LiveId" clId="{CF1FAA12-072C-4ED5-BA76-0FFFAEFDB88A}" dt="2025-10-21T19:03:41.087" v="14"/>
        <pc:sldMkLst>
          <pc:docMk/>
          <pc:sldMk cId="4214831448" sldId="7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531B6B-01ED-4B91-B944-2A70B0C5B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73369-F6FC-499D-A990-3E9060F016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61579-C726-4AFD-89FC-66D961EAF8E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68850-16A6-41CF-85AD-8061DE066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78DEA-CE56-47ED-9B81-B4AC370305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2652-CBF3-40A7-8FE7-9A3810BFF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5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C5DCA7A-C3FD-4606-A3AD-864BD96433D4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46F4F04-2BB1-473A-9274-1B455085D2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@ int mystery2(int c)</a:t>
            </a:r>
          </a:p>
          <a:p>
            <a:r>
              <a:rPr lang="en-US" dirty="0"/>
              <a:t>    @ r0: c  -&gt; returns r0</a:t>
            </a:r>
          </a:p>
          <a:p>
            <a:endParaRPr lang="en-US" dirty="0"/>
          </a:p>
          <a:p>
            <a:r>
              <a:rPr lang="en-US" dirty="0"/>
              <a:t>    .text</a:t>
            </a:r>
          </a:p>
          <a:p>
            <a:r>
              <a:rPr lang="en-US" dirty="0"/>
              <a:t>    .align 2</a:t>
            </a:r>
          </a:p>
          <a:p>
            <a:r>
              <a:rPr lang="en-US" dirty="0"/>
              <a:t>    .global mystery2</a:t>
            </a:r>
          </a:p>
          <a:p>
            <a:r>
              <a:rPr lang="en-US" dirty="0"/>
              <a:t>mystery2: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#'A'                @ c ? 'A'</a:t>
            </a:r>
          </a:p>
          <a:p>
            <a:r>
              <a:rPr lang="en-US" dirty="0"/>
              <a:t>    </a:t>
            </a:r>
            <a:r>
              <a:rPr lang="en-US" dirty="0" err="1"/>
              <a:t>blt</a:t>
            </a:r>
            <a:r>
              <a:rPr lang="en-US" dirty="0"/>
              <a:t>     1f                      @ if c &lt; 'A' -&gt; skip add</a:t>
            </a:r>
          </a:p>
          <a:p>
            <a:r>
              <a:rPr lang="en-US" dirty="0"/>
              <a:t>    </a:t>
            </a:r>
            <a:r>
              <a:rPr lang="en-US" dirty="0" err="1"/>
              <a:t>cmp</a:t>
            </a:r>
            <a:r>
              <a:rPr lang="en-US" dirty="0"/>
              <a:t>     r0, #'Z'                @ c ? 'Z'</a:t>
            </a:r>
          </a:p>
          <a:p>
            <a:r>
              <a:rPr lang="en-US" dirty="0"/>
              <a:t>    </a:t>
            </a:r>
            <a:r>
              <a:rPr lang="en-US" dirty="0" err="1"/>
              <a:t>bgt</a:t>
            </a:r>
            <a:r>
              <a:rPr lang="en-US" dirty="0"/>
              <a:t>     1f                      @ if c &gt; 'Z' -&gt; skip add</a:t>
            </a:r>
          </a:p>
          <a:p>
            <a:r>
              <a:rPr lang="en-US" dirty="0"/>
              <a:t>    add     r0, r0, #('a' - 'A')    @ c += 32 (ASCII delta)</a:t>
            </a:r>
          </a:p>
          <a:p>
            <a:r>
              <a:rPr lang="en-US" dirty="0"/>
              <a:t>1:</a:t>
            </a:r>
          </a:p>
          <a:p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      @ return c (possibly adjusted)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(In the exams, I may provide most of the code and let you fill in the blanks.)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29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what the program </a:t>
            </a:r>
            <a:r>
              <a:rPr lang="en-US" i="1" dirty="0"/>
              <a:t>does in practice</a:t>
            </a:r>
            <a:r>
              <a:rPr lang="en-US" dirty="0"/>
              <a:t>:</a:t>
            </a:r>
          </a:p>
          <a:p>
            <a:r>
              <a:rPr lang="en-US" dirty="0"/>
              <a:t>It starts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 = 1</a:t>
            </a:r>
            <a:r>
              <a:rPr lang="en-US" dirty="0"/>
              <a:t>.</a:t>
            </a:r>
          </a:p>
          <a:p>
            <a:r>
              <a:rPr lang="en-US" dirty="0"/>
              <a:t>It loops, incrementing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each time.</a:t>
            </a:r>
          </a:p>
          <a:p>
            <a:r>
              <a:rPr lang="en-US" dirty="0"/>
              <a:t>When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reaches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  <a:r>
              <a:rPr lang="en-US" dirty="0"/>
              <a:t>, it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 adds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255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x7</a:t>
            </a:r>
            <a:r>
              <a:rPr lang="en-US" dirty="0"/>
              <a:t> and resets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en-US" dirty="0"/>
              <a:t>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dirty="0"/>
              <a:t>.</a:t>
            </a:r>
          </a:p>
          <a:p>
            <a:r>
              <a:rPr lang="en-US" dirty="0"/>
              <a:t>Control returns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and the cycle repeats.</a:t>
            </a:r>
          </a:p>
          <a:p>
            <a:r>
              <a:rPr lang="en-US" dirty="0"/>
              <a:t>So the pattern goes like this: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x0: 1 → 2 → 3 → 4 → 5 → (call resets to 1)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x7: +255 each time x0 reaches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9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7966D375-7FE4-4861-9EA3-8493E3E81506}" type="datetime1">
              <a:rPr lang="en-US" smtClean="0"/>
              <a:t>10/21/2025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0065D69-4622-413E-9E09-6A2509001B66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26D84756-85D3-4017-90AB-B482945A0CB0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359E9A9-3822-4D57-8A64-831B26641011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96C45A0-00E6-4B4B-A1A7-CF1486D67AF4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88C3861-EF45-4815-A76E-294671FAB405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F0B8080-ED7A-45A9-A704-76D750342F93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503A19-0780-4B28-9CCB-B5B1820188BD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42A9E5-AE71-46A9-A65E-9BA279401128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C54BE0-D5FE-4C7B-88A7-8835FDA599B1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132153C-039A-48A4-AC9F-CEC24D5C2B7A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4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087DD3F-948A-46ED-B3EC-5D68A963D0B7}" type="datetime1">
              <a:rPr lang="en-US" smtClean="0"/>
              <a:t>10/21/2025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7974" y="1828800"/>
            <a:ext cx="1911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Subroutines</a:t>
            </a:r>
          </a:p>
          <a:p>
            <a:pPr algn="r"/>
            <a:r>
              <a:rPr lang="en-US" altLang="zh-CN" sz="2400" b="1" dirty="0">
                <a:solidFill>
                  <a:srgbClr val="C00000"/>
                </a:solidFill>
              </a:rPr>
              <a:t>Exercises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350A-DE76-846E-5AB2-1DE2EDB0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8CD0F-F59A-17FD-A8C5-A5B8C7F7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814FC-F419-027A-EA4D-935437EEAA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512689"/>
          </a:xfrm>
        </p:spPr>
        <p:txBody>
          <a:bodyPr/>
          <a:lstStyle/>
          <a:p>
            <a:r>
              <a:rPr lang="en-US" dirty="0"/>
              <a:t>Initially, let </a:t>
            </a:r>
            <a:r>
              <a:rPr lang="en-US" sz="2400" dirty="0"/>
              <a:t>r0=0, r1=1, r2=2.</a:t>
            </a:r>
            <a:endParaRPr lang="en-US" dirty="0"/>
          </a:p>
          <a:p>
            <a:r>
              <a:rPr lang="en-US" dirty="0"/>
              <a:t>a) Execute PUSH {r1,r2}. Draw stack.</a:t>
            </a:r>
          </a:p>
          <a:p>
            <a:r>
              <a:rPr lang="en-US" dirty="0"/>
              <a:t>b) Execute POP {r0,r1}. Draw stack.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273F4-CE16-CD49-EA0C-05FC3BE81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55278"/>
              </p:ext>
            </p:extLst>
          </p:nvPr>
        </p:nvGraphicFramePr>
        <p:xfrm>
          <a:off x="1535923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1C00B18-AB39-00EF-930D-94A66B3DBEEE}"/>
              </a:ext>
            </a:extLst>
          </p:cNvPr>
          <p:cNvSpPr/>
          <p:nvPr/>
        </p:nvSpPr>
        <p:spPr>
          <a:xfrm>
            <a:off x="999475" y="3302859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71397-E6F5-FBB8-542D-C5B13309CE80}"/>
              </a:ext>
            </a:extLst>
          </p:cNvPr>
          <p:cNvSpPr txBox="1"/>
          <p:nvPr/>
        </p:nvSpPr>
        <p:spPr>
          <a:xfrm>
            <a:off x="496902" y="3204332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9E05C3-D653-26B3-A1FA-DB8D01C19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38150"/>
              </p:ext>
            </p:extLst>
          </p:nvPr>
        </p:nvGraphicFramePr>
        <p:xfrm>
          <a:off x="3798326" y="3199012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2800F77-7DAB-31B4-1921-A01DE4EBD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09410"/>
              </p:ext>
            </p:extLst>
          </p:nvPr>
        </p:nvGraphicFramePr>
        <p:xfrm>
          <a:off x="6465320" y="3188273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C9E426-19B3-C381-5E30-7C2FF94F96E8}"/>
              </a:ext>
            </a:extLst>
          </p:cNvPr>
          <p:cNvSpPr txBox="1"/>
          <p:nvPr/>
        </p:nvSpPr>
        <p:spPr>
          <a:xfrm>
            <a:off x="3186926" y="5137542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A0F5D-E35F-6473-85B4-E60E6B15F6BA}"/>
              </a:ext>
            </a:extLst>
          </p:cNvPr>
          <p:cNvSpPr txBox="1"/>
          <p:nvPr/>
        </p:nvSpPr>
        <p:spPr>
          <a:xfrm>
            <a:off x="5859431" y="5137542"/>
            <a:ext cx="20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{r0,r1},</a:t>
            </a:r>
          </a:p>
          <a:p>
            <a:r>
              <a:rPr lang="en-US" sz="2000" dirty="0"/>
              <a:t>r0=?, r1=?</a:t>
            </a:r>
          </a:p>
        </p:txBody>
      </p:sp>
    </p:spTree>
    <p:extLst>
      <p:ext uri="{BB962C8B-B14F-4D97-AF65-F5344CB8AC3E}">
        <p14:creationId xmlns:p14="http://schemas.microsoft.com/office/powerpoint/2010/main" val="43788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1381-7AB9-FDA4-7FF9-72D96B8A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305BA-4383-D05A-A09F-E8888E97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41A1B-240A-D65E-9382-43BCA168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6B1B3-16B9-7552-E252-1625434D03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670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0"/>
              </a:spcBef>
            </a:pPr>
            <a:r>
              <a:rPr lang="en-US" dirty="0"/>
              <a:t>Initially, let r0=0, r1=1, r2=2, r3=3</a:t>
            </a:r>
          </a:p>
          <a:p>
            <a:pPr marL="342900" indent="-342900"/>
            <a:r>
              <a:rPr lang="en-US" dirty="0"/>
              <a:t>Execute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{r1,r2}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PUSH {r3,r0}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     POP {r0-r3}  (same as </a:t>
            </a:r>
            <a:r>
              <a:rPr lang="pt-BR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POP {r0, r1, r2, r3}</a:t>
            </a:r>
            <a:r>
              <a:rPr lang="en-US" dirty="0">
                <a:solidFill>
                  <a:srgbClr val="7030A0"/>
                </a:solidFill>
                <a:ea typeface="Courier New"/>
                <a:cs typeface="Courier New"/>
                <a:sym typeface="Courier New"/>
              </a:rPr>
              <a:t>)</a:t>
            </a:r>
          </a:p>
          <a:p>
            <a:pPr marL="342900" indent="-342900"/>
            <a:r>
              <a:rPr lang="en-US" dirty="0"/>
              <a:t>Draw stack after each instruction. What is in registers after execution?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DAA85D-661A-99AB-3D20-19E0FF250C15}"/>
              </a:ext>
            </a:extLst>
          </p:cNvPr>
          <p:cNvGraphicFramePr>
            <a:graphicFrameLocks noGrp="1"/>
          </p:cNvGraphicFramePr>
          <p:nvPr/>
        </p:nvGraphicFramePr>
        <p:xfrm>
          <a:off x="955684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E94243C7-593D-0C96-F723-8D4C183BBC42}"/>
              </a:ext>
            </a:extLst>
          </p:cNvPr>
          <p:cNvSpPr/>
          <p:nvPr/>
        </p:nvSpPr>
        <p:spPr>
          <a:xfrm>
            <a:off x="479216" y="3913934"/>
            <a:ext cx="397565" cy="235054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D1BED-766C-F58C-91B9-24985E60BCCB}"/>
              </a:ext>
            </a:extLst>
          </p:cNvPr>
          <p:cNvSpPr txBox="1"/>
          <p:nvPr/>
        </p:nvSpPr>
        <p:spPr>
          <a:xfrm>
            <a:off x="-23357" y="3815407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8D6398-3761-E3BF-934F-679B11655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70302"/>
              </p:ext>
            </p:extLst>
          </p:nvPr>
        </p:nvGraphicFramePr>
        <p:xfrm>
          <a:off x="2876940" y="3799348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6440A4-115E-9454-B8B0-2DAC5F2E8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42638"/>
              </p:ext>
            </p:extLst>
          </p:nvPr>
        </p:nvGraphicFramePr>
        <p:xfrm>
          <a:off x="5181600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2562272-51E0-2489-4A34-7B222B899CB7}"/>
              </a:ext>
            </a:extLst>
          </p:cNvPr>
          <p:cNvSpPr txBox="1"/>
          <p:nvPr/>
        </p:nvSpPr>
        <p:spPr>
          <a:xfrm>
            <a:off x="2265540" y="5737878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{r1,r2}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D86A8-AA90-1492-FAB2-5B31D09C28BB}"/>
              </a:ext>
            </a:extLst>
          </p:cNvPr>
          <p:cNvSpPr txBox="1"/>
          <p:nvPr/>
        </p:nvSpPr>
        <p:spPr>
          <a:xfrm>
            <a:off x="4575711" y="5733869"/>
            <a:ext cx="2172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PUSH {r3,r0}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F2FBF41-08B2-16FD-577F-65544DBE3A6E}"/>
              </a:ext>
            </a:extLst>
          </p:cNvPr>
          <p:cNvGraphicFramePr>
            <a:graphicFrameLocks noGrp="1"/>
          </p:cNvGraphicFramePr>
          <p:nvPr/>
        </p:nvGraphicFramePr>
        <p:xfrm>
          <a:off x="7417937" y="3784600"/>
          <a:ext cx="838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965708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5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4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1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8819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8B69D91-DFE6-88E9-7060-DADED4F5332B}"/>
              </a:ext>
            </a:extLst>
          </p:cNvPr>
          <p:cNvSpPr txBox="1"/>
          <p:nvPr/>
        </p:nvSpPr>
        <p:spPr>
          <a:xfrm>
            <a:off x="6721062" y="5743714"/>
            <a:ext cx="2383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POP {r0-r3}</a:t>
            </a:r>
          </a:p>
          <a:p>
            <a:r>
              <a:rPr lang="en-US" sz="2000" dirty="0"/>
              <a:t>r0=?, r1=?, r2=?, r3=?</a:t>
            </a:r>
          </a:p>
        </p:txBody>
      </p:sp>
    </p:spTree>
    <p:extLst>
      <p:ext uri="{BB962C8B-B14F-4D97-AF65-F5344CB8AC3E}">
        <p14:creationId xmlns:p14="http://schemas.microsoft.com/office/powerpoint/2010/main" val="465749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CAEB-CD92-F6E6-96EC-622670592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5D03-E63B-948E-7B28-FE2BC0D4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What’s wrong? Passing arguments and Returning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24FAD-DC69-0014-9A87-E1D9B0AF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1B8CA-B3E7-1ACE-322F-D0B4A4D4E57D}"/>
              </a:ext>
            </a:extLst>
          </p:cNvPr>
          <p:cNvSpPr/>
          <p:nvPr/>
        </p:nvSpPr>
        <p:spPr>
          <a:xfrm>
            <a:off x="76200" y="1593468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a8, uint8_t b8, uint16_t c16, uint16_t d16,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e32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5669A-1FE1-C6BC-0617-481BE80F1863}"/>
              </a:ext>
            </a:extLst>
          </p:cNvPr>
          <p:cNvSpPr txBox="1"/>
          <p:nvPr/>
        </p:nvSpPr>
        <p:spPr>
          <a:xfrm>
            <a:off x="304800" y="27540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6639-51AC-D259-C3DB-1521D258BD49}"/>
              </a:ext>
            </a:extLst>
          </p:cNvPr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F04556-2048-4F19-A763-9BBFFFCAD277}"/>
              </a:ext>
            </a:extLst>
          </p:cNvPr>
          <p:cNvSpPr txBox="1"/>
          <p:nvPr/>
        </p:nvSpPr>
        <p:spPr>
          <a:xfrm>
            <a:off x="449580" y="3256122"/>
            <a:ext cx="2464136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 r0, #5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e32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MOV r0, #1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 r1, #2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 r2, #3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 r3, #4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sum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C2BFAF-703A-1607-3F8B-C3C6EAC24548}"/>
              </a:ext>
            </a:extLst>
          </p:cNvPr>
          <p:cNvSpPr txBox="1"/>
          <p:nvPr/>
        </p:nvSpPr>
        <p:spPr>
          <a:xfrm>
            <a:off x="3581400" y="28409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7EE5F-FDFB-4DFD-A418-4743BE043075}"/>
              </a:ext>
            </a:extLst>
          </p:cNvPr>
          <p:cNvSpPr txBox="1"/>
          <p:nvPr/>
        </p:nvSpPr>
        <p:spPr>
          <a:xfrm>
            <a:off x="3607914" y="3305718"/>
            <a:ext cx="373050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latin typeface="Consolas" panose="020B0609020204030204" pitchFamily="49" charset="0"/>
              </a:rPr>
              <a:t> PROC  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e32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</p:spTree>
    <p:extLst>
      <p:ext uri="{BB962C8B-B14F-4D97-AF65-F5344CB8AC3E}">
        <p14:creationId xmlns:p14="http://schemas.microsoft.com/office/powerpoint/2010/main" val="397021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a64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6316" y="2971800"/>
            <a:ext cx="1011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0750" y="2971800"/>
            <a:ext cx="1013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Register;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4152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uint64_t sum(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uint64_t</a:t>
            </a:r>
            <a:r>
              <a:rPr lang="en-US" b="1" dirty="0">
                <a:latin typeface="Consolas" panose="020B0609020204030204" pitchFamily="49" charset="0"/>
              </a:rPr>
              <a:t> a64, uint8_t b8, uint16_t c16, uint16_t d16);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8297" y="3233683"/>
            <a:ext cx="3254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Caller pushes d16 onto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Callee reads d16 from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CDBB7-71A9-FB4A-2F12-ED2860D67D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2800"/>
            <a:ext cx="8229600" cy="594761"/>
          </a:xfrm>
        </p:spPr>
        <p:txBody>
          <a:bodyPr/>
          <a:lstStyle/>
          <a:p>
            <a:r>
              <a:rPr lang="en-US" dirty="0"/>
              <a:t>Fill in register names.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CF141-54B6-E918-D23B-B3681FDA3C22}"/>
              </a:ext>
            </a:extLst>
          </p:cNvPr>
          <p:cNvSpPr txBox="1"/>
          <p:nvPr/>
        </p:nvSpPr>
        <p:spPr>
          <a:xfrm>
            <a:off x="6438900" y="2971800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Register: 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1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9777-22BA-A4F2-A717-CA88FA78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</a:t>
            </a:r>
            <a:r>
              <a:rPr lang="en-US" altLang="zh-CN"/>
              <a:t>is Wrong?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26B7A-A91C-8739-59F7-FED523EC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8200F-E2E0-2FC9-A24B-3D85B65165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54D579-850A-433C-2F4C-D7CBDE33F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25091"/>
              </p:ext>
            </p:extLst>
          </p:nvPr>
        </p:nvGraphicFramePr>
        <p:xfrm>
          <a:off x="2696497" y="1731779"/>
          <a:ext cx="5791200" cy="20189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int32_t sum3(int32_t a1, int32_t a2, int32_t a3);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</a:t>
                      </a:r>
                      <a:r>
                        <a:rPr lang="fr-FR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){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int32_t s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 = sum3(-1, -2, -3) + sum3(4, 5, 6);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3EEF33-13EC-BB93-CE67-9DD4DBFC2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12184"/>
              </p:ext>
            </p:extLst>
          </p:nvPr>
        </p:nvGraphicFramePr>
        <p:xfrm>
          <a:off x="4847303" y="3856560"/>
          <a:ext cx="3657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sum3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sum3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r3 = sum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r1 ; sum = a1 + a2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r3, r0, r2 ; sum += a3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pc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05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FAD6-E4B6-9B88-FA7A-9F38A7C5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toLower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B6A81-95A1-E1AF-809E-6F8C58EA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EBE5EF-493B-E11A-1B1D-CCABF51AA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79025"/>
              </p:ext>
            </p:extLst>
          </p:nvPr>
        </p:nvGraphicFramePr>
        <p:xfrm>
          <a:off x="228600" y="1385857"/>
          <a:ext cx="4800600" cy="4693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#include &lt;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stdio.h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extern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mystery(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 </a:t>
                      </a:r>
                      <a:r>
                        <a:rPr kumimoji="0" lang="en-US" sz="14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/* mystery assembler routine */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main(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void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static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str[]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"Hello, World!";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(str)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sz="1400" b="1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sizeof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(str[0]);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char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for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(str[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]);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printf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("%s\n",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newstr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return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0;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1ADC90-ADB8-D7DD-0AC3-9F57EB29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58298"/>
              </p:ext>
            </p:extLst>
          </p:nvPr>
        </p:nvGraphicFramePr>
        <p:xfrm>
          <a:off x="5139813" y="2133601"/>
          <a:ext cx="3657600" cy="17879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5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4076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(int c)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if (c &gt;= 'A' &amp;&amp; c &lt;= 'Z')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c += 'a' - 'A';</a:t>
                      </a:r>
                    </a:p>
                    <a:p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return c;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8877E1E-4738-45CE-9CC3-2C75B88FD7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29200" y="1125794"/>
            <a:ext cx="3581400" cy="1115961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Consider the following C program that converts all ASCII letters to lower case. Write the </a:t>
            </a:r>
            <a:r>
              <a:rPr lang="en-US" sz="2000" dirty="0" err="1"/>
              <a:t>toLower</a:t>
            </a:r>
            <a:r>
              <a:rPr lang="en-US" sz="2000" dirty="0"/>
              <a:t> function in ARMv7 assembly code.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1F272-373C-24EF-CF3E-2DDED1980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62635"/>
              </p:ext>
            </p:extLst>
          </p:nvPr>
        </p:nvGraphicFramePr>
        <p:xfrm>
          <a:off x="5139813" y="4030356"/>
          <a:ext cx="3657600" cy="20494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Program Assembly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.text</a:t>
                      </a:r>
                    </a:p>
                    <a:p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.global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endParaRPr kumimoji="0" 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toLower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74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ADDE-B5E4-F571-7D39-10F7E6EF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Then Else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9614DF-7D37-017A-6AE1-CB37C3AA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B5709-ADC9-6526-7743-1565742B86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 the following program into ARMv7 assembly.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29E53D-EF51-C81E-B5A8-ACE61F69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02087"/>
              </p:ext>
            </p:extLst>
          </p:nvPr>
        </p:nvGraphicFramePr>
        <p:xfrm>
          <a:off x="1295400" y="2438400"/>
          <a:ext cx="64008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76306438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717490994"/>
                    </a:ext>
                  </a:extLst>
                </a:gridCol>
              </a:tblGrid>
              <a:tr h="19796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Program 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41511"/>
                  </a:ext>
                </a:extLst>
              </a:tr>
              <a:tr h="1385729">
                <a:tc>
                  <a:txBody>
                    <a:bodyPr/>
                    <a:lstStyle/>
                    <a:p>
                      <a:r>
                        <a:rPr lang="en-US" sz="1400" dirty="0"/>
                        <a:t>int foo(int x, int y) {</a:t>
                      </a:r>
                    </a:p>
                    <a:p>
                      <a:r>
                        <a:rPr lang="en-US" sz="1400" dirty="0"/>
                        <a:t> 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 &lt; 0) </a:t>
                      </a:r>
                    </a:p>
                    <a:p>
                      <a:r>
                        <a:rPr lang="en-US" sz="1400" dirty="0"/>
                        <a:t>  return 0;</a:t>
                      </a:r>
                    </a:p>
                    <a:p>
                      <a:r>
                        <a:rPr lang="en-US" sz="1400" dirty="0"/>
                        <a:t>else </a:t>
                      </a:r>
                    </a:p>
                    <a:p>
                      <a:r>
                        <a:rPr lang="en-US" sz="1400" dirty="0"/>
                        <a:t>  return 1;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  <a:p>
                      <a:endParaRPr lang="en-US" sz="14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@ int foo(int x, int y) - returns 0 if (</a:t>
                      </a:r>
                      <a:r>
                        <a:rPr lang="en-US" sz="1400" dirty="0" err="1"/>
                        <a:t>x+y</a:t>
                      </a:r>
                      <a:r>
                        <a:rPr lang="en-US" sz="1400" dirty="0"/>
                        <a:t>) &lt; 0, else 1</a:t>
                      </a:r>
                    </a:p>
                    <a:p>
                      <a:r>
                        <a:rPr lang="en-US" sz="1400" dirty="0"/>
                        <a:t>@ x in r0, y in r1, return in r0</a:t>
                      </a:r>
                    </a:p>
                    <a:p>
                      <a:r>
                        <a:rPr lang="en-US" sz="1400" dirty="0"/>
                        <a:t>foo:</a:t>
                      </a:r>
                    </a:p>
                    <a:p>
                      <a:r>
                        <a:rPr lang="en-US" sz="1400" dirty="0"/>
                        <a:t>  …</a:t>
                      </a:r>
                    </a:p>
                    <a:p>
                      <a:r>
                        <a:rPr lang="en-US" sz="1400" dirty="0"/>
                        <a:t>  BX </a:t>
                      </a:r>
                      <a:r>
                        <a:rPr lang="en-US" sz="1400" dirty="0" err="1"/>
                        <a:t>lr</a:t>
                      </a:r>
                      <a:endParaRPr lang="en-US" sz="1400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840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06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F89D-8DCD-F432-1E58-FAB096FB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77E67-749A-4929-DF9E-A6F535A2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F8C61-3E91-895F-2C57-5743F12F47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9436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Fill in the blanks (TODO) for the assembly programs for calculating the factorial of a number, corresponding to the following C programs. One recursive version, one iterative version.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A76ECE7-0B5A-383E-0091-ADC927BEEC87}"/>
              </a:ext>
            </a:extLst>
          </p:cNvPr>
          <p:cNvSpPr txBox="1">
            <a:spLocks/>
          </p:cNvSpPr>
          <p:nvPr/>
        </p:nvSpPr>
        <p:spPr>
          <a:xfrm>
            <a:off x="4800600" y="2162810"/>
            <a:ext cx="3886200" cy="37947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//Recursive algorithms for Factorial</a:t>
            </a:r>
          </a:p>
          <a:p>
            <a:pPr marL="0" indent="0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stdint.h</a:t>
            </a:r>
            <a:r>
              <a:rPr lang="en-US" sz="1800" dirty="0"/>
              <a:t>&gt;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uint32_t </a:t>
            </a:r>
            <a:r>
              <a:rPr lang="en-US" sz="1800" dirty="0" err="1"/>
              <a:t>fact_rec</a:t>
            </a:r>
            <a:r>
              <a:rPr lang="en-US" sz="1800" dirty="0"/>
              <a:t>(uint32_t n) {</a:t>
            </a:r>
          </a:p>
          <a:p>
            <a:pPr marL="0" indent="0">
              <a:buNone/>
            </a:pPr>
            <a:r>
              <a:rPr lang="en-US" sz="1800" dirty="0"/>
              <a:t>    if (n &lt;= 1) {</a:t>
            </a:r>
          </a:p>
          <a:p>
            <a:pPr marL="0" indent="0">
              <a:buNone/>
            </a:pPr>
            <a:r>
              <a:rPr lang="en-US" sz="1800" dirty="0"/>
              <a:t>        return 1;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return n * </a:t>
            </a:r>
            <a:r>
              <a:rPr lang="en-US" sz="1800" dirty="0" err="1"/>
              <a:t>fact_rec</a:t>
            </a:r>
            <a:r>
              <a:rPr lang="en-US" sz="1800" dirty="0"/>
              <a:t>(n - 1);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5D15B45-A356-638A-35FB-768B7AA8995D}"/>
              </a:ext>
            </a:extLst>
          </p:cNvPr>
          <p:cNvSpPr txBox="1">
            <a:spLocks/>
          </p:cNvSpPr>
          <p:nvPr/>
        </p:nvSpPr>
        <p:spPr>
          <a:xfrm>
            <a:off x="685800" y="2162810"/>
            <a:ext cx="3886200" cy="42519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//Iterative algorithms for Factorial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stdint.h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uint32_t </a:t>
            </a:r>
            <a:r>
              <a:rPr lang="en-US" dirty="0" err="1"/>
              <a:t>fact_iter</a:t>
            </a:r>
            <a:r>
              <a:rPr lang="en-US" dirty="0"/>
              <a:t>(uint32_t n) {</a:t>
            </a:r>
          </a:p>
          <a:p>
            <a:pPr marL="0" indent="0">
              <a:buNone/>
            </a:pPr>
            <a:r>
              <a:rPr lang="en-US" dirty="0"/>
              <a:t>    uint32_t acc = 1;</a:t>
            </a:r>
          </a:p>
          <a:p>
            <a:pPr marL="0" indent="0">
              <a:buNone/>
            </a:pPr>
            <a:r>
              <a:rPr lang="en-US" dirty="0"/>
              <a:t>    if (n &lt;= 1) {</a:t>
            </a:r>
          </a:p>
          <a:p>
            <a:pPr marL="0" indent="0">
              <a:buNone/>
            </a:pPr>
            <a:r>
              <a:rPr lang="en-US" dirty="0"/>
              <a:t>        return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while (n &gt; 1) {</a:t>
            </a:r>
          </a:p>
          <a:p>
            <a:pPr marL="0" indent="0">
              <a:buNone/>
            </a:pPr>
            <a:r>
              <a:rPr lang="en-US" dirty="0"/>
              <a:t>        acc *= n;</a:t>
            </a:r>
          </a:p>
          <a:p>
            <a:pPr marL="0" indent="0">
              <a:buNone/>
            </a:pPr>
            <a:r>
              <a:rPr lang="en-US" dirty="0"/>
              <a:t>        n -= 1;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acc;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713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6404-63EE-CB5A-481A-AD6B0B09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3D6100-04EF-AD50-41F7-0624A60BB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FFC15-913C-F5C8-F67E-5B2B529599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657600" cy="45720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% uint32_t </a:t>
            </a:r>
            <a:r>
              <a:rPr lang="en-US" dirty="0" err="1"/>
              <a:t>fact_iter</a:t>
            </a:r>
            <a:r>
              <a:rPr lang="en-US" dirty="0"/>
              <a:t>(uint32_t n);</a:t>
            </a:r>
          </a:p>
          <a:p>
            <a:pPr marL="0" indent="0">
              <a:buNone/>
            </a:pPr>
            <a:r>
              <a:rPr lang="en-US" dirty="0"/>
              <a:t>% r0 = n, returns r0 = n!</a:t>
            </a:r>
          </a:p>
          <a:p>
            <a:pPr marL="0" indent="0">
              <a:buNone/>
            </a:pPr>
            <a:r>
              <a:rPr lang="en-US" dirty="0"/>
              <a:t>    .global </a:t>
            </a:r>
            <a:r>
              <a:rPr lang="en-US" dirty="0" err="1"/>
              <a:t>fact_iter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fact_iter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PUSH    {r4, </a:t>
            </a:r>
            <a:r>
              <a:rPr lang="en-US" dirty="0" err="1"/>
              <a:t>lr</a:t>
            </a:r>
            <a:r>
              <a:rPr lang="en-US" dirty="0"/>
              <a:t>}        % save callee-saved we’ll use and return </a:t>
            </a:r>
            <a:r>
              <a:rPr lang="en-US" dirty="0" err="1"/>
              <a:t>addr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MOV    r1, r0          % r1 = n (loop counter)</a:t>
            </a:r>
          </a:p>
          <a:p>
            <a:pPr marL="0" indent="0">
              <a:buNone/>
            </a:pPr>
            <a:r>
              <a:rPr lang="en-US" dirty="0"/>
              <a:t>    MOV    r0, #1         % r0 = acc = 1</a:t>
            </a:r>
          </a:p>
          <a:p>
            <a:pPr marL="0" indent="0">
              <a:buNone/>
            </a:pPr>
            <a:r>
              <a:rPr lang="en-US" dirty="0"/>
              <a:t>    CMP     r1, #1</a:t>
            </a:r>
          </a:p>
          <a:p>
            <a:pPr marL="0" indent="0">
              <a:buNone/>
            </a:pPr>
            <a:r>
              <a:rPr lang="en-US" dirty="0"/>
              <a:t>    BLS     .</a:t>
            </a:r>
            <a:r>
              <a:rPr lang="en-US" dirty="0" err="1"/>
              <a:t>Ldone_iter</a:t>
            </a:r>
            <a:r>
              <a:rPr lang="en-US" dirty="0"/>
              <a:t>  % if n &lt;= 1,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Lloop_iter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% TODO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Ldone_iter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POP     {r4, </a:t>
            </a:r>
            <a:r>
              <a:rPr lang="en-US" dirty="0" err="1"/>
              <a:t>lr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60DE175-89CF-1980-2FF5-09D118299DF7}"/>
              </a:ext>
            </a:extLst>
          </p:cNvPr>
          <p:cNvSpPr txBox="1">
            <a:spLocks/>
          </p:cNvSpPr>
          <p:nvPr/>
        </p:nvSpPr>
        <p:spPr>
          <a:xfrm>
            <a:off x="4267200" y="1219200"/>
            <a:ext cx="4800600" cy="5334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>
            <a:normAutofit fontScale="4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% uint32_t factorial(uint32_t n);</a:t>
            </a:r>
          </a:p>
          <a:p>
            <a:pPr marL="0" indent="0">
              <a:buNone/>
            </a:pPr>
            <a:r>
              <a:rPr lang="en-US" dirty="0"/>
              <a:t>% r0: n</a:t>
            </a:r>
          </a:p>
          <a:p>
            <a:pPr marL="0" indent="0">
              <a:buNone/>
            </a:pPr>
            <a:r>
              <a:rPr lang="en-US" dirty="0"/>
              <a:t>% returns r0: n!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factorial:</a:t>
            </a:r>
          </a:p>
          <a:p>
            <a:pPr marL="0" indent="0">
              <a:buNone/>
            </a:pPr>
            <a:r>
              <a:rPr lang="en-US" dirty="0"/>
              <a:t>    CMP     r0, #1            % if (n &lt;= 1) ...</a:t>
            </a:r>
          </a:p>
          <a:p>
            <a:pPr marL="0" indent="0">
              <a:buNone/>
            </a:pPr>
            <a:r>
              <a:rPr lang="en-US" dirty="0"/>
              <a:t>    BLE     </a:t>
            </a:r>
            <a:r>
              <a:rPr lang="en-US" dirty="0" err="1"/>
              <a:t>base_case</a:t>
            </a:r>
            <a:r>
              <a:rPr lang="en-US" dirty="0"/>
              <a:t>         %    ... return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PUSH    {</a:t>
            </a:r>
            <a:r>
              <a:rPr lang="en-US" dirty="0" err="1"/>
              <a:t>lr</a:t>
            </a:r>
            <a:r>
              <a:rPr lang="en-US" dirty="0"/>
              <a:t>}              % save return address for this frame</a:t>
            </a:r>
          </a:p>
          <a:p>
            <a:pPr marL="0" indent="0">
              <a:buNone/>
            </a:pPr>
            <a:r>
              <a:rPr lang="en-US" dirty="0"/>
              <a:t>    PUSH    {r0}              % save current n on stack (we'll need it after the recursive call)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SUB     r0, r0, #1        % r0 = n - 1 (argument for recursive call)</a:t>
            </a:r>
          </a:p>
          <a:p>
            <a:pPr marL="0" indent="0">
              <a:buNone/>
            </a:pPr>
            <a:r>
              <a:rPr lang="en-US" dirty="0"/>
              <a:t>    BL      factorial         % r0 = factorial(n - 1)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{r1}              % r1 = saved n (restore caller's n)</a:t>
            </a:r>
          </a:p>
          <a:p>
            <a:pPr marL="0" indent="0">
              <a:buNone/>
            </a:pPr>
            <a:r>
              <a:rPr lang="en-US" dirty="0"/>
              <a:t>    MUL     r0, r0, r1        % r0 = factorial(n - 1) *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POP     {</a:t>
            </a:r>
            <a:r>
              <a:rPr lang="en-US" dirty="0" err="1"/>
              <a:t>lr</a:t>
            </a:r>
            <a:r>
              <a:rPr lang="en-US" dirty="0"/>
              <a:t>}              % restore return address</a:t>
            </a:r>
          </a:p>
          <a:p>
            <a:pPr marL="0" indent="0">
              <a:buNone/>
            </a:pPr>
            <a:r>
              <a:rPr lang="en-US" dirty="0"/>
              <a:t>    BX      </a:t>
            </a:r>
            <a:r>
              <a:rPr lang="en-US" dirty="0" err="1"/>
              <a:t>lr</a:t>
            </a:r>
            <a:r>
              <a:rPr lang="en-US" dirty="0"/>
              <a:t>                % return with result in r0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base_case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% TODO</a:t>
            </a:r>
          </a:p>
        </p:txBody>
      </p:sp>
    </p:spTree>
    <p:extLst>
      <p:ext uri="{BB962C8B-B14F-4D97-AF65-F5344CB8AC3E}">
        <p14:creationId xmlns:p14="http://schemas.microsoft.com/office/powerpoint/2010/main" val="405611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1483-7081-C44C-81EF-D92F0010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5817A-DD66-D447-B2D9-564644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09315-49B9-8548-BA54-379B42B31ADB}"/>
              </a:ext>
            </a:extLst>
          </p:cNvPr>
          <p:cNvSpPr txBox="1"/>
          <p:nvPr/>
        </p:nvSpPr>
        <p:spPr>
          <a:xfrm>
            <a:off x="457200" y="2006188"/>
            <a:ext cx="375295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int16_t </a:t>
            </a:r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(int16_t *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uint32_t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int32_t sum = 0;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&lt;64;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++)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array size = 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sum +=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return (int16_t) sum;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23A4E-8569-6941-84A9-89F1C41E64AF}"/>
              </a:ext>
            </a:extLst>
          </p:cNvPr>
          <p:cNvSpPr txBox="1"/>
          <p:nvPr/>
        </p:nvSpPr>
        <p:spPr>
          <a:xfrm>
            <a:off x="4340418" y="2006187"/>
            <a:ext cx="443262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sum_of_array</a:t>
            </a:r>
            <a:r>
              <a:rPr lang="en-US" sz="12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r2,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loop index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r3, #0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     check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loop  LDRSH r1, [r0], #2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r3, r3, r1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sum +=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pArray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ADD   r2, r2, #1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check CMP   r2, #64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BLO   loop  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if unsigned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MOV   r0, r3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return result in r0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BX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ENDP</a:t>
            </a:r>
          </a:p>
        </p:txBody>
      </p:sp>
    </p:spTree>
    <p:extLst>
      <p:ext uri="{BB962C8B-B14F-4D97-AF65-F5344CB8AC3E}">
        <p14:creationId xmlns:p14="http://schemas.microsoft.com/office/powerpoint/2010/main" val="2017314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C4F0-89D8-54C1-7B5F-442BB66D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CEC4B-05BD-C502-9FB9-FEB63BA9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7CD4C-D1B7-839F-818C-C650C0AA88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out the sequence of values of r0 and r7 after running this program.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33230-46BA-8663-0449-A907C073A049}"/>
              </a:ext>
            </a:extLst>
          </p:cNvPr>
          <p:cNvSpPr txBox="1"/>
          <p:nvPr/>
        </p:nvSpPr>
        <p:spPr>
          <a:xfrm>
            <a:off x="866618" y="2125087"/>
            <a:ext cx="3454460" cy="4031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start: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mov     r0, #1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main: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add     r0, r0, #1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r0, #5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bne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skip  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bl      call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skip: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       main        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add     r7, r7, #255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mov     r0, #1   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bx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4214831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2194</TotalTime>
  <Words>1626</Words>
  <Application>Microsoft Office PowerPoint</Application>
  <PresentationFormat>On-screen Show (4:3)</PresentationFormat>
  <Paragraphs>268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Bookman Old Style (Headings)</vt:lpstr>
      <vt:lpstr>Arial</vt:lpstr>
      <vt:lpstr>Bookman Old Style</vt:lpstr>
      <vt:lpstr>Calibri</vt:lpstr>
      <vt:lpstr>Consolas</vt:lpstr>
      <vt:lpstr>Courier New</vt:lpstr>
      <vt:lpstr>Gill Sans MT</vt:lpstr>
      <vt:lpstr>Wingdings</vt:lpstr>
      <vt:lpstr>Wingdings 3</vt:lpstr>
      <vt:lpstr>Origin</vt:lpstr>
      <vt:lpstr>Z. Gu</vt:lpstr>
      <vt:lpstr>Stack</vt:lpstr>
      <vt:lpstr>Stack</vt:lpstr>
      <vt:lpstr>What’s wrong? Passing arguments and Returning Value</vt:lpstr>
      <vt:lpstr>Passing arguments and Returning Value</vt:lpstr>
      <vt:lpstr>What is Wrong?</vt:lpstr>
      <vt:lpstr>toLower</vt:lpstr>
      <vt:lpstr>If Then Else</vt:lpstr>
      <vt:lpstr>Factorial</vt:lpstr>
      <vt:lpstr>Factorial</vt:lpstr>
      <vt:lpstr>What is wrong?</vt:lpstr>
      <vt:lpstr>Program Understanding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185</cp:revision>
  <cp:lastPrinted>2018-03-21T12:46:41Z</cp:lastPrinted>
  <dcterms:created xsi:type="dcterms:W3CDTF">2012-11-17T20:04:56Z</dcterms:created>
  <dcterms:modified xsi:type="dcterms:W3CDTF">2025-10-21T19:03:44Z</dcterms:modified>
</cp:coreProperties>
</file>