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86" r:id="rId1"/>
  </p:sldMasterIdLst>
  <p:notesMasterIdLst>
    <p:notesMasterId r:id="rId17"/>
  </p:notesMasterIdLst>
  <p:handoutMasterIdLst>
    <p:handoutMasterId r:id="rId18"/>
  </p:handoutMasterIdLst>
  <p:sldIdLst>
    <p:sldId id="385" r:id="rId2"/>
    <p:sldId id="356" r:id="rId3"/>
    <p:sldId id="363" r:id="rId4"/>
    <p:sldId id="358" r:id="rId5"/>
    <p:sldId id="417" r:id="rId6"/>
    <p:sldId id="810" r:id="rId7"/>
    <p:sldId id="774" r:id="rId8"/>
    <p:sldId id="345" r:id="rId9"/>
    <p:sldId id="369" r:id="rId10"/>
    <p:sldId id="367" r:id="rId11"/>
    <p:sldId id="365" r:id="rId12"/>
    <p:sldId id="801" r:id="rId13"/>
    <p:sldId id="804" r:id="rId14"/>
    <p:sldId id="816" r:id="rId15"/>
    <p:sldId id="818" r:id="rId16"/>
  </p:sldIdLst>
  <p:sldSz cx="9144000" cy="6858000" type="screen4x3"/>
  <p:notesSz cx="9601200" cy="7315200"/>
  <p:defaultTextStyle>
    <a:defPPr>
      <a:defRPr lang="en-US"/>
    </a:defPPr>
    <a:lvl1pPr algn="l" rtl="0" eaLnBrk="0" fontAlgn="base" hangingPunct="0">
      <a:spcBef>
        <a:spcPct val="0"/>
      </a:spcBef>
      <a:spcAft>
        <a:spcPct val="0"/>
      </a:spcAft>
      <a:defRPr sz="1400" b="1" kern="1200">
        <a:solidFill>
          <a:schemeClr val="tx1"/>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p:defaultTextStyle>
  <p:extLst>
    <p:ext uri="{EFAFB233-063F-42B5-8137-9DF3F51BA10A}">
      <p15:sldGuideLst xmlns:p15="http://schemas.microsoft.com/office/powerpoint/2012/main">
        <p15:guide id="1" orient="horz" pos="1083">
          <p15:clr>
            <a:srgbClr val="A4A3A4"/>
          </p15:clr>
        </p15:guide>
        <p15:guide id="2" orient="horz" pos="1826">
          <p15:clr>
            <a:srgbClr val="A4A3A4"/>
          </p15:clr>
        </p15:guide>
        <p15:guide id="3" orient="horz" pos="1381">
          <p15:clr>
            <a:srgbClr val="A4A3A4"/>
          </p15:clr>
        </p15:guide>
        <p15:guide id="4" pos="395">
          <p15:clr>
            <a:srgbClr val="A4A3A4"/>
          </p15:clr>
        </p15:guide>
        <p15:guide id="5" pos="3259">
          <p15:clr>
            <a:srgbClr val="A4A3A4"/>
          </p15:clr>
        </p15:guide>
        <p15:guide id="6" pos="155">
          <p15:clr>
            <a:srgbClr val="A4A3A4"/>
          </p15:clr>
        </p15:guide>
      </p15:sldGuideLst>
    </p:ext>
    <p:ext uri="{2D200454-40CA-4A62-9FC3-DE9A4176ACB9}">
      <p15:notesGuideLst xmlns:p15="http://schemas.microsoft.com/office/powerpoint/2012/main">
        <p15:guide id="1" orient="horz" pos="1615">
          <p15:clr>
            <a:srgbClr val="A4A3A4"/>
          </p15:clr>
        </p15:guide>
        <p15:guide id="2" pos="4025">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41FF"/>
    <a:srgbClr val="00618C"/>
    <a:srgbClr val="006D82"/>
    <a:srgbClr val="A5D0E3"/>
    <a:srgbClr val="49C7FF"/>
    <a:srgbClr val="DDDDDD"/>
    <a:srgbClr val="60E4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E05C3B-B728-42D2-90B4-B4A194916ABF}" v="5" dt="2025-10-21T23:17:32.9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7353" autoAdjust="0"/>
    <p:restoredTop sz="84052" autoAdjust="0"/>
  </p:normalViewPr>
  <p:slideViewPr>
    <p:cSldViewPr snapToGrid="0">
      <p:cViewPr varScale="1">
        <p:scale>
          <a:sx n="69" d="100"/>
          <a:sy n="69" d="100"/>
        </p:scale>
        <p:origin x="1320" y="67"/>
      </p:cViewPr>
      <p:guideLst>
        <p:guide orient="horz" pos="1083"/>
        <p:guide orient="horz" pos="1826"/>
        <p:guide orient="horz" pos="1381"/>
        <p:guide pos="395"/>
        <p:guide pos="3259"/>
        <p:guide pos="155"/>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 d="1"/>
        <a:sy n="1" d="1"/>
      </p:scale>
      <p:origin x="0" y="-648"/>
    </p:cViewPr>
  </p:sorterViewPr>
  <p:notesViewPr>
    <p:cSldViewPr snapToGrid="0">
      <p:cViewPr>
        <p:scale>
          <a:sx n="100" d="100"/>
          <a:sy n="100" d="100"/>
        </p:scale>
        <p:origin x="-648" y="-821"/>
      </p:cViewPr>
      <p:guideLst>
        <p:guide orient="horz" pos="1615"/>
        <p:guide pos="4025"/>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pc:chgData name="Zonghua Gu" userId="9a7e1853e1951ef5" providerId="LiveId" clId="{CF1FAA12-072C-4ED5-BA76-0FFFAEFDB88A}" dt="2025-10-21T23:17:32.957" v="690"/>
      <pc:docMkLst>
        <pc:docMk/>
      </pc:docMkLst>
      <pc:sldChg chg="add">
        <pc:chgData name="Zonghua Gu" userId="9a7e1853e1951ef5" providerId="LiveId" clId="{CF1FAA12-072C-4ED5-BA76-0FFFAEFDB88A}" dt="2025-09-24T22:03:01.373" v="624"/>
        <pc:sldMkLst>
          <pc:docMk/>
          <pc:sldMk cId="3968162788" sldId="801"/>
        </pc:sldMkLst>
      </pc:sldChg>
      <pc:sldChg chg="add">
        <pc:chgData name="Zonghua Gu" userId="9a7e1853e1951ef5" providerId="LiveId" clId="{CF1FAA12-072C-4ED5-BA76-0FFFAEFDB88A}" dt="2025-09-25T21:59:20.329" v="625"/>
        <pc:sldMkLst>
          <pc:docMk/>
          <pc:sldMk cId="2882502133" sldId="804"/>
        </pc:sldMkLst>
      </pc:sldChg>
      <pc:sldChg chg="modSp add mod">
        <pc:chgData name="Zonghua Gu" userId="9a7e1853e1951ef5" providerId="LiveId" clId="{CF1FAA12-072C-4ED5-BA76-0FFFAEFDB88A}" dt="2025-10-08T02:00:59.295" v="631" actId="14100"/>
        <pc:sldMkLst>
          <pc:docMk/>
          <pc:sldMk cId="2952063245" sldId="810"/>
        </pc:sldMkLst>
        <pc:spChg chg="mod">
          <ac:chgData name="Zonghua Gu" userId="9a7e1853e1951ef5" providerId="LiveId" clId="{CF1FAA12-072C-4ED5-BA76-0FFFAEFDB88A}" dt="2025-10-08T02:00:59.295" v="631" actId="14100"/>
          <ac:spMkLst>
            <pc:docMk/>
            <pc:sldMk cId="2952063245" sldId="810"/>
            <ac:spMk id="4" creationId="{2E30BEB6-14A6-7DA1-64FA-D0E05B682530}"/>
          </ac:spMkLst>
        </pc:spChg>
      </pc:sldChg>
      <pc:sldChg chg="addSp delSp modSp add del mod">
        <pc:chgData name="Zonghua Gu" userId="9a7e1853e1951ef5" providerId="LiveId" clId="{CF1FAA12-072C-4ED5-BA76-0FFFAEFDB88A}" dt="2025-10-21T23:17:31.496" v="689" actId="47"/>
        <pc:sldMkLst>
          <pc:docMk/>
          <pc:sldMk cId="754608230" sldId="815"/>
        </pc:sldMkLst>
      </pc:sldChg>
      <pc:sldChg chg="add">
        <pc:chgData name="Zonghua Gu" userId="9a7e1853e1951ef5" providerId="LiveId" clId="{CF1FAA12-072C-4ED5-BA76-0FFFAEFDB88A}" dt="2025-10-21T23:17:32.957" v="690"/>
        <pc:sldMkLst>
          <pc:docMk/>
          <pc:sldMk cId="811401925" sldId="816"/>
        </pc:sldMkLst>
      </pc:sldChg>
      <pc:sldChg chg="add">
        <pc:chgData name="Zonghua Gu" userId="9a7e1853e1951ef5" providerId="LiveId" clId="{CF1FAA12-072C-4ED5-BA76-0FFFAEFDB88A}" dt="2025-10-21T23:17:32.957" v="690"/>
        <pc:sldMkLst>
          <pc:docMk/>
          <pc:sldMk cId="3488595267" sldId="818"/>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7" name="Rectangle 5"/>
          <p:cNvSpPr>
            <a:spLocks noChangeArrowheads="1"/>
          </p:cNvSpPr>
          <p:nvPr/>
        </p:nvSpPr>
        <p:spPr bwMode="auto">
          <a:xfrm>
            <a:off x="2269102" y="229451"/>
            <a:ext cx="5179142" cy="251035"/>
          </a:xfrm>
          <a:prstGeom prst="rect">
            <a:avLst/>
          </a:prstGeom>
          <a:noFill/>
          <a:ln w="9525">
            <a:noFill/>
            <a:miter lim="800000"/>
            <a:headEnd/>
            <a:tailEnd/>
          </a:ln>
        </p:spPr>
        <p:txBody>
          <a:bodyPr/>
          <a:lstStyle/>
          <a:p>
            <a:pPr>
              <a:defRPr/>
            </a:pPr>
            <a:endParaRPr lang="en-US"/>
          </a:p>
        </p:txBody>
      </p:sp>
    </p:spTree>
    <p:extLst>
      <p:ext uri="{BB962C8B-B14F-4D97-AF65-F5344CB8AC3E}">
        <p14:creationId xmlns:p14="http://schemas.microsoft.com/office/powerpoint/2010/main" val="13886261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body" sz="quarter" idx="3"/>
          </p:nvPr>
        </p:nvSpPr>
        <p:spPr bwMode="auto">
          <a:xfrm>
            <a:off x="1277580" y="3487216"/>
            <a:ext cx="7043891" cy="3306607"/>
          </a:xfrm>
          <a:prstGeom prst="rect">
            <a:avLst/>
          </a:prstGeom>
          <a:noFill/>
          <a:ln w="9525">
            <a:noFill/>
            <a:miter lim="800000"/>
            <a:headEnd/>
            <a:tailEnd/>
          </a:ln>
          <a:effectLst/>
        </p:spPr>
        <p:txBody>
          <a:bodyPr vert="horz" wrap="square" lIns="98798" tIns="49399" rIns="98798" bIns="49399"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2" name="Rectangle 4"/>
          <p:cNvSpPr>
            <a:spLocks noChangeArrowheads="1"/>
          </p:cNvSpPr>
          <p:nvPr/>
        </p:nvSpPr>
        <p:spPr bwMode="gray">
          <a:xfrm>
            <a:off x="7351457" y="144260"/>
            <a:ext cx="1740003" cy="346450"/>
          </a:xfrm>
          <a:prstGeom prst="rect">
            <a:avLst/>
          </a:prstGeom>
          <a:solidFill>
            <a:schemeClr val="tx1"/>
          </a:solidFill>
          <a:ln w="12700">
            <a:solidFill>
              <a:schemeClr val="tx1"/>
            </a:solidFill>
            <a:miter lim="800000"/>
            <a:headEnd/>
            <a:tailEnd/>
          </a:ln>
          <a:effectLst/>
        </p:spPr>
        <p:txBody>
          <a:bodyPr wrap="none" lIns="100444" tIns="49399" rIns="100444" bIns="49399" anchor="ctr"/>
          <a:lstStyle/>
          <a:p>
            <a:pPr algn="ctr" defTabSz="1036638">
              <a:defRPr/>
            </a:pPr>
            <a:r>
              <a:rPr lang="en-US" sz="1900">
                <a:solidFill>
                  <a:schemeClr val="bg1"/>
                </a:solidFill>
                <a:latin typeface="Arial" pitchFamily="34" charset="0"/>
              </a:rPr>
              <a:t>Notes</a:t>
            </a:r>
          </a:p>
        </p:txBody>
      </p:sp>
      <p:sp>
        <p:nvSpPr>
          <p:cNvPr id="2053" name="Line 5"/>
          <p:cNvSpPr>
            <a:spLocks noChangeShapeType="1"/>
          </p:cNvSpPr>
          <p:nvPr/>
        </p:nvSpPr>
        <p:spPr bwMode="auto">
          <a:xfrm>
            <a:off x="628036" y="571358"/>
            <a:ext cx="8472027" cy="0"/>
          </a:xfrm>
          <a:prstGeom prst="line">
            <a:avLst/>
          </a:prstGeom>
          <a:noFill/>
          <a:ln w="12700">
            <a:solidFill>
              <a:schemeClr val="tx1"/>
            </a:solidFill>
            <a:round/>
            <a:headEnd type="none" w="sm" len="sm"/>
            <a:tailEnd type="none" w="sm" len="sm"/>
          </a:ln>
          <a:effectLst/>
        </p:spPr>
        <p:txBody>
          <a:bodyPr wrap="none" anchor="ctr"/>
          <a:lstStyle/>
          <a:p>
            <a:pPr>
              <a:defRPr/>
            </a:pPr>
            <a:endParaRPr lang="en-US"/>
          </a:p>
        </p:txBody>
      </p:sp>
      <p:sp>
        <p:nvSpPr>
          <p:cNvPr id="2054" name="Rectangle 6"/>
          <p:cNvSpPr>
            <a:spLocks noChangeArrowheads="1"/>
          </p:cNvSpPr>
          <p:nvPr/>
        </p:nvSpPr>
        <p:spPr bwMode="auto">
          <a:xfrm>
            <a:off x="619432" y="371440"/>
            <a:ext cx="5802876" cy="226484"/>
          </a:xfrm>
          <a:prstGeom prst="rect">
            <a:avLst/>
          </a:prstGeom>
          <a:noFill/>
          <a:ln w="9525">
            <a:noFill/>
            <a:miter lim="800000"/>
            <a:headEnd/>
            <a:tailEnd/>
          </a:ln>
          <a:effectLst/>
        </p:spPr>
        <p:txBody>
          <a:bodyPr lIns="69158" tIns="26346" rIns="69158" bIns="26346">
            <a:spAutoFit/>
          </a:bodyPr>
          <a:lstStyle/>
          <a:p>
            <a:pPr defTabSz="1036638">
              <a:lnSpc>
                <a:spcPct val="90000"/>
              </a:lnSpc>
              <a:tabLst>
                <a:tab pos="989013" algn="l"/>
              </a:tabLst>
              <a:defRPr/>
            </a:pPr>
            <a:r>
              <a:rPr lang="en-US" sz="1200">
                <a:latin typeface="Arial" pitchFamily="34" charset="0"/>
              </a:rPr>
              <a:t>The ARM Architecture</a:t>
            </a:r>
          </a:p>
        </p:txBody>
      </p:sp>
      <p:sp>
        <p:nvSpPr>
          <p:cNvPr id="2055" name="Rectangle 7"/>
          <p:cNvSpPr>
            <a:spLocks noChangeArrowheads="1"/>
          </p:cNvSpPr>
          <p:nvPr/>
        </p:nvSpPr>
        <p:spPr bwMode="auto">
          <a:xfrm>
            <a:off x="4553259" y="6947168"/>
            <a:ext cx="319203" cy="219406"/>
          </a:xfrm>
          <a:prstGeom prst="rect">
            <a:avLst/>
          </a:prstGeom>
          <a:noFill/>
          <a:ln w="9525">
            <a:noFill/>
            <a:miter lim="800000"/>
            <a:headEnd/>
            <a:tailEnd/>
          </a:ln>
          <a:effectLst/>
        </p:spPr>
        <p:txBody>
          <a:bodyPr wrap="none" lIns="69158" tIns="26346" rIns="69158" bIns="26346">
            <a:spAutoFit/>
          </a:bodyPr>
          <a:lstStyle/>
          <a:p>
            <a:pPr defTabSz="1036638">
              <a:lnSpc>
                <a:spcPct val="90000"/>
              </a:lnSpc>
              <a:defRPr/>
            </a:pPr>
            <a:fld id="{01D96813-752F-4230-8F78-89BE1AD35FEA}" type="slidenum">
              <a:rPr lang="en-US" sz="1200">
                <a:solidFill>
                  <a:srgbClr val="006D82"/>
                </a:solidFill>
                <a:latin typeface="Times New Roman" pitchFamily="18" charset="0"/>
              </a:rPr>
              <a:pPr defTabSz="1036638">
                <a:lnSpc>
                  <a:spcPct val="90000"/>
                </a:lnSpc>
                <a:defRPr/>
              </a:pPr>
              <a:t>‹#›</a:t>
            </a:fld>
            <a:endParaRPr lang="en-US" sz="1200">
              <a:solidFill>
                <a:srgbClr val="006D82"/>
              </a:solidFill>
              <a:latin typeface="Times New Roman" pitchFamily="18" charset="0"/>
            </a:endParaRPr>
          </a:p>
        </p:txBody>
      </p:sp>
      <p:sp>
        <p:nvSpPr>
          <p:cNvPr id="32775" name="Rectangle 8"/>
          <p:cNvSpPr>
            <a:spLocks noGrp="1" noRot="1" noChangeAspect="1" noChangeArrowheads="1" noTextEdit="1"/>
          </p:cNvSpPr>
          <p:nvPr>
            <p:ph type="sldImg" idx="2"/>
          </p:nvPr>
        </p:nvSpPr>
        <p:spPr bwMode="auto">
          <a:xfrm>
            <a:off x="3074988" y="673100"/>
            <a:ext cx="3427412" cy="2571750"/>
          </a:xfrm>
          <a:prstGeom prst="rect">
            <a:avLst/>
          </a:prstGeom>
          <a:noFill/>
          <a:ln w="9525">
            <a:solidFill>
              <a:srgbClr val="000000"/>
            </a:solidFill>
            <a:miter lim="800000"/>
            <a:headEnd/>
            <a:tailEnd/>
          </a:ln>
        </p:spPr>
      </p:sp>
    </p:spTree>
    <p:extLst>
      <p:ext uri="{BB962C8B-B14F-4D97-AF65-F5344CB8AC3E}">
        <p14:creationId xmlns:p14="http://schemas.microsoft.com/office/powerpoint/2010/main" val="1201248719"/>
      </p:ext>
    </p:extLst>
  </p:cSld>
  <p:clrMap bg1="lt1" tx1="dk1" bg2="lt2" tx2="dk2" accent1="accent1" accent2="accent2" accent3="accent3" accent4="accent4" accent5="accent5" accent6="accent6" hlink="hlink" folHlink="folHlink"/>
  <p:notesStyle>
    <a:lvl1pPr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73075"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4773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420813"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9388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file:///C:\Users\zongh\Desktop\CSC111\exercises\Scribd%20OCR%20II.docx#fn1"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8497731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6996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3063875" y="684213"/>
            <a:ext cx="3487738" cy="2616200"/>
          </a:xfrm>
          <a:ln/>
        </p:spPr>
      </p:sp>
      <p:sp>
        <p:nvSpPr>
          <p:cNvPr id="56323" name="Rectangle 1027"/>
          <p:cNvSpPr>
            <a:spLocks noGrp="1" noChangeArrowheads="1"/>
          </p:cNvSpPr>
          <p:nvPr>
            <p:ph type="body" idx="1"/>
          </p:nvPr>
        </p:nvSpPr>
        <p:spPr>
          <a:xfrm>
            <a:off x="1277580" y="3488352"/>
            <a:ext cx="7046042" cy="3303199"/>
          </a:xfrm>
          <a:solidFill>
            <a:srgbClr val="FFFFFF"/>
          </a:solidFill>
          <a:ln>
            <a:solidFill>
              <a:srgbClr val="000000"/>
            </a:solidFill>
          </a:ln>
        </p:spPr>
        <p:txBody>
          <a:bodyPr lIns="91303" tIns="45651" rIns="91303" bIns="45651"/>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0322399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sp>
      <p:sp>
        <p:nvSpPr>
          <p:cNvPr id="56323" name="Rectangle 1027"/>
          <p:cNvSpPr>
            <a:spLocks noGrp="1" noChangeArrowheads="1"/>
          </p:cNvSpPr>
          <p:nvPr>
            <p:ph type="body" idx="1"/>
          </p:nvPr>
        </p:nvSpPr>
        <p:spPr>
          <a:xfrm>
            <a:off x="1237021" y="3343003"/>
            <a:ext cx="6822358" cy="3165566"/>
          </a:xfrm>
          <a:solidFill>
            <a:srgbClr val="FFFFFF"/>
          </a:solidFill>
          <a:ln>
            <a:solidFill>
              <a:srgbClr val="000000"/>
            </a:solidFill>
          </a:ln>
        </p:spPr>
        <p:txBody>
          <a:bodyPr lIns="88007" tIns="44003" rIns="88007" bIns="44003"/>
          <a:lstStyle/>
          <a:p>
            <a:r>
              <a:rPr lang="en-US" dirty="0"/>
              <a:t>Halfword access and signed halfword/byte accesses were added to the architecture in v4T, this is the reason the offset field is not as flexible as the normal word/byte load/store - not a problem because these accesses are less common.</a:t>
            </a:r>
          </a:p>
          <a:p>
            <a:endParaRPr lang="en-US" dirty="0"/>
          </a:p>
          <a:p>
            <a:r>
              <a:rPr lang="en-US" dirty="0"/>
              <a:t>Link: diagram on next slide</a:t>
            </a:r>
          </a:p>
        </p:txBody>
      </p:sp>
    </p:spTree>
    <p:extLst>
      <p:ext uri="{BB962C8B-B14F-4D97-AF65-F5344CB8AC3E}">
        <p14:creationId xmlns:p14="http://schemas.microsoft.com/office/powerpoint/2010/main" val="20138220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97FDFF-7B9F-7D4D-BFC0-AAD1F3D3D3CB}" type="slidenum">
              <a:rPr lang="en-US" smtClean="0"/>
              <a:pPr/>
              <a:t>7</a:t>
            </a:fld>
            <a:endParaRPr lang="en-US" dirty="0"/>
          </a:p>
        </p:txBody>
      </p:sp>
    </p:spTree>
    <p:extLst>
      <p:ext uri="{BB962C8B-B14F-4D97-AF65-F5344CB8AC3E}">
        <p14:creationId xmlns:p14="http://schemas.microsoft.com/office/powerpoint/2010/main" val="9069692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668D8-F05C-2E94-D1C3-2181608EAC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4A841-09CB-783C-8C0B-28BD29BAA0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321DBF-12AB-9744-9A46-4D632253757A}"/>
              </a:ext>
            </a:extLst>
          </p:cNvPr>
          <p:cNvSpPr>
            <a:spLocks noGrp="1"/>
          </p:cNvSpPr>
          <p:nvPr>
            <p:ph type="body" idx="1"/>
          </p:nvPr>
        </p:nvSpPr>
        <p:spPr/>
        <p:txBody>
          <a:bodyPr/>
          <a:lstStyle/>
          <a:p>
            <a:pPr marL="0" marR="0" lvl="0" indent="0" algn="l" defTabSz="981075"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Times New Roman" pitchFamily="18" charset="0"/>
                <a:ea typeface="+mn-ea"/>
                <a:cs typeface="+mn-cs"/>
              </a:rPr>
              <a:t>Address Register</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0x8010 0x00000001 0x13 r0</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0x800c 0xFEEDDEAF 0xFFFFFFFF r1</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0x8008 0x00008888 0xEEEEEEEE r2</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0x8004 0x12340000 0x8000 r3</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0x8000 0xBABE0000</a:t>
            </a:r>
            <a:r>
              <a:rPr lang="en-US" sz="1200" u="sng" kern="1200" baseline="30000" dirty="0">
                <a:solidFill>
                  <a:schemeClr val="tx1"/>
                </a:solidFill>
                <a:effectLst/>
                <a:latin typeface="Times New Roman" pitchFamily="18" charset="0"/>
                <a:ea typeface="+mn-ea"/>
                <a:cs typeface="+mn-cs"/>
                <a:hlinkClick r:id="rId3"/>
              </a:rPr>
              <a:t>[1]</a:t>
            </a:r>
            <a:endParaRPr lang="en-US" sz="1200" kern="1200" dirty="0">
              <a:solidFill>
                <a:schemeClr val="tx1"/>
              </a:solidFill>
              <a:effectLst/>
              <a:latin typeface="Times New Roman" pitchFamily="18" charset="0"/>
              <a:ea typeface="+mn-ea"/>
              <a:cs typeface="+mn-cs"/>
            </a:endParaRPr>
          </a:p>
          <a:p>
            <a:endParaRPr lang="en-US" dirty="0"/>
          </a:p>
        </p:txBody>
      </p:sp>
    </p:spTree>
    <p:extLst>
      <p:ext uri="{BB962C8B-B14F-4D97-AF65-F5344CB8AC3E}">
        <p14:creationId xmlns:p14="http://schemas.microsoft.com/office/powerpoint/2010/main" val="29007313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A3867-4610-0FCB-FE13-CBAA94B0C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19C7F-982C-EA9B-A15F-97625353E8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03BB58-98A9-1D41-2B55-40AF13E8496A}"/>
              </a:ext>
            </a:extLst>
          </p:cNvPr>
          <p:cNvSpPr>
            <a:spLocks noGrp="1"/>
          </p:cNvSpPr>
          <p:nvPr>
            <p:ph type="body" idx="1"/>
          </p:nvPr>
        </p:nvSpPr>
        <p:spPr/>
        <p:txBody>
          <a:bodyPr/>
          <a:lstStyle/>
          <a:p>
            <a:r>
              <a:rPr lang="en-US" dirty="0"/>
              <a:t>You are absolutely correct! For LDRSH R7, [R2, #2] in little-endian, the result is 0x00002345.image.jpg</a:t>
            </a:r>
          </a:p>
          <a:p>
            <a:r>
              <a:rPr lang="en-US" dirty="0"/>
              <a:t>After STR stores 0x23456789 at address 8:</a:t>
            </a:r>
          </a:p>
          <a:p>
            <a:r>
              <a:rPr lang="en-US" b="1" dirty="0"/>
              <a:t>Big-endian layout:</a:t>
            </a:r>
          </a:p>
          <a:p>
            <a:r>
              <a:rPr lang="en-US" dirty="0"/>
              <a:t>Address 8: 0x23, Address 9: 0x45, Address 10: 0x67, Address 11: 0x89</a:t>
            </a:r>
          </a:p>
          <a:p>
            <a:r>
              <a:rPr lang="en-US" b="1" dirty="0"/>
              <a:t>Little-endian layout:</a:t>
            </a:r>
          </a:p>
          <a:p>
            <a:r>
              <a:rPr lang="en-US" dirty="0"/>
              <a:t>Address 8: 0x89, Address 9: 0x67, Address 10: 0x45, Address 11: 0x23</a:t>
            </a:r>
          </a:p>
          <a:p>
            <a:r>
              <a:rPr lang="en-US" b="1" dirty="0"/>
              <a:t>Results for each instruction:</a:t>
            </a:r>
          </a:p>
          <a:p>
            <a:r>
              <a:rPr lang="en-US" b="1" dirty="0"/>
              <a:t>LDRB R7, [R2, #1]</a:t>
            </a:r>
            <a:r>
              <a:rPr lang="en-US" dirty="0"/>
              <a:t> (byte at address 9):</a:t>
            </a:r>
          </a:p>
          <a:p>
            <a:r>
              <a:rPr lang="en-US" dirty="0"/>
              <a:t>Big-endian: R7 = 0x00000045</a:t>
            </a:r>
          </a:p>
          <a:p>
            <a:r>
              <a:rPr lang="en-US" dirty="0"/>
              <a:t>Little-endian: R7 = 0x00000067</a:t>
            </a:r>
          </a:p>
          <a:p>
            <a:r>
              <a:rPr lang="en-US" b="1" dirty="0"/>
              <a:t>LDRSH R7, [R2, #1]</a:t>
            </a:r>
            <a:r>
              <a:rPr lang="en-US" dirty="0"/>
              <a:t> (halfword at addresses 9-10):</a:t>
            </a:r>
          </a:p>
          <a:p>
            <a:r>
              <a:rPr lang="en-US" dirty="0"/>
              <a:t>Big-endian: bytes 0x45, 0x67 → 0x4567 → R7 = 0x00004567</a:t>
            </a:r>
          </a:p>
          <a:p>
            <a:r>
              <a:rPr lang="en-US" dirty="0"/>
              <a:t>Little-endian: bytes 0x67, 0x45 → 0x4567 → R7 = 0x00004567</a:t>
            </a:r>
          </a:p>
          <a:p>
            <a:r>
              <a:rPr lang="en-US" b="1" dirty="0"/>
              <a:t>LDRSH R7, [R2, #2]</a:t>
            </a:r>
            <a:r>
              <a:rPr lang="en-US" dirty="0"/>
              <a:t> (halfword at addresses 10-11):</a:t>
            </a:r>
          </a:p>
          <a:p>
            <a:r>
              <a:rPr lang="en-US" dirty="0"/>
              <a:t>Big-endian: bytes 0x67, 0x89 → 0x6789 → R7 = 0x00006789</a:t>
            </a:r>
          </a:p>
          <a:p>
            <a:r>
              <a:rPr lang="en-US" dirty="0"/>
              <a:t>Little-endian: bytes 0x45, 0x23 → 0x2345 → R7 = 0x00002345</a:t>
            </a:r>
          </a:p>
          <a:p>
            <a:r>
              <a:rPr lang="en-US" dirty="0"/>
              <a:t>I was wrong earlier - in little-endian, the halfword at offset +2 consists of bytes 0x45 (at address 10) and 0x23 (at address 11), which reconstructs to 0x2345, not 0x4523.</a:t>
            </a:r>
          </a:p>
        </p:txBody>
      </p:sp>
    </p:spTree>
    <p:extLst>
      <p:ext uri="{BB962C8B-B14F-4D97-AF65-F5344CB8AC3E}">
        <p14:creationId xmlns:p14="http://schemas.microsoft.com/office/powerpoint/2010/main" val="21214416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sz="1200" b="0" i="0" kern="1200" dirty="0">
                <a:solidFill>
                  <a:schemeClr val="tx1"/>
                </a:solidFill>
                <a:effectLst/>
                <a:latin typeface="Times New Roman" pitchFamily="18" charset="0"/>
                <a:ea typeface="+mn-ea"/>
                <a:cs typeface="+mn-cs"/>
              </a:rPr>
              <a:t>0x10000010 FF EF CD AB 00 00 CD AB D0 BC D7 A8</a:t>
            </a:r>
            <a:endParaRPr lang="en-US" dirty="0"/>
          </a:p>
        </p:txBody>
      </p:sp>
    </p:spTree>
    <p:extLst>
      <p:ext uri="{BB962C8B-B14F-4D97-AF65-F5344CB8AC3E}">
        <p14:creationId xmlns:p14="http://schemas.microsoft.com/office/powerpoint/2010/main" val="23732458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fld id="{BA00D299-558C-468E-A8B3-0F5C3BFA45F9}" type="datetime1">
              <a:rPr lang="en-US" smtClean="0"/>
              <a:pPr/>
              <a:t>10/21/2025</a:t>
            </a:fld>
            <a:endParaRPr lang="en-US"/>
          </a:p>
        </p:txBody>
      </p:sp>
      <p:sp>
        <p:nvSpPr>
          <p:cNvPr id="17" name="Footer Placeholder 16"/>
          <p:cNvSpPr>
            <a:spLocks noGrp="1"/>
          </p:cNvSpPr>
          <p:nvPr>
            <p:ph type="ftr" sz="quarter" idx="11"/>
          </p:nvPr>
        </p:nvSpPr>
        <p:spPr>
          <a:xfrm>
            <a:off x="2898648" y="6355080"/>
            <a:ext cx="3474720" cy="365760"/>
          </a:xfrm>
        </p:spPr>
        <p:txBody>
          <a:bodyPr/>
          <a:lstStyle/>
          <a:p>
            <a:endParaRPr lang="en-US"/>
          </a:p>
        </p:txBody>
      </p:sp>
      <p:sp>
        <p:nvSpPr>
          <p:cNvPr id="29" name="Slide Number Placeholder 28"/>
          <p:cNvSpPr>
            <a:spLocks noGrp="1"/>
          </p:cNvSpPr>
          <p:nvPr>
            <p:ph type="sldNum" sz="quarter" idx="12"/>
          </p:nvPr>
        </p:nvSpPr>
        <p:spPr>
          <a:xfrm>
            <a:off x="1216152" y="6355080"/>
            <a:ext cx="1219200" cy="365760"/>
          </a:xfrm>
        </p:spPr>
        <p:txBody>
          <a:bodyPr/>
          <a:lstStyle>
            <a:lvl1pPr>
              <a:defRPr sz="1800"/>
            </a:lvl1pPr>
          </a:lstStyle>
          <a:p>
            <a:fld id="{AEE14D4A-FE32-40AF-B06D-E9622816B101}" type="slidenum">
              <a:rPr lang="en-US" smtClean="0"/>
              <a:pPr/>
              <a:t>‹#›</a:t>
            </a:fld>
            <a:endParaRPr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fld id="{D3A8BFB9-75E0-4A72-9D54-3C687B559A4D}"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fld id="{E470CD76-7AB7-4744-8178-DC5367B833CD}" type="datetime1">
              <a:rPr lang="en-US" smtClean="0"/>
              <a:pPr/>
              <a:t>10/21/2025</a:t>
            </a:fld>
            <a:endParaRPr lang="en-US"/>
          </a:p>
        </p:txBody>
      </p:sp>
      <p:sp>
        <p:nvSpPr>
          <p:cNvPr id="5" name="Footer Placeholder 4"/>
          <p:cNvSpPr>
            <a:spLocks noGrp="1"/>
          </p:cNvSpPr>
          <p:nvPr>
            <p:ph type="ftr" sz="quarter" idx="11"/>
          </p:nvPr>
        </p:nvSpPr>
        <p:spPr>
          <a:xfrm>
            <a:off x="2898648" y="6355080"/>
            <a:ext cx="3474720" cy="365760"/>
          </a:xfrm>
        </p:spPr>
        <p:txBody>
          <a:bodyPr/>
          <a:lstStyle/>
          <a:p>
            <a:endParaRPr lang="en-US"/>
          </a:p>
        </p:txBody>
      </p:sp>
      <p:sp>
        <p:nvSpPr>
          <p:cNvPr id="6" name="Slide Number Placeholder 5"/>
          <p:cNvSpPr>
            <a:spLocks noGrp="1"/>
          </p:cNvSpPr>
          <p:nvPr>
            <p:ph type="sldNum" sz="quarter" idx="12"/>
          </p:nvPr>
        </p:nvSpPr>
        <p:spPr>
          <a:xfrm>
            <a:off x="1069848" y="6355080"/>
            <a:ext cx="1520952" cy="365760"/>
          </a:xfrm>
        </p:spPr>
        <p:txBody>
          <a:bodyPr/>
          <a:lstStyle/>
          <a:p>
            <a:fld id="{AEE14D4A-FE32-40AF-B06D-E9622816B101}" type="slidenum">
              <a:rPr lang="en-US" smtClean="0"/>
              <a:pPr/>
              <a:t>‹#›</a:t>
            </a:fld>
            <a:endParaRPr lang="en-US"/>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fld id="{A5E3FC63-82A8-4ACC-B2CB-6D46E8B59216}"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fld id="{D3A9B8A6-94F4-4AF6-98DE-0FFC617E1C31}" type="datetime1">
              <a:rPr lang="en-US" smtClean="0"/>
              <a:pPr/>
              <a:t>10/21/2025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EE14D4A-FE32-40AF-B06D-E9622816B101}" type="slidenum">
              <a:rPr lang="en-US" smtClean="0"/>
              <a:pPr/>
              <a:t>‹#›</a:t>
            </a:fld>
            <a:endParaRPr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fld id="{573CF4FC-8D0E-4C14-A02E-A429C4519FEF}" type="datetime1">
              <a:rPr lang="en-US" smtClean="0"/>
              <a:pPr/>
              <a:t>10/21/2025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EE14D4A-FE32-40AF-B06D-E9622816B101}" type="slidenum">
              <a:rPr lang="en-US" smtClean="0"/>
              <a:pPr/>
              <a:t>‹#›</a:t>
            </a:fld>
            <a:endParaRPr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BDC487-A287-485A-B215-4EC98DD3E443}" type="datetime1">
              <a:rPr lang="en-US" smtClean="0"/>
              <a:pPr/>
              <a:t>10/21/2025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EE14D4A-FE32-40AF-B06D-E9622816B101}" type="slidenum">
              <a:rPr lang="en-US" smtClean="0"/>
              <a:pPr/>
              <a:t>‹#›</a:t>
            </a:fld>
            <a:endParaRPr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46049AC6-4AC4-4D5F-9A1B-0E1C0FF133F9}"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83AF4EF9-9AC8-4842-AFC3-C27337CCABE8}"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8B22D175-8905-42BE-8088-EB39001CF9E2}"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Tree>
  </p:cSld>
  <p:clrMapOvr>
    <a:masterClrMapping/>
  </p:clrMapOvr>
  <p:transition>
    <p:pull dir="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E62AA8DD-1B66-47DA-8A31-5DCDA0DEF224}"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transition>
    <p:pull dir="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fld id="{8DF0DD18-6EB7-49F7-A70C-A012EDB48BDB}" type="datetime1">
              <a:rPr lang="en-US" smtClean="0"/>
              <a:pPr/>
              <a:t>10/21/2025</a:t>
            </a:fld>
            <a:endParaRPr lang="en-US"/>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endParaRPr lang="en-US"/>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800">
                <a:solidFill>
                  <a:schemeClr val="tx2"/>
                </a:solidFill>
              </a:defRPr>
            </a:lvl1pPr>
          </a:lstStyle>
          <a:p>
            <a:fld id="{AEE14D4A-FE32-40AF-B06D-E9622816B101}" type="slidenum">
              <a:rPr lang="en-US" smtClean="0"/>
              <a:pPr/>
              <a:t>‹#›</a:t>
            </a:fld>
            <a:endParaRPr lang="en-US"/>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transition>
    <p:pull dir="ru"/>
  </p:transition>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emf"/><Relationship Id="rId7" Type="http://schemas.openxmlformats.org/officeDocument/2006/relationships/image" Target="../media/image6.emf"/><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5.emf"/><Relationship Id="rId5" Type="http://schemas.openxmlformats.org/officeDocument/2006/relationships/image" Target="../media/image4.emf"/><Relationship Id="rId4" Type="http://schemas.openxmlformats.org/officeDocument/2006/relationships/image" Target="../media/image3.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0A1CC8E-A1B6-4F03-86F4-7DF2A440C9C6}" type="slidenum">
              <a:rPr lang="en-US" smtClean="0"/>
              <a:pPr/>
              <a:t>1</a:t>
            </a:fld>
            <a:endParaRPr lang="en-US"/>
          </a:p>
        </p:txBody>
      </p:sp>
      <p:sp>
        <p:nvSpPr>
          <p:cNvPr id="10" name="TextBox 9"/>
          <p:cNvSpPr txBox="1"/>
          <p:nvPr/>
        </p:nvSpPr>
        <p:spPr>
          <a:xfrm>
            <a:off x="1828800" y="337547"/>
            <a:ext cx="6477000" cy="523220"/>
          </a:xfrm>
          <a:prstGeom prst="rect">
            <a:avLst/>
          </a:prstGeom>
          <a:noFill/>
        </p:spPr>
        <p:txBody>
          <a:bodyPr wrap="square" rtlCol="0">
            <a:spAutoFit/>
          </a:bodyPr>
          <a:lstStyle/>
          <a:p>
            <a:pPr algn="r"/>
            <a:r>
              <a:rPr lang="en-US" dirty="0">
                <a:latin typeface="Bookman Old Style (Headings)"/>
              </a:rPr>
              <a:t>Embedded Systems with ARM Cortex-M Microcontrollers in Assembly Language and C</a:t>
            </a:r>
          </a:p>
        </p:txBody>
      </p:sp>
      <p:sp>
        <p:nvSpPr>
          <p:cNvPr id="11" name="TextBox 10"/>
          <p:cNvSpPr txBox="1"/>
          <p:nvPr/>
        </p:nvSpPr>
        <p:spPr>
          <a:xfrm>
            <a:off x="5688176" y="1828800"/>
            <a:ext cx="2581219" cy="1200329"/>
          </a:xfrm>
          <a:prstGeom prst="rect">
            <a:avLst/>
          </a:prstGeom>
          <a:noFill/>
        </p:spPr>
        <p:txBody>
          <a:bodyPr wrap="none" rtlCol="0">
            <a:spAutoFit/>
          </a:bodyPr>
          <a:lstStyle/>
          <a:p>
            <a:pPr algn="r"/>
            <a:r>
              <a:rPr lang="en-US" sz="2400" b="1" dirty="0">
                <a:solidFill>
                  <a:srgbClr val="C00000"/>
                </a:solidFill>
              </a:rPr>
              <a:t>Chapter 5</a:t>
            </a:r>
          </a:p>
          <a:p>
            <a:pPr algn="r"/>
            <a:r>
              <a:rPr lang="en-US" sz="2400" b="1" dirty="0">
                <a:solidFill>
                  <a:srgbClr val="C00000"/>
                </a:solidFill>
              </a:rPr>
              <a:t>Memory Access</a:t>
            </a:r>
          </a:p>
          <a:p>
            <a:pPr algn="r"/>
            <a:r>
              <a:rPr lang="en-US" altLang="zh-CN" sz="2400">
                <a:solidFill>
                  <a:srgbClr val="C00000"/>
                </a:solidFill>
              </a:rPr>
              <a:t>Exercises</a:t>
            </a:r>
            <a:endParaRPr lang="en-US" sz="2400" b="1" dirty="0">
              <a:solidFill>
                <a:srgbClr val="C00000"/>
              </a:solidFill>
            </a:endParaRPr>
          </a:p>
        </p:txBody>
      </p:sp>
      <p:sp>
        <p:nvSpPr>
          <p:cNvPr id="12" name="Subtitle 2"/>
          <p:cNvSpPr txBox="1">
            <a:spLocks/>
          </p:cNvSpPr>
          <p:nvPr/>
        </p:nvSpPr>
        <p:spPr>
          <a:xfrm>
            <a:off x="1219200" y="5124450"/>
            <a:ext cx="6858000" cy="533400"/>
          </a:xfrm>
          <a:prstGeom prst="rect">
            <a:avLst/>
          </a:prstGeom>
        </p:spPr>
        <p:txBody>
          <a:bodyPr vert="horz">
            <a:normAutofit/>
          </a:bodyPr>
          <a:lstStyle>
            <a:lvl1pPr marL="0" indent="0" algn="r" rtl="0" eaLnBrk="1" latinLnBrk="0" hangingPunct="1">
              <a:spcBef>
                <a:spcPts val="600"/>
              </a:spcBef>
              <a:buClr>
                <a:schemeClr val="accent1"/>
              </a:buClr>
              <a:buSzPct val="76000"/>
              <a:buFont typeface="Wingdings 3"/>
              <a:buNone/>
              <a:defRPr kumimoji="0" sz="2000" kern="1200">
                <a:solidFill>
                  <a:schemeClr val="tx2"/>
                </a:solidFill>
                <a:latin typeface="+mj-lt"/>
                <a:ea typeface="+mj-ea"/>
                <a:cs typeface="+mj-cs"/>
              </a:defRPr>
            </a:lvl1pPr>
            <a:lvl2pPr marL="457200" indent="0" algn="ctr" rtl="0" eaLnBrk="1" latinLnBrk="0" hangingPunct="1">
              <a:spcBef>
                <a:spcPts val="500"/>
              </a:spcBef>
              <a:buClr>
                <a:schemeClr val="accent2"/>
              </a:buClr>
              <a:buSzPct val="76000"/>
              <a:buFont typeface="Wingdings 3"/>
              <a:buNone/>
              <a:defRPr kumimoji="0" sz="2300" kern="1200">
                <a:solidFill>
                  <a:schemeClr val="tx2"/>
                </a:solidFill>
                <a:latin typeface="+mn-lt"/>
                <a:ea typeface="+mn-ea"/>
                <a:cs typeface="+mn-cs"/>
              </a:defRPr>
            </a:lvl2pPr>
            <a:lvl3pPr marL="914400" indent="0" algn="ctr" rtl="0" eaLnBrk="1" latinLnBrk="0" hangingPunct="1">
              <a:spcBef>
                <a:spcPts val="500"/>
              </a:spcBef>
              <a:buClr>
                <a:schemeClr val="bg1">
                  <a:shade val="50000"/>
                </a:schemeClr>
              </a:buClr>
              <a:buSzPct val="76000"/>
              <a:buFont typeface="Wingdings 3"/>
              <a:buNone/>
              <a:defRPr kumimoji="0" sz="2000" kern="1200">
                <a:solidFill>
                  <a:schemeClr val="tx1"/>
                </a:solidFill>
                <a:latin typeface="+mn-lt"/>
                <a:ea typeface="+mn-ea"/>
                <a:cs typeface="+mn-cs"/>
              </a:defRPr>
            </a:lvl3pPr>
            <a:lvl4pPr marL="1371600" indent="0" algn="ctr" rtl="0" eaLnBrk="1" latinLnBrk="0" hangingPunct="1">
              <a:spcBef>
                <a:spcPts val="400"/>
              </a:spcBef>
              <a:buClr>
                <a:schemeClr val="accent2">
                  <a:shade val="75000"/>
                </a:schemeClr>
              </a:buClr>
              <a:buSzPct val="70000"/>
              <a:buFont typeface="Wingdings"/>
              <a:buNone/>
              <a:defRPr kumimoji="0" sz="1800" kern="1200">
                <a:solidFill>
                  <a:schemeClr val="tx1"/>
                </a:solidFill>
                <a:latin typeface="+mn-lt"/>
                <a:ea typeface="+mn-ea"/>
                <a:cs typeface="+mn-cs"/>
              </a:defRPr>
            </a:lvl4pPr>
            <a:lvl5pPr marL="1828800" indent="0" algn="ctr" rtl="0" eaLnBrk="1" latinLnBrk="0" hangingPunct="1">
              <a:spcBef>
                <a:spcPts val="300"/>
              </a:spcBef>
              <a:buClr>
                <a:schemeClr val="accent2"/>
              </a:buClr>
              <a:buSzPct val="70000"/>
              <a:buFont typeface="Wingdings"/>
              <a:buNone/>
              <a:defRPr kumimoji="0" sz="1600" kern="1200">
                <a:solidFill>
                  <a:schemeClr val="tx1"/>
                </a:solidFill>
                <a:latin typeface="+mn-lt"/>
                <a:ea typeface="+mn-ea"/>
                <a:cs typeface="+mn-cs"/>
              </a:defRPr>
            </a:lvl5pPr>
            <a:lvl6pPr marL="2286000" indent="0" algn="ctr" rtl="0" eaLnBrk="1" latinLnBrk="0" hangingPunct="1">
              <a:spcBef>
                <a:spcPts val="300"/>
              </a:spcBef>
              <a:buClr>
                <a:srgbClr val="9FB8CD">
                  <a:shade val="75000"/>
                </a:srgbClr>
              </a:buClr>
              <a:buSzPct val="75000"/>
              <a:buFont typeface="Wingdings 3"/>
              <a:buNone/>
              <a:defRPr kumimoji="0" lang="en-US" sz="1600" kern="1200" smtClean="0">
                <a:solidFill>
                  <a:schemeClr val="tx1"/>
                </a:solidFill>
                <a:latin typeface="+mn-lt"/>
                <a:ea typeface="+mn-ea"/>
                <a:cs typeface="+mn-cs"/>
              </a:defRPr>
            </a:lvl6pPr>
            <a:lvl7pPr marL="2743200" indent="0" algn="ctr" rtl="0" eaLnBrk="1" latinLnBrk="0" hangingPunct="1">
              <a:spcBef>
                <a:spcPts val="300"/>
              </a:spcBef>
              <a:buClr>
                <a:srgbClr val="727CA3">
                  <a:shade val="75000"/>
                </a:srgbClr>
              </a:buClr>
              <a:buSzPct val="75000"/>
              <a:buFont typeface="Wingdings 3"/>
              <a:buNone/>
              <a:defRPr kumimoji="0" lang="en-US" sz="1400" kern="1200" smtClean="0">
                <a:solidFill>
                  <a:schemeClr val="tx1"/>
                </a:solidFill>
                <a:latin typeface="+mn-lt"/>
                <a:ea typeface="+mn-ea"/>
                <a:cs typeface="+mn-cs"/>
              </a:defRPr>
            </a:lvl7pPr>
            <a:lvl8pPr marL="3200400" indent="0" algn="ctr" rtl="0" eaLnBrk="1" latinLnBrk="0" hangingPunct="1">
              <a:spcBef>
                <a:spcPts val="300"/>
              </a:spcBef>
              <a:buClr>
                <a:prstClr val="white">
                  <a:shade val="50000"/>
                </a:prstClr>
              </a:buClr>
              <a:buSzPct val="75000"/>
              <a:buFont typeface="Wingdings 3"/>
              <a:buNone/>
              <a:defRPr kumimoji="0" lang="en-US" sz="1400" kern="1200" smtClean="0">
                <a:solidFill>
                  <a:schemeClr val="tx1"/>
                </a:solidFill>
                <a:latin typeface="+mn-lt"/>
                <a:ea typeface="+mn-ea"/>
                <a:cs typeface="+mn-cs"/>
              </a:defRPr>
            </a:lvl8pPr>
            <a:lvl9pPr marL="3657600" indent="0" algn="ctr" rtl="0" eaLnBrk="1" latinLnBrk="0" hangingPunct="1">
              <a:spcBef>
                <a:spcPts val="300"/>
              </a:spcBef>
              <a:buClr>
                <a:srgbClr val="9FB8CD"/>
              </a:buClr>
              <a:buSzPct val="75000"/>
              <a:buFont typeface="Wingdings 3"/>
              <a:buNone/>
              <a:defRPr kumimoji="0" lang="en-US" sz="1200" kern="1200" smtClean="0">
                <a:solidFill>
                  <a:schemeClr val="tx1"/>
                </a:solidFill>
                <a:latin typeface="+mn-lt"/>
                <a:ea typeface="+mn-ea"/>
                <a:cs typeface="+mn-cs"/>
              </a:defRPr>
            </a:lvl9pPr>
          </a:lstStyle>
          <a:p>
            <a:r>
              <a:rPr lang="en-US" b="0" dirty="0"/>
              <a:t>Fall 2025</a:t>
            </a:r>
          </a:p>
        </p:txBody>
      </p:sp>
      <p:sp>
        <p:nvSpPr>
          <p:cNvPr id="14" name="Title 1"/>
          <p:cNvSpPr>
            <a:spLocks noGrp="1"/>
          </p:cNvSpPr>
          <p:nvPr>
            <p:ph type="ctrTitle"/>
          </p:nvPr>
        </p:nvSpPr>
        <p:spPr>
          <a:xfrm>
            <a:off x="1219200" y="3886200"/>
            <a:ext cx="6858000" cy="990600"/>
          </a:xfrm>
        </p:spPr>
        <p:txBody>
          <a:bodyPr>
            <a:noAutofit/>
          </a:bodyPr>
          <a:lstStyle/>
          <a:p>
            <a:r>
              <a:rPr lang="en-US" sz="2000" dirty="0"/>
              <a:t>Zonghua Gu</a:t>
            </a:r>
          </a:p>
        </p:txBody>
      </p:sp>
      <p:sp>
        <p:nvSpPr>
          <p:cNvPr id="3" name="TextBox 2">
            <a:extLst>
              <a:ext uri="{FF2B5EF4-FFF2-40B4-BE49-F238E27FC236}">
                <a16:creationId xmlns:a16="http://schemas.microsoft.com/office/drawing/2014/main" id="{414636B5-1A15-392F-777F-ACB6D0BF1A0E}"/>
              </a:ext>
            </a:extLst>
          </p:cNvPr>
          <p:cNvSpPr txBox="1"/>
          <p:nvPr/>
        </p:nvSpPr>
        <p:spPr>
          <a:xfrm>
            <a:off x="709138" y="6259175"/>
            <a:ext cx="7725724" cy="461665"/>
          </a:xfrm>
          <a:prstGeom prst="rect">
            <a:avLst/>
          </a:prstGeom>
          <a:solidFill>
            <a:sysClr val="window" lastClr="FFFFFF"/>
          </a:solidFill>
          <a:ln w="9525" cap="flat" cmpd="sng" algn="ctr">
            <a:solidFill>
              <a:srgbClr val="4BACC6"/>
            </a:solidFill>
            <a:prstDash val="solid"/>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Acknowledgement: Lecture slides based on Embedded Systems with ARM Cortex-M Microcontrollers in Assembly Language and C, University of Maine </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hlinkClick r:id="rId3"/>
              </a:rPr>
              <a:t>https://web.eece.maine.edu/~zhu/book/</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 </a:t>
            </a:r>
            <a:endParaRPr kumimoji="0" lang="en-SE" sz="1200" b="0" i="0" u="none" strike="noStrike" kern="0" cap="none" spc="0" normalizeH="0" baseline="0" noProof="0" dirty="0">
              <a:ln>
                <a:noFill/>
              </a:ln>
              <a:solidFill>
                <a:prstClr val="black"/>
              </a:solidFill>
              <a:effectLst/>
              <a:uLnTx/>
              <a:uFillTx/>
              <a:latin typeface="Gill Sans Light"/>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Question: Endianness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0" name="Rectangle 53"/>
            <p:cNvSpPr>
              <a:spLocks/>
            </p:cNvSpPr>
            <p:nvPr/>
          </p:nvSpPr>
          <p:spPr bwMode="auto">
            <a:xfrm>
              <a:off x="5952643" y="32655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1" name="Rectangle 54"/>
            <p:cNvSpPr>
              <a:spLocks/>
            </p:cNvSpPr>
            <p:nvPr/>
          </p:nvSpPr>
          <p:spPr bwMode="auto">
            <a:xfrm>
              <a:off x="5952643" y="44847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sp>
          <p:nvSpPr>
            <p:cNvPr id="102" name="Rectangle 55"/>
            <p:cNvSpPr>
              <a:spLocks/>
            </p:cNvSpPr>
            <p:nvPr/>
          </p:nvSpPr>
          <p:spPr bwMode="auto">
            <a:xfrm>
              <a:off x="5952643" y="57039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0" name="TextBox 9"/>
          <p:cNvSpPr txBox="1"/>
          <p:nvPr/>
        </p:nvSpPr>
        <p:spPr>
          <a:xfrm>
            <a:off x="244699" y="2826467"/>
            <a:ext cx="4151290" cy="7078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p:txBody>
      </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2</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Tree>
    <p:extLst>
      <p:ext uri="{BB962C8B-B14F-4D97-AF65-F5344CB8AC3E}">
        <p14:creationId xmlns:p14="http://schemas.microsoft.com/office/powerpoint/2010/main" val="33590757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a:t>
            </a:r>
            <a:r>
              <a:rPr lang="en-US" altLang="zh-CN" dirty="0"/>
              <a:t>Endianness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3</a:t>
            </a:fld>
            <a:endParaRPr lang="en-US" dirty="0"/>
          </a:p>
        </p:txBody>
      </p:sp>
      <p:sp>
        <p:nvSpPr>
          <p:cNvPr id="5" name="Rectangle 3">
            <a:extLst>
              <a:ext uri="{FF2B5EF4-FFF2-40B4-BE49-F238E27FC236}">
                <a16:creationId xmlns:a16="http://schemas.microsoft.com/office/drawing/2014/main" id="{49EAAEAC-5A83-FC31-3AD1-D95A0084E014}"/>
              </a:ext>
            </a:extLst>
          </p:cNvPr>
          <p:cNvSpPr txBox="1">
            <a:spLocks noChangeArrowheads="1"/>
          </p:cNvSpPr>
          <p:nvPr/>
        </p:nvSpPr>
        <p:spPr>
          <a:xfrm>
            <a:off x="267393" y="1295400"/>
            <a:ext cx="5904807" cy="4571999"/>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Big-Endian ordering. If a 32-bit word resides at memory address N, what is the address of:</a:t>
            </a:r>
          </a:p>
          <a:p>
            <a:pPr marL="657225" lvl="1" indent="-257175" defTabSz="342900"/>
            <a:r>
              <a:rPr lang="en-US" sz="1800" b="0" dirty="0">
                <a:solidFill>
                  <a:prstClr val="black"/>
                </a:solidFill>
              </a:rPr>
              <a:t>(a) The MSB (Most Significant Byte)</a:t>
            </a:r>
          </a:p>
          <a:p>
            <a:pPr marL="657225" lvl="1" indent="-257175" defTabSz="342900"/>
            <a:r>
              <a:rPr lang="en-US" sz="1800" b="0" dirty="0">
                <a:solidFill>
                  <a:prstClr val="black"/>
                </a:solidFill>
              </a:rPr>
              <a:t>(b) The 16-bit half-word corresponding to the most significant half of the word</a:t>
            </a:r>
          </a:p>
          <a:p>
            <a:pPr marL="257175" indent="-257175" defTabSz="342900"/>
            <a:r>
              <a:rPr lang="en-US" sz="2400" b="0" dirty="0">
                <a:solidFill>
                  <a:prstClr val="black"/>
                </a:solidFill>
                <a:latin typeface="Calibri"/>
              </a:rPr>
              <a:t>Q: </a:t>
            </a:r>
            <a:r>
              <a:rPr lang="en-US" sz="2400" b="0" dirty="0">
                <a:solidFill>
                  <a:prstClr val="black"/>
                </a:solidFill>
              </a:rPr>
              <a:t>Redo the question assuming Little-Endian ordering.</a:t>
            </a:r>
            <a:endParaRPr lang="en-US" sz="2400" b="0" dirty="0">
              <a:solidFill>
                <a:prstClr val="black"/>
              </a:solidFill>
              <a:latin typeface="Calibri"/>
            </a:endParaRPr>
          </a:p>
        </p:txBody>
      </p:sp>
      <p:sp>
        <p:nvSpPr>
          <p:cNvPr id="6" name="TextBox 5">
            <a:extLst>
              <a:ext uri="{FF2B5EF4-FFF2-40B4-BE49-F238E27FC236}">
                <a16:creationId xmlns:a16="http://schemas.microsoft.com/office/drawing/2014/main" id="{5AC6BB36-F7F6-7578-6D42-2AA85F7E8DBE}"/>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7" name="TextBox 6">
            <a:extLst>
              <a:ext uri="{FF2B5EF4-FFF2-40B4-BE49-F238E27FC236}">
                <a16:creationId xmlns:a16="http://schemas.microsoft.com/office/drawing/2014/main" id="{5445796D-3335-5534-5D96-A9140AE9A628}"/>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8" name="Group 33">
            <a:extLst>
              <a:ext uri="{FF2B5EF4-FFF2-40B4-BE49-F238E27FC236}">
                <a16:creationId xmlns:a16="http://schemas.microsoft.com/office/drawing/2014/main" id="{35C46318-1511-5927-1843-060ED31D9F4C}"/>
              </a:ext>
            </a:extLst>
          </p:cNvPr>
          <p:cNvGrpSpPr>
            <a:grpSpLocks/>
          </p:cNvGrpSpPr>
          <p:nvPr/>
        </p:nvGrpSpPr>
        <p:grpSpPr bwMode="auto">
          <a:xfrm>
            <a:off x="7743008" y="1615328"/>
            <a:ext cx="609600" cy="1944698"/>
            <a:chOff x="0" y="0"/>
            <a:chExt cx="384" cy="3072"/>
          </a:xfrm>
        </p:grpSpPr>
        <p:sp>
          <p:nvSpPr>
            <p:cNvPr id="9" name="Rectangle 34">
              <a:extLst>
                <a:ext uri="{FF2B5EF4-FFF2-40B4-BE49-F238E27FC236}">
                  <a16:creationId xmlns:a16="http://schemas.microsoft.com/office/drawing/2014/main" id="{D3CE61B3-7BC8-DF50-1362-0AE8D584EA89}"/>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 name="Rectangle 35">
              <a:extLst>
                <a:ext uri="{FF2B5EF4-FFF2-40B4-BE49-F238E27FC236}">
                  <a16:creationId xmlns:a16="http://schemas.microsoft.com/office/drawing/2014/main" id="{F1F75AFF-16CC-3BED-47F1-ACAC71AA8325}"/>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6">
              <a:extLst>
                <a:ext uri="{FF2B5EF4-FFF2-40B4-BE49-F238E27FC236}">
                  <a16:creationId xmlns:a16="http://schemas.microsoft.com/office/drawing/2014/main" id="{557CE143-5421-0957-D1D0-0F02EBBD1C68}"/>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7">
              <a:extLst>
                <a:ext uri="{FF2B5EF4-FFF2-40B4-BE49-F238E27FC236}">
                  <a16:creationId xmlns:a16="http://schemas.microsoft.com/office/drawing/2014/main" id="{1EE626ED-7010-17DE-AB5D-6AFB4D6382C9}"/>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3" name="TextBox 12">
            <a:extLst>
              <a:ext uri="{FF2B5EF4-FFF2-40B4-BE49-F238E27FC236}">
                <a16:creationId xmlns:a16="http://schemas.microsoft.com/office/drawing/2014/main" id="{32139613-6F00-189E-A3E7-E5782922CBC4}"/>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4" name="TextBox 13">
            <a:extLst>
              <a:ext uri="{FF2B5EF4-FFF2-40B4-BE49-F238E27FC236}">
                <a16:creationId xmlns:a16="http://schemas.microsoft.com/office/drawing/2014/main" id="{78CA3B04-30BA-AB52-96CE-C4D0D46EBB0E}"/>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15" name="TextBox 14">
            <a:extLst>
              <a:ext uri="{FF2B5EF4-FFF2-40B4-BE49-F238E27FC236}">
                <a16:creationId xmlns:a16="http://schemas.microsoft.com/office/drawing/2014/main" id="{23CD2F51-C323-A016-AE65-89BBE14397AE}"/>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16" name="TextBox 15">
            <a:extLst>
              <a:ext uri="{FF2B5EF4-FFF2-40B4-BE49-F238E27FC236}">
                <a16:creationId xmlns:a16="http://schemas.microsoft.com/office/drawing/2014/main" id="{3604BC0F-A245-42B3-C099-6BBF3E77DA07}"/>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17" name="TextBox 16">
            <a:extLst>
              <a:ext uri="{FF2B5EF4-FFF2-40B4-BE49-F238E27FC236}">
                <a16:creationId xmlns:a16="http://schemas.microsoft.com/office/drawing/2014/main" id="{92DF79D3-BC63-01D9-8A39-ECF46F38BC95}"/>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18" name="TextBox 17">
            <a:extLst>
              <a:ext uri="{FF2B5EF4-FFF2-40B4-BE49-F238E27FC236}">
                <a16:creationId xmlns:a16="http://schemas.microsoft.com/office/drawing/2014/main" id="{0169F1EE-91D8-E398-DD9D-52F4AB1EE7FB}"/>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19" name="TextBox 18">
            <a:extLst>
              <a:ext uri="{FF2B5EF4-FFF2-40B4-BE49-F238E27FC236}">
                <a16:creationId xmlns:a16="http://schemas.microsoft.com/office/drawing/2014/main" id="{01F0D440-E8BC-AE46-3AE9-338FF6B33378}"/>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0" name="Group 33">
            <a:extLst>
              <a:ext uri="{FF2B5EF4-FFF2-40B4-BE49-F238E27FC236}">
                <a16:creationId xmlns:a16="http://schemas.microsoft.com/office/drawing/2014/main" id="{183D2BEA-EE34-406C-6810-8CC6014B68DE}"/>
              </a:ext>
            </a:extLst>
          </p:cNvPr>
          <p:cNvGrpSpPr>
            <a:grpSpLocks/>
          </p:cNvGrpSpPr>
          <p:nvPr/>
        </p:nvGrpSpPr>
        <p:grpSpPr bwMode="auto">
          <a:xfrm>
            <a:off x="7761834" y="4192836"/>
            <a:ext cx="609600" cy="1944699"/>
            <a:chOff x="0" y="0"/>
            <a:chExt cx="384" cy="3072"/>
          </a:xfrm>
        </p:grpSpPr>
        <p:sp>
          <p:nvSpPr>
            <p:cNvPr id="21" name="Rectangle 34">
              <a:extLst>
                <a:ext uri="{FF2B5EF4-FFF2-40B4-BE49-F238E27FC236}">
                  <a16:creationId xmlns:a16="http://schemas.microsoft.com/office/drawing/2014/main" id="{C7582571-BA7F-69D0-827B-EBD82C5EE4DF}"/>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2" name="Rectangle 35">
              <a:extLst>
                <a:ext uri="{FF2B5EF4-FFF2-40B4-BE49-F238E27FC236}">
                  <a16:creationId xmlns:a16="http://schemas.microsoft.com/office/drawing/2014/main" id="{2C9B86DC-C9E1-CB88-7CD3-681B277B4DE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6">
              <a:extLst>
                <a:ext uri="{FF2B5EF4-FFF2-40B4-BE49-F238E27FC236}">
                  <a16:creationId xmlns:a16="http://schemas.microsoft.com/office/drawing/2014/main" id="{2A76A58B-264C-EFD2-2DD5-02427C49A50A}"/>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7">
              <a:extLst>
                <a:ext uri="{FF2B5EF4-FFF2-40B4-BE49-F238E27FC236}">
                  <a16:creationId xmlns:a16="http://schemas.microsoft.com/office/drawing/2014/main" id="{E9D9C064-223F-22B8-97AD-F27CD454AED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5" name="TextBox 24">
            <a:extLst>
              <a:ext uri="{FF2B5EF4-FFF2-40B4-BE49-F238E27FC236}">
                <a16:creationId xmlns:a16="http://schemas.microsoft.com/office/drawing/2014/main" id="{3BADE73D-7CA6-218E-0220-1DF06272FAF8}"/>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4" name="TextBox 3">
            <a:extLst>
              <a:ext uri="{FF2B5EF4-FFF2-40B4-BE49-F238E27FC236}">
                <a16:creationId xmlns:a16="http://schemas.microsoft.com/office/drawing/2014/main" id="{4D035A48-A6FE-397D-11E7-79A26D57EE6C}"/>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0" name="TextBox 29">
            <a:extLst>
              <a:ext uri="{FF2B5EF4-FFF2-40B4-BE49-F238E27FC236}">
                <a16:creationId xmlns:a16="http://schemas.microsoft.com/office/drawing/2014/main" id="{D39685E5-F44B-9935-D033-23E4B449AF2C}"/>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1" name="TextBox 30">
            <a:extLst>
              <a:ext uri="{FF2B5EF4-FFF2-40B4-BE49-F238E27FC236}">
                <a16:creationId xmlns:a16="http://schemas.microsoft.com/office/drawing/2014/main" id="{A1DE57DA-AF45-14AC-B21C-DE925BE7BF0E}"/>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2" name="TextBox 31">
            <a:extLst>
              <a:ext uri="{FF2B5EF4-FFF2-40B4-BE49-F238E27FC236}">
                <a16:creationId xmlns:a16="http://schemas.microsoft.com/office/drawing/2014/main" id="{50CEED7B-77A7-495A-418F-A75FFEAB6E65}"/>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48604090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Question: Endianness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4</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Tree>
    <p:extLst>
      <p:ext uri="{BB962C8B-B14F-4D97-AF65-F5344CB8AC3E}">
        <p14:creationId xmlns:p14="http://schemas.microsoft.com/office/powerpoint/2010/main" val="150281016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p:cNvSpPr>
            <a:spLocks noGrp="1" noChangeArrowheads="1"/>
          </p:cNvSpPr>
          <p:nvPr>
            <p:ph type="title"/>
          </p:nvPr>
        </p:nvSpPr>
        <p:spPr>
          <a:noFill/>
        </p:spPr>
        <p:txBody>
          <a:bodyPr lIns="92075" tIns="46038" rIns="92075" bIns="46038"/>
          <a:lstStyle/>
          <a:p>
            <a:pPr defTabSz="938213"/>
            <a:r>
              <a:rPr lang="en-US" dirty="0"/>
              <a:t>Endianness</a:t>
            </a:r>
          </a:p>
        </p:txBody>
      </p:sp>
      <p:sp>
        <p:nvSpPr>
          <p:cNvPr id="25607" name="Rectangle 1031"/>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p:cNvSpPr>
            <a:spLocks noGrp="1"/>
          </p:cNvSpPr>
          <p:nvPr>
            <p:ph type="sldNum" sz="quarter" idx="12"/>
          </p:nvPr>
        </p:nvSpPr>
        <p:spPr/>
        <p:txBody>
          <a:bodyPr/>
          <a:lstStyle/>
          <a:p>
            <a:fld id="{AEE14D4A-FE32-40AF-B06D-E9622816B101}" type="slidenum">
              <a:rPr lang="en-US" smtClean="0"/>
              <a:pPr/>
              <a:t>5</a:t>
            </a:fld>
            <a:endParaRPr lang="en-US"/>
          </a:p>
        </p:txBody>
      </p:sp>
      <p:graphicFrame>
        <p:nvGraphicFramePr>
          <p:cNvPr id="9" name="Table 8"/>
          <p:cNvGraphicFramePr>
            <a:graphicFrameLocks noGrp="1"/>
          </p:cNvGraphicFramePr>
          <p:nvPr>
            <p:extLst>
              <p:ext uri="{D42A27DB-BD31-4B8C-83A1-F6EECF244321}">
                <p14:modId xmlns:p14="http://schemas.microsoft.com/office/powerpoint/2010/main" val="2177192664"/>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14" name="Rectangle 13"/>
          <p:cNvSpPr/>
          <p:nvPr/>
        </p:nvSpPr>
        <p:spPr>
          <a:xfrm>
            <a:off x="1026251" y="4018420"/>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2" name="TextBox 1">
            <a:extLst>
              <a:ext uri="{FF2B5EF4-FFF2-40B4-BE49-F238E27FC236}">
                <a16:creationId xmlns:a16="http://schemas.microsoft.com/office/drawing/2014/main" id="{03BF8BEC-CBCA-3D53-1D6F-7FE4217EF5F8}"/>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3" name="Rectangle 2">
            <a:extLst>
              <a:ext uri="{FF2B5EF4-FFF2-40B4-BE49-F238E27FC236}">
                <a16:creationId xmlns:a16="http://schemas.microsoft.com/office/drawing/2014/main" id="{D80FA951-DE02-3C91-9A1E-27C70066528C}"/>
              </a:ext>
            </a:extLst>
          </p:cNvPr>
          <p:cNvSpPr/>
          <p:nvPr/>
        </p:nvSpPr>
        <p:spPr>
          <a:xfrm>
            <a:off x="1026250" y="5214389"/>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D13A2-283C-C569-EF1A-CBC7504FED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84595-D472-6F68-DE47-3C22C5AAF578}"/>
              </a:ext>
            </a:extLst>
          </p:cNvPr>
          <p:cNvSpPr>
            <a:spLocks noGrp="1"/>
          </p:cNvSpPr>
          <p:nvPr>
            <p:ph type="title"/>
          </p:nvPr>
        </p:nvSpPr>
        <p:spPr/>
        <p:txBody>
          <a:bodyPr/>
          <a:lstStyle/>
          <a:p>
            <a:r>
              <a:rPr lang="en-US" dirty="0"/>
              <a:t>Endianness</a:t>
            </a:r>
          </a:p>
        </p:txBody>
      </p:sp>
      <p:sp>
        <p:nvSpPr>
          <p:cNvPr id="3" name="Slide Number Placeholder 2">
            <a:extLst>
              <a:ext uri="{FF2B5EF4-FFF2-40B4-BE49-F238E27FC236}">
                <a16:creationId xmlns:a16="http://schemas.microsoft.com/office/drawing/2014/main" id="{13A5959D-8205-525D-CB04-4F53DED6B8D9}"/>
              </a:ext>
            </a:extLst>
          </p:cNvPr>
          <p:cNvSpPr>
            <a:spLocks noGrp="1"/>
          </p:cNvSpPr>
          <p:nvPr>
            <p:ph type="sldNum" sz="quarter" idx="12"/>
          </p:nvPr>
        </p:nvSpPr>
        <p:spPr/>
        <p:txBody>
          <a:bodyPr/>
          <a:lstStyle/>
          <a:p>
            <a:fld id="{AEE14D4A-FE32-40AF-B06D-E9622816B101}" type="slidenum">
              <a:rPr lang="en-US" smtClean="0"/>
              <a:pPr/>
              <a:t>6</a:t>
            </a:fld>
            <a:endParaRPr lang="en-US"/>
          </a:p>
        </p:txBody>
      </p:sp>
      <p:sp>
        <p:nvSpPr>
          <p:cNvPr id="4" name="Content Placeholder 3">
            <a:extLst>
              <a:ext uri="{FF2B5EF4-FFF2-40B4-BE49-F238E27FC236}">
                <a16:creationId xmlns:a16="http://schemas.microsoft.com/office/drawing/2014/main" id="{2E30BEB6-14A6-7DA1-64FA-D0E05B682530}"/>
              </a:ext>
            </a:extLst>
          </p:cNvPr>
          <p:cNvSpPr>
            <a:spLocks noGrp="1"/>
          </p:cNvSpPr>
          <p:nvPr>
            <p:ph sz="quarter" idx="1"/>
          </p:nvPr>
        </p:nvSpPr>
        <p:spPr>
          <a:xfrm>
            <a:off x="457200" y="1250950"/>
            <a:ext cx="4495800" cy="4997450"/>
          </a:xfrm>
        </p:spPr>
        <p:txBody>
          <a:bodyPr>
            <a:normAutofit fontScale="70000" lnSpcReduction="20000"/>
          </a:bodyPr>
          <a:lstStyle/>
          <a:p>
            <a:r>
              <a:rPr lang="en-US" dirty="0"/>
              <a:t>Assume little endian for the following questions:   r0 = 0x20008000</a:t>
            </a:r>
          </a:p>
          <a:p>
            <a:pPr lvl="0"/>
            <a:r>
              <a:rPr lang="en-US" b="1" dirty="0"/>
              <a:t>LDRH r1, [r0]</a:t>
            </a:r>
            <a:r>
              <a:rPr lang="en-US" dirty="0"/>
              <a:t>  </a:t>
            </a:r>
          </a:p>
          <a:p>
            <a:pPr lvl="1"/>
            <a:r>
              <a:rPr lang="en-US" dirty="0"/>
              <a:t>r1 after load:</a:t>
            </a:r>
          </a:p>
          <a:p>
            <a:pPr lvl="0"/>
            <a:r>
              <a:rPr lang="en-US" b="1" dirty="0"/>
              <a:t>LDSB r1, [r0]</a:t>
            </a:r>
            <a:r>
              <a:rPr lang="en-US" dirty="0"/>
              <a:t> </a:t>
            </a:r>
          </a:p>
          <a:p>
            <a:pPr lvl="1"/>
            <a:r>
              <a:rPr lang="en-US" dirty="0"/>
              <a:t>r1 after load:</a:t>
            </a:r>
          </a:p>
          <a:p>
            <a:r>
              <a:rPr lang="en-US" b="1" dirty="0"/>
              <a:t>STR r1, [r0], #4  </a:t>
            </a:r>
            <a:endParaRPr lang="en-US" dirty="0"/>
          </a:p>
          <a:p>
            <a:pPr lvl="1"/>
            <a:r>
              <a:rPr lang="en-US" dirty="0"/>
              <a:t>Assume r1 = 0x76543210</a:t>
            </a:r>
          </a:p>
          <a:p>
            <a:pPr lvl="1"/>
            <a:r>
              <a:rPr lang="en-US" dirty="0"/>
              <a:t>r0 after store:</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load:</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load:</a:t>
            </a:r>
          </a:p>
          <a:p>
            <a:pPr lvl="1"/>
            <a:r>
              <a:rPr lang="en-US" dirty="0"/>
              <a:t>Memory content after store:</a:t>
            </a:r>
          </a:p>
          <a:p>
            <a:endParaRPr lang="en-US" dirty="0"/>
          </a:p>
          <a:p>
            <a:endParaRPr lang="en-US" dirty="0"/>
          </a:p>
        </p:txBody>
      </p:sp>
      <p:graphicFrame>
        <p:nvGraphicFramePr>
          <p:cNvPr id="9" name="Table 8">
            <a:extLst>
              <a:ext uri="{FF2B5EF4-FFF2-40B4-BE49-F238E27FC236}">
                <a16:creationId xmlns:a16="http://schemas.microsoft.com/office/drawing/2014/main" id="{CDC85F25-15D6-DAB9-23EA-EF1BBDC222C1}"/>
              </a:ext>
            </a:extLst>
          </p:cNvPr>
          <p:cNvGraphicFramePr>
            <a:graphicFrameLocks noGrp="1"/>
          </p:cNvGraphicFramePr>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952063245"/>
      </p:ext>
    </p:extLst>
  </p:cSld>
  <p:clrMapOvr>
    <a:masterClrMapping/>
  </p:clrMapOvr>
  <p:transition>
    <p:pull dir="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7</a:t>
            </a:fld>
            <a:endParaRPr lang="en-US" dirty="0"/>
          </a:p>
        </p:txBody>
      </p:sp>
      <p:sp>
        <p:nvSpPr>
          <p:cNvPr id="4" name="Rectangle 3"/>
          <p:cNvSpPr txBox="1">
            <a:spLocks noChangeArrowheads="1"/>
          </p:cNvSpPr>
          <p:nvPr/>
        </p:nvSpPr>
        <p:spPr>
          <a:xfrm>
            <a:off x="612648" y="1673752"/>
            <a:ext cx="8182841" cy="1755248"/>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500" dirty="0"/>
              <a:t>Assume a byte-addressable memory with a data bus that is 32 bits (4 bytes) wide</a:t>
            </a:r>
          </a:p>
          <a:p>
            <a:r>
              <a:rPr lang="en-US" sz="1500" dirty="0"/>
              <a:t>Consider 16 bytes of memory (addresses 0 to 15) arranged as four 32-bit words (4 bytes each)</a:t>
            </a:r>
          </a:p>
        </p:txBody>
      </p:sp>
      <p:sp>
        <p:nvSpPr>
          <p:cNvPr id="7" name="TextBox 6"/>
          <p:cNvSpPr txBox="1"/>
          <p:nvPr/>
        </p:nvSpPr>
        <p:spPr>
          <a:xfrm>
            <a:off x="542078" y="3412912"/>
            <a:ext cx="3581400" cy="715581"/>
          </a:xfrm>
          <a:prstGeom prst="rect">
            <a:avLst/>
          </a:prstGeom>
          <a:noFill/>
        </p:spPr>
        <p:txBody>
          <a:bodyPr wrap="square" rtlCol="0">
            <a:spAutoFit/>
          </a:bodyPr>
          <a:lstStyle/>
          <a:p>
            <a:r>
              <a:rPr lang="en-US" sz="1350" dirty="0">
                <a:solidFill>
                  <a:srgbClr val="FF0000"/>
                </a:solidFill>
              </a:rPr>
              <a:t>Well-aligned</a:t>
            </a:r>
            <a:r>
              <a:rPr lang="en-US" sz="1350" dirty="0"/>
              <a:t>: each word begins on a mod-4 address, which can be read in a single memory cycle</a:t>
            </a:r>
          </a:p>
        </p:txBody>
      </p:sp>
      <p:pic>
        <p:nvPicPr>
          <p:cNvPr id="9" name="Picture 8"/>
          <p:cNvPicPr>
            <a:picLocks noChangeAspect="1"/>
          </p:cNvPicPr>
          <p:nvPr/>
        </p:nvPicPr>
        <p:blipFill>
          <a:blip r:embed="rId3"/>
          <a:stretch>
            <a:fillRect/>
          </a:stretch>
        </p:blipFill>
        <p:spPr>
          <a:xfrm>
            <a:off x="4543965" y="2307838"/>
            <a:ext cx="3785316" cy="1121162"/>
          </a:xfrm>
          <a:prstGeom prst="rect">
            <a:avLst/>
          </a:prstGeom>
        </p:spPr>
      </p:pic>
      <p:pic>
        <p:nvPicPr>
          <p:cNvPr id="10" name="Picture 9"/>
          <p:cNvPicPr>
            <a:picLocks noChangeAspect="1"/>
          </p:cNvPicPr>
          <p:nvPr/>
        </p:nvPicPr>
        <p:blipFill>
          <a:blip r:embed="rId4"/>
          <a:stretch>
            <a:fillRect/>
          </a:stretch>
        </p:blipFill>
        <p:spPr>
          <a:xfrm>
            <a:off x="542078" y="2283024"/>
            <a:ext cx="3802444" cy="1129888"/>
          </a:xfrm>
          <a:prstGeom prst="rect">
            <a:avLst/>
          </a:prstGeom>
        </p:spPr>
      </p:pic>
      <p:sp>
        <p:nvSpPr>
          <p:cNvPr id="11" name="TextBox 10"/>
          <p:cNvSpPr txBox="1"/>
          <p:nvPr/>
        </p:nvSpPr>
        <p:spPr>
          <a:xfrm>
            <a:off x="4543965" y="3412912"/>
            <a:ext cx="3581400" cy="715581"/>
          </a:xfrm>
          <a:prstGeom prst="rect">
            <a:avLst/>
          </a:prstGeom>
          <a:noFill/>
        </p:spPr>
        <p:txBody>
          <a:bodyPr wrap="square" rtlCol="0">
            <a:spAutoFit/>
          </a:bodyPr>
          <a:lstStyle/>
          <a:p>
            <a:r>
              <a:rPr lang="en-US" sz="1350" dirty="0">
                <a:solidFill>
                  <a:srgbClr val="FF0000"/>
                </a:solidFill>
              </a:rPr>
              <a:t>Ill-aligned</a:t>
            </a:r>
            <a:r>
              <a:rPr lang="en-US" sz="1350" dirty="0"/>
              <a:t>: a word begins on address 6, not a mod-4 address, which can be read in 2 memory cycles</a:t>
            </a:r>
          </a:p>
        </p:txBody>
      </p:sp>
      <p:pic>
        <p:nvPicPr>
          <p:cNvPr id="12" name="Picture 11"/>
          <p:cNvPicPr>
            <a:picLocks noChangeAspect="1"/>
          </p:cNvPicPr>
          <p:nvPr/>
        </p:nvPicPr>
        <p:blipFill>
          <a:blip r:embed="rId5"/>
          <a:stretch>
            <a:fillRect/>
          </a:stretch>
        </p:blipFill>
        <p:spPr>
          <a:xfrm>
            <a:off x="4701867" y="4223976"/>
            <a:ext cx="4059366" cy="305375"/>
          </a:xfrm>
          <a:prstGeom prst="rect">
            <a:avLst/>
          </a:prstGeom>
        </p:spPr>
      </p:pic>
      <p:pic>
        <p:nvPicPr>
          <p:cNvPr id="13" name="Picture 12"/>
          <p:cNvPicPr>
            <a:picLocks noChangeAspect="1"/>
          </p:cNvPicPr>
          <p:nvPr/>
        </p:nvPicPr>
        <p:blipFill>
          <a:blip r:embed="rId6"/>
          <a:stretch>
            <a:fillRect/>
          </a:stretch>
        </p:blipFill>
        <p:spPr>
          <a:xfrm>
            <a:off x="4667611" y="4777320"/>
            <a:ext cx="4127879" cy="327188"/>
          </a:xfrm>
          <a:prstGeom prst="rect">
            <a:avLst/>
          </a:prstGeom>
        </p:spPr>
      </p:pic>
      <p:pic>
        <p:nvPicPr>
          <p:cNvPr id="14" name="Picture 13"/>
          <p:cNvPicPr>
            <a:picLocks noChangeAspect="1"/>
          </p:cNvPicPr>
          <p:nvPr/>
        </p:nvPicPr>
        <p:blipFill>
          <a:blip r:embed="rId7"/>
          <a:stretch>
            <a:fillRect/>
          </a:stretch>
        </p:blipFill>
        <p:spPr>
          <a:xfrm>
            <a:off x="4701867" y="5317344"/>
            <a:ext cx="3665419" cy="335912"/>
          </a:xfrm>
          <a:prstGeom prst="rect">
            <a:avLst/>
          </a:prstGeom>
        </p:spPr>
      </p:pic>
      <p:sp>
        <p:nvSpPr>
          <p:cNvPr id="16" name="TextBox 15"/>
          <p:cNvSpPr txBox="1"/>
          <p:nvPr/>
        </p:nvSpPr>
        <p:spPr>
          <a:xfrm>
            <a:off x="109436" y="4128493"/>
            <a:ext cx="4268981" cy="1754326"/>
          </a:xfrm>
          <a:prstGeom prst="rect">
            <a:avLst/>
          </a:prstGeom>
          <a:noFill/>
          <a:ln>
            <a:solidFill>
              <a:schemeClr val="tx1"/>
            </a:solidFill>
          </a:ln>
        </p:spPr>
        <p:txBody>
          <a:bodyPr wrap="square" rtlCol="0">
            <a:spAutoFit/>
          </a:bodyPr>
          <a:lstStyle/>
          <a:p>
            <a:r>
              <a:rPr lang="en-US" sz="1200" dirty="0"/>
              <a:t>The first read cycle would retrieve 4 bytes from addresses 4 through 7; of these, the bytes from addresses 4 and 5</a:t>
            </a:r>
          </a:p>
          <a:p>
            <a:r>
              <a:rPr lang="en-US" sz="1200" dirty="0"/>
              <a:t>are discarded, and those from addresses 6 and 7 are moved to the far right;</a:t>
            </a:r>
          </a:p>
          <a:p>
            <a:r>
              <a:rPr lang="en-US" sz="1200" dirty="0"/>
              <a:t>The second read cycle retrieves 4 bytes from addresses 8 through 11; the bytes from addresses 10 and 11 are  discarded, and those from addresses 8 and 9 are moved to the far left;</a:t>
            </a:r>
          </a:p>
          <a:p>
            <a:r>
              <a:rPr lang="en-US" sz="1200" dirty="0"/>
              <a:t>Finally, the two halves are combined to form the desired 32-bit operand:</a:t>
            </a:r>
          </a:p>
        </p:txBody>
      </p:sp>
      <p:sp>
        <p:nvSpPr>
          <p:cNvPr id="5" name="Arrow: Right 4">
            <a:extLst>
              <a:ext uri="{FF2B5EF4-FFF2-40B4-BE49-F238E27FC236}">
                <a16:creationId xmlns:a16="http://schemas.microsoft.com/office/drawing/2014/main" id="{403B0BD2-2931-BDC5-E683-51FBAB7B8593}"/>
              </a:ext>
            </a:extLst>
          </p:cNvPr>
          <p:cNvSpPr/>
          <p:nvPr/>
        </p:nvSpPr>
        <p:spPr>
          <a:xfrm>
            <a:off x="4413347" y="4630642"/>
            <a:ext cx="285830" cy="363474"/>
          </a:xfrm>
          <a:prstGeom prst="rightArrow">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Horizontal Scroll 14">
            <a:extLst>
              <a:ext uri="{FF2B5EF4-FFF2-40B4-BE49-F238E27FC236}">
                <a16:creationId xmlns:a16="http://schemas.microsoft.com/office/drawing/2014/main" id="{9847AA0A-7964-4433-C181-1EB7B5E48F3F}"/>
              </a:ext>
            </a:extLst>
          </p:cNvPr>
          <p:cNvSpPr/>
          <p:nvPr/>
        </p:nvSpPr>
        <p:spPr>
          <a:xfrm>
            <a:off x="294068" y="178297"/>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864663475"/>
      </p:ext>
    </p:extLst>
  </p:cSld>
  <p:clrMapOvr>
    <a:masterClrMapping/>
  </p:clrMapOvr>
  <p:transition>
    <p:pull dir="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8</a:t>
            </a:fld>
            <a:endParaRPr lang="en-US" dirty="0"/>
          </a:p>
        </p:txBody>
      </p:sp>
      <p:sp>
        <p:nvSpPr>
          <p:cNvPr id="4" name="Rectangle 3"/>
          <p:cNvSpPr txBox="1">
            <a:spLocks noChangeArrowheads="1"/>
          </p:cNvSpPr>
          <p:nvPr/>
        </p:nvSpPr>
        <p:spPr>
          <a:xfrm>
            <a:off x="311998" y="1307051"/>
            <a:ext cx="8182841" cy="3476822"/>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r>
              <a:rPr lang="en-US" altLang="zh-CN" sz="2000" b="0" dirty="0">
                <a:solidFill>
                  <a:prstClr val="black"/>
                </a:solidFill>
              </a:rPr>
              <a:t>H</a:t>
            </a:r>
            <a:r>
              <a:rPr lang="en-US" sz="2000" b="0" dirty="0">
                <a:solidFill>
                  <a:prstClr val="black"/>
                </a:solidFill>
              </a:rPr>
              <a:t>ow many memory cycles are required to read each of the following from memory?</a:t>
            </a:r>
          </a:p>
          <a:p>
            <a:pPr marL="657225" lvl="1" indent="-257175" defTabSz="342900"/>
            <a:r>
              <a:rPr lang="en-US" sz="1600" b="0" dirty="0">
                <a:solidFill>
                  <a:prstClr val="black"/>
                </a:solidFill>
              </a:rPr>
              <a:t>(a) A 2-Byte operand read from decimal address 5</a:t>
            </a:r>
          </a:p>
          <a:p>
            <a:pPr marL="657225" lvl="1" indent="-257175" defTabSz="342900"/>
            <a:r>
              <a:rPr lang="en-US" sz="1600" b="0" dirty="0">
                <a:solidFill>
                  <a:prstClr val="black"/>
                </a:solidFill>
              </a:rPr>
              <a:t>(b) A 2-Byte operand read from decimal address 15</a:t>
            </a:r>
          </a:p>
          <a:p>
            <a:pPr marL="657225" lvl="1" indent="-257175" defTabSz="342900"/>
            <a:r>
              <a:rPr lang="en-US" sz="1600" b="0" dirty="0">
                <a:solidFill>
                  <a:prstClr val="black"/>
                </a:solidFill>
              </a:rPr>
              <a:t>(c) A 4-Byte operand read from decimal address 10</a:t>
            </a:r>
          </a:p>
          <a:p>
            <a:pPr marL="657225" lvl="1" indent="-257175" defTabSz="342900"/>
            <a:r>
              <a:rPr lang="en-US" sz="1600" b="0" dirty="0">
                <a:solidFill>
                  <a:prstClr val="black"/>
                </a:solidFill>
              </a:rPr>
              <a:t>(d) A 4-Byte operand read from decimal address 20</a:t>
            </a:r>
            <a:endParaRPr lang="en-US" sz="1600" b="0" dirty="0">
              <a:solidFill>
                <a:prstClr val="black"/>
              </a:solidFill>
              <a:latin typeface="Calibri"/>
            </a:endParaRPr>
          </a:p>
        </p:txBody>
      </p:sp>
    </p:spTree>
    <p:extLst>
      <p:ext uri="{BB962C8B-B14F-4D97-AF65-F5344CB8AC3E}">
        <p14:creationId xmlns:p14="http://schemas.microsoft.com/office/powerpoint/2010/main" val="936686548"/>
      </p:ext>
    </p:extLst>
  </p:cSld>
  <p:clrMapOvr>
    <a:masterClrMapping/>
  </p:clrMapOvr>
  <p:transition>
    <p:pull dir="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Question: Data Align</a:t>
            </a:r>
          </a:p>
        </p:txBody>
      </p:sp>
      <p:sp>
        <p:nvSpPr>
          <p:cNvPr id="3" name="Slide Number Placeholder 2"/>
          <p:cNvSpPr>
            <a:spLocks noGrp="1"/>
          </p:cNvSpPr>
          <p:nvPr>
            <p:ph type="sldNum" sz="quarter" idx="12"/>
          </p:nvPr>
        </p:nvSpPr>
        <p:spPr/>
        <p:txBody>
          <a:bodyPr/>
          <a:lstStyle/>
          <a:p>
            <a:fld id="{3CC63E4C-4642-794D-A2FD-70F6B81535F5}" type="slidenum">
              <a:rPr lang="en-US" smtClean="0"/>
              <a:pPr/>
              <a:t>9</a:t>
            </a:fld>
            <a:endParaRPr lang="en-US" dirty="0"/>
          </a:p>
        </p:txBody>
      </p:sp>
      <p:sp>
        <p:nvSpPr>
          <p:cNvPr id="4" name="Rectangle 3"/>
          <p:cNvSpPr txBox="1">
            <a:spLocks noChangeArrowheads="1"/>
          </p:cNvSpPr>
          <p:nvPr/>
        </p:nvSpPr>
        <p:spPr>
          <a:xfrm>
            <a:off x="267393" y="1842309"/>
            <a:ext cx="8182841" cy="3510275"/>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p>
          <a:p>
            <a:pPr marL="657225" lvl="1" indent="-257175" defTabSz="342900"/>
            <a:r>
              <a:rPr lang="en-US" sz="1600" b="0" dirty="0">
                <a:solidFill>
                  <a:prstClr val="black"/>
                </a:solidFill>
              </a:rPr>
              <a:t>(a) What is the address of MSB of the word at address 102, , assuming Little-Endian ordering?</a:t>
            </a:r>
          </a:p>
          <a:p>
            <a:pPr marL="657225" lvl="1" indent="-257175" defTabSz="342900"/>
            <a:r>
              <a:rPr lang="en-US" sz="1600" b="0" dirty="0">
                <a:solidFill>
                  <a:prstClr val="black"/>
                </a:solidFill>
              </a:rPr>
              <a:t>(b) What is the address of LSB of the word at address 102, , assuming Little-Endian ordering?</a:t>
            </a:r>
          </a:p>
          <a:p>
            <a:pPr marL="657225" lvl="1" indent="-257175" defTabSz="342900"/>
            <a:r>
              <a:rPr lang="en-US" sz="1600" b="0" dirty="0">
                <a:solidFill>
                  <a:prstClr val="black"/>
                </a:solidFill>
              </a:rPr>
              <a:t>(b) How many memory cycles are required to read the word at address 102?</a:t>
            </a:r>
          </a:p>
          <a:p>
            <a:pPr marL="657225" lvl="1" indent="-257175" defTabSz="342900"/>
            <a:r>
              <a:rPr lang="en-US" sz="1600" b="0" dirty="0">
                <a:solidFill>
                  <a:prstClr val="black"/>
                </a:solidFill>
              </a:rPr>
              <a:t>(c) How many memory cycles are required to read the half word at address 102?</a:t>
            </a:r>
            <a:endParaRPr lang="en-US" sz="10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1545068738"/>
      </p:ext>
    </p:extLst>
  </p:cSld>
  <p:clrMapOvr>
    <a:masterClrMapping/>
  </p:clrMapOvr>
  <p:transition>
    <p:pull dir="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3CC63E4C-4642-794D-A2FD-70F6B81535F5}" type="slidenum">
              <a:rPr lang="en-US" smtClean="0"/>
              <a:pPr/>
              <a:t>10</a:t>
            </a:fld>
            <a:endParaRPr lang="en-US" dirty="0"/>
          </a:p>
        </p:txBody>
      </p:sp>
      <p:sp>
        <p:nvSpPr>
          <p:cNvPr id="4" name="Rectangle 3"/>
          <p:cNvSpPr txBox="1">
            <a:spLocks noChangeArrowheads="1"/>
          </p:cNvSpPr>
          <p:nvPr/>
        </p:nvSpPr>
        <p:spPr>
          <a:xfrm>
            <a:off x="267393" y="1447800"/>
            <a:ext cx="8182841" cy="3581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endParaRPr lang="en-US" sz="24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5029200" y="-6804"/>
            <a:ext cx="4067187" cy="1560642"/>
          </a:xfrm>
          <a:prstGeom prst="rect">
            <a:avLst/>
          </a:prstGeom>
        </p:spPr>
      </p:pic>
      <p:sp>
        <p:nvSpPr>
          <p:cNvPr id="9" name="Title 1">
            <a:extLst>
              <a:ext uri="{FF2B5EF4-FFF2-40B4-BE49-F238E27FC236}">
                <a16:creationId xmlns:a16="http://schemas.microsoft.com/office/drawing/2014/main" id="{78DA596E-85CA-C0C6-85A8-74A98C3DFFDB}"/>
              </a:ext>
            </a:extLst>
          </p:cNvPr>
          <p:cNvSpPr>
            <a:spLocks noGrp="1"/>
          </p:cNvSpPr>
          <p:nvPr>
            <p:ph type="title"/>
          </p:nvPr>
        </p:nvSpPr>
        <p:spPr>
          <a:xfrm>
            <a:off x="0" y="22225"/>
            <a:ext cx="8229600" cy="1143000"/>
          </a:xfrm>
        </p:spPr>
        <p:txBody>
          <a:bodyPr/>
          <a:lstStyle/>
          <a:p>
            <a:r>
              <a:rPr lang="en-US" dirty="0"/>
              <a:t>Answer: Memory Cycles</a:t>
            </a:r>
          </a:p>
        </p:txBody>
      </p:sp>
    </p:spTree>
    <p:extLst>
      <p:ext uri="{BB962C8B-B14F-4D97-AF65-F5344CB8AC3E}">
        <p14:creationId xmlns:p14="http://schemas.microsoft.com/office/powerpoint/2010/main" val="1910717593"/>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Arrays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11</a:t>
            </a:fld>
            <a:endParaRPr lang="en-US" dirty="0"/>
          </a:p>
        </p:txBody>
      </p:sp>
      <p:sp>
        <p:nvSpPr>
          <p:cNvPr id="4" name="Rectangle 3"/>
          <p:cNvSpPr txBox="1">
            <a:spLocks noChangeArrowheads="1"/>
          </p:cNvSpPr>
          <p:nvPr/>
        </p:nvSpPr>
        <p:spPr>
          <a:xfrm>
            <a:off x="271346" y="1299117"/>
            <a:ext cx="8182841" cy="33392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(c) longs</a:t>
            </a:r>
            <a:endParaRPr lang="en-US" sz="1800" b="0" dirty="0">
              <a:solidFill>
                <a:prstClr val="black"/>
              </a:solidFill>
              <a:latin typeface="Calibri"/>
            </a:endParaRPr>
          </a:p>
        </p:txBody>
      </p:sp>
    </p:spTree>
    <p:extLst>
      <p:ext uri="{BB962C8B-B14F-4D97-AF65-F5344CB8AC3E}">
        <p14:creationId xmlns:p14="http://schemas.microsoft.com/office/powerpoint/2010/main" val="80297202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861E1-0E8B-78F8-D2D2-3F55D16ED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225031-3EBD-28FC-E1A0-0049330C0107}"/>
              </a:ext>
            </a:extLst>
          </p:cNvPr>
          <p:cNvSpPr>
            <a:spLocks noGrp="1"/>
          </p:cNvSpPr>
          <p:nvPr>
            <p:ph type="title"/>
          </p:nvPr>
        </p:nvSpPr>
        <p:spPr/>
        <p:txBody>
          <a:bodyPr/>
          <a:lstStyle/>
          <a:p>
            <a:r>
              <a:rPr lang="en-US" dirty="0"/>
              <a:t>LDM</a:t>
            </a:r>
          </a:p>
        </p:txBody>
      </p:sp>
      <p:sp>
        <p:nvSpPr>
          <p:cNvPr id="3" name="Slide Number Placeholder 2">
            <a:extLst>
              <a:ext uri="{FF2B5EF4-FFF2-40B4-BE49-F238E27FC236}">
                <a16:creationId xmlns:a16="http://schemas.microsoft.com/office/drawing/2014/main" id="{37A30E0F-B359-645E-5E6D-5DC92C1B996E}"/>
              </a:ext>
            </a:extLst>
          </p:cNvPr>
          <p:cNvSpPr>
            <a:spLocks noGrp="1"/>
          </p:cNvSpPr>
          <p:nvPr>
            <p:ph type="sldNum" sz="quarter" idx="12"/>
          </p:nvPr>
        </p:nvSpPr>
        <p:spPr/>
        <p:txBody>
          <a:bodyPr/>
          <a:lstStyle/>
          <a:p>
            <a:fld id="{AEE14D4A-FE32-40AF-B06D-E9622816B101}" type="slidenum">
              <a:rPr lang="en-US" smtClean="0"/>
              <a:pPr/>
              <a:t>12</a:t>
            </a:fld>
            <a:endParaRPr lang="en-US"/>
          </a:p>
        </p:txBody>
      </p:sp>
      <p:graphicFrame>
        <p:nvGraphicFramePr>
          <p:cNvPr id="8" name="Table 7">
            <a:extLst>
              <a:ext uri="{FF2B5EF4-FFF2-40B4-BE49-F238E27FC236}">
                <a16:creationId xmlns:a16="http://schemas.microsoft.com/office/drawing/2014/main" id="{D3C2D736-73D7-3A26-A782-9CEC03C12D04}"/>
              </a:ext>
            </a:extLst>
          </p:cNvPr>
          <p:cNvGraphicFramePr>
            <a:graphicFrameLocks noGrp="1"/>
          </p:cNvGraphicFramePr>
          <p:nvPr/>
        </p:nvGraphicFramePr>
        <p:xfrm>
          <a:off x="5410243" y="2477135"/>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DC077EDE-860F-119C-95B4-998969925842}"/>
              </a:ext>
            </a:extLst>
          </p:cNvPr>
          <p:cNvSpPr txBox="1"/>
          <p:nvPr/>
        </p:nvSpPr>
        <p:spPr>
          <a:xfrm>
            <a:off x="5016500" y="4585950"/>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0401EA57-66F9-3EE2-E561-2AB9C3395B7B}"/>
              </a:ext>
            </a:extLst>
          </p:cNvPr>
          <p:cNvSpPr/>
          <p:nvPr/>
        </p:nvSpPr>
        <p:spPr>
          <a:xfrm>
            <a:off x="5509075" y="4710111"/>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45B25AD4-8787-2AE5-61C8-58C8E91AB6F9}"/>
              </a:ext>
            </a:extLst>
          </p:cNvPr>
          <p:cNvSpPr txBox="1">
            <a:spLocks/>
          </p:cNvSpPr>
          <p:nvPr/>
        </p:nvSpPr>
        <p:spPr>
          <a:xfrm>
            <a:off x="457200" y="1219200"/>
            <a:ext cx="8229600" cy="4937760"/>
          </a:xfrm>
          <a:prstGeom prst="rect">
            <a:avLst/>
          </a:prstGeom>
        </p:spPr>
        <p:txBody>
          <a:bodyPr>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LDMIB r3!, {r2, r1, r0}</a:t>
            </a:r>
          </a:p>
        </p:txBody>
      </p:sp>
    </p:spTree>
    <p:extLst>
      <p:ext uri="{BB962C8B-B14F-4D97-AF65-F5344CB8AC3E}">
        <p14:creationId xmlns:p14="http://schemas.microsoft.com/office/powerpoint/2010/main" val="3968162788"/>
      </p:ext>
    </p:extLst>
  </p:cSld>
  <p:clrMapOvr>
    <a:masterClrMapping/>
  </p:clrMapOvr>
  <p:transition>
    <p:pull dir="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9E08C-929E-B06D-9D5C-D3C07F2964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61F6C3-9012-39E9-02E8-5A15294CC493}"/>
              </a:ext>
            </a:extLst>
          </p:cNvPr>
          <p:cNvSpPr>
            <a:spLocks noGrp="1"/>
          </p:cNvSpPr>
          <p:nvPr>
            <p:ph type="title"/>
          </p:nvPr>
        </p:nvSpPr>
        <p:spPr/>
        <p:txBody>
          <a:bodyPr/>
          <a:lstStyle/>
          <a:p>
            <a:r>
              <a:rPr lang="en-US" dirty="0"/>
              <a:t>LDR</a:t>
            </a:r>
          </a:p>
        </p:txBody>
      </p:sp>
      <p:sp>
        <p:nvSpPr>
          <p:cNvPr id="3" name="Slide Number Placeholder 2">
            <a:extLst>
              <a:ext uri="{FF2B5EF4-FFF2-40B4-BE49-F238E27FC236}">
                <a16:creationId xmlns:a16="http://schemas.microsoft.com/office/drawing/2014/main" id="{9AF0EF40-C94A-5BF4-DE58-F56B8F03E0C2}"/>
              </a:ext>
            </a:extLst>
          </p:cNvPr>
          <p:cNvSpPr>
            <a:spLocks noGrp="1"/>
          </p:cNvSpPr>
          <p:nvPr>
            <p:ph type="sldNum" sz="quarter" idx="12"/>
          </p:nvPr>
        </p:nvSpPr>
        <p:spPr/>
        <p:txBody>
          <a:bodyPr/>
          <a:lstStyle/>
          <a:p>
            <a:fld id="{AEE14D4A-FE32-40AF-B06D-E9622816B101}" type="slidenum">
              <a:rPr lang="en-US" smtClean="0"/>
              <a:pPr/>
              <a:t>13</a:t>
            </a:fld>
            <a:endParaRPr lang="en-US"/>
          </a:p>
        </p:txBody>
      </p:sp>
      <p:sp>
        <p:nvSpPr>
          <p:cNvPr id="4" name="Content Placeholder 3">
            <a:extLst>
              <a:ext uri="{FF2B5EF4-FFF2-40B4-BE49-F238E27FC236}">
                <a16:creationId xmlns:a16="http://schemas.microsoft.com/office/drawing/2014/main" id="{0A072226-E71C-C418-9D4C-D783EC4359F1}"/>
              </a:ext>
            </a:extLst>
          </p:cNvPr>
          <p:cNvSpPr>
            <a:spLocks noGrp="1"/>
          </p:cNvSpPr>
          <p:nvPr>
            <p:ph sz="quarter" idx="1"/>
          </p:nvPr>
        </p:nvSpPr>
        <p:spPr>
          <a:xfrm>
            <a:off x="457200" y="1219200"/>
            <a:ext cx="8229600" cy="5137150"/>
          </a:xfrm>
        </p:spPr>
        <p:txBody>
          <a:bodyPr>
            <a:normAutofit/>
          </a:bodyPr>
          <a:lstStyle/>
          <a:p>
            <a:r>
              <a:rPr lang="en-US" dirty="0"/>
              <a:t>Suppose R2 and R5 hold the values 8 and 0x23456789 After following code runs on a Big-Endian system, what value is in R7? How about in a little-endian system?</a:t>
            </a:r>
          </a:p>
          <a:p>
            <a:pPr lvl="1"/>
            <a:r>
              <a:rPr lang="en-US" dirty="0"/>
              <a:t>STR R5, [R2, #0]</a:t>
            </a:r>
          </a:p>
          <a:p>
            <a:pPr lvl="1"/>
            <a:r>
              <a:rPr lang="en-US" dirty="0"/>
              <a:t>LDRB R7, [R2, #1]</a:t>
            </a:r>
          </a:p>
          <a:p>
            <a:pPr lvl="1"/>
            <a:r>
              <a:rPr lang="en-US" dirty="0"/>
              <a:t>LDRSH R7, [R2, #1]</a:t>
            </a:r>
          </a:p>
          <a:p>
            <a:pPr lvl="1"/>
            <a:r>
              <a:rPr lang="en-US" dirty="0"/>
              <a:t>LDRSH R7, [R2, #2]</a:t>
            </a:r>
          </a:p>
        </p:txBody>
      </p:sp>
    </p:spTree>
    <p:extLst>
      <p:ext uri="{BB962C8B-B14F-4D97-AF65-F5344CB8AC3E}">
        <p14:creationId xmlns:p14="http://schemas.microsoft.com/office/powerpoint/2010/main" val="2882502133"/>
      </p:ext>
    </p:extLst>
  </p:cSld>
  <p:clrMapOvr>
    <a:masterClrMapping/>
  </p:clrMapOvr>
  <p:transition>
    <p:pull dir="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6943-56FC-4F00-B4C2-002F4BD6545D}"/>
              </a:ext>
            </a:extLst>
          </p:cNvPr>
          <p:cNvSpPr>
            <a:spLocks noGrp="1"/>
          </p:cNvSpPr>
          <p:nvPr>
            <p:ph type="title"/>
          </p:nvPr>
        </p:nvSpPr>
        <p:spPr/>
        <p:txBody>
          <a:bodyPr/>
          <a:lstStyle/>
          <a:p>
            <a:r>
              <a:rPr lang="en-US" dirty="0"/>
              <a:t>Program Understanding</a:t>
            </a:r>
          </a:p>
        </p:txBody>
      </p:sp>
      <p:sp>
        <p:nvSpPr>
          <p:cNvPr id="3" name="Slide Number Placeholder 2">
            <a:extLst>
              <a:ext uri="{FF2B5EF4-FFF2-40B4-BE49-F238E27FC236}">
                <a16:creationId xmlns:a16="http://schemas.microsoft.com/office/drawing/2014/main" id="{8990BACD-3920-5666-CE72-223F9F2FC606}"/>
              </a:ext>
            </a:extLst>
          </p:cNvPr>
          <p:cNvSpPr>
            <a:spLocks noGrp="1"/>
          </p:cNvSpPr>
          <p:nvPr>
            <p:ph type="sldNum" sz="quarter" idx="12"/>
          </p:nvPr>
        </p:nvSpPr>
        <p:spPr/>
        <p:txBody>
          <a:bodyPr/>
          <a:lstStyle/>
          <a:p>
            <a:fld id="{AEE14D4A-FE32-40AF-B06D-E9622816B101}" type="slidenum">
              <a:rPr lang="en-US" smtClean="0"/>
              <a:pPr/>
              <a:t>14</a:t>
            </a:fld>
            <a:endParaRPr lang="en-US"/>
          </a:p>
        </p:txBody>
      </p:sp>
      <p:graphicFrame>
        <p:nvGraphicFramePr>
          <p:cNvPr id="7" name="Content Placeholder 6">
            <a:extLst>
              <a:ext uri="{FF2B5EF4-FFF2-40B4-BE49-F238E27FC236}">
                <a16:creationId xmlns:a16="http://schemas.microsoft.com/office/drawing/2014/main" id="{921A7FA2-20A5-D70A-4C8A-128BD78BDA7C}"/>
              </a:ext>
            </a:extLst>
          </p:cNvPr>
          <p:cNvGraphicFramePr>
            <a:graphicFrameLocks noGrp="1"/>
          </p:cNvGraphicFramePr>
          <p:nvPr>
            <p:ph sz="quarter" idx="1"/>
          </p:nvPr>
        </p:nvGraphicFramePr>
        <p:xfrm>
          <a:off x="12661" y="5145594"/>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t>60</a:t>
                      </a: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chemeClr val="tx1"/>
                          </a:solidFill>
                          <a:latin typeface="+mn-lt"/>
                          <a:ea typeface="+mn-ea"/>
                          <a:cs typeface="+mn-cs"/>
                        </a:rPr>
                        <a:t>77</a:t>
                      </a:r>
                    </a:p>
                  </a:txBody>
                  <a:tcPr/>
                </a:tc>
                <a:tc>
                  <a:txBody>
                    <a:bodyPr/>
                    <a:lstStyle/>
                    <a:p>
                      <a:pPr marL="0" algn="ctr" rtl="0" eaLnBrk="1" latinLnBrk="0" hangingPunct="1"/>
                      <a:r>
                        <a:rPr kumimoji="0" lang="en-US" kern="1200" dirty="0">
                          <a:solidFill>
                            <a:schemeClr val="tx1"/>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D888B29E-C3F6-5701-3FB8-7AD8E9E5634F}"/>
              </a:ext>
            </a:extLst>
          </p:cNvPr>
          <p:cNvGraphicFramePr>
            <a:graphicFrameLocks/>
          </p:cNvGraphicFramePr>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0" name="TextBox 9">
            <a:extLst>
              <a:ext uri="{FF2B5EF4-FFF2-40B4-BE49-F238E27FC236}">
                <a16:creationId xmlns:a16="http://schemas.microsoft.com/office/drawing/2014/main" id="{1E914C08-96CB-135B-1433-52624F812AD9}"/>
              </a:ext>
            </a:extLst>
          </p:cNvPr>
          <p:cNvSpPr txBox="1"/>
          <p:nvPr/>
        </p:nvSpPr>
        <p:spPr>
          <a:xfrm>
            <a:off x="457200" y="3114268"/>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R4, (R1, #0xC)</a:t>
            </a:r>
          </a:p>
        </p:txBody>
      </p:sp>
      <p:sp>
        <p:nvSpPr>
          <p:cNvPr id="11" name="Content Placeholder 3">
            <a:extLst>
              <a:ext uri="{FF2B5EF4-FFF2-40B4-BE49-F238E27FC236}">
                <a16:creationId xmlns:a16="http://schemas.microsoft.com/office/drawing/2014/main" id="{E0C303F2-641E-019B-CA34-0B02E8722206}"/>
              </a:ext>
            </a:extLst>
          </p:cNvPr>
          <p:cNvSpPr txBox="1">
            <a:spLocks/>
          </p:cNvSpPr>
          <p:nvPr/>
        </p:nvSpPr>
        <p:spPr>
          <a:xfrm>
            <a:off x="457200" y="1219200"/>
            <a:ext cx="8229600" cy="493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Compute register and memory values at each step of this program, given initial register values and memory contents</a:t>
            </a:r>
          </a:p>
        </p:txBody>
      </p:sp>
      <p:sp>
        <p:nvSpPr>
          <p:cNvPr id="12" name="TextBox 11">
            <a:extLst>
              <a:ext uri="{FF2B5EF4-FFF2-40B4-BE49-F238E27FC236}">
                <a16:creationId xmlns:a16="http://schemas.microsoft.com/office/drawing/2014/main" id="{4C6A6B80-3FEE-6D76-7A51-6A84F29B3557}"/>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381BB9B-55E3-DA1B-9EC5-B7BD5B3494A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Tree>
    <p:extLst>
      <p:ext uri="{BB962C8B-B14F-4D97-AF65-F5344CB8AC3E}">
        <p14:creationId xmlns:p14="http://schemas.microsoft.com/office/powerpoint/2010/main" val="811401925"/>
      </p:ext>
    </p:extLst>
  </p:cSld>
  <p:clrMapOvr>
    <a:masterClrMapping/>
  </p:clrMapOvr>
  <p:transition>
    <p:pull dir="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2FCB-7FF9-9037-3DC9-B18E7B49293F}"/>
              </a:ext>
            </a:extLst>
          </p:cNvPr>
          <p:cNvSpPr>
            <a:spLocks noGrp="1"/>
          </p:cNvSpPr>
          <p:nvPr>
            <p:ph type="title"/>
          </p:nvPr>
        </p:nvSpPr>
        <p:spPr/>
        <p:txBody>
          <a:bodyPr>
            <a:normAutofit/>
          </a:bodyPr>
          <a:lstStyle/>
          <a:p>
            <a:r>
              <a:rPr lang="en-US" sz="2400" dirty="0"/>
              <a:t>Program Understanding</a:t>
            </a:r>
          </a:p>
        </p:txBody>
      </p:sp>
      <p:sp>
        <p:nvSpPr>
          <p:cNvPr id="3" name="Slide Number Placeholder 2">
            <a:extLst>
              <a:ext uri="{FF2B5EF4-FFF2-40B4-BE49-F238E27FC236}">
                <a16:creationId xmlns:a16="http://schemas.microsoft.com/office/drawing/2014/main" id="{51BF2EDE-04BA-CDE6-155B-A94557178B71}"/>
              </a:ext>
            </a:extLst>
          </p:cNvPr>
          <p:cNvSpPr>
            <a:spLocks noGrp="1"/>
          </p:cNvSpPr>
          <p:nvPr>
            <p:ph type="sldNum" sz="quarter" idx="12"/>
          </p:nvPr>
        </p:nvSpPr>
        <p:spPr/>
        <p:txBody>
          <a:bodyPr/>
          <a:lstStyle/>
          <a:p>
            <a:fld id="{AEE14D4A-FE32-40AF-B06D-E9622816B101}" type="slidenum">
              <a:rPr lang="en-US" smtClean="0"/>
              <a:pPr/>
              <a:t>15</a:t>
            </a:fld>
            <a:endParaRPr lang="en-US"/>
          </a:p>
        </p:txBody>
      </p:sp>
      <p:sp>
        <p:nvSpPr>
          <p:cNvPr id="4" name="Content Placeholder 3">
            <a:extLst>
              <a:ext uri="{FF2B5EF4-FFF2-40B4-BE49-F238E27FC236}">
                <a16:creationId xmlns:a16="http://schemas.microsoft.com/office/drawing/2014/main" id="{145B3053-CFB1-6838-AAE4-D5E27021784B}"/>
              </a:ext>
            </a:extLst>
          </p:cNvPr>
          <p:cNvSpPr>
            <a:spLocks noGrp="1"/>
          </p:cNvSpPr>
          <p:nvPr>
            <p:ph sz="quarter" idx="1"/>
          </p:nvPr>
        </p:nvSpPr>
        <p:spPr>
          <a:xfrm>
            <a:off x="137322" y="1219200"/>
            <a:ext cx="4821952" cy="4937760"/>
          </a:xfrm>
        </p:spPr>
        <p:txBody>
          <a:bodyPr/>
          <a:lstStyle/>
          <a:p>
            <a:r>
              <a:rPr lang="en-US" dirty="0"/>
              <a:t> Show all updates to registers as the assembly code shown below runs. Show the NZCV flags next to the instruction if they change. Do not update PC each time. You can assume that each instruction is 32 bits.</a:t>
            </a:r>
          </a:p>
        </p:txBody>
      </p:sp>
      <p:sp>
        <p:nvSpPr>
          <p:cNvPr id="5" name="TextBox 4">
            <a:extLst>
              <a:ext uri="{FF2B5EF4-FFF2-40B4-BE49-F238E27FC236}">
                <a16:creationId xmlns:a16="http://schemas.microsoft.com/office/drawing/2014/main" id="{393557C1-FD7E-7283-65D1-80093EB57E23}"/>
              </a:ext>
            </a:extLst>
          </p:cNvPr>
          <p:cNvSpPr txBox="1"/>
          <p:nvPr/>
        </p:nvSpPr>
        <p:spPr>
          <a:xfrm>
            <a:off x="5442882" y="463094"/>
            <a:ext cx="3563796"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1000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graphicFrame>
        <p:nvGraphicFramePr>
          <p:cNvPr id="6" name="Table 5">
            <a:extLst>
              <a:ext uri="{FF2B5EF4-FFF2-40B4-BE49-F238E27FC236}">
                <a16:creationId xmlns:a16="http://schemas.microsoft.com/office/drawing/2014/main" id="{43586B0A-AAB6-1D2E-24D6-64E619D83AA5}"/>
              </a:ext>
            </a:extLst>
          </p:cNvPr>
          <p:cNvGraphicFramePr>
            <a:graphicFrameLocks noGrp="1"/>
          </p:cNvGraphicFramePr>
          <p:nvPr/>
        </p:nvGraphicFramePr>
        <p:xfrm>
          <a:off x="137322" y="4551113"/>
          <a:ext cx="5155440" cy="1483360"/>
        </p:xfrm>
        <a:graphic>
          <a:graphicData uri="http://schemas.openxmlformats.org/drawingml/2006/table">
            <a:tbl>
              <a:tblPr firstRow="1" bandRow="1">
                <a:tableStyleId>{5940675A-B579-460E-94D1-54222C63F5DA}</a:tableStyleId>
              </a:tblPr>
              <a:tblGrid>
                <a:gridCol w="644430">
                  <a:extLst>
                    <a:ext uri="{9D8B030D-6E8A-4147-A177-3AD203B41FA5}">
                      <a16:colId xmlns:a16="http://schemas.microsoft.com/office/drawing/2014/main" val="2337985746"/>
                    </a:ext>
                  </a:extLst>
                </a:gridCol>
                <a:gridCol w="644430">
                  <a:extLst>
                    <a:ext uri="{9D8B030D-6E8A-4147-A177-3AD203B41FA5}">
                      <a16:colId xmlns:a16="http://schemas.microsoft.com/office/drawing/2014/main" val="1802740170"/>
                    </a:ext>
                  </a:extLst>
                </a:gridCol>
                <a:gridCol w="644430">
                  <a:extLst>
                    <a:ext uri="{9D8B030D-6E8A-4147-A177-3AD203B41FA5}">
                      <a16:colId xmlns:a16="http://schemas.microsoft.com/office/drawing/2014/main" val="2590131525"/>
                    </a:ext>
                  </a:extLst>
                </a:gridCol>
                <a:gridCol w="644430">
                  <a:extLst>
                    <a:ext uri="{9D8B030D-6E8A-4147-A177-3AD203B41FA5}">
                      <a16:colId xmlns:a16="http://schemas.microsoft.com/office/drawing/2014/main" val="947827850"/>
                    </a:ext>
                  </a:extLst>
                </a:gridCol>
                <a:gridCol w="644430">
                  <a:extLst>
                    <a:ext uri="{9D8B030D-6E8A-4147-A177-3AD203B41FA5}">
                      <a16:colId xmlns:a16="http://schemas.microsoft.com/office/drawing/2014/main" val="2189951492"/>
                    </a:ext>
                  </a:extLst>
                </a:gridCol>
                <a:gridCol w="644430">
                  <a:extLst>
                    <a:ext uri="{9D8B030D-6E8A-4147-A177-3AD203B41FA5}">
                      <a16:colId xmlns:a16="http://schemas.microsoft.com/office/drawing/2014/main" val="2319925471"/>
                    </a:ext>
                  </a:extLst>
                </a:gridCol>
                <a:gridCol w="644430">
                  <a:extLst>
                    <a:ext uri="{9D8B030D-6E8A-4147-A177-3AD203B41FA5}">
                      <a16:colId xmlns:a16="http://schemas.microsoft.com/office/drawing/2014/main" val="3873491110"/>
                    </a:ext>
                  </a:extLst>
                </a:gridCol>
                <a:gridCol w="644430">
                  <a:extLst>
                    <a:ext uri="{9D8B030D-6E8A-4147-A177-3AD203B41FA5}">
                      <a16:colId xmlns:a16="http://schemas.microsoft.com/office/drawing/2014/main" val="2341457647"/>
                    </a:ext>
                  </a:extLst>
                </a:gridCol>
              </a:tblGrid>
              <a:tr h="370840">
                <a:tc>
                  <a:txBody>
                    <a:bodyPr/>
                    <a:lstStyle/>
                    <a:p>
                      <a:r>
                        <a:rPr lang="en-US" dirty="0"/>
                        <a:t>R0</a:t>
                      </a:r>
                    </a:p>
                  </a:txBody>
                  <a:tcPr/>
                </a:tc>
                <a:tc>
                  <a:txBody>
                    <a:bodyPr/>
                    <a:lstStyle/>
                    <a:p>
                      <a:endParaRPr lang="en-US"/>
                    </a:p>
                  </a:txBody>
                  <a:tcPr/>
                </a:tc>
                <a:tc>
                  <a:txBody>
                    <a:bodyPr/>
                    <a:lstStyle/>
                    <a:p>
                      <a:r>
                        <a:rPr lang="en-US" dirty="0"/>
                        <a:t>R4</a:t>
                      </a:r>
                    </a:p>
                  </a:txBody>
                  <a:tcPr/>
                </a:tc>
                <a:tc>
                  <a:txBody>
                    <a:bodyPr/>
                    <a:lstStyle/>
                    <a:p>
                      <a:endParaRPr lang="en-US"/>
                    </a:p>
                  </a:txBody>
                  <a:tcPr/>
                </a:tc>
                <a:tc>
                  <a:txBody>
                    <a:bodyPr/>
                    <a:lstStyle/>
                    <a:p>
                      <a:r>
                        <a:rPr lang="en-US" dirty="0"/>
                        <a:t>R8</a:t>
                      </a:r>
                    </a:p>
                  </a:txBody>
                  <a:tcPr/>
                </a:tc>
                <a:tc>
                  <a:txBody>
                    <a:bodyPr/>
                    <a:lstStyle/>
                    <a:p>
                      <a:endParaRPr lang="en-US"/>
                    </a:p>
                  </a:txBody>
                  <a:tcPr/>
                </a:tc>
                <a:tc>
                  <a:txBody>
                    <a:bodyPr/>
                    <a:lstStyle/>
                    <a:p>
                      <a:r>
                        <a:rPr lang="en-US" dirty="0"/>
                        <a:t>R12</a:t>
                      </a:r>
                    </a:p>
                  </a:txBody>
                  <a:tcPr/>
                </a:tc>
                <a:tc>
                  <a:txBody>
                    <a:bodyPr/>
                    <a:lstStyle/>
                    <a:p>
                      <a:endParaRPr lang="en-US" dirty="0"/>
                    </a:p>
                  </a:txBody>
                  <a:tcPr/>
                </a:tc>
                <a:extLst>
                  <a:ext uri="{0D108BD9-81ED-4DB2-BD59-A6C34878D82A}">
                    <a16:rowId xmlns:a16="http://schemas.microsoft.com/office/drawing/2014/main" val="100651221"/>
                  </a:ext>
                </a:extLst>
              </a:tr>
              <a:tr h="370840">
                <a:tc>
                  <a:txBody>
                    <a:bodyPr/>
                    <a:lstStyle/>
                    <a:p>
                      <a:r>
                        <a:rPr lang="en-US" dirty="0"/>
                        <a:t>R1</a:t>
                      </a:r>
                    </a:p>
                  </a:txBody>
                  <a:tcPr/>
                </a:tc>
                <a:tc>
                  <a:txBody>
                    <a:bodyPr/>
                    <a:lstStyle/>
                    <a:p>
                      <a:endParaRPr lang="en-US"/>
                    </a:p>
                  </a:txBody>
                  <a:tcPr/>
                </a:tc>
                <a:tc>
                  <a:txBody>
                    <a:bodyPr/>
                    <a:lstStyle/>
                    <a:p>
                      <a:r>
                        <a:rPr lang="en-US" dirty="0"/>
                        <a:t>R5</a:t>
                      </a:r>
                    </a:p>
                  </a:txBody>
                  <a:tcPr/>
                </a:tc>
                <a:tc>
                  <a:txBody>
                    <a:bodyPr/>
                    <a:lstStyle/>
                    <a:p>
                      <a:endParaRPr lang="en-US"/>
                    </a:p>
                  </a:txBody>
                  <a:tcPr/>
                </a:tc>
                <a:tc>
                  <a:txBody>
                    <a:bodyPr/>
                    <a:lstStyle/>
                    <a:p>
                      <a:r>
                        <a:rPr lang="en-US" dirty="0"/>
                        <a:t>R9</a:t>
                      </a:r>
                    </a:p>
                  </a:txBody>
                  <a:tcPr/>
                </a:tc>
                <a:tc>
                  <a:txBody>
                    <a:bodyPr/>
                    <a:lstStyle/>
                    <a:p>
                      <a:endParaRPr lang="en-US"/>
                    </a:p>
                  </a:txBody>
                  <a:tcPr/>
                </a:tc>
                <a:tc>
                  <a:txBody>
                    <a:bodyPr/>
                    <a:lstStyle/>
                    <a:p>
                      <a:r>
                        <a:rPr lang="en-US" dirty="0"/>
                        <a:t>R13</a:t>
                      </a:r>
                    </a:p>
                  </a:txBody>
                  <a:tcPr/>
                </a:tc>
                <a:tc>
                  <a:txBody>
                    <a:bodyPr/>
                    <a:lstStyle/>
                    <a:p>
                      <a:endParaRPr lang="en-US" dirty="0"/>
                    </a:p>
                  </a:txBody>
                  <a:tcPr/>
                </a:tc>
                <a:extLst>
                  <a:ext uri="{0D108BD9-81ED-4DB2-BD59-A6C34878D82A}">
                    <a16:rowId xmlns:a16="http://schemas.microsoft.com/office/drawing/2014/main" val="146351233"/>
                  </a:ext>
                </a:extLst>
              </a:tr>
              <a:tr h="370840">
                <a:tc>
                  <a:txBody>
                    <a:bodyPr/>
                    <a:lstStyle/>
                    <a:p>
                      <a:r>
                        <a:rPr lang="en-US" dirty="0"/>
                        <a:t>R2</a:t>
                      </a:r>
                    </a:p>
                  </a:txBody>
                  <a:tcPr/>
                </a:tc>
                <a:tc>
                  <a:txBody>
                    <a:bodyPr/>
                    <a:lstStyle/>
                    <a:p>
                      <a:endParaRPr lang="en-US"/>
                    </a:p>
                  </a:txBody>
                  <a:tcPr/>
                </a:tc>
                <a:tc>
                  <a:txBody>
                    <a:bodyPr/>
                    <a:lstStyle/>
                    <a:p>
                      <a:r>
                        <a:rPr lang="en-US" dirty="0"/>
                        <a:t>R6</a:t>
                      </a:r>
                    </a:p>
                  </a:txBody>
                  <a:tcPr/>
                </a:tc>
                <a:tc>
                  <a:txBody>
                    <a:bodyPr/>
                    <a:lstStyle/>
                    <a:p>
                      <a:endParaRPr lang="en-US"/>
                    </a:p>
                  </a:txBody>
                  <a:tcPr/>
                </a:tc>
                <a:tc>
                  <a:txBody>
                    <a:bodyPr/>
                    <a:lstStyle/>
                    <a:p>
                      <a:r>
                        <a:rPr lang="en-US" dirty="0"/>
                        <a:t>R10</a:t>
                      </a:r>
                    </a:p>
                  </a:txBody>
                  <a:tcPr/>
                </a:tc>
                <a:tc>
                  <a:txBody>
                    <a:bodyPr/>
                    <a:lstStyle/>
                    <a:p>
                      <a:endParaRPr lang="en-US"/>
                    </a:p>
                  </a:txBody>
                  <a:tcPr/>
                </a:tc>
                <a:tc>
                  <a:txBody>
                    <a:bodyPr/>
                    <a:lstStyle/>
                    <a:p>
                      <a:r>
                        <a:rPr lang="en-US" dirty="0"/>
                        <a:t>R14</a:t>
                      </a:r>
                    </a:p>
                  </a:txBody>
                  <a:tcPr/>
                </a:tc>
                <a:tc>
                  <a:txBody>
                    <a:bodyPr/>
                    <a:lstStyle/>
                    <a:p>
                      <a:endParaRPr lang="en-US" dirty="0"/>
                    </a:p>
                  </a:txBody>
                  <a:tcPr/>
                </a:tc>
                <a:extLst>
                  <a:ext uri="{0D108BD9-81ED-4DB2-BD59-A6C34878D82A}">
                    <a16:rowId xmlns:a16="http://schemas.microsoft.com/office/drawing/2014/main" val="1775583618"/>
                  </a:ext>
                </a:extLst>
              </a:tr>
              <a:tr h="370840">
                <a:tc>
                  <a:txBody>
                    <a:bodyPr/>
                    <a:lstStyle/>
                    <a:p>
                      <a:r>
                        <a:rPr lang="en-US" dirty="0"/>
                        <a:t>R3</a:t>
                      </a:r>
                    </a:p>
                  </a:txBody>
                  <a:tcPr/>
                </a:tc>
                <a:tc>
                  <a:txBody>
                    <a:bodyPr/>
                    <a:lstStyle/>
                    <a:p>
                      <a:endParaRPr lang="en-US"/>
                    </a:p>
                  </a:txBody>
                  <a:tcPr/>
                </a:tc>
                <a:tc>
                  <a:txBody>
                    <a:bodyPr/>
                    <a:lstStyle/>
                    <a:p>
                      <a:r>
                        <a:rPr lang="en-US" dirty="0"/>
                        <a:t>R7</a:t>
                      </a:r>
                    </a:p>
                  </a:txBody>
                  <a:tcPr/>
                </a:tc>
                <a:tc>
                  <a:txBody>
                    <a:bodyPr/>
                    <a:lstStyle/>
                    <a:p>
                      <a:endParaRPr lang="en-US"/>
                    </a:p>
                  </a:txBody>
                  <a:tcPr/>
                </a:tc>
                <a:tc>
                  <a:txBody>
                    <a:bodyPr/>
                    <a:lstStyle/>
                    <a:p>
                      <a:r>
                        <a:rPr lang="en-US" dirty="0"/>
                        <a:t>R11</a:t>
                      </a:r>
                    </a:p>
                  </a:txBody>
                  <a:tcPr/>
                </a:tc>
                <a:tc>
                  <a:txBody>
                    <a:bodyPr/>
                    <a:lstStyle/>
                    <a:p>
                      <a:endParaRPr lang="en-US"/>
                    </a:p>
                  </a:txBody>
                  <a:tcPr/>
                </a:tc>
                <a:tc>
                  <a:txBody>
                    <a:bodyPr/>
                    <a:lstStyle/>
                    <a:p>
                      <a:r>
                        <a:rPr lang="en-US" dirty="0"/>
                        <a:t>R15</a:t>
                      </a:r>
                    </a:p>
                  </a:txBody>
                  <a:tcPr/>
                </a:tc>
                <a:tc>
                  <a:txBody>
                    <a:bodyPr/>
                    <a:lstStyle/>
                    <a:p>
                      <a:endParaRPr lang="en-US" dirty="0"/>
                    </a:p>
                  </a:txBody>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C7C14E0C-8BA7-B240-2E5F-B804E09539CB}"/>
              </a:ext>
            </a:extLst>
          </p:cNvPr>
          <p:cNvGraphicFramePr>
            <a:graphicFrameLocks/>
          </p:cNvGraphicFramePr>
          <p:nvPr/>
        </p:nvGraphicFramePr>
        <p:xfrm>
          <a:off x="457200" y="6282234"/>
          <a:ext cx="8423243"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49956">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D8</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A8</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488595267"/>
      </p:ext>
    </p:extLst>
  </p:cSld>
  <p:clrMapOvr>
    <a:masterClrMapping/>
  </p:clrMapOvr>
  <p:transition>
    <p:pull dir="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2">
      <a:dk1>
        <a:sysClr val="windowText" lastClr="000000"/>
      </a:dk1>
      <a:lt1>
        <a:sysClr val="window" lastClr="FFFFFF"/>
      </a:lt1>
      <a:dk2>
        <a:srgbClr val="1F497D"/>
      </a:dk2>
      <a:lt2>
        <a:srgbClr val="C00000"/>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14637</TotalTime>
  <Pages>1</Pages>
  <Words>1784</Words>
  <Application>Microsoft Office PowerPoint</Application>
  <PresentationFormat>On-screen Show (4:3)</PresentationFormat>
  <Paragraphs>357</Paragraphs>
  <Slides>15</Slides>
  <Notes>8</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15</vt:i4>
      </vt:variant>
    </vt:vector>
  </HeadingPairs>
  <TitlesOfParts>
    <vt:vector size="29" baseType="lpstr">
      <vt:lpstr>Bookman Old Style (Headings)</vt:lpstr>
      <vt:lpstr>Gill Sans</vt:lpstr>
      <vt:lpstr>Gill Sans Light</vt:lpstr>
      <vt:lpstr>Arial</vt:lpstr>
      <vt:lpstr>Bookman Old Style</vt:lpstr>
      <vt:lpstr>Calibri</vt:lpstr>
      <vt:lpstr>Consolas</vt:lpstr>
      <vt:lpstr>Courier New</vt:lpstr>
      <vt:lpstr>Gill Sans MT</vt:lpstr>
      <vt:lpstr>Helvetica</vt:lpstr>
      <vt:lpstr>Times New Roman</vt:lpstr>
      <vt:lpstr>Wingdings</vt:lpstr>
      <vt:lpstr>Wingdings 3</vt:lpstr>
      <vt:lpstr>Origin</vt:lpstr>
      <vt:lpstr>Zonghua Gu</vt:lpstr>
      <vt:lpstr>Question: Endianness</vt:lpstr>
      <vt:lpstr>Question: Endianness</vt:lpstr>
      <vt:lpstr>Question: Endianness</vt:lpstr>
      <vt:lpstr>Endianness</vt:lpstr>
      <vt:lpstr>Endianness</vt:lpstr>
      <vt:lpstr>Data Alignment</vt:lpstr>
      <vt:lpstr>Question: Data Alignment</vt:lpstr>
      <vt:lpstr>Question: Data Align</vt:lpstr>
      <vt:lpstr>Answer: Memory Cycles</vt:lpstr>
      <vt:lpstr>Question: Arrays</vt:lpstr>
      <vt:lpstr>LDM</vt:lpstr>
      <vt:lpstr>LDR</vt:lpstr>
      <vt:lpstr>Program Understanding</vt:lpstr>
      <vt:lpstr>Program Understanding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ARM Architecture</dc:title>
  <dc:creator>ARM Training</dc:creator>
  <cp:lastModifiedBy>Zonghua Gu</cp:lastModifiedBy>
  <cp:revision>577</cp:revision>
  <cp:lastPrinted>2002-11-19T17:09:26Z</cp:lastPrinted>
  <dcterms:created xsi:type="dcterms:W3CDTF">2014-02-12T15:59:14Z</dcterms:created>
  <dcterms:modified xsi:type="dcterms:W3CDTF">2025-10-21T23:17:35Z</dcterms:modified>
</cp:coreProperties>
</file>