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590" r:id="rId3"/>
    <p:sldId id="553" r:id="rId4"/>
    <p:sldId id="555" r:id="rId5"/>
    <p:sldId id="557" r:id="rId6"/>
    <p:sldId id="564" r:id="rId7"/>
    <p:sldId id="576" r:id="rId8"/>
    <p:sldId id="578" r:id="rId9"/>
    <p:sldId id="566" r:id="rId10"/>
    <p:sldId id="257" r:id="rId11"/>
    <p:sldId id="352" r:id="rId12"/>
    <p:sldId id="559" r:id="rId13"/>
    <p:sldId id="563" r:id="rId14"/>
    <p:sldId id="568" r:id="rId15"/>
    <p:sldId id="571" r:id="rId16"/>
    <p:sldId id="574" r:id="rId17"/>
    <p:sldId id="354" r:id="rId18"/>
    <p:sldId id="357" r:id="rId19"/>
    <p:sldId id="384" r:id="rId20"/>
    <p:sldId id="589" r:id="rId21"/>
    <p:sldId id="587" r:id="rId2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91F7D32-A5D4-44C8-A28D-1F95E29E1B1E}" v="6" dt="2025-10-09T21:59:09.3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76" autoAdjust="0"/>
    <p:restoredTop sz="93609"/>
  </p:normalViewPr>
  <p:slideViewPr>
    <p:cSldViewPr>
      <p:cViewPr varScale="1">
        <p:scale>
          <a:sx n="77" d="100"/>
          <a:sy n="77" d="100"/>
        </p:scale>
        <p:origin x="1594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onghua Gu" userId="9a7e1853e1951ef5" providerId="LiveId" clId="{CF1FAA12-072C-4ED5-BA76-0FFFAEFDB88A}"/>
    <pc:docChg chg="addSld delSld modSld">
      <pc:chgData name="Zonghua Gu" userId="9a7e1853e1951ef5" providerId="LiveId" clId="{CF1FAA12-072C-4ED5-BA76-0FFFAEFDB88A}" dt="2025-10-09T21:59:09.370" v="34" actId="1076"/>
      <pc:docMkLst>
        <pc:docMk/>
      </pc:docMkLst>
      <pc:sldChg chg="modSp mod">
        <pc:chgData name="Zonghua Gu" userId="9a7e1853e1951ef5" providerId="LiveId" clId="{CF1FAA12-072C-4ED5-BA76-0FFFAEFDB88A}" dt="2025-09-24T02:21:52.230" v="0" actId="20577"/>
        <pc:sldMkLst>
          <pc:docMk/>
          <pc:sldMk cId="1227639730" sldId="256"/>
        </pc:sldMkLst>
        <pc:spChg chg="mod">
          <ac:chgData name="Zonghua Gu" userId="9a7e1853e1951ef5" providerId="LiveId" clId="{CF1FAA12-072C-4ED5-BA76-0FFFAEFDB88A}" dt="2025-09-24T02:21:52.230" v="0" actId="20577"/>
          <ac:spMkLst>
            <pc:docMk/>
            <pc:sldMk cId="1227639730" sldId="256"/>
            <ac:spMk id="5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5-09-24T02:22:03.806" v="7" actId="47"/>
        <pc:sldMkLst>
          <pc:docMk/>
          <pc:sldMk cId="3148296310" sldId="258"/>
        </pc:sldMkLst>
      </pc:sldChg>
      <pc:sldChg chg="del">
        <pc:chgData name="Zonghua Gu" userId="9a7e1853e1951ef5" providerId="LiveId" clId="{CF1FAA12-072C-4ED5-BA76-0FFFAEFDB88A}" dt="2025-09-24T02:22:05.319" v="8" actId="47"/>
        <pc:sldMkLst>
          <pc:docMk/>
          <pc:sldMk cId="2350803268" sldId="259"/>
        </pc:sldMkLst>
      </pc:sldChg>
      <pc:sldChg chg="del">
        <pc:chgData name="Zonghua Gu" userId="9a7e1853e1951ef5" providerId="LiveId" clId="{CF1FAA12-072C-4ED5-BA76-0FFFAEFDB88A}" dt="2025-09-24T02:22:08.382" v="9" actId="47"/>
        <pc:sldMkLst>
          <pc:docMk/>
          <pc:sldMk cId="3642733396" sldId="260"/>
        </pc:sldMkLst>
      </pc:sldChg>
      <pc:sldChg chg="del">
        <pc:chgData name="Zonghua Gu" userId="9a7e1853e1951ef5" providerId="LiveId" clId="{CF1FAA12-072C-4ED5-BA76-0FFFAEFDB88A}" dt="2025-09-24T02:22:08.382" v="9" actId="47"/>
        <pc:sldMkLst>
          <pc:docMk/>
          <pc:sldMk cId="3881216825" sldId="261"/>
        </pc:sldMkLst>
      </pc:sldChg>
      <pc:sldChg chg="del">
        <pc:chgData name="Zonghua Gu" userId="9a7e1853e1951ef5" providerId="LiveId" clId="{CF1FAA12-072C-4ED5-BA76-0FFFAEFDB88A}" dt="2025-09-25T15:39:53.846" v="24" actId="47"/>
        <pc:sldMkLst>
          <pc:docMk/>
          <pc:sldMk cId="2531244333" sldId="262"/>
        </pc:sldMkLst>
      </pc:sldChg>
      <pc:sldChg chg="del">
        <pc:chgData name="Zonghua Gu" userId="9a7e1853e1951ef5" providerId="LiveId" clId="{CF1FAA12-072C-4ED5-BA76-0FFFAEFDB88A}" dt="2025-10-09T21:57:50.746" v="32" actId="47"/>
        <pc:sldMkLst>
          <pc:docMk/>
          <pc:sldMk cId="2716811776" sldId="351"/>
        </pc:sldMkLst>
      </pc:sldChg>
      <pc:sldChg chg="del">
        <pc:chgData name="Zonghua Gu" userId="9a7e1853e1951ef5" providerId="LiveId" clId="{CF1FAA12-072C-4ED5-BA76-0FFFAEFDB88A}" dt="2025-09-24T02:22:09.684" v="10" actId="47"/>
        <pc:sldMkLst>
          <pc:docMk/>
          <pc:sldMk cId="3254334378" sldId="353"/>
        </pc:sldMkLst>
      </pc:sldChg>
      <pc:sldChg chg="del">
        <pc:chgData name="Zonghua Gu" userId="9a7e1853e1951ef5" providerId="LiveId" clId="{CF1FAA12-072C-4ED5-BA76-0FFFAEFDB88A}" dt="2025-09-24T02:22:24.782" v="18" actId="47"/>
        <pc:sldMkLst>
          <pc:docMk/>
          <pc:sldMk cId="3592227053" sldId="356"/>
        </pc:sldMkLst>
      </pc:sldChg>
      <pc:sldChg chg="del">
        <pc:chgData name="Zonghua Gu" userId="9a7e1853e1951ef5" providerId="LiveId" clId="{CF1FAA12-072C-4ED5-BA76-0FFFAEFDB88A}" dt="2025-09-24T02:22:26.628" v="19" actId="47"/>
        <pc:sldMkLst>
          <pc:docMk/>
          <pc:sldMk cId="1087692432" sldId="358"/>
        </pc:sldMkLst>
      </pc:sldChg>
      <pc:sldChg chg="del">
        <pc:chgData name="Zonghua Gu" userId="9a7e1853e1951ef5" providerId="LiveId" clId="{CF1FAA12-072C-4ED5-BA76-0FFFAEFDB88A}" dt="2025-10-07T21:16:17.881" v="28" actId="47"/>
        <pc:sldMkLst>
          <pc:docMk/>
          <pc:sldMk cId="2623990252" sldId="383"/>
        </pc:sldMkLst>
      </pc:sldChg>
      <pc:sldChg chg="modSp mod">
        <pc:chgData name="Zonghua Gu" userId="9a7e1853e1951ef5" providerId="LiveId" clId="{CF1FAA12-072C-4ED5-BA76-0FFFAEFDB88A}" dt="2025-10-08T01:22:41.958" v="30" actId="15"/>
        <pc:sldMkLst>
          <pc:docMk/>
          <pc:sldMk cId="1456166100" sldId="384"/>
        </pc:sldMkLst>
        <pc:spChg chg="mod">
          <ac:chgData name="Zonghua Gu" userId="9a7e1853e1951ef5" providerId="LiveId" clId="{CF1FAA12-072C-4ED5-BA76-0FFFAEFDB88A}" dt="2025-10-08T01:22:41.958" v="30" actId="15"/>
          <ac:spMkLst>
            <pc:docMk/>
            <pc:sldMk cId="1456166100" sldId="384"/>
            <ac:spMk id="4" creationId="{FD21DA5F-0B0C-5E4B-FFBA-4A8692F7A975}"/>
          </ac:spMkLst>
        </pc:spChg>
      </pc:sldChg>
      <pc:sldChg chg="del">
        <pc:chgData name="Zonghua Gu" userId="9a7e1853e1951ef5" providerId="LiveId" clId="{CF1FAA12-072C-4ED5-BA76-0FFFAEFDB88A}" dt="2025-09-24T02:22:27.907" v="20" actId="47"/>
        <pc:sldMkLst>
          <pc:docMk/>
          <pc:sldMk cId="3808152940" sldId="385"/>
        </pc:sldMkLst>
      </pc:sldChg>
      <pc:sldChg chg="del">
        <pc:chgData name="Zonghua Gu" userId="9a7e1853e1951ef5" providerId="LiveId" clId="{CF1FAA12-072C-4ED5-BA76-0FFFAEFDB88A}" dt="2025-09-24T02:22:28.676" v="21" actId="47"/>
        <pc:sldMkLst>
          <pc:docMk/>
          <pc:sldMk cId="1496054644" sldId="387"/>
        </pc:sldMkLst>
      </pc:sldChg>
      <pc:sldChg chg="modSp add">
        <pc:chgData name="Zonghua Gu" userId="9a7e1853e1951ef5" providerId="LiveId" clId="{CF1FAA12-072C-4ED5-BA76-0FFFAEFDB88A}" dt="2025-10-09T21:59:09.370" v="34" actId="1076"/>
        <pc:sldMkLst>
          <pc:docMk/>
          <pc:sldMk cId="3531879706" sldId="553"/>
        </pc:sldMkLst>
        <pc:spChg chg="mod">
          <ac:chgData name="Zonghua Gu" userId="9a7e1853e1951ef5" providerId="LiveId" clId="{CF1FAA12-072C-4ED5-BA76-0FFFAEFDB88A}" dt="2025-10-09T21:59:09.370" v="34" actId="1076"/>
          <ac:spMkLst>
            <pc:docMk/>
            <pc:sldMk cId="3531879706" sldId="553"/>
            <ac:spMk id="38917" creationId="{00000000-0000-0000-0000-000000000000}"/>
          </ac:spMkLst>
        </pc:spChg>
      </pc:sldChg>
      <pc:sldChg chg="del">
        <pc:chgData name="Zonghua Gu" userId="9a7e1853e1951ef5" providerId="LiveId" clId="{CF1FAA12-072C-4ED5-BA76-0FFFAEFDB88A}" dt="2025-10-07T21:16:17.881" v="28" actId="47"/>
        <pc:sldMkLst>
          <pc:docMk/>
          <pc:sldMk cId="4009754153" sldId="554"/>
        </pc:sldMkLst>
      </pc:sldChg>
      <pc:sldChg chg="del">
        <pc:chgData name="Zonghua Gu" userId="9a7e1853e1951ef5" providerId="LiveId" clId="{CF1FAA12-072C-4ED5-BA76-0FFFAEFDB88A}" dt="2025-09-24T02:21:55.533" v="1" actId="47"/>
        <pc:sldMkLst>
          <pc:docMk/>
          <pc:sldMk cId="3198797166" sldId="556"/>
        </pc:sldMkLst>
      </pc:sldChg>
      <pc:sldChg chg="del">
        <pc:chgData name="Zonghua Gu" userId="9a7e1853e1951ef5" providerId="LiveId" clId="{CF1FAA12-072C-4ED5-BA76-0FFFAEFDB88A}" dt="2025-09-24T02:21:56.684" v="2" actId="47"/>
        <pc:sldMkLst>
          <pc:docMk/>
          <pc:sldMk cId="3001218416" sldId="558"/>
        </pc:sldMkLst>
      </pc:sldChg>
      <pc:sldChg chg="del">
        <pc:chgData name="Zonghua Gu" userId="9a7e1853e1951ef5" providerId="LiveId" clId="{CF1FAA12-072C-4ED5-BA76-0FFFAEFDB88A}" dt="2025-09-24T02:22:10.688" v="11" actId="47"/>
        <pc:sldMkLst>
          <pc:docMk/>
          <pc:sldMk cId="1329116476" sldId="560"/>
        </pc:sldMkLst>
      </pc:sldChg>
      <pc:sldChg chg="del">
        <pc:chgData name="Zonghua Gu" userId="9a7e1853e1951ef5" providerId="LiveId" clId="{CF1FAA12-072C-4ED5-BA76-0FFFAEFDB88A}" dt="2025-09-24T02:22:11.606" v="12" actId="47"/>
        <pc:sldMkLst>
          <pc:docMk/>
          <pc:sldMk cId="3280752258" sldId="561"/>
        </pc:sldMkLst>
      </pc:sldChg>
      <pc:sldChg chg="del">
        <pc:chgData name="Zonghua Gu" userId="9a7e1853e1951ef5" providerId="LiveId" clId="{CF1FAA12-072C-4ED5-BA76-0FFFAEFDB88A}" dt="2025-09-24T02:22:12.953" v="13" actId="47"/>
        <pc:sldMkLst>
          <pc:docMk/>
          <pc:sldMk cId="2226504781" sldId="562"/>
        </pc:sldMkLst>
      </pc:sldChg>
      <pc:sldChg chg="del">
        <pc:chgData name="Zonghua Gu" userId="9a7e1853e1951ef5" providerId="LiveId" clId="{CF1FAA12-072C-4ED5-BA76-0FFFAEFDB88A}" dt="2025-09-24T02:21:57.566" v="3" actId="47"/>
        <pc:sldMkLst>
          <pc:docMk/>
          <pc:sldMk cId="3678485956" sldId="565"/>
        </pc:sldMkLst>
      </pc:sldChg>
      <pc:sldChg chg="del">
        <pc:chgData name="Zonghua Gu" userId="9a7e1853e1951ef5" providerId="LiveId" clId="{CF1FAA12-072C-4ED5-BA76-0FFFAEFDB88A}" dt="2025-09-24T02:22:01.402" v="6" actId="47"/>
        <pc:sldMkLst>
          <pc:docMk/>
          <pc:sldMk cId="4150398855" sldId="567"/>
        </pc:sldMkLst>
      </pc:sldChg>
      <pc:sldChg chg="modSp mod">
        <pc:chgData name="Zonghua Gu" userId="9a7e1853e1951ef5" providerId="LiveId" clId="{CF1FAA12-072C-4ED5-BA76-0FFFAEFDB88A}" dt="2025-09-24T02:24:36.422" v="23"/>
        <pc:sldMkLst>
          <pc:docMk/>
          <pc:sldMk cId="570184693" sldId="568"/>
        </pc:sldMkLst>
        <pc:spChg chg="mod">
          <ac:chgData name="Zonghua Gu" userId="9a7e1853e1951ef5" providerId="LiveId" clId="{CF1FAA12-072C-4ED5-BA76-0FFFAEFDB88A}" dt="2025-09-24T02:24:36.422" v="23"/>
          <ac:spMkLst>
            <pc:docMk/>
            <pc:sldMk cId="570184693" sldId="568"/>
            <ac:spMk id="4" creationId="{90B6A678-F78A-5E7F-A0E9-3A3B773CE733}"/>
          </ac:spMkLst>
        </pc:spChg>
      </pc:sldChg>
      <pc:sldChg chg="del">
        <pc:chgData name="Zonghua Gu" userId="9a7e1853e1951ef5" providerId="LiveId" clId="{CF1FAA12-072C-4ED5-BA76-0FFFAEFDB88A}" dt="2025-09-24T02:22:17.008" v="14" actId="47"/>
        <pc:sldMkLst>
          <pc:docMk/>
          <pc:sldMk cId="979784967" sldId="569"/>
        </pc:sldMkLst>
      </pc:sldChg>
      <pc:sldChg chg="del">
        <pc:chgData name="Zonghua Gu" userId="9a7e1853e1951ef5" providerId="LiveId" clId="{CF1FAA12-072C-4ED5-BA76-0FFFAEFDB88A}" dt="2025-09-24T02:22:18.506" v="15" actId="47"/>
        <pc:sldMkLst>
          <pc:docMk/>
          <pc:sldMk cId="210341446" sldId="570"/>
        </pc:sldMkLst>
      </pc:sldChg>
      <pc:sldChg chg="del">
        <pc:chgData name="Zonghua Gu" userId="9a7e1853e1951ef5" providerId="LiveId" clId="{CF1FAA12-072C-4ED5-BA76-0FFFAEFDB88A}" dt="2025-09-24T02:22:20.409" v="16" actId="47"/>
        <pc:sldMkLst>
          <pc:docMk/>
          <pc:sldMk cId="1649707196" sldId="572"/>
        </pc:sldMkLst>
      </pc:sldChg>
      <pc:sldChg chg="del">
        <pc:chgData name="Zonghua Gu" userId="9a7e1853e1951ef5" providerId="LiveId" clId="{CF1FAA12-072C-4ED5-BA76-0FFFAEFDB88A}" dt="2025-09-24T02:22:21.595" v="17" actId="47"/>
        <pc:sldMkLst>
          <pc:docMk/>
          <pc:sldMk cId="4233569648" sldId="573"/>
        </pc:sldMkLst>
      </pc:sldChg>
      <pc:sldChg chg="del">
        <pc:chgData name="Zonghua Gu" userId="9a7e1853e1951ef5" providerId="LiveId" clId="{CF1FAA12-072C-4ED5-BA76-0FFFAEFDB88A}" dt="2025-09-24T02:21:59.311" v="4" actId="47"/>
        <pc:sldMkLst>
          <pc:docMk/>
          <pc:sldMk cId="736856981" sldId="575"/>
        </pc:sldMkLst>
      </pc:sldChg>
      <pc:sldChg chg="del">
        <pc:chgData name="Zonghua Gu" userId="9a7e1853e1951ef5" providerId="LiveId" clId="{CF1FAA12-072C-4ED5-BA76-0FFFAEFDB88A}" dt="2025-09-24T02:22:00.289" v="5" actId="47"/>
        <pc:sldMkLst>
          <pc:docMk/>
          <pc:sldMk cId="183442351" sldId="577"/>
        </pc:sldMkLst>
      </pc:sldChg>
      <pc:sldChg chg="new del">
        <pc:chgData name="Zonghua Gu" userId="9a7e1853e1951ef5" providerId="LiveId" clId="{CF1FAA12-072C-4ED5-BA76-0FFFAEFDB88A}" dt="2025-10-07T21:13:03.805" v="27" actId="47"/>
        <pc:sldMkLst>
          <pc:docMk/>
          <pc:sldMk cId="3345466133" sldId="579"/>
        </pc:sldMkLst>
      </pc:sldChg>
      <pc:sldChg chg="add">
        <pc:chgData name="Zonghua Gu" userId="9a7e1853e1951ef5" providerId="LiveId" clId="{CF1FAA12-072C-4ED5-BA76-0FFFAEFDB88A}" dt="2025-10-07T21:13:00.992" v="26"/>
        <pc:sldMkLst>
          <pc:docMk/>
          <pc:sldMk cId="3350438353" sldId="587"/>
        </pc:sldMkLst>
      </pc:sldChg>
      <pc:sldChg chg="add">
        <pc:chgData name="Zonghua Gu" userId="9a7e1853e1951ef5" providerId="LiveId" clId="{CF1FAA12-072C-4ED5-BA76-0FFFAEFDB88A}" dt="2025-10-08T01:22:31.330" v="29"/>
        <pc:sldMkLst>
          <pc:docMk/>
          <pc:sldMk cId="3677126747" sldId="589"/>
        </pc:sldMkLst>
      </pc:sldChg>
      <pc:sldChg chg="add">
        <pc:chgData name="Zonghua Gu" userId="9a7e1853e1951ef5" providerId="LiveId" clId="{CF1FAA12-072C-4ED5-BA76-0FFFAEFDB88A}" dt="2025-10-09T21:57:48.940" v="31"/>
        <pc:sldMkLst>
          <pc:docMk/>
          <pc:sldMk cId="3279631536" sldId="590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0.55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09-09T23:11:41.335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1,'0'0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C3A17A-95E8-4381-B66B-5D6DE2B3048A}" type="datetimeFigureOut">
              <a:rPr lang="en-US" smtClean="0"/>
              <a:pPr/>
              <a:t>10/9/2025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0C9D69-9831-4844-8B1E-062B2DA58B0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3904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Gill Sans Light"/>
              </a:rPr>
              <a:t>Useful for multiword shifts and certain crypto/bit-</a:t>
            </a:r>
            <a:r>
              <a:rPr lang="en-US" dirty="0" err="1">
                <a:latin typeface="Gill Sans Light"/>
              </a:rPr>
              <a:t>manip</a:t>
            </a:r>
            <a:r>
              <a:rPr lang="en-US" dirty="0">
                <a:latin typeface="Gill Sans Light"/>
              </a:rPr>
              <a:t> patterns</a:t>
            </a:r>
          </a:p>
          <a:p>
            <a:r>
              <a:rPr lang="en-US" b="1" dirty="0"/>
              <a:t>LSR (used here)</a:t>
            </a:r>
            <a:r>
              <a:rPr lang="en-US" dirty="0"/>
              <a:t>: Always fills with zeros, converting the negative value to a large positive number</a:t>
            </a:r>
          </a:p>
          <a:p>
            <a:r>
              <a:rPr lang="en-US" b="1" dirty="0"/>
              <a:t>ASR</a:t>
            </a:r>
            <a:r>
              <a:rPr lang="en-US" dirty="0"/>
              <a:t>: Would preserve the sign bit, maintaining the negative value (-4096)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765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61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en-US" dirty="0"/>
                  <a:t>Convert subtraction to addition with Two’s complement. If two operands have same sign, and the result has opposite sign, then V = 1; else V = 0.”</a:t>
                </a:r>
              </a:p>
              <a:p>
                <a:pPr>
                  <a:defRPr/>
                </a:pPr>
                <a:endParaRPr lang="en-US" sz="1200" dirty="0">
                  <a:solidFill>
                    <a:prstClr val="black"/>
                  </a:solidFill>
                  <a:cs typeface="Times New Roman" pitchFamily="18" charset="0"/>
                </a:endParaRPr>
              </a:p>
              <a:p>
                <a:pPr>
                  <a:defRPr/>
                </a:pPr>
                <a:r>
                  <a:rPr lang="en-US" sz="1200" dirty="0">
                    <a:solidFill>
                      <a:prstClr val="black"/>
                    </a:solidFill>
                    <a:latin typeface="Gill Sans MT"/>
                    <a:cs typeface="Times New Roman" pitchFamily="18" charset="0"/>
                  </a:rPr>
                  <a:t>convert subtraction to addition with Two’s complement. </a:t>
                </a:r>
                <a:r>
                  <a:rPr lang="en-US" sz="1200" dirty="0">
                    <a:solidFill>
                      <a:prstClr val="black"/>
                    </a:solidFill>
                    <a:cs typeface="Times New Roman" pitchFamily="18" charset="0"/>
                  </a:rPr>
                  <a:t>If two operands have same sign, and the result has opposite sign, then V = 1; for all other cases, V = 0</a:t>
                </a:r>
                <a:endParaRPr lang="en-US" sz="1200" dirty="0">
                  <a:solidFill>
                    <a:prstClr val="black"/>
                  </a:solidFill>
                  <a:latin typeface="Gill Sans MT"/>
                  <a:cs typeface="Times New Roman" pitchFamily="18" charset="0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r>
                      <a:rPr lang="en-US" sz="2800" i="1">
                        <a:solidFill>
                          <a:prstClr val="black"/>
                        </a:solidFill>
                        <a:latin typeface="Cambria Math"/>
                      </a:rPr>
                      <m:t>−1</m:t>
                    </m:r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2</m:t>
                        </m:r>
                      </m:e>
                      <m:sup>
                        <m:r>
                          <a:rPr lang="en-US" sz="2800" i="1">
                            <a:solidFill>
                              <a:prstClr val="black"/>
                            </a:solidFill>
                            <a:latin typeface="Cambria Math"/>
                          </a:rPr>
                          <m:t>𝑛</m:t>
                        </m:r>
                        <m:r>
                          <a:rPr lang="en-US" sz="2800" b="0" i="1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24611" name="Rectangle 3"/>
              <p:cNvSpPr>
                <a:spLocks noGrp="1" noChangeArrowheads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C is cleared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Times New Roman" pitchFamily="18" charset="0"/>
                  </a:rPr>
                  <a:t>upon 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an </a:t>
                </a:r>
                <a:r>
                  <a:rPr kumimoji="0" lang="en-US" sz="1200" b="1" i="0" u="sng" strike="noStrike" kern="1200" cap="none" spc="0" normalizeH="0" baseline="0" noProof="0" dirty="0">
                    <a:ln>
                      <a:noFill/>
                    </a:ln>
                    <a:solidFill>
                      <a:srgbClr val="800000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unsigned</a:t>
                </a:r>
                <a:r>
                  <a:rPr kumimoji="0" lang="en-US" sz="12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Gill Sans MT"/>
                    <a:ea typeface="+mn-ea"/>
                    <a:cs typeface="+mn-cs"/>
                  </a:rPr>
                  <a:t> subtract if the answer is wrong</a:t>
                </a:r>
                <a:endParaRPr kumimoji="0" lang="en-US" sz="3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ill Sans MT"/>
                  <a:ea typeface="+mn-ea"/>
                  <a:cs typeface="+mn-cs"/>
                </a:endParaRP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(CF) is set differently for unsigned addition and subtraction:</a:t>
                </a:r>
              </a:p>
              <a:p>
                <a:r>
                  <a:rPr lang="en-US" sz="2800" dirty="0">
                    <a:solidFill>
                      <a:prstClr val="black"/>
                    </a:solidFill>
                  </a:rPr>
                  <a:t>When adding or subtracting two signed numbers in an 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n</a:t>
                </a:r>
                <a:r>
                  <a:rPr lang="en-US" sz="2800" dirty="0">
                    <a:solidFill>
                      <a:prstClr val="black"/>
                    </a:solidFill>
                  </a:rPr>
                  <a:t>-bit system, an overflow occurs if </a:t>
                </a:r>
                <a:r>
                  <a:rPr lang="en-US" sz="2800" dirty="0">
                    <a:solidFill>
                      <a:srgbClr val="C00000"/>
                    </a:solidFill>
                  </a:rPr>
                  <a:t>the true result is larger than the maximum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−1</a:t>
                </a:r>
                <a:r>
                  <a:rPr lang="en-US" sz="2800" dirty="0">
                    <a:solidFill>
                      <a:prstClr val="black"/>
                    </a:solidFill>
                  </a:rPr>
                  <a:t>) </a:t>
                </a:r>
                <a:r>
                  <a:rPr lang="en-US" sz="2800" dirty="0">
                    <a:solidFill>
                      <a:srgbClr val="C00000"/>
                    </a:solidFill>
                  </a:rPr>
                  <a:t>or smaller than the minimum signed integer </a:t>
                </a:r>
                <a:r>
                  <a:rPr lang="en-US" sz="2800" dirty="0">
                    <a:solidFill>
                      <a:prstClr val="black"/>
                    </a:solidFill>
                  </a:rPr>
                  <a:t>(</a:t>
                </a:r>
                <a:r>
                  <a:rPr lang="en-US" sz="2800" i="1" dirty="0">
                    <a:solidFill>
                      <a:prstClr val="black"/>
                    </a:solidFill>
                  </a:rPr>
                  <a:t>i.e.</a:t>
                </a:r>
                <a:r>
                  <a:rPr lang="en-US" sz="2800" dirty="0">
                    <a:solidFill>
                      <a:prstClr val="black"/>
                    </a:solidFill>
                  </a:rPr>
                  <a:t> 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〖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2</a:t>
                </a:r>
                <a:r>
                  <a:rPr lang="en-US" sz="280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〗^(</a:t>
                </a:r>
                <a:r>
                  <a:rPr lang="en-US" sz="2800" i="0">
                    <a:solidFill>
                      <a:prstClr val="black"/>
                    </a:solidFill>
                    <a:latin typeface="Cambria Math"/>
                  </a:rPr>
                  <a:t>𝑛</a:t>
                </a:r>
                <a:r>
                  <a:rPr lang="en-US" sz="2800" b="0" i="0">
                    <a:solidFill>
                      <a:prstClr val="black"/>
                    </a:solidFill>
                    <a:latin typeface="Cambria Math" panose="02040503050406030204" pitchFamily="18" charset="0"/>
                  </a:rPr>
                  <a:t>−1)</a:t>
                </a:r>
                <a:r>
                  <a:rPr lang="en-US" sz="2800" dirty="0">
                    <a:solidFill>
                      <a:prstClr val="black"/>
                    </a:solidFill>
                  </a:rPr>
                  <a:t>) that can be represented</a:t>
                </a:r>
              </a:p>
              <a:p>
                <a:endParaRPr lang="en-US" dirty="0"/>
              </a:p>
              <a:p>
                <a:r>
                  <a:rPr lang="en-US" dirty="0"/>
                  <a:t>Overflow may occur when adding 2 operands with the same sign, or subtracting 2 operands with different signs, including: 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positive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adding two negative numbers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positive number from a negative number</a:t>
                </a:r>
              </a:p>
              <a:p>
                <a:pPr marL="731520" lvl="1" indent="-457200">
                  <a:buFont typeface="+mj-lt"/>
                  <a:buAutoNum type="arabicPeriod"/>
                </a:pPr>
                <a:r>
                  <a:rPr lang="en-US" dirty="0"/>
                  <a:t>subtracting a negative number from a positive number</a:t>
                </a:r>
              </a:p>
              <a:p>
                <a:endParaRPr lang="en-US" dirty="0"/>
              </a:p>
              <a:p>
                <a:r>
                  <a:rPr lang="en-US" dirty="0"/>
                  <a:t>Overflow cannot occur when adding 2 operands with different signs or when subtracting 2 operands with the same sign.</a:t>
                </a:r>
              </a:p>
              <a:p>
                <a:pPr lvl="1"/>
                <a:r>
                  <a:rPr lang="en-US" dirty="0"/>
                  <a:t>Why?</a:t>
                </a: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endParaRPr lang="en-US" sz="1200" b="1" i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is set to 1 if there is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carry out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from the most significant bit (MSB) during the addition.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means the sum exceeds the maximum value that can be represented in the given number of bits.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Example: Adding two 8-bit numbers resulting in a value greater than 255 will set CF = 1.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acts as a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borrow indicator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for subtraction.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cleared (set to 0) if a borrow is needed (i.e., if the minuend is less than the subtrahend).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CF is set to 1 if no borrow is needed, meaning the subtraction did not underflow.</a:t>
                </a:r>
              </a:p>
              <a:p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Summary: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addition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1 means an overflow beyond the MSB (carry out).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For </a:t>
                </a:r>
                <a:r>
                  <a:rPr lang="en-US" sz="1200" b="1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unsigned subtraction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, CF = 0 means a borrow (underflow), CF = 1 means no borrow.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carry flag thus helps detect unsigned overflow or underflow conditions.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This behavior contrasts with signed arithmetic, where the overflow flag (OF) signals signed overflow, and the carry flag is generally not used.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References from teaching and documentation explain this clearly: The carry flag signals actual carry for addition and borrow for subtraction in unsigned arithmetic scenarios.</a:t>
                </a:r>
              </a:p>
              <a:p>
                <a:endParaRPr lang="en-US" dirty="0"/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537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5933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ANS: count ones, then subtract from 32</a:t>
            </a:r>
          </a:p>
          <a:p>
            <a:r>
              <a:rPr lang="pt-BR" dirty="0"/>
              <a:t>Or </a:t>
            </a:r>
            <a:r>
              <a:rPr lang="en-US" dirty="0"/>
              <a:t>Invert r0 to get r4, then count 0’s in r4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0145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dirty="0"/>
              <a:t>r0 = 0xffffffff</a:t>
            </a:r>
          </a:p>
          <a:p>
            <a:pPr lvl="1"/>
            <a:r>
              <a:rPr lang="en-US" dirty="0"/>
              <a:t>r1 = 0x00000001</a:t>
            </a:r>
          </a:p>
          <a:p>
            <a:pPr lvl="1"/>
            <a:r>
              <a:rPr lang="en-US" dirty="0"/>
              <a:t>r2 = 0x00000003</a:t>
            </a:r>
          </a:p>
          <a:p>
            <a:pPr lvl="1"/>
            <a:r>
              <a:rPr lang="en-US" dirty="0"/>
              <a:t>r3 = 0xfffffff0</a:t>
            </a:r>
          </a:p>
          <a:p>
            <a:endParaRPr lang="en-US" dirty="0"/>
          </a:p>
          <a:p>
            <a:r>
              <a:rPr lang="en-US" dirty="0"/>
              <a:t>The N, Z, C, and V flags start out as zero.</a:t>
            </a:r>
          </a:p>
          <a:p>
            <a:r>
              <a:rPr lang="en-US" dirty="0"/>
              <a:t>After the execution of the following instructions, fill in the flag values.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6977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Suppose </a:t>
            </a:r>
          </a:p>
          <a:p>
            <a:pPr lvl="1"/>
            <a:r>
              <a:rPr lang="en-US" dirty="0"/>
              <a:t>r0 = 0xFFFFFFFF, r1 = 0x00000001, r2 = 0x00000000,</a:t>
            </a:r>
          </a:p>
          <a:p>
            <a:pPr lvl="1"/>
            <a:r>
              <a:rPr lang="en-US" dirty="0"/>
              <a:t>NZCV = 0000 initially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0C9D69-9831-4844-8B1E-062B2DA58B0D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2613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1219200" y="3886200"/>
            <a:ext cx="6858000" cy="990600"/>
          </a:xfrm>
        </p:spPr>
        <p:txBody>
          <a:bodyPr anchor="t" anchorCtr="0"/>
          <a:lstStyle>
            <a:lvl1pPr algn="r">
              <a:defRPr sz="320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9" name="Subtitle 8"/>
          <p:cNvSpPr>
            <a:spLocks noGrp="1"/>
          </p:cNvSpPr>
          <p:nvPr>
            <p:ph type="subTitle" idx="1"/>
          </p:nvPr>
        </p:nvSpPr>
        <p:spPr>
          <a:xfrm>
            <a:off x="1219200" y="5124450"/>
            <a:ext cx="6858000" cy="533400"/>
          </a:xfrm>
        </p:spPr>
        <p:txBody>
          <a:bodyPr/>
          <a:lstStyle>
            <a:lvl1pPr marL="0" indent="0" algn="r">
              <a:buNone/>
              <a:defRPr sz="20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28" name="Date Placeholder 27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>
            <a:lvl1pPr>
              <a:defRPr sz="1400"/>
            </a:lvl1pPr>
          </a:lstStyle>
          <a:p>
            <a:pPr eaLnBrk="1" latinLnBrk="0" hangingPunct="1"/>
            <a:fld id="{966FEA0E-C2DF-4252-97AD-54F2B7E07EAC}" type="datetime1">
              <a:rPr lang="en-US" smtClean="0"/>
              <a:pPr eaLnBrk="1" latinLnBrk="0" hangingPunct="1"/>
              <a:t>10/9/2025</a:t>
            </a:fld>
            <a:endParaRPr lang="en-US" sz="1600" dirty="0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29" name="Slide Number Placeholder 28"/>
          <p:cNvSpPr>
            <a:spLocks noGrp="1"/>
          </p:cNvSpPr>
          <p:nvPr>
            <p:ph type="sldNum" sz="quarter" idx="12"/>
          </p:nvPr>
        </p:nvSpPr>
        <p:spPr>
          <a:xfrm>
            <a:off x="1216152" y="6355080"/>
            <a:ext cx="1219200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21" name="Rectangle 20"/>
          <p:cNvSpPr/>
          <p:nvPr/>
        </p:nvSpPr>
        <p:spPr>
          <a:xfrm>
            <a:off x="904875" y="3648075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3" name="Rectangle 32"/>
          <p:cNvSpPr/>
          <p:nvPr/>
        </p:nvSpPr>
        <p:spPr>
          <a:xfrm>
            <a:off x="914400" y="5048250"/>
            <a:ext cx="7315200" cy="685800"/>
          </a:xfrm>
          <a:prstGeom prst="rect">
            <a:avLst/>
          </a:prstGeom>
          <a:noFill/>
          <a:ln w="6350" cap="rnd" cmpd="sng" algn="ctr">
            <a:solidFill>
              <a:schemeClr val="accent2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2" name="Rectangle 21"/>
          <p:cNvSpPr/>
          <p:nvPr/>
        </p:nvSpPr>
        <p:spPr>
          <a:xfrm>
            <a:off x="904875" y="3648075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32" name="Rectangle 31"/>
          <p:cNvSpPr/>
          <p:nvPr/>
        </p:nvSpPr>
        <p:spPr>
          <a:xfrm>
            <a:off x="914400" y="5048250"/>
            <a:ext cx="228600" cy="685800"/>
          </a:xfrm>
          <a:prstGeom prst="rect">
            <a:avLst/>
          </a:prstGeom>
          <a:solidFill>
            <a:schemeClr val="accent2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0CD88620-7329-4FC3-B65D-4EA691138F1B}" type="datetime1">
              <a:rPr lang="en-US" smtClean="0"/>
              <a:pPr eaLnBrk="1" latinLnBrk="0" hangingPunct="1"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19200" y="2971800"/>
            <a:ext cx="6858000" cy="1066800"/>
          </a:xfrm>
        </p:spPr>
        <p:txBody>
          <a:bodyPr anchor="t" anchorCtr="0"/>
          <a:lstStyle>
            <a:lvl1pPr algn="r">
              <a:buNone/>
              <a:defRPr sz="3200" b="0" cap="none" baseline="0"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267200"/>
            <a:ext cx="6781800" cy="1143000"/>
          </a:xfrm>
        </p:spPr>
        <p:txBody>
          <a:bodyPr anchor="t" anchorCtr="0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00800" y="6355080"/>
            <a:ext cx="2286000" cy="365760"/>
          </a:xfrm>
        </p:spPr>
        <p:txBody>
          <a:bodyPr/>
          <a:lstStyle/>
          <a:p>
            <a:pPr eaLnBrk="1" latinLnBrk="0" hangingPunct="1"/>
            <a:fld id="{0E46F3A1-5653-427D-9F78-56077401431A}" type="datetime1">
              <a:rPr lang="en-US" smtClean="0"/>
              <a:pPr eaLnBrk="1" latinLnBrk="0" hangingPunct="1"/>
              <a:t>10/9/2025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898648" y="6355080"/>
            <a:ext cx="3474720" cy="365760"/>
          </a:xfrm>
        </p:spPr>
        <p:txBody>
          <a:bodyPr/>
          <a:lstStyle/>
          <a:p>
            <a:endParaRPr kumimoji="0"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69848" y="6355080"/>
            <a:ext cx="1520952" cy="36576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 dirty="0"/>
          </a:p>
        </p:txBody>
      </p:sp>
      <p:sp>
        <p:nvSpPr>
          <p:cNvPr id="7" name="Rectangle 6"/>
          <p:cNvSpPr/>
          <p:nvPr/>
        </p:nvSpPr>
        <p:spPr>
          <a:xfrm>
            <a:off x="914400" y="2819400"/>
            <a:ext cx="7315200" cy="1280160"/>
          </a:xfrm>
          <a:prstGeom prst="rect">
            <a:avLst/>
          </a:prstGeom>
          <a:noFill/>
          <a:ln w="6350" cap="rnd" cmpd="sng" algn="ctr">
            <a:solidFill>
              <a:schemeClr val="accent1"/>
            </a:solidFill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914400" y="2819400"/>
            <a:ext cx="228600" cy="128016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67FC03-415A-45F0-B002-DF181377F7DC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632198" y="1216152"/>
            <a:ext cx="4041648" cy="493776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85875"/>
            <a:ext cx="4040188" cy="685800"/>
          </a:xfrm>
          <a:noFill/>
          <a:ln>
            <a:noFill/>
          </a:ln>
        </p:spPr>
        <p:txBody>
          <a:bodyPr lIns="91440" anchor="b" anchorCtr="0">
            <a:noAutofit/>
          </a:bodyPr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8200" y="1295400"/>
            <a:ext cx="4041775" cy="685800"/>
          </a:xfrm>
          <a:noFill/>
          <a:ln>
            <a:noFill/>
          </a:ln>
        </p:spPr>
        <p:txBody>
          <a:bodyPr lIns="91440" anchor="b" anchorCtr="0"/>
          <a:lstStyle>
            <a:lvl1pPr marL="0" indent="0">
              <a:buNone/>
              <a:defRPr sz="2400" b="1">
                <a:solidFill>
                  <a:schemeClr val="accent2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1B6FC726-A0B4-4FC7-90F5-F17415A5C1A3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"/>
          </p:nvPr>
        </p:nvSpPr>
        <p:spPr>
          <a:xfrm>
            <a:off x="457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>
          <a:xfrm>
            <a:off x="4648200" y="2133600"/>
            <a:ext cx="4038600" cy="40386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28600"/>
            <a:ext cx="8229600" cy="9144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E217211-C3F9-4892-9CC3-C7105638567D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BA713E6A-6B26-4373-A75B-EF395DC64F9E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5" name="Straight Connector 4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Isosceles Triangle 5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24600" y="304800"/>
            <a:ext cx="2514600" cy="838200"/>
          </a:xfrm>
        </p:spPr>
        <p:txBody>
          <a:bodyPr anchor="b" anchorCtr="0">
            <a:noAutofit/>
          </a:bodyPr>
          <a:lstStyle>
            <a:lvl1pPr algn="l">
              <a:buNone/>
              <a:defRPr sz="2000" b="1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6324600" y="1219200"/>
            <a:ext cx="2514600" cy="4843463"/>
          </a:xfrm>
        </p:spPr>
        <p:txBody>
          <a:bodyPr/>
          <a:lstStyle>
            <a:lvl1pPr marL="0" indent="0">
              <a:lnSpc>
                <a:spcPts val="2200"/>
              </a:lnSpc>
              <a:spcAft>
                <a:spcPts val="1000"/>
              </a:spcAft>
              <a:buNone/>
              <a:defRPr sz="1600">
                <a:solidFill>
                  <a:schemeClr val="tx2"/>
                </a:solidFill>
              </a:defRPr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57EB41EF-4260-415A-8DD6-FEDCC46E7EFC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Straight Connector 9"/>
          <p:cNvSpPr>
            <a:spLocks noChangeShapeType="1"/>
          </p:cNvSpPr>
          <p:nvPr/>
        </p:nvSpPr>
        <p:spPr bwMode="auto">
          <a:xfrm rot="5400000">
            <a:off x="3160645" y="3324225"/>
            <a:ext cx="603504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 dirty="0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"/>
          </p:nvPr>
        </p:nvSpPr>
        <p:spPr>
          <a:xfrm>
            <a:off x="304800" y="304800"/>
            <a:ext cx="5715000" cy="5715000"/>
          </a:xfrm>
        </p:spPr>
        <p:txBody>
          <a:bodyPr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00856"/>
            <a:ext cx="8229600" cy="674688"/>
          </a:xfrm>
          <a:ln>
            <a:solidFill>
              <a:schemeClr val="accent1"/>
            </a:solidFill>
          </a:ln>
        </p:spPr>
        <p:txBody>
          <a:bodyPr lIns="274320" anchor="ctr"/>
          <a:lstStyle>
            <a:lvl1pPr algn="r">
              <a:buNone/>
              <a:defRPr sz="2000" b="0">
                <a:solidFill>
                  <a:schemeClr val="tx1"/>
                </a:solidFill>
              </a:defRPr>
            </a:lvl1pPr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57200" y="1905000"/>
            <a:ext cx="8229600" cy="4270248"/>
          </a:xfrm>
          <a:solidFill>
            <a:schemeClr val="tx1">
              <a:shade val="50000"/>
            </a:schemeClr>
          </a:solidFill>
          <a:ln>
            <a:noFill/>
          </a:ln>
          <a:effectLst/>
        </p:spPr>
        <p:txBody>
          <a:bodyPr/>
          <a:lstStyle>
            <a:lvl1pPr marL="0" indent="0">
              <a:spcBef>
                <a:spcPts val="600"/>
              </a:spcBef>
              <a:buNone/>
              <a:defRPr sz="3200"/>
            </a:lvl1pPr>
          </a:lstStyle>
          <a:p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219200"/>
            <a:ext cx="8229600" cy="533400"/>
          </a:xfrm>
        </p:spPr>
        <p:txBody>
          <a:bodyPr anchor="ctr" anchorCtr="0"/>
          <a:lstStyle>
            <a:lvl1pPr marL="0" indent="0" algn="l">
              <a:buFontTx/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BDA80A0-06CC-4492-94A0-E8516751045E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Straight Connector 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9" name="Isosceles Triangle 8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0" name="Rectangle 9"/>
          <p:cNvSpPr/>
          <p:nvPr/>
        </p:nvSpPr>
        <p:spPr>
          <a:xfrm>
            <a:off x="457200" y="500856"/>
            <a:ext cx="182880" cy="685800"/>
          </a:xfrm>
          <a:prstGeom prst="rect">
            <a:avLst/>
          </a:prstGeom>
          <a:solidFill>
            <a:schemeClr val="accent1"/>
          </a:solidFill>
          <a:ln w="635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69EF9524-0CAA-4F98-BAC2-CE6B712F5E94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eaLnBrk="1" latinLnBrk="0" hangingPunct="1"/>
            <a:fld id="{CB20516D-6F89-4C89-8307-32A716E22875}" type="datetime1">
              <a:rPr lang="en-US" smtClean="0"/>
              <a:pPr eaLnBrk="1" latinLnBrk="0" hangingPunct="1"/>
              <a:t>10/9/2025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7" name="Straight Connector 6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Isosceles Triangle 7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9" name="Straight Connector 8"/>
          <p:cNvSpPr>
            <a:spLocks noChangeShapeType="1"/>
          </p:cNvSpPr>
          <p:nvPr/>
        </p:nvSpPr>
        <p:spPr bwMode="auto">
          <a:xfrm rot="5400000">
            <a:off x="3629607" y="3201952"/>
            <a:ext cx="585216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Placeholder 21"/>
          <p:cNvSpPr>
            <a:spLocks noGrp="1"/>
          </p:cNvSpPr>
          <p:nvPr>
            <p:ph type="title"/>
          </p:nvPr>
        </p:nvSpPr>
        <p:spPr>
          <a:xfrm>
            <a:off x="457200" y="152400"/>
            <a:ext cx="8229600" cy="990600"/>
          </a:xfrm>
          <a:prstGeom prst="rect">
            <a:avLst/>
          </a:prstGeom>
        </p:spPr>
        <p:txBody>
          <a:bodyPr vert="horz" anchor="b" anchorCtr="0">
            <a:normAutofit/>
          </a:bodyPr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1"/>
          </p:nvPr>
        </p:nvSpPr>
        <p:spPr>
          <a:xfrm>
            <a:off x="457200" y="1219200"/>
            <a:ext cx="8229600" cy="4910328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n-US"/>
              <a:t>Click to edit Master text styles</a:t>
            </a:r>
          </a:p>
          <a:p>
            <a:pPr lvl="1" eaLnBrk="1" latinLnBrk="0" hangingPunct="1"/>
            <a:r>
              <a:rPr kumimoji="0" lang="en-US"/>
              <a:t>Second level</a:t>
            </a:r>
          </a:p>
          <a:p>
            <a:pPr lvl="2" eaLnBrk="1" latinLnBrk="0" hangingPunct="1"/>
            <a:r>
              <a:rPr kumimoji="0" lang="en-US"/>
              <a:t>Third level</a:t>
            </a:r>
          </a:p>
          <a:p>
            <a:pPr lvl="3" eaLnBrk="1" latinLnBrk="0" hangingPunct="1"/>
            <a:r>
              <a:rPr kumimoji="0" lang="en-US"/>
              <a:t>Fourth level</a:t>
            </a:r>
          </a:p>
          <a:p>
            <a:pPr lvl="4" eaLnBrk="1" latinLnBrk="0" hangingPunct="1"/>
            <a:r>
              <a:rPr kumimoji="0" lang="en-US"/>
              <a:t>Fifth level</a:t>
            </a:r>
          </a:p>
        </p:txBody>
      </p:sp>
      <p:sp>
        <p:nvSpPr>
          <p:cNvPr id="14" name="Date Placeholder 13"/>
          <p:cNvSpPr>
            <a:spLocks noGrp="1"/>
          </p:cNvSpPr>
          <p:nvPr>
            <p:ph type="dt" sz="half" idx="2"/>
          </p:nvPr>
        </p:nvSpPr>
        <p:spPr>
          <a:xfrm>
            <a:off x="6400800" y="6356350"/>
            <a:ext cx="2289048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eaLnBrk="1" latinLnBrk="0" hangingPunct="1"/>
            <a:fld id="{A25B5B4B-57EE-495D-8E74-A657CFD8BB6C}" type="datetime1">
              <a:rPr lang="en-US" smtClean="0"/>
              <a:pPr eaLnBrk="1" latinLnBrk="0" hangingPunct="1"/>
              <a:t>10/9/2025</a:t>
            </a:fld>
            <a:endParaRPr lang="en-US" sz="1400" dirty="0">
              <a:solidFill>
                <a:schemeClr val="tx2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3"/>
          </p:nvPr>
        </p:nvSpPr>
        <p:spPr>
          <a:xfrm>
            <a:off x="2898648" y="6356350"/>
            <a:ext cx="3505200" cy="365760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r" eaLnBrk="1" latinLnBrk="0" hangingPunct="1"/>
            <a:endParaRPr kumimoji="0" lang="en-US" sz="1400" dirty="0">
              <a:solidFill>
                <a:schemeClr val="tx2"/>
              </a:solidFill>
            </a:endParaRPr>
          </a:p>
        </p:txBody>
      </p:sp>
      <p:sp>
        <p:nvSpPr>
          <p:cNvPr id="23" name="Slide Number Placeholder 22"/>
          <p:cNvSpPr>
            <a:spLocks noGrp="1"/>
          </p:cNvSpPr>
          <p:nvPr>
            <p:ph type="sldNum" sz="quarter" idx="4"/>
          </p:nvPr>
        </p:nvSpPr>
        <p:spPr>
          <a:xfrm>
            <a:off x="612648" y="6356350"/>
            <a:ext cx="1981200" cy="365760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400">
                <a:solidFill>
                  <a:schemeClr val="tx2"/>
                </a:solidFill>
              </a:defRPr>
            </a:lvl1pPr>
          </a:lstStyle>
          <a:p>
            <a:pPr algn="l" eaLnBrk="1" latinLnBrk="0" hangingPunct="1"/>
            <a:fld id="{EA7C8D44-3667-46F6-9772-CC52308E2A7F}" type="slidenum">
              <a:rPr kumimoji="0" lang="en-US" smtClean="0"/>
              <a:pPr algn="l" eaLnBrk="1" latinLnBrk="0" hangingPunct="1"/>
              <a:t>‹#›</a:t>
            </a:fld>
            <a:endParaRPr kumimoji="0" lang="en-US" sz="1600" dirty="0">
              <a:solidFill>
                <a:schemeClr val="tx2"/>
              </a:solidFill>
            </a:endParaRPr>
          </a:p>
        </p:txBody>
      </p:sp>
      <p:sp>
        <p:nvSpPr>
          <p:cNvPr id="28" name="Straight Connector 27"/>
          <p:cNvSpPr>
            <a:spLocks noChangeShapeType="1"/>
          </p:cNvSpPr>
          <p:nvPr/>
        </p:nvSpPr>
        <p:spPr bwMode="auto">
          <a:xfrm>
            <a:off x="457200" y="6353175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Straight Connector 28"/>
          <p:cNvSpPr>
            <a:spLocks noChangeShapeType="1"/>
          </p:cNvSpPr>
          <p:nvPr/>
        </p:nvSpPr>
        <p:spPr bwMode="auto">
          <a:xfrm>
            <a:off x="457200" y="1143000"/>
            <a:ext cx="8229600" cy="0"/>
          </a:xfrm>
          <a:prstGeom prst="line">
            <a:avLst/>
          </a:prstGeom>
          <a:noFill/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0" name="Isosceles Triangle 9"/>
          <p:cNvSpPr>
            <a:spLocks noChangeAspect="1"/>
          </p:cNvSpPr>
          <p:nvPr/>
        </p:nvSpPr>
        <p:spPr>
          <a:xfrm rot="5400000">
            <a:off x="419100" y="6467475"/>
            <a:ext cx="190849" cy="120314"/>
          </a:xfrm>
          <a:prstGeom prst="triangle">
            <a:avLst>
              <a:gd name="adj" fmla="val 50000"/>
            </a:avLst>
          </a:prstGeom>
          <a:solidFill>
            <a:schemeClr val="accent2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ts val="600"/>
        </a:spcBef>
        <a:buClr>
          <a:schemeClr val="accent1"/>
        </a:buClr>
        <a:buSzPct val="76000"/>
        <a:buFont typeface="Wingdings 3"/>
        <a:buChar char="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indent="-274320" algn="l" rtl="0" eaLnBrk="1" latinLnBrk="0" hangingPunct="1">
        <a:spcBef>
          <a:spcPts val="500"/>
        </a:spcBef>
        <a:buClr>
          <a:schemeClr val="accent2"/>
        </a:buClr>
        <a:buSzPct val="76000"/>
        <a:buFont typeface="Wingdings 3"/>
        <a:buChar char=""/>
        <a:defRPr kumimoji="0" sz="2300" kern="1200">
          <a:solidFill>
            <a:schemeClr val="tx2"/>
          </a:solidFill>
          <a:latin typeface="+mn-lt"/>
          <a:ea typeface="+mn-ea"/>
          <a:cs typeface="+mn-cs"/>
        </a:defRPr>
      </a:lvl2pPr>
      <a:lvl3pPr marL="822960" indent="-228600" algn="l" rtl="0" eaLnBrk="1" latinLnBrk="0" hangingPunct="1">
        <a:spcBef>
          <a:spcPts val="500"/>
        </a:spcBef>
        <a:buClr>
          <a:schemeClr val="bg1">
            <a:shade val="50000"/>
          </a:schemeClr>
        </a:buClr>
        <a:buSzPct val="76000"/>
        <a:buFont typeface="Wingdings 3"/>
        <a:buChar char="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228600" algn="l" rtl="0" eaLnBrk="1" latinLnBrk="0" hangingPunct="1">
        <a:spcBef>
          <a:spcPts val="400"/>
        </a:spcBef>
        <a:buClr>
          <a:schemeClr val="accent2">
            <a:shade val="75000"/>
          </a:schemeClr>
        </a:buClr>
        <a:buSzPct val="70000"/>
        <a:buFont typeface="Wingdings"/>
        <a:buChar char="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00"/>
        </a:spcBef>
        <a:buClr>
          <a:schemeClr val="accent2"/>
        </a:buClr>
        <a:buSzPct val="70000"/>
        <a:buFont typeface="Wingdings"/>
        <a:buChar char="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45920" indent="-182880" algn="l" rtl="0" eaLnBrk="1" latinLnBrk="0" hangingPunct="1">
        <a:spcBef>
          <a:spcPts val="300"/>
        </a:spcBef>
        <a:buClr>
          <a:srgbClr val="9FB8CD">
            <a:shade val="75000"/>
          </a:srgbClr>
        </a:buClr>
        <a:buSzPct val="75000"/>
        <a:buFont typeface="Wingdings 3"/>
        <a:buChar char=""/>
        <a:defRPr kumimoji="0"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182880" algn="l" rtl="0" eaLnBrk="1" latinLnBrk="0" hangingPunct="1">
        <a:spcBef>
          <a:spcPts val="300"/>
        </a:spcBef>
        <a:buClr>
          <a:srgbClr val="727CA3">
            <a:shade val="75000"/>
          </a:srgb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7pPr>
      <a:lvl8pPr marL="2011680" indent="-182880" algn="l" rtl="0" eaLnBrk="1" latinLnBrk="0" hangingPunct="1">
        <a:spcBef>
          <a:spcPts val="300"/>
        </a:spcBef>
        <a:buClr>
          <a:prstClr val="white">
            <a:shade val="50000"/>
          </a:prstClr>
        </a:buClr>
        <a:buSzPct val="75000"/>
        <a:buFont typeface="Wingdings 3"/>
        <a:buChar char=""/>
        <a:defRPr kumimoji="0" lang="en-US" sz="1400" kern="1200" smtClean="0">
          <a:solidFill>
            <a:schemeClr val="tx1"/>
          </a:solidFill>
          <a:latin typeface="+mn-lt"/>
          <a:ea typeface="+mn-ea"/>
          <a:cs typeface="+mn-cs"/>
        </a:defRPr>
      </a:lvl8pPr>
      <a:lvl9pPr marL="2194560" indent="-182880" algn="l" rtl="0" eaLnBrk="1" latinLnBrk="0" hangingPunct="1">
        <a:spcBef>
          <a:spcPts val="300"/>
        </a:spcBef>
        <a:buClr>
          <a:srgbClr val="9FB8CD"/>
        </a:buClr>
        <a:buSzPct val="75000"/>
        <a:buFont typeface="Wingdings 3"/>
        <a:buChar char=""/>
        <a:defRPr kumimoji="0" lang="en-US" sz="1200" kern="1200" smtClean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eb.eece.maine.edu/~zhu/book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customXml" Target="../ink/ink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Z. Gu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Fall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37547"/>
            <a:ext cx="6477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dirty="0">
                <a:latin typeface="Bookman Old Style (Headings)"/>
              </a:rPr>
              <a:t>Embedded Systems with ARM Cortex-M Microcontrollers in Assembly Language and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55111" y="1828800"/>
            <a:ext cx="581428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rgbClr val="C00000"/>
                </a:solidFill>
              </a:rPr>
              <a:t>Chapter 4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ARM Arithmetic and Logic Instructions</a:t>
            </a:r>
          </a:p>
          <a:p>
            <a:pPr algn="r"/>
            <a:r>
              <a:rPr lang="en-US" sz="2400" b="1" dirty="0">
                <a:solidFill>
                  <a:srgbClr val="C00000"/>
                </a:solidFill>
              </a:rPr>
              <a:t>Exercises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</a:t>
            </a:fld>
            <a:endParaRPr kumimoji="0"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F69590-944C-2F0D-5FE5-A89C06E0D2BF}"/>
              </a:ext>
            </a:extLst>
          </p:cNvPr>
          <p:cNvSpPr txBox="1"/>
          <p:nvPr/>
        </p:nvSpPr>
        <p:spPr>
          <a:xfrm>
            <a:off x="709138" y="6355080"/>
            <a:ext cx="7725724" cy="461665"/>
          </a:xfrm>
          <a:prstGeom prst="rect">
            <a:avLst/>
          </a:prstGeom>
          <a:ln w="9525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Acknowledgement: Lecture slides based on Embedded Systems with ARM Cortex-M Microcontrollers in Assembly Language and C, University of Maine 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  <a:hlinkClick r:id="rId2"/>
              </a:rPr>
              <a:t>https://web.eece.maine.edu/~zhu/book/</a:t>
            </a:r>
            <a:r>
              <a:rPr lang="en-US" altLang="zh-CN" sz="1200" dirty="0">
                <a:solidFill>
                  <a:schemeClr val="tx1"/>
                </a:solidFill>
                <a:latin typeface="Gill Sans Light"/>
              </a:rPr>
              <a:t> </a:t>
            </a:r>
            <a:endParaRPr lang="en-SE" sz="1200" dirty="0">
              <a:solidFill>
                <a:schemeClr val="tx1"/>
              </a:solidFill>
              <a:latin typeface="Gill Sans Light"/>
            </a:endParaRPr>
          </a:p>
        </p:txBody>
      </p:sp>
    </p:spTree>
    <p:extLst>
      <p:ext uri="{BB962C8B-B14F-4D97-AF65-F5344CB8AC3E}">
        <p14:creationId xmlns:p14="http://schemas.microsoft.com/office/powerpoint/2010/main" val="1227639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D6F502-DB5A-8F9C-A5EB-10BBD9248E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Barrel Shifter: Explanations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25D8ACB-98F6-A4F1-CB73-635D27ADC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</a:t>
            </a:fld>
            <a:endParaRPr kumimoji="0"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/>
              </p:cNvSpPr>
              <p:nvPr>
                <p:ph sz="quarter"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>
                    <a:latin typeface="Gill Sans Light"/>
                  </a:rPr>
                  <a:t>LSL (logical shift left):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left, fills zeros on the right; </a:t>
                </a:r>
                <a:r>
                  <a:rPr lang="en-US" dirty="0">
                    <a:latin typeface="Gill Sans Light"/>
                  </a:rPr>
                  <a:t>C gets the last bit shifted out of bit 31. This is multiply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for non-overflowing values.</a:t>
                </a:r>
              </a:p>
              <a:p>
                <a:r>
                  <a:rPr lang="en-US" dirty="0">
                    <a:latin typeface="Gill Sans Light"/>
                  </a:rPr>
                  <a:t>LSR (logical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zeros on the left; </a:t>
                </a:r>
                <a:r>
                  <a:rPr lang="en-US" dirty="0">
                    <a:latin typeface="Gill Sans Light"/>
                  </a:rPr>
                  <a:t>C gets the last bit shifted out of bit 0. This is unsigned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.</a:t>
                </a:r>
                <a:r>
                  <a:rPr lang="en-US" dirty="0">
                    <a:latin typeface="Gill Sans Light"/>
                  </a:rPr>
                  <a:t> </a:t>
                </a:r>
              </a:p>
              <a:p>
                <a:r>
                  <a:rPr lang="en-US" dirty="0">
                    <a:latin typeface="Gill Sans Light"/>
                  </a:rPr>
                  <a:t>ASR (arithmetic shift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shifts right, fills the sign bit on the left </a:t>
                </a:r>
                <a:r>
                  <a:rPr lang="en-US" dirty="0">
                    <a:latin typeface="Gill Sans Light"/>
                  </a:rPr>
                  <a:t>to preserving the sign; C gets the last bit shifted out of bit 0. This is signed division by 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ar-AE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ar-AE" dirty="0">
                    <a:latin typeface="Gill Sans Light"/>
                  </a:rPr>
                  <a:t> </a:t>
                </a:r>
                <a:r>
                  <a:rPr lang="en-US" dirty="0">
                    <a:latin typeface="Gill Sans Light"/>
                  </a:rPr>
                  <a:t>with sign extension</a:t>
                </a:r>
              </a:p>
              <a:p>
                <a:r>
                  <a:rPr lang="en-US" dirty="0">
                    <a:latin typeface="Gill Sans Light"/>
                  </a:rPr>
                  <a:t>ROR (rotate right):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bits right with wraparound</a:t>
                </a:r>
                <a:r>
                  <a:rPr lang="en-US" dirty="0">
                    <a:latin typeface="Gill Sans Light"/>
                  </a:rPr>
                  <a:t>; bits leaving bit 0 re-enter at bit 31, and C receives the bit that wrapped. This is a pure rotation without data loss.</a:t>
                </a:r>
              </a:p>
              <a:p>
                <a:r>
                  <a:rPr lang="en-US" dirty="0">
                    <a:latin typeface="Gill Sans Light"/>
                  </a:rPr>
                  <a:t>RRX (rotate right extended): </a:t>
                </a:r>
                <a:r>
                  <a:rPr lang="en-US" dirty="0">
                    <a:solidFill>
                      <a:srgbClr val="FF0000"/>
                    </a:solidFill>
                    <a:latin typeface="Gill Sans Light"/>
                  </a:rPr>
                  <a:t>rotates right by one through the carry flag</a:t>
                </a:r>
                <a:r>
                  <a:rPr lang="en-US" dirty="0">
                    <a:latin typeface="Gill Sans Light"/>
                  </a:rPr>
                  <a:t>, treating C as a 33rd bit; new bit 31 comes from old C, and C receives old bit 0.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7C9F849-B760-6B86-0795-1026F14FB21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"/>
              </p:nvPr>
            </p:nvSpPr>
            <p:spPr>
              <a:blipFill>
                <a:blip r:embed="rId3"/>
                <a:stretch>
                  <a:fillRect l="-519" t="-2222" r="-20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Horizontal Scroll 12">
            <a:extLst>
              <a:ext uri="{FF2B5EF4-FFF2-40B4-BE49-F238E27FC236}">
                <a16:creationId xmlns:a16="http://schemas.microsoft.com/office/drawing/2014/main" id="{E5E988BA-EC48-9C00-F0B8-EA356F0F3223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279631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341912" y="152400"/>
            <a:ext cx="7649688" cy="990600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r>
              <a:rPr lang="en-US" dirty="0"/>
              <a:t>Carry and Overflow Flags w/ Arithmetic Instructions</a:t>
            </a:r>
          </a:p>
        </p:txBody>
      </p:sp>
      <p:sp>
        <p:nvSpPr>
          <p:cNvPr id="323587" name="Slide Number Placeholder 5"/>
          <p:cNvSpPr txBox="1">
            <a:spLocks noGrp="1"/>
          </p:cNvSpPr>
          <p:nvPr/>
        </p:nvSpPr>
        <p:spPr bwMode="auto">
          <a:xfrm>
            <a:off x="5998447" y="5885466"/>
            <a:ext cx="1600200" cy="3571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itchFamily="34" charset="0"/>
              </a:defRPr>
            </a:lvl9pPr>
          </a:lstStyle>
          <a:p>
            <a:pPr algn="r">
              <a:defRPr/>
            </a:pPr>
            <a:fld id="{433D14BE-FE52-4332-969F-3696FB65ED39}" type="slidenum">
              <a:rPr lang="en-US" sz="1050">
                <a:solidFill>
                  <a:srgbClr val="EEECE1"/>
                </a:solidFill>
              </a:rPr>
              <a:pPr algn="r">
                <a:defRPr/>
              </a:pPr>
              <a:t>3</a:t>
            </a:fld>
            <a:endParaRPr lang="en-US" sz="1050">
              <a:solidFill>
                <a:srgbClr val="EEECE1"/>
              </a:solidFill>
            </a:endParaRPr>
          </a:p>
        </p:txBody>
      </p:sp>
      <p:sp>
        <p:nvSpPr>
          <p:cNvPr id="38917" name="Rectangle 5"/>
          <p:cNvSpPr>
            <a:spLocks noChangeArrowheads="1"/>
          </p:cNvSpPr>
          <p:nvPr/>
        </p:nvSpPr>
        <p:spPr bwMode="auto">
          <a:xfrm>
            <a:off x="586144" y="1143000"/>
            <a:ext cx="7886700" cy="28007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/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C = 1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(Borrow flag = 0)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-1)</a:t>
            </a:r>
          </a:p>
          <a:p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Carry flag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C = 0 (Borrow flag = 1)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upon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an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unsigned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subtraction 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if the answer is wrong </a:t>
            </a:r>
            <a:r>
              <a:rPr lang="en-US" sz="1600" dirty="0">
                <a:solidFill>
                  <a:prstClr val="black"/>
                </a:solidFill>
                <a:latin typeface="Gill Sans MT"/>
              </a:rPr>
              <a:t> (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true result &lt; 0)</a:t>
            </a:r>
            <a:endParaRPr lang="en-US" sz="1600" dirty="0">
              <a:solidFill>
                <a:prstClr val="black"/>
              </a:solidFill>
              <a:latin typeface="Gill Sans MT"/>
            </a:endParaRP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Overflow flag V =1 upon a </a:t>
            </a:r>
            <a:r>
              <a:rPr lang="en-US" sz="1600" b="1" u="sng" dirty="0">
                <a:solidFill>
                  <a:srgbClr val="800000"/>
                </a:solidFill>
                <a:latin typeface="Gill Sans MT"/>
                <a:cs typeface="Times New Roman" pitchFamily="18" charset="0"/>
              </a:rPr>
              <a:t>signed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 addition or subtraction if the answer is wrong (true result &gt; 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 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or true result &lt; -</a:t>
            </a:r>
            <a:r>
              <a:rPr lang="en-US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2</a:t>
            </a:r>
            <a:r>
              <a:rPr lang="en-US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n</a:t>
            </a:r>
            <a:r>
              <a:rPr lang="en-US" altLang="zh-CN" sz="1600" baseline="300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-1</a:t>
            </a:r>
            <a:r>
              <a:rPr lang="en-US" altLang="zh-CN" sz="1600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)</a:t>
            </a:r>
          </a:p>
          <a:p>
            <a:pPr>
              <a:defRPr/>
            </a:pP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Overflow may occur when adding 2 operands with the same sign, or subtracting 2 operands with different signs; Overflow cannot occur when adding 2 operands with different signs or when subtracting 2 operands with the same sign.</a:t>
            </a:r>
          </a:p>
          <a:p>
            <a:pPr>
              <a:defRPr/>
            </a:pPr>
            <a:r>
              <a:rPr lang="en-US" sz="1600" b="1" dirty="0">
                <a:solidFill>
                  <a:prstClr val="black"/>
                </a:solidFill>
                <a:latin typeface="Gill Sans MT"/>
                <a:cs typeface="Times New Roman" pitchFamily="18" charset="0"/>
              </a:rPr>
              <a:t>Tip</a:t>
            </a:r>
            <a:r>
              <a:rPr lang="en-US" sz="1600" b="1" dirty="0">
                <a:solidFill>
                  <a:prstClr val="black"/>
                </a:solidFill>
                <a:cs typeface="Times New Roman" pitchFamily="18" charset="0"/>
              </a:rPr>
              <a:t>: </a:t>
            </a:r>
            <a:r>
              <a:rPr lang="en-US" sz="1600" dirty="0">
                <a:solidFill>
                  <a:prstClr val="black"/>
                </a:solidFill>
                <a:cs typeface="Times New Roman" pitchFamily="18" charset="0"/>
              </a:rPr>
              <a:t>Convert subtraction to addition with Two’s complement. If two operands have same sign, and the result has opposite sign, then V = 1; else V = 0</a:t>
            </a:r>
            <a:endParaRPr lang="en-US" sz="1600" dirty="0">
              <a:solidFill>
                <a:prstClr val="black"/>
              </a:solidFill>
              <a:latin typeface="Gill Sans MT"/>
              <a:cs typeface="Times New Roman" pitchFamily="18" charset="0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1447800" y="4171018"/>
          <a:ext cx="6446109" cy="21426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398942">
                  <a:extLst>
                    <a:ext uri="{9D8B030D-6E8A-4147-A177-3AD203B41FA5}">
                      <a16:colId xmlns:a16="http://schemas.microsoft.com/office/drawing/2014/main" val="3449689791"/>
                    </a:ext>
                  </a:extLst>
                </a:gridCol>
                <a:gridCol w="1677164">
                  <a:extLst>
                    <a:ext uri="{9D8B030D-6E8A-4147-A177-3AD203B41FA5}">
                      <a16:colId xmlns:a16="http://schemas.microsoft.com/office/drawing/2014/main" val="2443800576"/>
                    </a:ext>
                  </a:extLst>
                </a:gridCol>
                <a:gridCol w="1587037">
                  <a:extLst>
                    <a:ext uri="{9D8B030D-6E8A-4147-A177-3AD203B41FA5}">
                      <a16:colId xmlns:a16="http://schemas.microsoft.com/office/drawing/2014/main" val="1711257944"/>
                    </a:ext>
                  </a:extLst>
                </a:gridCol>
                <a:gridCol w="1782966">
                  <a:extLst>
                    <a:ext uri="{9D8B030D-6E8A-4147-A177-3AD203B41FA5}">
                      <a16:colId xmlns:a16="http://schemas.microsoft.com/office/drawing/2014/main" val="3663234745"/>
                    </a:ext>
                  </a:extLst>
                </a:gridCol>
              </a:tblGrid>
              <a:tr h="435764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 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Addition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Unsigned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Signed Addition or Subtraction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3840512487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Carry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solidFill>
                            <a:schemeClr val="tx1"/>
                          </a:solidFill>
                          <a:effectLst/>
                        </a:rPr>
                        <a:t>n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-1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flag=1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flag=0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true result &lt; 0 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 Carry flag=0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effectLst/>
                        </a:rPr>
                        <a:t>Borrow flag=1</a:t>
                      </a:r>
                    </a:p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2963854241"/>
                  </a:ext>
                </a:extLst>
              </a:tr>
              <a:tr h="822960"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Overflow flag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N/A</a:t>
                      </a:r>
                      <a:endParaRPr lang="en-US" sz="1400" b="0" dirty="0">
                        <a:effectLst/>
                        <a:latin typeface="Times New Roman" panose="02020603050405020304" pitchFamily="18" charset="0"/>
                        <a:ea typeface="SimSun" panose="02010600030101010101" pitchFamily="2" charset="-122"/>
                      </a:endParaRPr>
                    </a:p>
                  </a:txBody>
                  <a:tcPr marL="51435" marR="51435" marT="0" marB="0"/>
                </a:tc>
                <a:tc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400" b="0" dirty="0">
                          <a:effectLst/>
                        </a:rPr>
                        <a:t>true result &gt; 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  <a:r>
                        <a:rPr lang="en-US" sz="1400" b="0" dirty="0">
                          <a:effectLst/>
                        </a:rPr>
                        <a:t>-1 or true result &lt; -2</a:t>
                      </a:r>
                      <a:r>
                        <a:rPr lang="en-US" sz="1400" b="0" baseline="30000" dirty="0">
                          <a:effectLst/>
                        </a:rPr>
                        <a:t>n-1</a:t>
                      </a:r>
                    </a:p>
                    <a:p>
                      <a:pPr marL="285750" marR="0" indent="-28575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Char char="è"/>
                      </a:pPr>
                      <a:r>
                        <a:rPr lang="en-US" sz="1400" b="0" dirty="0">
                          <a:effectLst/>
                        </a:rPr>
                        <a:t>Overflow flag=1</a:t>
                      </a:r>
                    </a:p>
                    <a:p>
                      <a:pPr marL="0" marR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kumimoji="0" lang="en-US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(Result incorrect)</a:t>
                      </a:r>
                    </a:p>
                  </a:txBody>
                  <a:tcPr marL="51435" marR="51435" marT="0" marB="0"/>
                </a:tc>
                <a:extLst>
                  <a:ext uri="{0D108BD9-81ED-4DB2-BD59-A6C34878D82A}">
                    <a16:rowId xmlns:a16="http://schemas.microsoft.com/office/drawing/2014/main" val="1206363004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14:cNvPr>
              <p14:cNvContentPartPr/>
              <p14:nvPr/>
            </p14:nvContentPartPr>
            <p14:xfrm>
              <a:off x="3641316" y="4901005"/>
              <a:ext cx="270" cy="27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2ACC35D-CF95-407F-B222-DF5A1F69BA9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63456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14:cNvPr>
              <p14:cNvContentPartPr/>
              <p14:nvPr/>
            </p14:nvContentPartPr>
            <p14:xfrm>
              <a:off x="4061706" y="4901005"/>
              <a:ext cx="270" cy="270"/>
            </p14:xfrm>
          </p:contentPart>
        </mc:Choice>
        <mc:Fallback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641399B7-0992-4159-AA56-A61464B0489C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054956" y="4894255"/>
                <a:ext cx="13500" cy="13500"/>
              </a:xfrm>
              <a:prstGeom prst="rect">
                <a:avLst/>
              </a:prstGeom>
            </p:spPr>
          </p:pic>
        </mc:Fallback>
      </mc:AlternateContent>
      <p:sp>
        <p:nvSpPr>
          <p:cNvPr id="4" name="Slide Number Placeholder 2">
            <a:extLst>
              <a:ext uri="{FF2B5EF4-FFF2-40B4-BE49-F238E27FC236}">
                <a16:creationId xmlns:a16="http://schemas.microsoft.com/office/drawing/2014/main" id="{3666F114-4345-426E-8C76-29F4A48DF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12648" y="6396597"/>
            <a:ext cx="1981200" cy="274320"/>
          </a:xfrm>
        </p:spPr>
        <p:txBody>
          <a:bodyPr/>
          <a:lstStyle/>
          <a:p>
            <a:fld id="{EA7C8D44-3667-46F6-9772-CC52308E2A7F}" type="slidenum">
              <a:rPr kumimoji="0" lang="en-US" smtClean="0"/>
              <a:pPr/>
              <a:t>3</a:t>
            </a:fld>
            <a:endParaRPr kumimoji="0" lang="en-US" dirty="0"/>
          </a:p>
        </p:txBody>
      </p:sp>
      <p:sp>
        <p:nvSpPr>
          <p:cNvPr id="3" name="Horizontal Scroll 12">
            <a:extLst>
              <a:ext uri="{FF2B5EF4-FFF2-40B4-BE49-F238E27FC236}">
                <a16:creationId xmlns:a16="http://schemas.microsoft.com/office/drawing/2014/main" id="{D48C24B2-C142-576C-CE10-D9A6DF0F70B2}"/>
              </a:ext>
            </a:extLst>
          </p:cNvPr>
          <p:cNvSpPr/>
          <p:nvPr/>
        </p:nvSpPr>
        <p:spPr>
          <a:xfrm>
            <a:off x="76200" y="-19878"/>
            <a:ext cx="1265712" cy="762000"/>
          </a:xfrm>
          <a:prstGeom prst="horizontalScroll">
            <a:avLst/>
          </a:prstGeom>
          <a:gradFill rotWithShape="1">
            <a:gsLst>
              <a:gs pos="0">
                <a:srgbClr val="4F81BD">
                  <a:tint val="50000"/>
                  <a:satMod val="300000"/>
                </a:srgbClr>
              </a:gs>
              <a:gs pos="35000">
                <a:srgbClr val="4F81BD">
                  <a:tint val="37000"/>
                  <a:satMod val="300000"/>
                </a:srgbClr>
              </a:gs>
              <a:gs pos="100000">
                <a:srgbClr val="4F81BD">
                  <a:tint val="15000"/>
                  <a:satMod val="350000"/>
                </a:srgbClr>
              </a:gs>
            </a:gsLst>
            <a:lin ang="16200000" scaled="1"/>
          </a:gradFill>
          <a:ln w="9525" cap="flat" cmpd="sng" algn="ctr">
            <a:solidFill>
              <a:srgbClr val="4F81BD">
                <a:shade val="95000"/>
                <a:satMod val="105000"/>
              </a:srgbClr>
            </a:solidFill>
            <a:prstDash val="soli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txBody>
          <a:bodyPr rtlCol="0" anchor="ctr"/>
          <a:lstStyle/>
          <a:p>
            <a:pPr marL="0" marR="0" lvl="0" indent="0" algn="ctr" defTabSz="4572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Review</a:t>
            </a:r>
          </a:p>
        </p:txBody>
      </p:sp>
    </p:spTree>
    <p:extLst>
      <p:ext uri="{BB962C8B-B14F-4D97-AF65-F5344CB8AC3E}">
        <p14:creationId xmlns:p14="http://schemas.microsoft.com/office/powerpoint/2010/main" val="353187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8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917" grpId="0" autoUpdateAnimBg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A372BA-4E36-5939-EA5D-65E91EDB3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B2DE8FE-731E-0AC7-29AB-17D9745E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BB9D86-D583-CABE-4B85-A5314A655FC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 after each instruction</a:t>
            </a:r>
          </a:p>
          <a:p>
            <a:r>
              <a:rPr lang="pt-BR" dirty="0"/>
              <a:t>MOV R0, #0xABC</a:t>
            </a:r>
          </a:p>
          <a:p>
            <a:r>
              <a:rPr lang="pt-BR" dirty="0"/>
              <a:t>MOV R1, #0xDEF</a:t>
            </a:r>
          </a:p>
          <a:p>
            <a:r>
              <a:rPr lang="pt-BR" dirty="0"/>
              <a:t>AND R2, R0, R1</a:t>
            </a:r>
          </a:p>
          <a:p>
            <a:r>
              <a:rPr lang="pt-BR" dirty="0"/>
              <a:t>ORR R3, R0, R1</a:t>
            </a:r>
          </a:p>
          <a:p>
            <a:r>
              <a:rPr lang="pt-BR" dirty="0"/>
              <a:t>EOR R4, R0, R1</a:t>
            </a:r>
          </a:p>
          <a:p>
            <a:r>
              <a:rPr lang="pt-BR" dirty="0"/>
              <a:t>ORN R5, R0, R1</a:t>
            </a:r>
          </a:p>
          <a:p>
            <a:r>
              <a:rPr lang="pt-BR" dirty="0"/>
              <a:t>BIC r6, R0, R1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86224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28AA0-0F84-7DF4-92EB-BAB974776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Bit Manipulations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0E95F9-96B3-6E8B-DE8A-BBFC8F51F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60A19-0F6C-A6C2-28CD-C5006FC4799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Find the Register Value to Complement, CLEAR &amp; SET 5th, 7th, 12th bit of the given value and also find the result: 0xDECB.</a:t>
            </a:r>
          </a:p>
        </p:txBody>
      </p:sp>
    </p:spTree>
    <p:extLst>
      <p:ext uri="{BB962C8B-B14F-4D97-AF65-F5344CB8AC3E}">
        <p14:creationId xmlns:p14="http://schemas.microsoft.com/office/powerpoint/2010/main" val="3231632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8574D-6CB2-432B-DAD7-C3017391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Clearing a Register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D246E-9C61-6404-3827-3323EB63D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3E4A31-F545-9835-7A37-FDD37464641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the different ways by which all bits in register r12 can be cleared? No other register is to be used.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12866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52185E-E5D0-53FE-9025-6E1E1F544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E9D1-8834-4A04-E3FB-A8A892930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 bits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AF3843-F3F6-8D87-7E25-5C354332C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0617DE-1F04-17A2-9FAA-2F9FDE23E530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an instruction that sets bits 0, 4, and 12 in register r6 and leave the remaining bits unchanged</a:t>
            </a:r>
          </a:p>
          <a:p>
            <a:r>
              <a:rPr lang="en-US" dirty="0"/>
              <a:t>Write an instruction that clears bits 0, 4, and 12 in register r6 and leave the remaining bits unchanged</a:t>
            </a:r>
          </a:p>
        </p:txBody>
      </p:sp>
    </p:spTree>
    <p:extLst>
      <p:ext uri="{BB962C8B-B14F-4D97-AF65-F5344CB8AC3E}">
        <p14:creationId xmlns:p14="http://schemas.microsoft.com/office/powerpoint/2010/main" val="1974797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74415-1D59-D54C-AAA5-43110D422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E5474F-F6FD-D4BC-236C-33597AE295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two 128-bit numbers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E68F60-170B-C439-5529-D4FFE3833B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8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B9F09-071E-CC84-8518-D0A895AF267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Add two 128-bit numbers, assuming one number is stored in r4, r5, r6, r7 registers and the other stored in r8, r9, r10, r11. Store the result in r0, r1, r2, </a:t>
            </a:r>
            <a:r>
              <a:rPr lang="en-US"/>
              <a:t>r3.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7594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8FA36-801E-6E7F-57F4-2BD21817F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r>
              <a:rPr lang="en-US" dirty="0"/>
              <a:t>bsolute value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DC6F1F3-3211-DD87-BF7B-B9BC7FFCB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864E1-964B-A3AB-442A-DD3628D6986C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 program to calculate the absolute value of a number by using only two instructions (HINT: Check CMP and RSB)</a:t>
            </a:r>
          </a:p>
        </p:txBody>
      </p:sp>
    </p:spTree>
    <p:extLst>
      <p:ext uri="{BB962C8B-B14F-4D97-AF65-F5344CB8AC3E}">
        <p14:creationId xmlns:p14="http://schemas.microsoft.com/office/powerpoint/2010/main" val="421312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FB880-04B3-ECE3-3ABD-F33567012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 with Shifts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4B1B2-C5F4-2713-F5B6-3B26A2BAA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B7521E-4543-F7E4-701C-9D4CAFA526F9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pt-BR" dirty="0"/>
              <a:t>Assuimg 32-bit registers:</a:t>
            </a:r>
          </a:p>
          <a:p>
            <a:r>
              <a:rPr lang="pt-BR" dirty="0"/>
              <a:t>Q1: 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LSL 7</a:t>
            </a:r>
          </a:p>
          <a:p>
            <a:r>
              <a:rPr lang="pt-BR" dirty="0"/>
              <a:t>Q2:</a:t>
            </a:r>
          </a:p>
          <a:p>
            <a:pPr lvl="1"/>
            <a:r>
              <a:rPr lang="pt-BR" dirty="0"/>
              <a:t>LDR r0, =0x00000400</a:t>
            </a:r>
          </a:p>
          <a:p>
            <a:pPr lvl="1"/>
            <a:r>
              <a:rPr lang="pt-BR" dirty="0"/>
              <a:t>MOV r0, r0, LSR 2</a:t>
            </a:r>
          </a:p>
          <a:p>
            <a:r>
              <a:rPr lang="pt-BR" dirty="0"/>
              <a:t>Q3: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LSR 2</a:t>
            </a:r>
            <a:endParaRPr lang="en-US" dirty="0"/>
          </a:p>
          <a:p>
            <a:r>
              <a:rPr lang="pt-BR" dirty="0"/>
              <a:t>Q4:</a:t>
            </a:r>
          </a:p>
          <a:p>
            <a:pPr lvl="1"/>
            <a:r>
              <a:rPr lang="pt-BR" dirty="0"/>
              <a:t>LDR r0, =</a:t>
            </a:r>
            <a:r>
              <a:rPr lang="en-US" dirty="0"/>
              <a:t>0xFFFFC000</a:t>
            </a:r>
          </a:p>
          <a:p>
            <a:pPr lvl="1"/>
            <a:r>
              <a:rPr lang="pt-BR" dirty="0"/>
              <a:t>MOV r0, r0, ASR 2</a:t>
            </a:r>
          </a:p>
          <a:p>
            <a:r>
              <a:rPr lang="pt-BR" dirty="0"/>
              <a:t>Q5:</a:t>
            </a:r>
          </a:p>
          <a:p>
            <a:pPr lvl="1"/>
            <a:r>
              <a:rPr lang="pt-BR" dirty="0"/>
              <a:t>LDR r0, =0x00000007</a:t>
            </a:r>
          </a:p>
          <a:p>
            <a:pPr lvl="1"/>
            <a:r>
              <a:rPr lang="pt-BR" dirty="0"/>
              <a:t>MOV r0, r0, ROR 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396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9933DF-9610-809C-11B2-6E559AD6FC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Assembly Programming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51F047-7DC1-1269-97CA-1BFB3E386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11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5194D1-447C-6A4E-281D-DAB9A59A84CD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Write ARMv7 assembly for pseudocode</a:t>
            </a:r>
          </a:p>
          <a:p>
            <a:pPr lvl="1"/>
            <a:r>
              <a:rPr lang="en-US" dirty="0"/>
              <a:t>r1 = (r0 &gt;&gt; 4) &amp; 15</a:t>
            </a:r>
          </a:p>
        </p:txBody>
      </p:sp>
    </p:spTree>
    <p:extLst>
      <p:ext uri="{BB962C8B-B14F-4D97-AF65-F5344CB8AC3E}">
        <p14:creationId xmlns:p14="http://schemas.microsoft.com/office/powerpoint/2010/main" val="10874811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A276C-A661-6DC1-DE38-563A3E2C7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LSL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9C51E37-E0A0-F2D9-EFE6-91A91F495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12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EC62D-8983-5B00-CA77-5B8D7EF4098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257800"/>
          </a:xfrm>
        </p:spPr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pPr lvl="1"/>
            <a:r>
              <a:rPr lang="pt-BR" dirty="0"/>
              <a:t>LDR R1, =0X11223344</a:t>
            </a:r>
          </a:p>
          <a:p>
            <a:pPr lvl="1"/>
            <a:r>
              <a:rPr lang="pt-BR" dirty="0"/>
              <a:t>MOV R2, R1, LSL #4</a:t>
            </a:r>
          </a:p>
          <a:p>
            <a:pPr lvl="1"/>
            <a:r>
              <a:rPr lang="pt-BR" dirty="0"/>
              <a:t>MOV R3, R1, LSL #8</a:t>
            </a:r>
          </a:p>
          <a:p>
            <a:pPr lvl="1"/>
            <a:r>
              <a:rPr lang="pt-BR" dirty="0"/>
              <a:t>MOV R4, R1, LSL #16</a:t>
            </a:r>
          </a:p>
          <a:p>
            <a:pPr lvl="1"/>
            <a:r>
              <a:rPr lang="en-US" dirty="0"/>
              <a:t>MOV R5, R1, LSL #6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992898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1839C-F6D4-9964-61E4-7718ED85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4A20A-F498-3EB6-F940-C1894F1C5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Shift ASR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8B4EF46-F247-D5D5-B0F5-6E0D20018A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13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E383C9-4457-CE5C-9276-DDEA44D3054E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pt-BR" dirty="0"/>
              <a:t>Compute register values:</a:t>
            </a:r>
          </a:p>
          <a:p>
            <a:r>
              <a:rPr lang="pt-BR" dirty="0"/>
              <a:t>LDR R1, =0x81223344</a:t>
            </a:r>
          </a:p>
          <a:p>
            <a:r>
              <a:rPr lang="pt-BR" dirty="0"/>
              <a:t>MOV R2, R1, ASR #4</a:t>
            </a:r>
          </a:p>
          <a:p>
            <a:r>
              <a:rPr lang="pt-BR" dirty="0"/>
              <a:t>MOV R3, R1, ASR #8</a:t>
            </a:r>
          </a:p>
          <a:p>
            <a:r>
              <a:rPr lang="pt-BR" dirty="0"/>
              <a:t>MOV R4, R1, ASR #16</a:t>
            </a:r>
          </a:p>
        </p:txBody>
      </p:sp>
    </p:spTree>
    <p:extLst>
      <p:ext uri="{BB962C8B-B14F-4D97-AF65-F5344CB8AC3E}">
        <p14:creationId xmlns:p14="http://schemas.microsoft.com/office/powerpoint/2010/main" val="1151160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E5212-EBBF-507A-8939-5B24EAC68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Multiply without MUL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282959-239B-7B59-648D-A0210CB0F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14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B6A678-F78A-5E7F-A0E9-3A3B773CE733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Without using MUL instruction, give instructions that multiply a register, r3 by</a:t>
            </a:r>
          </a:p>
          <a:p>
            <a:pPr lvl="1"/>
            <a:r>
              <a:rPr lang="en-US" dirty="0"/>
              <a:t>135</a:t>
            </a:r>
          </a:p>
          <a:p>
            <a:pPr lvl="1"/>
            <a:r>
              <a:rPr lang="en-US" dirty="0"/>
              <a:t>153</a:t>
            </a:r>
          </a:p>
          <a:p>
            <a:pPr lvl="1"/>
            <a:r>
              <a:rPr lang="en-US" dirty="0"/>
              <a:t>255</a:t>
            </a:r>
          </a:p>
          <a:p>
            <a:pPr lvl="1"/>
            <a:r>
              <a:rPr lang="en-US" dirty="0"/>
              <a:t>18</a:t>
            </a:r>
          </a:p>
          <a:p>
            <a:pPr lvl="1"/>
            <a:r>
              <a:rPr lang="en-US"/>
              <a:t>16384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01846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0680A-E82D-BBE9-C61F-EB0A6FEBF4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number of ones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7C6C243-F37B-89BF-2B6A-9A56B69C5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15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C41A2D-28FB-F7BC-6CAD-42CE944332B1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Write a program to count the number of ones in a 32-bit register r0. 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8654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47DC9-FEC2-35B7-BE17-C80023277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93014-01D8-9E5D-845A-870F048F2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 the number of zeros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0D51E58-1BCE-C9D5-7122-108C438E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16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59F7F-A91F-C3AC-6F2E-7E041BC2CCCA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5486400"/>
          </a:xfrm>
        </p:spPr>
        <p:txBody>
          <a:bodyPr>
            <a:normAutofit/>
          </a:bodyPr>
          <a:lstStyle/>
          <a:p>
            <a:r>
              <a:rPr lang="en-US" dirty="0"/>
              <a:t>Based on the program that counts 1’s, modify it to count the number of zeros a 32-bit register r0. </a:t>
            </a:r>
          </a:p>
        </p:txBody>
      </p:sp>
    </p:spTree>
    <p:extLst>
      <p:ext uri="{BB962C8B-B14F-4D97-AF65-F5344CB8AC3E}">
        <p14:creationId xmlns:p14="http://schemas.microsoft.com/office/powerpoint/2010/main" val="29522820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52526-FDDF-35FA-A44E-1A233444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CB70333-70B3-0D05-E999-759739E50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17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995D49-573C-6129-4E24-762AAEB6BD07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B598EB-3D73-A532-9DE0-CBC965E702FA}"/>
              </a:ext>
            </a:extLst>
          </p:cNvPr>
          <p:cNvSpPr/>
          <p:nvPr/>
        </p:nvSpPr>
        <p:spPr>
          <a:xfrm>
            <a:off x="860298" y="2213036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ANDS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1445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709F9-4905-FD89-18E1-B8EB2F602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 ADDS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0E8A52C-2E2E-54F3-49AA-2CABED2CB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18</a:t>
            </a:fld>
            <a:endParaRPr kumimoji="0" lang="en-US" dirty="0"/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B21BD5E1-8C43-5CBF-BEB4-B430BDD4D73C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What are value of r2, and NZCV flags after execution, assuming all flags are initially 0.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3F8B0C-9B9C-5AAA-26B5-003AE580EB61}"/>
              </a:ext>
            </a:extLst>
          </p:cNvPr>
          <p:cNvSpPr/>
          <p:nvPr/>
        </p:nvSpPr>
        <p:spPr>
          <a:xfrm>
            <a:off x="860298" y="2133600"/>
            <a:ext cx="3467100" cy="1015663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r0, =0xFFFFFFF00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LDR r1, =0x00000001</a:t>
            </a:r>
          </a:p>
          <a:p>
            <a:r>
              <a:rPr lang="pt-BR" sz="2000" dirty="0">
                <a:latin typeface="Consolas" panose="020B0609020204030204" pitchFamily="49" charset="0"/>
                <a:cs typeface="Consolas" panose="020B0609020204030204" pitchFamily="49" charset="0"/>
              </a:rPr>
              <a:t>ADDS r2, r1, r0, LSL #1</a:t>
            </a: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1545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CE9CC-DEC3-BC36-FF0A-FD088EB33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DFB2C4-0E87-791F-5E7D-1A0D8DB24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19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21DA5F-0B0C-5E4B-FFBA-4A8692F7A975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r4, and NZCV flags after execution, assuming all flags are initially 0. (Each instruction runs individually.)</a:t>
            </a:r>
          </a:p>
          <a:p>
            <a:pPr lvl="1"/>
            <a:r>
              <a:rPr lang="pt-BR" dirty="0"/>
              <a:t>(a) ADD r4, r0, r2, ASR #3</a:t>
            </a:r>
          </a:p>
          <a:p>
            <a:pPr lvl="1"/>
            <a:r>
              <a:rPr lang="pt-BR" dirty="0"/>
              <a:t>(b) ADDS r4, r0, r1</a:t>
            </a:r>
          </a:p>
          <a:p>
            <a:pPr lvl="1"/>
            <a:r>
              <a:rPr lang="pt-BR" dirty="0"/>
              <a:t>(c) LSRS r4, r0, #1</a:t>
            </a:r>
          </a:p>
          <a:p>
            <a:pPr lvl="1"/>
            <a:r>
              <a:rPr lang="pt-BR" dirty="0"/>
              <a:t>(d) ANDS r4, r0, r3</a:t>
            </a:r>
          </a:p>
          <a:p>
            <a:pPr lvl="1"/>
            <a:r>
              <a:rPr lang="en-US" dirty="0"/>
              <a:t>(e) CMP r2, #3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F6C027E4-0F54-2503-6E54-155E1BC927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9088588"/>
              </p:ext>
            </p:extLst>
          </p:nvPr>
        </p:nvGraphicFramePr>
        <p:xfrm>
          <a:off x="7070034" y="69573"/>
          <a:ext cx="198451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r3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018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561661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07B51-11BC-FFC9-CF42-A6BABBAD6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9B07D-F698-D274-049D-5A851970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Flags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6249653-EF96-2820-E597-C71FA0AB1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20</a:t>
            </a:fld>
            <a:endParaRPr kumimoji="0"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380CFB-3CFF-ED04-FB0F-0B0AEF72870A}"/>
              </a:ext>
            </a:extLst>
          </p:cNvPr>
          <p:cNvSpPr>
            <a:spLocks noGrp="1"/>
          </p:cNvSpPr>
          <p:nvPr>
            <p:ph sz="quarter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registers have the following values:</a:t>
            </a:r>
          </a:p>
          <a:p>
            <a:r>
              <a:rPr lang="en-US" dirty="0"/>
              <a:t>What are value of r3, and NZCV flags after execution, assuming all flags are initially 0. (Assume each instruction runs individually, not sequentially.)</a:t>
            </a:r>
          </a:p>
          <a:p>
            <a:pPr lvl="1"/>
            <a:r>
              <a:rPr lang="pt-BR" dirty="0"/>
              <a:t>ADD r3, r0, r2</a:t>
            </a:r>
          </a:p>
          <a:p>
            <a:pPr lvl="1"/>
            <a:r>
              <a:rPr lang="pt-BR" dirty="0"/>
              <a:t>SUBS r3, r0, r0</a:t>
            </a:r>
          </a:p>
          <a:p>
            <a:pPr lvl="1"/>
            <a:r>
              <a:rPr lang="pt-BR" dirty="0"/>
              <a:t>ADDS r3, r0, r2</a:t>
            </a:r>
          </a:p>
          <a:p>
            <a:pPr lvl="1"/>
            <a:r>
              <a:rPr lang="pt-BR" dirty="0"/>
              <a:t>LSL r3, r0, #1</a:t>
            </a:r>
          </a:p>
          <a:p>
            <a:pPr lvl="1"/>
            <a:r>
              <a:rPr lang="pt-BR" dirty="0"/>
              <a:t>LSRS r3, r1, #1</a:t>
            </a:r>
          </a:p>
          <a:p>
            <a:pPr lvl="1"/>
            <a:r>
              <a:rPr lang="pt-BR" dirty="0"/>
              <a:t>ANDS r3, r0, r2</a:t>
            </a: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6B2FE4-3D6B-5F71-9A58-0E695C18479A}"/>
              </a:ext>
            </a:extLst>
          </p:cNvPr>
          <p:cNvGraphicFramePr>
            <a:graphicFrameLocks noGrp="1"/>
          </p:cNvGraphicFramePr>
          <p:nvPr/>
        </p:nvGraphicFramePr>
        <p:xfrm>
          <a:off x="7070034" y="69573"/>
          <a:ext cx="1984513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96128">
                  <a:extLst>
                    <a:ext uri="{9D8B030D-6E8A-4147-A177-3AD203B41FA5}">
                      <a16:colId xmlns:a16="http://schemas.microsoft.com/office/drawing/2014/main" val="1977830853"/>
                    </a:ext>
                  </a:extLst>
                </a:gridCol>
                <a:gridCol w="1488385">
                  <a:extLst>
                    <a:ext uri="{9D8B030D-6E8A-4147-A177-3AD203B41FA5}">
                      <a16:colId xmlns:a16="http://schemas.microsoft.com/office/drawing/2014/main" val="128964590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0xFFFFFFFF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17255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0x00000001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11873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dirty="0"/>
                        <a:t>r2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800" dirty="0"/>
                        <a:t>0x00000000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0044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712674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FE46E-21D3-BB71-D0EF-810E9660E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9ABE5-E35E-9995-C450-C422553E9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Addition &amp; Subtraction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CDC54EC-7E8A-1399-9BF2-5015E8B14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7C8D44-3667-46F6-9772-CC52308E2A7F}" type="slidenum">
              <a:rPr kumimoji="0" lang="en-US" smtClean="0"/>
              <a:pPr/>
              <a:t>21</a:t>
            </a:fld>
            <a:endParaRPr kumimoji="0"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0565DDE-CFDA-64B0-7C1A-5C1F5D8B93A0}"/>
              </a:ext>
            </a:extLst>
          </p:cNvPr>
          <p:cNvGraphicFramePr>
            <a:graphicFrameLocks noGrp="1"/>
          </p:cNvGraphicFramePr>
          <p:nvPr/>
        </p:nvGraphicFramePr>
        <p:xfrm>
          <a:off x="1094263" y="2333942"/>
          <a:ext cx="6955473" cy="3304858"/>
        </p:xfrm>
        <a:graphic>
          <a:graphicData uri="http://schemas.openxmlformats.org/drawingml/2006/table">
            <a:tbl>
              <a:tblPr firstRow="1" bandRow="1"/>
              <a:tblGrid>
                <a:gridCol w="1702524">
                  <a:extLst>
                    <a:ext uri="{9D8B030D-6E8A-4147-A177-3AD203B41FA5}">
                      <a16:colId xmlns:a16="http://schemas.microsoft.com/office/drawing/2014/main" val="2359662815"/>
                    </a:ext>
                  </a:extLst>
                </a:gridCol>
                <a:gridCol w="1144345">
                  <a:extLst>
                    <a:ext uri="{9D8B030D-6E8A-4147-A177-3AD203B41FA5}">
                      <a16:colId xmlns:a16="http://schemas.microsoft.com/office/drawing/2014/main" val="1212662852"/>
                    </a:ext>
                  </a:extLst>
                </a:gridCol>
                <a:gridCol w="1173887">
                  <a:extLst>
                    <a:ext uri="{9D8B030D-6E8A-4147-A177-3AD203B41FA5}">
                      <a16:colId xmlns:a16="http://schemas.microsoft.com/office/drawing/2014/main" val="4290731535"/>
                    </a:ext>
                  </a:extLst>
                </a:gridCol>
                <a:gridCol w="1191767">
                  <a:extLst>
                    <a:ext uri="{9D8B030D-6E8A-4147-A177-3AD203B41FA5}">
                      <a16:colId xmlns:a16="http://schemas.microsoft.com/office/drawing/2014/main" val="4234417883"/>
                    </a:ext>
                  </a:extLst>
                </a:gridCol>
                <a:gridCol w="1742950">
                  <a:extLst>
                    <a:ext uri="{9D8B030D-6E8A-4147-A177-3AD203B41FA5}">
                      <a16:colId xmlns:a16="http://schemas.microsoft.com/office/drawing/2014/main" val="1819084519"/>
                    </a:ext>
                  </a:extLst>
                </a:gridCol>
              </a:tblGrid>
              <a:tr h="332105"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Result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Aptos" panose="020B0004020202020204" pitchFamily="34" charset="0"/>
                          <a:ea typeface="DengXian" panose="02010600030101010101" pitchFamily="2" charset="-122"/>
                          <a:cs typeface="Times New Roman" panose="02020603050405020304" pitchFamily="18" charset="0"/>
                        </a:rPr>
                        <a:t>V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Correct Result?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  <a:p>
                      <a:pPr indent="13970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kern="100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Unsigned/Signed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056900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890508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+ 0110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9663783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670368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+ 1010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277809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0010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4716115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3010056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1100 - 0110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0228422"/>
                  </a:ext>
                </a:extLst>
              </a:tr>
              <a:tr h="332105"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0100 - 1110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600" b="1" kern="10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  <a:ea typeface="Times New Roman" panose="02020603050405020304" pitchFamily="18" charset="0"/>
                          <a:cs typeface="Consolas" panose="020B0609020204030204" pitchFamily="49" charset="0"/>
                        </a:rPr>
                        <a:t>0110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140335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endParaRPr lang="en-US" sz="1800" kern="100" dirty="0">
                        <a:effectLst/>
                        <a:latin typeface="Aptos" panose="020B0004020202020204" pitchFamily="34" charset="0"/>
                        <a:ea typeface="DengXian" panose="02010600030101010101" pitchFamily="2" charset="-122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810937"/>
                  </a:ext>
                </a:extLst>
              </a:tr>
            </a:tbl>
          </a:graphicData>
        </a:graphic>
      </p:graphicFrame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B89EF58-E7D7-52A9-B76A-D6754B4BB13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457200" y="1219200"/>
            <a:ext cx="8229600" cy="4937760"/>
          </a:xfrm>
        </p:spPr>
        <p:txBody>
          <a:bodyPr/>
          <a:lstStyle/>
          <a:p>
            <a:r>
              <a:rPr lang="en-US" dirty="0"/>
              <a:t>For a 4-bit system, calculate the result of summation, setting C and V flags</a:t>
            </a:r>
          </a:p>
        </p:txBody>
      </p:sp>
    </p:spTree>
    <p:extLst>
      <p:ext uri="{BB962C8B-B14F-4D97-AF65-F5344CB8AC3E}">
        <p14:creationId xmlns:p14="http://schemas.microsoft.com/office/powerpoint/2010/main" val="33504383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igi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rigin">
      <a:majorFont>
        <a:latin typeface="Bookman Old Style"/>
        <a:ea typeface=""/>
        <a:cs typeface=""/>
        <a:font script="Grek" typeface="Cambria"/>
        <a:font script="Cyrl" typeface="Cambria"/>
        <a:font script="Jpan" typeface="HG明朝E"/>
        <a:font script="Hang" typeface="돋움"/>
        <a:font script="Hans" typeface="宋体"/>
        <a:font script="Hant" typeface="標楷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alibri"/>
        <a:font script="Cyrl" typeface="Calibri"/>
        <a:font script="Jpan" typeface="ＭＳ Ｐゴシック"/>
        <a:font script="Hang" typeface="맑은 고딕"/>
        <a:font script="Hans" typeface="华文新魏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rigin">
      <a:fillStyleLst>
        <a:solidFill>
          <a:schemeClr val="phClr"/>
        </a:solidFill>
        <a:gradFill rotWithShape="1">
          <a:gsLst>
            <a:gs pos="0">
              <a:schemeClr val="phClr">
                <a:tint val="45000"/>
                <a:satMod val="200000"/>
              </a:schemeClr>
            </a:gs>
            <a:gs pos="30000">
              <a:schemeClr val="phClr">
                <a:tint val="61000"/>
                <a:satMod val="200000"/>
              </a:schemeClr>
            </a:gs>
            <a:gs pos="45000">
              <a:schemeClr val="phClr">
                <a:tint val="66000"/>
                <a:satMod val="200000"/>
              </a:schemeClr>
            </a:gs>
            <a:gs pos="55000">
              <a:schemeClr val="phClr">
                <a:tint val="66000"/>
                <a:satMod val="200000"/>
              </a:schemeClr>
            </a:gs>
            <a:gs pos="73000">
              <a:schemeClr val="phClr">
                <a:tint val="61000"/>
                <a:satMod val="200000"/>
              </a:schemeClr>
            </a:gs>
            <a:gs pos="100000">
              <a:schemeClr val="phClr">
                <a:tint val="45000"/>
                <a:satMod val="200000"/>
              </a:schemeClr>
            </a:gs>
          </a:gsLst>
          <a:lin ang="950000" scaled="1"/>
        </a:gradFill>
        <a:gradFill rotWithShape="1">
          <a:gsLst>
            <a:gs pos="0">
              <a:schemeClr val="phClr">
                <a:shade val="63000"/>
              </a:schemeClr>
            </a:gs>
            <a:gs pos="30000">
              <a:schemeClr val="phClr">
                <a:shade val="90000"/>
                <a:satMod val="110000"/>
              </a:schemeClr>
            </a:gs>
            <a:gs pos="45000">
              <a:schemeClr val="phClr">
                <a:shade val="100000"/>
                <a:satMod val="118000"/>
              </a:schemeClr>
            </a:gs>
            <a:gs pos="55000">
              <a:schemeClr val="phClr">
                <a:shade val="100000"/>
                <a:satMod val="118000"/>
              </a:schemeClr>
            </a:gs>
            <a:gs pos="73000">
              <a:schemeClr val="phClr">
                <a:shade val="90000"/>
                <a:satMod val="110000"/>
              </a:schemeClr>
            </a:gs>
            <a:gs pos="100000">
              <a:schemeClr val="phClr">
                <a:shade val="63000"/>
              </a:schemeClr>
            </a:gs>
          </a:gsLst>
          <a:lin ang="950000" scaled="1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40000"/>
              </a:srgbClr>
            </a:outerShdw>
          </a:effectLst>
        </a:effectStyle>
        <a:effectStyle>
          <a:effectLst>
            <a:outerShdw blurRad="50800" dist="43000" dir="5400000" rotWithShape="0">
              <a:srgbClr val="000000">
                <a:alpha val="40000"/>
              </a:srgbClr>
            </a:outerShdw>
          </a:effectLst>
          <a:scene3d>
            <a:camera prst="orthographicFront" fov="0">
              <a:rot lat="0" lon="0" rev="0"/>
            </a:camera>
            <a:lightRig rig="balanced" dir="t">
              <a:rot lat="0" lon="0" rev="0"/>
            </a:lightRig>
          </a:scene3d>
          <a:sp3d prstMaterial="matte">
            <a:bevelT w="0" h="0"/>
            <a:contourClr>
              <a:schemeClr val="phClr">
                <a:tint val="100000"/>
                <a:shade val="100000"/>
                <a:hueMod val="100000"/>
                <a:satMod val="100000"/>
              </a:schemeClr>
            </a:contourClr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 fov="0">
              <a:rot lat="0" lon="0" rev="0"/>
            </a:camera>
            <a:lightRig rig="soft" dir="t">
              <a:rot lat="0" lon="0" rev="2700000"/>
            </a:lightRig>
          </a:scene3d>
          <a:sp3d prstMaterial="matte">
            <a:bevelT w="50800" h="50800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shade val="60000"/>
                <a:satMod val="300000"/>
              </a:schemeClr>
            </a:gs>
            <a:gs pos="30000">
              <a:schemeClr val="phClr">
                <a:shade val="80000"/>
                <a:satMod val="230000"/>
              </a:schemeClr>
            </a:gs>
            <a:gs pos="100000">
              <a:schemeClr val="phClr">
                <a:tint val="97000"/>
                <a:satMod val="220000"/>
              </a:schemeClr>
            </a:gs>
          </a:gsLst>
          <a:lin ang="16200000" scaled="1"/>
        </a:gradFill>
        <a:blipFill>
          <a:blip xmlns:r="http://schemas.openxmlformats.org/officeDocument/2006/relationships" r:embed="rId1">
            <a:duotone>
              <a:schemeClr val="phClr">
                <a:shade val="6000"/>
                <a:satMod val="120000"/>
              </a:schemeClr>
              <a:schemeClr val="phClr">
                <a:tint val="90000"/>
              </a:schemeClr>
            </a:duotone>
          </a:blip>
          <a:tile tx="0" ty="0" sx="35000" sy="40000" flip="x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Origin</Template>
  <TotalTime>3438</TotalTime>
  <Words>1852</Words>
  <Application>Microsoft Office PowerPoint</Application>
  <PresentationFormat>On-screen Show (4:3)</PresentationFormat>
  <Paragraphs>243</Paragraphs>
  <Slides>21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33" baseType="lpstr">
      <vt:lpstr>Bookman Old Style (Headings)</vt:lpstr>
      <vt:lpstr>Gill Sans Light</vt:lpstr>
      <vt:lpstr>Aptos</vt:lpstr>
      <vt:lpstr>Bookman Old Style</vt:lpstr>
      <vt:lpstr>Calibri</vt:lpstr>
      <vt:lpstr>Cambria Math</vt:lpstr>
      <vt:lpstr>Consolas</vt:lpstr>
      <vt:lpstr>Gill Sans MT</vt:lpstr>
      <vt:lpstr>Times New Roman</vt:lpstr>
      <vt:lpstr>Wingdings</vt:lpstr>
      <vt:lpstr>Wingdings 3</vt:lpstr>
      <vt:lpstr>Origin</vt:lpstr>
      <vt:lpstr>Z. Gu</vt:lpstr>
      <vt:lpstr>Barrel Shifter: Explanations</vt:lpstr>
      <vt:lpstr>Carry and Overflow Flags w/ Arithmetic Instructions</vt:lpstr>
      <vt:lpstr>Bit Manipulations</vt:lpstr>
      <vt:lpstr>Bit Manipulations</vt:lpstr>
      <vt:lpstr>Clearing a Register </vt:lpstr>
      <vt:lpstr>Set bits</vt:lpstr>
      <vt:lpstr>Add two 128-bit numbers</vt:lpstr>
      <vt:lpstr>Absolute value</vt:lpstr>
      <vt:lpstr>Arithmetic with Shifts</vt:lpstr>
      <vt:lpstr>Assembly Programming</vt:lpstr>
      <vt:lpstr>Shift LSL</vt:lpstr>
      <vt:lpstr>Shift ASR</vt:lpstr>
      <vt:lpstr>Multiply without MUL</vt:lpstr>
      <vt:lpstr>Count number of ones</vt:lpstr>
      <vt:lpstr>Count the number of zeros</vt:lpstr>
      <vt:lpstr>Flags ANDS</vt:lpstr>
      <vt:lpstr>Flags ADDS</vt:lpstr>
      <vt:lpstr>Flags</vt:lpstr>
      <vt:lpstr>Flags</vt:lpstr>
      <vt:lpstr>Addition &amp; Subtraction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Dr. Yifeng Zhu Electrical and Computer Engineering University of Maine</dc:title>
  <dc:creator>zhu</dc:creator>
  <cp:lastModifiedBy>Zonghua Gu</cp:lastModifiedBy>
  <cp:revision>346</cp:revision>
  <dcterms:created xsi:type="dcterms:W3CDTF">2014-02-05T02:41:42Z</dcterms:created>
  <dcterms:modified xsi:type="dcterms:W3CDTF">2025-10-09T21:59:10Z</dcterms:modified>
</cp:coreProperties>
</file>