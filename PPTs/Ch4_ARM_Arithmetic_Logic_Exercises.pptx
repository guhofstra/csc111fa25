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2"/>
  </p:notesMasterIdLst>
  <p:sldIdLst>
    <p:sldId id="256" r:id="rId2"/>
    <p:sldId id="590" r:id="rId3"/>
    <p:sldId id="553" r:id="rId4"/>
    <p:sldId id="555" r:id="rId5"/>
    <p:sldId id="557" r:id="rId6"/>
    <p:sldId id="564" r:id="rId7"/>
    <p:sldId id="576" r:id="rId8"/>
    <p:sldId id="578" r:id="rId9"/>
    <p:sldId id="566" r:id="rId10"/>
    <p:sldId id="257" r:id="rId11"/>
    <p:sldId id="352" r:id="rId12"/>
    <p:sldId id="559" r:id="rId13"/>
    <p:sldId id="563" r:id="rId14"/>
    <p:sldId id="568" r:id="rId15"/>
    <p:sldId id="571" r:id="rId16"/>
    <p:sldId id="574" r:id="rId17"/>
    <p:sldId id="354" r:id="rId18"/>
    <p:sldId id="357" r:id="rId19"/>
    <p:sldId id="384" r:id="rId20"/>
    <p:sldId id="589" r:id="rId2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1F7D32-A5D4-44C8-A28D-1F95E29E1B1E}" v="7" dt="2025-10-14T22:47:17.65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76" autoAdjust="0"/>
    <p:restoredTop sz="93609"/>
  </p:normalViewPr>
  <p:slideViewPr>
    <p:cSldViewPr>
      <p:cViewPr varScale="1">
        <p:scale>
          <a:sx n="77" d="100"/>
          <a:sy n="77" d="100"/>
        </p:scale>
        <p:origin x="1594" y="6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343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">
      <pc:chgData name="Zonghua Gu" userId="9a7e1853e1951ef5" providerId="LiveId" clId="{CF1FAA12-072C-4ED5-BA76-0FFFAEFDB88A}" dt="2025-10-16T23:18:31.366" v="228" actId="47"/>
      <pc:docMkLst>
        <pc:docMk/>
      </pc:docMkLst>
      <pc:sldChg chg="modSp mod">
        <pc:chgData name="Zonghua Gu" userId="9a7e1853e1951ef5" providerId="LiveId" clId="{CF1FAA12-072C-4ED5-BA76-0FFFAEFDB88A}" dt="2025-09-24T02:21:52.230" v="0" actId="20577"/>
        <pc:sldMkLst>
          <pc:docMk/>
          <pc:sldMk cId="1227639730" sldId="256"/>
        </pc:sldMkLst>
        <pc:spChg chg="mod">
          <ac:chgData name="Zonghua Gu" userId="9a7e1853e1951ef5" providerId="LiveId" clId="{CF1FAA12-072C-4ED5-BA76-0FFFAEFDB88A}" dt="2025-09-24T02:21:52.230" v="0" actId="20577"/>
          <ac:spMkLst>
            <pc:docMk/>
            <pc:sldMk cId="1227639730" sldId="256"/>
            <ac:spMk id="5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5-09-24T02:22:03.806" v="7" actId="47"/>
        <pc:sldMkLst>
          <pc:docMk/>
          <pc:sldMk cId="3148296310" sldId="258"/>
        </pc:sldMkLst>
      </pc:sldChg>
      <pc:sldChg chg="del">
        <pc:chgData name="Zonghua Gu" userId="9a7e1853e1951ef5" providerId="LiveId" clId="{CF1FAA12-072C-4ED5-BA76-0FFFAEFDB88A}" dt="2025-09-24T02:22:05.319" v="8" actId="47"/>
        <pc:sldMkLst>
          <pc:docMk/>
          <pc:sldMk cId="2350803268" sldId="259"/>
        </pc:sldMkLst>
      </pc:sldChg>
      <pc:sldChg chg="del">
        <pc:chgData name="Zonghua Gu" userId="9a7e1853e1951ef5" providerId="LiveId" clId="{CF1FAA12-072C-4ED5-BA76-0FFFAEFDB88A}" dt="2025-09-24T02:22:08.382" v="9" actId="47"/>
        <pc:sldMkLst>
          <pc:docMk/>
          <pc:sldMk cId="3642733396" sldId="260"/>
        </pc:sldMkLst>
      </pc:sldChg>
      <pc:sldChg chg="del">
        <pc:chgData name="Zonghua Gu" userId="9a7e1853e1951ef5" providerId="LiveId" clId="{CF1FAA12-072C-4ED5-BA76-0FFFAEFDB88A}" dt="2025-09-24T02:22:08.382" v="9" actId="47"/>
        <pc:sldMkLst>
          <pc:docMk/>
          <pc:sldMk cId="3881216825" sldId="261"/>
        </pc:sldMkLst>
      </pc:sldChg>
      <pc:sldChg chg="del">
        <pc:chgData name="Zonghua Gu" userId="9a7e1853e1951ef5" providerId="LiveId" clId="{CF1FAA12-072C-4ED5-BA76-0FFFAEFDB88A}" dt="2025-09-25T15:39:53.846" v="24" actId="47"/>
        <pc:sldMkLst>
          <pc:docMk/>
          <pc:sldMk cId="2531244333" sldId="262"/>
        </pc:sldMkLst>
      </pc:sldChg>
      <pc:sldChg chg="del">
        <pc:chgData name="Zonghua Gu" userId="9a7e1853e1951ef5" providerId="LiveId" clId="{CF1FAA12-072C-4ED5-BA76-0FFFAEFDB88A}" dt="2025-10-09T21:57:50.746" v="32" actId="47"/>
        <pc:sldMkLst>
          <pc:docMk/>
          <pc:sldMk cId="2716811776" sldId="351"/>
        </pc:sldMkLst>
      </pc:sldChg>
      <pc:sldChg chg="del">
        <pc:chgData name="Zonghua Gu" userId="9a7e1853e1951ef5" providerId="LiveId" clId="{CF1FAA12-072C-4ED5-BA76-0FFFAEFDB88A}" dt="2025-09-24T02:22:09.684" v="10" actId="47"/>
        <pc:sldMkLst>
          <pc:docMk/>
          <pc:sldMk cId="3254334378" sldId="353"/>
        </pc:sldMkLst>
      </pc:sldChg>
      <pc:sldChg chg="del">
        <pc:chgData name="Zonghua Gu" userId="9a7e1853e1951ef5" providerId="LiveId" clId="{CF1FAA12-072C-4ED5-BA76-0FFFAEFDB88A}" dt="2025-09-24T02:22:24.782" v="18" actId="47"/>
        <pc:sldMkLst>
          <pc:docMk/>
          <pc:sldMk cId="3592227053" sldId="356"/>
        </pc:sldMkLst>
      </pc:sldChg>
      <pc:sldChg chg="del">
        <pc:chgData name="Zonghua Gu" userId="9a7e1853e1951ef5" providerId="LiveId" clId="{CF1FAA12-072C-4ED5-BA76-0FFFAEFDB88A}" dt="2025-09-24T02:22:26.628" v="19" actId="47"/>
        <pc:sldMkLst>
          <pc:docMk/>
          <pc:sldMk cId="1087692432" sldId="358"/>
        </pc:sldMkLst>
      </pc:sldChg>
      <pc:sldChg chg="del">
        <pc:chgData name="Zonghua Gu" userId="9a7e1853e1951ef5" providerId="LiveId" clId="{CF1FAA12-072C-4ED5-BA76-0FFFAEFDB88A}" dt="2025-10-07T21:16:17.881" v="28" actId="47"/>
        <pc:sldMkLst>
          <pc:docMk/>
          <pc:sldMk cId="2623990252" sldId="383"/>
        </pc:sldMkLst>
      </pc:sldChg>
      <pc:sldChg chg="modSp mod">
        <pc:chgData name="Zonghua Gu" userId="9a7e1853e1951ef5" providerId="LiveId" clId="{CF1FAA12-072C-4ED5-BA76-0FFFAEFDB88A}" dt="2025-10-08T01:22:41.958" v="30" actId="15"/>
        <pc:sldMkLst>
          <pc:docMk/>
          <pc:sldMk cId="1456166100" sldId="384"/>
        </pc:sldMkLst>
        <pc:spChg chg="mod">
          <ac:chgData name="Zonghua Gu" userId="9a7e1853e1951ef5" providerId="LiveId" clId="{CF1FAA12-072C-4ED5-BA76-0FFFAEFDB88A}" dt="2025-10-08T01:22:41.958" v="30" actId="15"/>
          <ac:spMkLst>
            <pc:docMk/>
            <pc:sldMk cId="1456166100" sldId="384"/>
            <ac:spMk id="4" creationId="{FD21DA5F-0B0C-5E4B-FFBA-4A8692F7A975}"/>
          </ac:spMkLst>
        </pc:spChg>
      </pc:sldChg>
      <pc:sldChg chg="del">
        <pc:chgData name="Zonghua Gu" userId="9a7e1853e1951ef5" providerId="LiveId" clId="{CF1FAA12-072C-4ED5-BA76-0FFFAEFDB88A}" dt="2025-09-24T02:22:27.907" v="20" actId="47"/>
        <pc:sldMkLst>
          <pc:docMk/>
          <pc:sldMk cId="3808152940" sldId="385"/>
        </pc:sldMkLst>
      </pc:sldChg>
      <pc:sldChg chg="del">
        <pc:chgData name="Zonghua Gu" userId="9a7e1853e1951ef5" providerId="LiveId" clId="{CF1FAA12-072C-4ED5-BA76-0FFFAEFDB88A}" dt="2025-09-24T02:22:28.676" v="21" actId="47"/>
        <pc:sldMkLst>
          <pc:docMk/>
          <pc:sldMk cId="1496054644" sldId="387"/>
        </pc:sldMkLst>
      </pc:sldChg>
      <pc:sldChg chg="modSp add">
        <pc:chgData name="Zonghua Gu" userId="9a7e1853e1951ef5" providerId="LiveId" clId="{CF1FAA12-072C-4ED5-BA76-0FFFAEFDB88A}" dt="2025-10-09T21:59:09.370" v="34" actId="1076"/>
        <pc:sldMkLst>
          <pc:docMk/>
          <pc:sldMk cId="3531879706" sldId="553"/>
        </pc:sldMkLst>
        <pc:spChg chg="mod">
          <ac:chgData name="Zonghua Gu" userId="9a7e1853e1951ef5" providerId="LiveId" clId="{CF1FAA12-072C-4ED5-BA76-0FFFAEFDB88A}" dt="2025-10-09T21:59:09.370" v="34" actId="1076"/>
          <ac:spMkLst>
            <pc:docMk/>
            <pc:sldMk cId="3531879706" sldId="553"/>
            <ac:spMk id="38917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5-10-07T21:16:17.881" v="28" actId="47"/>
        <pc:sldMkLst>
          <pc:docMk/>
          <pc:sldMk cId="4009754153" sldId="554"/>
        </pc:sldMkLst>
      </pc:sldChg>
      <pc:sldChg chg="del">
        <pc:chgData name="Zonghua Gu" userId="9a7e1853e1951ef5" providerId="LiveId" clId="{CF1FAA12-072C-4ED5-BA76-0FFFAEFDB88A}" dt="2025-09-24T02:21:55.533" v="1" actId="47"/>
        <pc:sldMkLst>
          <pc:docMk/>
          <pc:sldMk cId="3198797166" sldId="556"/>
        </pc:sldMkLst>
      </pc:sldChg>
      <pc:sldChg chg="del">
        <pc:chgData name="Zonghua Gu" userId="9a7e1853e1951ef5" providerId="LiveId" clId="{CF1FAA12-072C-4ED5-BA76-0FFFAEFDB88A}" dt="2025-09-24T02:21:56.684" v="2" actId="47"/>
        <pc:sldMkLst>
          <pc:docMk/>
          <pc:sldMk cId="3001218416" sldId="558"/>
        </pc:sldMkLst>
      </pc:sldChg>
      <pc:sldChg chg="del">
        <pc:chgData name="Zonghua Gu" userId="9a7e1853e1951ef5" providerId="LiveId" clId="{CF1FAA12-072C-4ED5-BA76-0FFFAEFDB88A}" dt="2025-09-24T02:22:10.688" v="11" actId="47"/>
        <pc:sldMkLst>
          <pc:docMk/>
          <pc:sldMk cId="1329116476" sldId="560"/>
        </pc:sldMkLst>
      </pc:sldChg>
      <pc:sldChg chg="del">
        <pc:chgData name="Zonghua Gu" userId="9a7e1853e1951ef5" providerId="LiveId" clId="{CF1FAA12-072C-4ED5-BA76-0FFFAEFDB88A}" dt="2025-09-24T02:22:11.606" v="12" actId="47"/>
        <pc:sldMkLst>
          <pc:docMk/>
          <pc:sldMk cId="3280752258" sldId="561"/>
        </pc:sldMkLst>
      </pc:sldChg>
      <pc:sldChg chg="del">
        <pc:chgData name="Zonghua Gu" userId="9a7e1853e1951ef5" providerId="LiveId" clId="{CF1FAA12-072C-4ED5-BA76-0FFFAEFDB88A}" dt="2025-09-24T02:22:12.953" v="13" actId="47"/>
        <pc:sldMkLst>
          <pc:docMk/>
          <pc:sldMk cId="2226504781" sldId="562"/>
        </pc:sldMkLst>
      </pc:sldChg>
      <pc:sldChg chg="del">
        <pc:chgData name="Zonghua Gu" userId="9a7e1853e1951ef5" providerId="LiveId" clId="{CF1FAA12-072C-4ED5-BA76-0FFFAEFDB88A}" dt="2025-09-24T02:21:57.566" v="3" actId="47"/>
        <pc:sldMkLst>
          <pc:docMk/>
          <pc:sldMk cId="3678485956" sldId="565"/>
        </pc:sldMkLst>
      </pc:sldChg>
      <pc:sldChg chg="del">
        <pc:chgData name="Zonghua Gu" userId="9a7e1853e1951ef5" providerId="LiveId" clId="{CF1FAA12-072C-4ED5-BA76-0FFFAEFDB88A}" dt="2025-09-24T02:22:01.402" v="6" actId="47"/>
        <pc:sldMkLst>
          <pc:docMk/>
          <pc:sldMk cId="4150398855" sldId="567"/>
        </pc:sldMkLst>
      </pc:sldChg>
      <pc:sldChg chg="modSp mod">
        <pc:chgData name="Zonghua Gu" userId="9a7e1853e1951ef5" providerId="LiveId" clId="{CF1FAA12-072C-4ED5-BA76-0FFFAEFDB88A}" dt="2025-09-24T02:24:36.422" v="23"/>
        <pc:sldMkLst>
          <pc:docMk/>
          <pc:sldMk cId="570184693" sldId="568"/>
        </pc:sldMkLst>
        <pc:spChg chg="mod">
          <ac:chgData name="Zonghua Gu" userId="9a7e1853e1951ef5" providerId="LiveId" clId="{CF1FAA12-072C-4ED5-BA76-0FFFAEFDB88A}" dt="2025-09-24T02:24:36.422" v="23"/>
          <ac:spMkLst>
            <pc:docMk/>
            <pc:sldMk cId="570184693" sldId="568"/>
            <ac:spMk id="4" creationId="{90B6A678-F78A-5E7F-A0E9-3A3B773CE733}"/>
          </ac:spMkLst>
        </pc:spChg>
      </pc:sldChg>
      <pc:sldChg chg="del">
        <pc:chgData name="Zonghua Gu" userId="9a7e1853e1951ef5" providerId="LiveId" clId="{CF1FAA12-072C-4ED5-BA76-0FFFAEFDB88A}" dt="2025-09-24T02:22:17.008" v="14" actId="47"/>
        <pc:sldMkLst>
          <pc:docMk/>
          <pc:sldMk cId="979784967" sldId="569"/>
        </pc:sldMkLst>
      </pc:sldChg>
      <pc:sldChg chg="del">
        <pc:chgData name="Zonghua Gu" userId="9a7e1853e1951ef5" providerId="LiveId" clId="{CF1FAA12-072C-4ED5-BA76-0FFFAEFDB88A}" dt="2025-09-24T02:22:18.506" v="15" actId="47"/>
        <pc:sldMkLst>
          <pc:docMk/>
          <pc:sldMk cId="210341446" sldId="570"/>
        </pc:sldMkLst>
      </pc:sldChg>
      <pc:sldChg chg="del">
        <pc:chgData name="Zonghua Gu" userId="9a7e1853e1951ef5" providerId="LiveId" clId="{CF1FAA12-072C-4ED5-BA76-0FFFAEFDB88A}" dt="2025-09-24T02:22:20.409" v="16" actId="47"/>
        <pc:sldMkLst>
          <pc:docMk/>
          <pc:sldMk cId="1649707196" sldId="572"/>
        </pc:sldMkLst>
      </pc:sldChg>
      <pc:sldChg chg="del">
        <pc:chgData name="Zonghua Gu" userId="9a7e1853e1951ef5" providerId="LiveId" clId="{CF1FAA12-072C-4ED5-BA76-0FFFAEFDB88A}" dt="2025-09-24T02:22:21.595" v="17" actId="47"/>
        <pc:sldMkLst>
          <pc:docMk/>
          <pc:sldMk cId="4233569648" sldId="573"/>
        </pc:sldMkLst>
      </pc:sldChg>
      <pc:sldChg chg="del">
        <pc:chgData name="Zonghua Gu" userId="9a7e1853e1951ef5" providerId="LiveId" clId="{CF1FAA12-072C-4ED5-BA76-0FFFAEFDB88A}" dt="2025-09-24T02:21:59.311" v="4" actId="47"/>
        <pc:sldMkLst>
          <pc:docMk/>
          <pc:sldMk cId="736856981" sldId="575"/>
        </pc:sldMkLst>
      </pc:sldChg>
      <pc:sldChg chg="del">
        <pc:chgData name="Zonghua Gu" userId="9a7e1853e1951ef5" providerId="LiveId" clId="{CF1FAA12-072C-4ED5-BA76-0FFFAEFDB88A}" dt="2025-09-24T02:22:00.289" v="5" actId="47"/>
        <pc:sldMkLst>
          <pc:docMk/>
          <pc:sldMk cId="183442351" sldId="577"/>
        </pc:sldMkLst>
      </pc:sldChg>
      <pc:sldChg chg="new del">
        <pc:chgData name="Zonghua Gu" userId="9a7e1853e1951ef5" providerId="LiveId" clId="{CF1FAA12-072C-4ED5-BA76-0FFFAEFDB88A}" dt="2025-10-07T21:13:03.805" v="27" actId="47"/>
        <pc:sldMkLst>
          <pc:docMk/>
          <pc:sldMk cId="3345466133" sldId="579"/>
        </pc:sldMkLst>
      </pc:sldChg>
      <pc:sldChg chg="modSp add del mod">
        <pc:chgData name="Zonghua Gu" userId="9a7e1853e1951ef5" providerId="LiveId" clId="{CF1FAA12-072C-4ED5-BA76-0FFFAEFDB88A}" dt="2025-10-16T23:18:31.366" v="228" actId="47"/>
        <pc:sldMkLst>
          <pc:docMk/>
          <pc:sldMk cId="3350438353" sldId="587"/>
        </pc:sldMkLst>
      </pc:sldChg>
      <pc:sldChg chg="add">
        <pc:chgData name="Zonghua Gu" userId="9a7e1853e1951ef5" providerId="LiveId" clId="{CF1FAA12-072C-4ED5-BA76-0FFFAEFDB88A}" dt="2025-10-08T01:22:31.330" v="29"/>
        <pc:sldMkLst>
          <pc:docMk/>
          <pc:sldMk cId="3677126747" sldId="589"/>
        </pc:sldMkLst>
      </pc:sldChg>
      <pc:sldChg chg="add">
        <pc:chgData name="Zonghua Gu" userId="9a7e1853e1951ef5" providerId="LiveId" clId="{CF1FAA12-072C-4ED5-BA76-0FFFAEFDB88A}" dt="2025-10-09T21:57:48.940" v="31"/>
        <pc:sldMkLst>
          <pc:docMk/>
          <pc:sldMk cId="3279631536" sldId="590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0.55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1.33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10/16/2025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Light"/>
              </a:rPr>
              <a:t>Useful for multiword shifts and certain crypto/bit-</a:t>
            </a:r>
            <a:r>
              <a:rPr lang="en-US" dirty="0" err="1">
                <a:latin typeface="Gill Sans Light"/>
              </a:rPr>
              <a:t>manip</a:t>
            </a:r>
            <a:r>
              <a:rPr lang="en-US" dirty="0">
                <a:latin typeface="Gill Sans Light"/>
              </a:rPr>
              <a:t> patterns</a:t>
            </a:r>
          </a:p>
          <a:p>
            <a:r>
              <a:rPr lang="en-US" b="1" dirty="0"/>
              <a:t>LSR (used here)</a:t>
            </a:r>
            <a:r>
              <a:rPr lang="en-US" dirty="0"/>
              <a:t>: Always fills with zeros, converting the negative value to a large positive number</a:t>
            </a:r>
          </a:p>
          <a:p>
            <a:r>
              <a:rPr lang="en-US" b="1" dirty="0"/>
              <a:t>ASR</a:t>
            </a:r>
            <a:r>
              <a:rPr lang="en-US" dirty="0"/>
              <a:t>: Would preserve the sign bit, maintaining the negative value (-4096)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765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/>
                  <a:t>Convert subtraction to addition with Two’s complement. If two operands have same sign, and the result has opposite sign, then V = 1; else V = 0.”</a:t>
                </a:r>
              </a:p>
              <a:p>
                <a:pPr>
                  <a:defRPr/>
                </a:pPr>
                <a:endParaRPr lang="en-US" sz="1200" dirty="0">
                  <a:solidFill>
                    <a:prstClr val="black"/>
                  </a:solidFill>
                  <a:cs typeface="Times New Roman" pitchFamily="18" charset="0"/>
                </a:endParaRPr>
              </a:p>
              <a:p>
                <a:pPr>
                  <a:defRPr/>
                </a:pPr>
                <a:r>
                  <a:rPr lang="en-US" sz="1200" dirty="0">
                    <a:solidFill>
                      <a:prstClr val="black"/>
                    </a:solidFill>
                    <a:latin typeface="Gill Sans MT"/>
                    <a:cs typeface="Times New Roman" pitchFamily="18" charset="0"/>
                  </a:rPr>
                  <a:t>convert subtraction to addition with Two’s complement. </a:t>
                </a:r>
                <a:r>
                  <a:rPr lang="en-US" sz="1200" dirty="0">
                    <a:solidFill>
                      <a:prstClr val="black"/>
                    </a:solidFill>
                    <a:cs typeface="Times New Roman" pitchFamily="18" charset="0"/>
                  </a:rPr>
                  <a:t>If two operands have same sign, and the result has opposite sign, then V = 1; for all other cases, V = 0</a:t>
                </a:r>
                <a:endParaRPr lang="en-US" sz="1200" dirty="0">
                  <a:solidFill>
                    <a:prstClr val="black"/>
                  </a:solidFill>
                  <a:latin typeface="Gill Sans MT"/>
                  <a:cs typeface="Times New Roman" pitchFamily="18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solidFill>
                          <a:prstClr val="black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−1</a:t>
                </a:r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〖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〗^(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25377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5933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ANS: count ones, then subtract from 32</a:t>
            </a:r>
          </a:p>
          <a:p>
            <a:r>
              <a:rPr lang="pt-BR" dirty="0"/>
              <a:t>Or </a:t>
            </a:r>
            <a:r>
              <a:rPr lang="en-US" dirty="0"/>
              <a:t>Invert r0 to get r4, then count 0’s in r4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0145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r0 = 0xffffffff</a:t>
            </a:r>
          </a:p>
          <a:p>
            <a:pPr lvl="1"/>
            <a:r>
              <a:rPr lang="en-US" dirty="0"/>
              <a:t>r1 = 0x00000001</a:t>
            </a:r>
          </a:p>
          <a:p>
            <a:pPr lvl="1"/>
            <a:r>
              <a:rPr lang="en-US" dirty="0"/>
              <a:t>r2 = 0x00000003</a:t>
            </a:r>
          </a:p>
          <a:p>
            <a:pPr lvl="1"/>
            <a:r>
              <a:rPr lang="en-US" dirty="0"/>
              <a:t>r3 = 0xfffffff0</a:t>
            </a:r>
          </a:p>
          <a:p>
            <a:endParaRPr lang="en-US" dirty="0"/>
          </a:p>
          <a:p>
            <a:r>
              <a:rPr lang="en-US" dirty="0"/>
              <a:t>The N, Z, C, and V flags start out as zero.</a:t>
            </a:r>
          </a:p>
          <a:p>
            <a:r>
              <a:rPr lang="en-US" dirty="0"/>
              <a:t>After the execution of the following instructions, fill in the flag values.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6977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Suppose </a:t>
            </a:r>
          </a:p>
          <a:p>
            <a:pPr lvl="1"/>
            <a:r>
              <a:rPr lang="en-US" dirty="0"/>
              <a:t>r0 = 0xFFFFFFFF, r1 = 0x00000001, r2 = 0x00000000,</a:t>
            </a:r>
          </a:p>
          <a:p>
            <a:pPr lvl="1"/>
            <a:r>
              <a:rPr lang="en-US" dirty="0"/>
              <a:t>NZCV = 0000 initially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2613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966FEA0E-C2DF-4252-97AD-54F2B7E07EAC}" type="datetime1">
              <a:rPr lang="en-US" smtClean="0"/>
              <a:pPr eaLnBrk="1" latinLnBrk="0" hangingPunct="1"/>
              <a:t>10/16/2025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D88620-7329-4FC3-B65D-4EA691138F1B}" type="datetime1">
              <a:rPr lang="en-US" smtClean="0"/>
              <a:pPr eaLnBrk="1" latinLnBrk="0" hangingPunct="1"/>
              <a:t>10/16/2025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0E46F3A1-5653-427D-9F78-56077401431A}" type="datetime1">
              <a:rPr lang="en-US" smtClean="0"/>
              <a:pPr eaLnBrk="1" latinLnBrk="0" hangingPunct="1"/>
              <a:t>10/16/2025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67FC03-415A-45F0-B002-DF181377F7DC}" type="datetime1">
              <a:rPr lang="en-US" smtClean="0"/>
              <a:pPr eaLnBrk="1" latinLnBrk="0" hangingPunct="1"/>
              <a:t>10/16/2025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B6FC726-A0B4-4FC7-90F5-F17415A5C1A3}" type="datetime1">
              <a:rPr lang="en-US" smtClean="0"/>
              <a:pPr eaLnBrk="1" latinLnBrk="0" hangingPunct="1"/>
              <a:t>10/16/2025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E217211-C3F9-4892-9CC3-C7105638567D}" type="datetime1">
              <a:rPr lang="en-US" smtClean="0"/>
              <a:pPr eaLnBrk="1" latinLnBrk="0" hangingPunct="1"/>
              <a:t>10/16/2025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A713E6A-6B26-4373-A75B-EF395DC64F9E}" type="datetime1">
              <a:rPr lang="en-US" smtClean="0"/>
              <a:pPr eaLnBrk="1" latinLnBrk="0" hangingPunct="1"/>
              <a:t>10/16/2025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7EB41EF-4260-415A-8DD6-FEDCC46E7EFC}" type="datetime1">
              <a:rPr lang="en-US" smtClean="0"/>
              <a:pPr eaLnBrk="1" latinLnBrk="0" hangingPunct="1"/>
              <a:t>10/16/2025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BDA80A0-06CC-4492-94A0-E8516751045E}" type="datetime1">
              <a:rPr lang="en-US" smtClean="0"/>
              <a:pPr eaLnBrk="1" latinLnBrk="0" hangingPunct="1"/>
              <a:t>10/16/2025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9EF9524-0CAA-4F98-BAC2-CE6B712F5E94}" type="datetime1">
              <a:rPr lang="en-US" smtClean="0"/>
              <a:pPr eaLnBrk="1" latinLnBrk="0" hangingPunct="1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20516D-6F89-4C89-8307-32A716E22875}" type="datetime1">
              <a:rPr lang="en-US" smtClean="0"/>
              <a:pPr eaLnBrk="1" latinLnBrk="0" hangingPunct="1"/>
              <a:t>10/16/2025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A25B5B4B-57EE-495D-8E74-A657CFD8BB6C}" type="datetime1">
              <a:rPr lang="en-US" smtClean="0"/>
              <a:pPr eaLnBrk="1" latinLnBrk="0" hangingPunct="1"/>
              <a:t>10/16/2025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5111" y="1828800"/>
            <a:ext cx="58142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4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ARM Arithmetic and Logic Instructions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Exercises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69590-944C-2F0D-5FE5-A89C06E0D2BF}"/>
              </a:ext>
            </a:extLst>
          </p:cNvPr>
          <p:cNvSpPr txBox="1"/>
          <p:nvPr/>
        </p:nvSpPr>
        <p:spPr>
          <a:xfrm>
            <a:off x="709138" y="6355080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27639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6F502-DB5A-8F9C-A5EB-10BBD9248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Shifter: Explanations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5D8ACB-98F6-A4F1-CB73-635D27ADC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>
                    <a:latin typeface="Gill Sans Light"/>
                  </a:rPr>
                  <a:t>LSL (logical shift left):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left, fills zeros on the right; </a:t>
                </a:r>
                <a:r>
                  <a:rPr lang="en-US" dirty="0">
                    <a:latin typeface="Gill Sans Light"/>
                  </a:rPr>
                  <a:t>C gets the last bit shifted out of bit 31. This is multiply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for non-overflowing values.</a:t>
                </a:r>
              </a:p>
              <a:p>
                <a:r>
                  <a:rPr lang="en-US" dirty="0">
                    <a:latin typeface="Gill Sans Light"/>
                  </a:rPr>
                  <a:t>LSR (logical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zeros on the left; </a:t>
                </a:r>
                <a:r>
                  <a:rPr lang="en-US" dirty="0">
                    <a:latin typeface="Gill Sans Light"/>
                  </a:rPr>
                  <a:t>C gets the last bit shifted out of bit 0. This is unsigned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.</a:t>
                </a:r>
                <a:r>
                  <a:rPr lang="en-US" dirty="0">
                    <a:latin typeface="Gill Sans Light"/>
                  </a:rPr>
                  <a:t> </a:t>
                </a:r>
              </a:p>
              <a:p>
                <a:r>
                  <a:rPr lang="en-US" dirty="0">
                    <a:latin typeface="Gill Sans Light"/>
                  </a:rPr>
                  <a:t>ASR (arithmetic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the sign bit on the left </a:t>
                </a:r>
                <a:r>
                  <a:rPr lang="en-US" dirty="0">
                    <a:latin typeface="Gill Sans Light"/>
                  </a:rPr>
                  <a:t>to preserving the sign; C gets the last bit shifted out of bit 0. This is 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with sign extension</a:t>
                </a:r>
              </a:p>
              <a:p>
                <a:r>
                  <a:rPr lang="en-US" dirty="0">
                    <a:latin typeface="Gill Sans Light"/>
                  </a:rPr>
                  <a:t>ROR (rotate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bits right with wraparound</a:t>
                </a:r>
                <a:r>
                  <a:rPr lang="en-US" dirty="0">
                    <a:latin typeface="Gill Sans Light"/>
                  </a:rPr>
                  <a:t>; bits leaving bit 0 re-enter at bit 31, and C receives the bit that wrapped. This is a pure rotation without data loss.</a:t>
                </a:r>
              </a:p>
              <a:p>
                <a:r>
                  <a:rPr lang="en-US" dirty="0">
                    <a:latin typeface="Gill Sans Light"/>
                  </a:rPr>
                  <a:t>RRX (rotate right extended):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right by one through the carry flag</a:t>
                </a:r>
                <a:r>
                  <a:rPr lang="en-US" dirty="0">
                    <a:latin typeface="Gill Sans Light"/>
                  </a:rPr>
                  <a:t>, treating C as a 33rd bit; new bit 31 comes from old C, and C receives old bit 0.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19" t="-2222" r="-2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Horizontal Scroll 12">
            <a:extLst>
              <a:ext uri="{FF2B5EF4-FFF2-40B4-BE49-F238E27FC236}">
                <a16:creationId xmlns:a16="http://schemas.microsoft.com/office/drawing/2014/main" id="{E5E988BA-EC48-9C00-F0B8-EA356F0F3223}"/>
              </a:ext>
            </a:extLst>
          </p:cNvPr>
          <p:cNvSpPr/>
          <p:nvPr/>
        </p:nvSpPr>
        <p:spPr>
          <a:xfrm>
            <a:off x="76200" y="-19878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3279631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1341912" y="152400"/>
            <a:ext cx="7649688" cy="990600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r>
              <a:rPr lang="en-US" dirty="0"/>
              <a:t>Carry and Overflow Flags w/ Arithmetic Instructions</a:t>
            </a:r>
          </a:p>
        </p:txBody>
      </p:sp>
      <p:sp>
        <p:nvSpPr>
          <p:cNvPr id="323587" name="Slide Number Placeholder 5"/>
          <p:cNvSpPr txBox="1">
            <a:spLocks noGrp="1"/>
          </p:cNvSpPr>
          <p:nvPr/>
        </p:nvSpPr>
        <p:spPr bwMode="auto">
          <a:xfrm>
            <a:off x="5998447" y="5885466"/>
            <a:ext cx="1600200" cy="357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r">
              <a:defRPr/>
            </a:pPr>
            <a:fld id="{433D14BE-FE52-4332-969F-3696FB65ED39}" type="slidenum">
              <a:rPr lang="en-US" sz="1050">
                <a:solidFill>
                  <a:srgbClr val="EEECE1"/>
                </a:solidFill>
              </a:rPr>
              <a:pPr algn="r">
                <a:defRPr/>
              </a:pPr>
              <a:t>3</a:t>
            </a:fld>
            <a:endParaRPr lang="en-US" sz="1050">
              <a:solidFill>
                <a:srgbClr val="EEECE1"/>
              </a:solidFill>
            </a:endParaRP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586144" y="1143000"/>
            <a:ext cx="7886700" cy="2800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C = 1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(Borrow flag = 0) 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an </a:t>
            </a:r>
            <a:r>
              <a:rPr lang="en-US" sz="16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if the answer is wrong (true result &gt; 2</a:t>
            </a:r>
            <a:r>
              <a:rPr lang="en-US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-1)</a:t>
            </a:r>
          </a:p>
          <a:p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C = 0 (Borrow flag = 1) 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an </a:t>
            </a:r>
            <a:r>
              <a:rPr lang="en-US" sz="16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 subtraction 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if the answer is wrong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 (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true result &lt; 0)</a:t>
            </a:r>
            <a:endParaRPr lang="en-US" sz="1600" dirty="0">
              <a:solidFill>
                <a:prstClr val="black"/>
              </a:solidFill>
              <a:latin typeface="Gill Sans MT"/>
            </a:endParaRPr>
          </a:p>
          <a:p>
            <a:pPr>
              <a:defRPr/>
            </a:pP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Overflow flag V =1 upon a </a:t>
            </a:r>
            <a:r>
              <a:rPr lang="en-US" sz="16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signed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or subtraction if the answer is wrong (true result &gt; 2</a:t>
            </a:r>
            <a:r>
              <a:rPr lang="en-US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 </a:t>
            </a:r>
            <a:r>
              <a:rPr lang="en-US" altLang="zh-CN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or true result &lt; -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2</a:t>
            </a:r>
            <a:r>
              <a:rPr lang="en-US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altLang="zh-CN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)</a:t>
            </a:r>
          </a:p>
          <a:p>
            <a:pPr>
              <a:defRPr/>
            </a:pPr>
            <a:r>
              <a:rPr lang="en-US" sz="1600" dirty="0">
                <a:solidFill>
                  <a:prstClr val="black"/>
                </a:solidFill>
                <a:cs typeface="Times New Roman" pitchFamily="18" charset="0"/>
              </a:rPr>
              <a:t>Overflow may occur when adding 2 operands with the same sign, or subtracting 2 operands with different signs; Overflow cannot occur when adding 2 operands with different signs or when subtracting 2 operands with the same sign.</a:t>
            </a:r>
          </a:p>
          <a:p>
            <a:pPr>
              <a:defRPr/>
            </a:pPr>
            <a:r>
              <a:rPr lang="en-US" sz="1600" b="1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Tip</a:t>
            </a:r>
            <a:r>
              <a:rPr lang="en-US" sz="1600" b="1" dirty="0">
                <a:solidFill>
                  <a:prstClr val="black"/>
                </a:solidFill>
                <a:cs typeface="Times New Roman" pitchFamily="18" charset="0"/>
              </a:rPr>
              <a:t>: </a:t>
            </a:r>
            <a:r>
              <a:rPr lang="en-US" sz="1600" dirty="0">
                <a:solidFill>
                  <a:prstClr val="black"/>
                </a:solidFill>
                <a:cs typeface="Times New Roman" pitchFamily="18" charset="0"/>
              </a:rPr>
              <a:t>Convert subtraction to addition with Two’s complement. If two operands have same sign, and the result has opposite sign, then V = 1; else V = 0</a:t>
            </a:r>
            <a:endParaRPr lang="en-US" sz="1600" dirty="0">
              <a:solidFill>
                <a:prstClr val="black"/>
              </a:solidFill>
              <a:latin typeface="Gill Sans MT"/>
              <a:cs typeface="Times New Roman" pitchFamily="18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447800" y="4171018"/>
          <a:ext cx="6446109" cy="21426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98942">
                  <a:extLst>
                    <a:ext uri="{9D8B030D-6E8A-4147-A177-3AD203B41FA5}">
                      <a16:colId xmlns:a16="http://schemas.microsoft.com/office/drawing/2014/main" val="3449689791"/>
                    </a:ext>
                  </a:extLst>
                </a:gridCol>
                <a:gridCol w="1677164">
                  <a:extLst>
                    <a:ext uri="{9D8B030D-6E8A-4147-A177-3AD203B41FA5}">
                      <a16:colId xmlns:a16="http://schemas.microsoft.com/office/drawing/2014/main" val="2443800576"/>
                    </a:ext>
                  </a:extLst>
                </a:gridCol>
                <a:gridCol w="1587037">
                  <a:extLst>
                    <a:ext uri="{9D8B030D-6E8A-4147-A177-3AD203B41FA5}">
                      <a16:colId xmlns:a16="http://schemas.microsoft.com/office/drawing/2014/main" val="1711257944"/>
                    </a:ext>
                  </a:extLst>
                </a:gridCol>
                <a:gridCol w="1782966">
                  <a:extLst>
                    <a:ext uri="{9D8B030D-6E8A-4147-A177-3AD203B41FA5}">
                      <a16:colId xmlns:a16="http://schemas.microsoft.com/office/drawing/2014/main" val="3663234745"/>
                    </a:ext>
                  </a:extLst>
                </a:gridCol>
              </a:tblGrid>
              <a:tr h="43576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 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Unsigned Addition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Unsigned Subtraction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Signed Addition or Subtraction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3840512487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Carry flag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true result &gt; 2</a:t>
                      </a:r>
                      <a:r>
                        <a:rPr lang="en-US" sz="1400" b="0" baseline="30000" dirty="0">
                          <a:solidFill>
                            <a:schemeClr val="tx1"/>
                          </a:solidFill>
                          <a:effectLst/>
                        </a:rPr>
                        <a:t>n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-1 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 Carry flag=1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Borrow flag=0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true result &lt; 0 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 Carry flag=0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Borrow flag=1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N/A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296385424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Overflow flag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N/A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N/A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true result &gt; 2</a:t>
                      </a:r>
                      <a:r>
                        <a:rPr lang="en-US" sz="1400" b="0" baseline="30000" dirty="0">
                          <a:effectLst/>
                        </a:rPr>
                        <a:t>n-1</a:t>
                      </a:r>
                      <a:r>
                        <a:rPr lang="en-US" sz="1400" b="0" dirty="0">
                          <a:effectLst/>
                        </a:rPr>
                        <a:t>-1 or true result &lt; -2</a:t>
                      </a:r>
                      <a:r>
                        <a:rPr lang="en-US" sz="1400" b="0" baseline="30000" dirty="0">
                          <a:effectLst/>
                        </a:rPr>
                        <a:t>n-1</a:t>
                      </a:r>
                    </a:p>
                    <a:p>
                      <a:pPr marL="285750" marR="0" indent="-28575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è"/>
                      </a:pPr>
                      <a:r>
                        <a:rPr lang="en-US" sz="1400" b="0" dirty="0">
                          <a:effectLst/>
                        </a:rPr>
                        <a:t>Overflow flag=1</a:t>
                      </a:r>
                    </a:p>
                    <a:p>
                      <a:pPr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kumimoji="0" lang="en-US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12063630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14:cNvPr>
              <p14:cNvContentPartPr/>
              <p14:nvPr/>
            </p14:nvContentPartPr>
            <p14:xfrm>
              <a:off x="3641316" y="4901005"/>
              <a:ext cx="270" cy="27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634566" y="4894255"/>
                <a:ext cx="13500" cy="135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14:cNvPr>
              <p14:cNvContentPartPr/>
              <p14:nvPr/>
            </p14:nvContentPartPr>
            <p14:xfrm>
              <a:off x="4061706" y="4901005"/>
              <a:ext cx="270" cy="27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54956" y="4894255"/>
                <a:ext cx="13500" cy="1350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3666F114-4345-426E-8C76-29F4A48DF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2648" y="6396597"/>
            <a:ext cx="1981200" cy="27432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3" name="Horizontal Scroll 12">
            <a:extLst>
              <a:ext uri="{FF2B5EF4-FFF2-40B4-BE49-F238E27FC236}">
                <a16:creationId xmlns:a16="http://schemas.microsoft.com/office/drawing/2014/main" id="{D48C24B2-C142-576C-CE10-D9A6DF0F70B2}"/>
              </a:ext>
            </a:extLst>
          </p:cNvPr>
          <p:cNvSpPr/>
          <p:nvPr/>
        </p:nvSpPr>
        <p:spPr>
          <a:xfrm>
            <a:off x="76200" y="-19878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353187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7" grpId="0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372BA-4E36-5939-EA5D-65E91EDB3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2DE8FE-731E-0AC7-29AB-17D9745E1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BB9D86-D583-CABE-4B85-A5314A655FC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Compute register values after each instruction</a:t>
            </a:r>
          </a:p>
          <a:p>
            <a:r>
              <a:rPr lang="pt-BR" dirty="0"/>
              <a:t>MOV R0, #0xABC</a:t>
            </a:r>
          </a:p>
          <a:p>
            <a:r>
              <a:rPr lang="pt-BR" dirty="0"/>
              <a:t>MOV R1, #0xDEF</a:t>
            </a:r>
          </a:p>
          <a:p>
            <a:r>
              <a:rPr lang="pt-BR" dirty="0"/>
              <a:t>AND R2, R0, R1</a:t>
            </a:r>
          </a:p>
          <a:p>
            <a:r>
              <a:rPr lang="pt-BR" dirty="0"/>
              <a:t>ORR R3, R0, R1</a:t>
            </a:r>
          </a:p>
          <a:p>
            <a:r>
              <a:rPr lang="pt-BR" dirty="0"/>
              <a:t>EOR R4, R0, R1</a:t>
            </a:r>
          </a:p>
          <a:p>
            <a:r>
              <a:rPr lang="pt-BR" dirty="0"/>
              <a:t>ORN R5, R0, R1</a:t>
            </a:r>
          </a:p>
          <a:p>
            <a:r>
              <a:rPr lang="pt-BR" dirty="0"/>
              <a:t>BIC r6, R0, R1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6224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28AA0-0F84-7DF4-92EB-BAB974776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0E95F9-96B3-6E8B-DE8A-BBFC8F51F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60A19-0F6C-A6C2-28CD-C5006FC4799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Find the Register Value to Complement, CLEAR &amp; SET 5th, 7th, 12th bit of the given value and also find the result: 0xDECB.</a:t>
            </a:r>
          </a:p>
        </p:txBody>
      </p:sp>
    </p:spTree>
    <p:extLst>
      <p:ext uri="{BB962C8B-B14F-4D97-AF65-F5344CB8AC3E}">
        <p14:creationId xmlns:p14="http://schemas.microsoft.com/office/powerpoint/2010/main" val="3231632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8574D-6CB2-432B-DAD7-C3017391D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Clearing a Register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D246E-9C61-6404-3827-3323EB63D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3E4A31-F545-9835-7A37-FDD37464641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are the different ways by which all bits in register r12 can be cleared? No other register is to be used.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12866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2185E-E5D0-53FE-9025-6E1E1F544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1E9D1-8834-4A04-E3FB-A8A892930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AF3843-F3F6-8D87-7E25-5C354332C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0617DE-1F04-17A2-9FAA-2F9FDE23E53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an instruction that sets bits 0, 4, and 12 in register r6 and leave the remaining bits unchanged</a:t>
            </a:r>
          </a:p>
          <a:p>
            <a:r>
              <a:rPr lang="en-US" dirty="0"/>
              <a:t>Write an instruction that clears bits 0, 4, and 12 in register r6 and leave the remaining bits unchanged</a:t>
            </a:r>
          </a:p>
        </p:txBody>
      </p:sp>
    </p:spTree>
    <p:extLst>
      <p:ext uri="{BB962C8B-B14F-4D97-AF65-F5344CB8AC3E}">
        <p14:creationId xmlns:p14="http://schemas.microsoft.com/office/powerpoint/2010/main" val="19747973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74415-1D59-D54C-AAA5-43110D422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5474F-F6FD-D4BC-236C-33597AE29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two 128-bit numbers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E68F60-170B-C439-5529-D4FFE3833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1B9F09-071E-CC84-8518-D0A895AF267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Add two 128-bit numbers, assuming one number is stored in r4, r5, r6, r7 registers and the other stored in r8, r9, r10, r11. Store the result in r0, r1, r2, </a:t>
            </a:r>
            <a:r>
              <a:rPr lang="en-US"/>
              <a:t>r3.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594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8FA36-801E-6E7F-57F4-2BD21817F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en-US" dirty="0"/>
              <a:t>bsolute value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C6F1F3-3211-DD87-BF7B-B9BC7FFCB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C864E1-964B-A3AB-442A-DD3628D6986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 program to calculate the absolute value of a number by using only two instructions (HINT: Check CMP and RSB)</a:t>
            </a:r>
          </a:p>
        </p:txBody>
      </p:sp>
    </p:spTree>
    <p:extLst>
      <p:ext uri="{BB962C8B-B14F-4D97-AF65-F5344CB8AC3E}">
        <p14:creationId xmlns:p14="http://schemas.microsoft.com/office/powerpoint/2010/main" val="4213128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FB880-04B3-ECE3-3ABD-F33567012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 with Shifts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14B1B2-C5F4-2713-F5B6-3B26A2BAA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B7521E-4543-F7E4-701C-9D4CAFA526F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 dirty="0"/>
              <a:t>Assuimg 32-bit registers:</a:t>
            </a:r>
          </a:p>
          <a:p>
            <a:r>
              <a:rPr lang="pt-BR" dirty="0"/>
              <a:t>Q1: 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LSL 7</a:t>
            </a:r>
          </a:p>
          <a:p>
            <a:r>
              <a:rPr lang="pt-BR" dirty="0"/>
              <a:t>Q2:</a:t>
            </a:r>
          </a:p>
          <a:p>
            <a:pPr lvl="1"/>
            <a:r>
              <a:rPr lang="pt-BR" dirty="0"/>
              <a:t>LDR r0, =0x00000400</a:t>
            </a:r>
          </a:p>
          <a:p>
            <a:pPr lvl="1"/>
            <a:r>
              <a:rPr lang="pt-BR" dirty="0"/>
              <a:t>MOV r0, r0, LSR 2</a:t>
            </a:r>
          </a:p>
          <a:p>
            <a:r>
              <a:rPr lang="pt-BR" dirty="0"/>
              <a:t>Q3: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LSR 2</a:t>
            </a:r>
            <a:endParaRPr lang="en-US" dirty="0"/>
          </a:p>
          <a:p>
            <a:r>
              <a:rPr lang="pt-BR" dirty="0"/>
              <a:t>Q4: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ASR 2</a:t>
            </a:r>
          </a:p>
          <a:p>
            <a:r>
              <a:rPr lang="pt-BR" dirty="0"/>
              <a:t>Q5: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ROR 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3965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933DF-9610-809C-11B2-6E559AD6F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Programming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51F047-7DC1-1269-97CA-1BFB3E386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5194D1-447C-6A4E-281D-DAB9A59A84CD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ARMv7 assembly for pseudocode</a:t>
            </a:r>
          </a:p>
          <a:p>
            <a:pPr lvl="1"/>
            <a:r>
              <a:rPr lang="en-US" dirty="0"/>
              <a:t>r1 = (r0 &gt;&gt; 4) &amp; 15</a:t>
            </a:r>
          </a:p>
        </p:txBody>
      </p:sp>
    </p:spTree>
    <p:extLst>
      <p:ext uri="{BB962C8B-B14F-4D97-AF65-F5344CB8AC3E}">
        <p14:creationId xmlns:p14="http://schemas.microsoft.com/office/powerpoint/2010/main" val="10874811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A276C-A661-6DC1-DE38-563A3E2C7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LSL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C51E37-E0A0-F2D9-EFE6-91A91F495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AEC62D-8983-5B00-CA77-5B8D7EF4098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257800"/>
          </a:xfrm>
        </p:spPr>
        <p:txBody>
          <a:bodyPr>
            <a:normAutofit/>
          </a:bodyPr>
          <a:lstStyle/>
          <a:p>
            <a:r>
              <a:rPr lang="pt-BR" dirty="0"/>
              <a:t>Compute register values: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LSL #4</a:t>
            </a:r>
          </a:p>
          <a:p>
            <a:pPr lvl="1"/>
            <a:r>
              <a:rPr lang="pt-BR" dirty="0"/>
              <a:t>MOV R3, R1, LSL #8</a:t>
            </a:r>
          </a:p>
          <a:p>
            <a:pPr lvl="1"/>
            <a:r>
              <a:rPr lang="pt-BR" dirty="0"/>
              <a:t>MOV R4, R1, LSL #16</a:t>
            </a:r>
          </a:p>
          <a:p>
            <a:pPr lvl="1"/>
            <a:r>
              <a:rPr lang="en-US" dirty="0"/>
              <a:t>MOV R5, R1, LSL #6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992898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1839C-F6D4-9964-61E4-7718ED85E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4A20A-F498-3EB6-F940-C1894F1C5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ASR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B4EF46-F247-D5D5-B0F5-6E0D20018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E383C9-4457-CE5C-9276-DDEA44D3054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Compute register values:</a:t>
            </a:r>
          </a:p>
          <a:p>
            <a:r>
              <a:rPr lang="pt-BR" dirty="0"/>
              <a:t>LDR R1, =0x81223344</a:t>
            </a:r>
          </a:p>
          <a:p>
            <a:r>
              <a:rPr lang="pt-BR" dirty="0"/>
              <a:t>MOV R2, R1, ASR #4</a:t>
            </a:r>
          </a:p>
          <a:p>
            <a:r>
              <a:rPr lang="pt-BR" dirty="0"/>
              <a:t>MOV R3, R1, ASR #8</a:t>
            </a:r>
          </a:p>
          <a:p>
            <a:r>
              <a:rPr lang="pt-BR" dirty="0"/>
              <a:t>MOV R4, R1, ASR #16</a:t>
            </a:r>
          </a:p>
        </p:txBody>
      </p:sp>
    </p:spTree>
    <p:extLst>
      <p:ext uri="{BB962C8B-B14F-4D97-AF65-F5344CB8AC3E}">
        <p14:creationId xmlns:p14="http://schemas.microsoft.com/office/powerpoint/2010/main" val="11511600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E5212-EBBF-507A-8939-5B24EAC68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Multiply without MUL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282959-239B-7B59-648D-A0210CB0F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B6A678-F78A-5E7F-A0E9-3A3B773CE733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Without using MUL instruction, give instructions that multiply a register, r3 by</a:t>
            </a:r>
          </a:p>
          <a:p>
            <a:pPr lvl="1"/>
            <a:r>
              <a:rPr lang="en-US" dirty="0"/>
              <a:t>135</a:t>
            </a:r>
          </a:p>
          <a:p>
            <a:pPr lvl="1"/>
            <a:r>
              <a:rPr lang="en-US" dirty="0"/>
              <a:t>153</a:t>
            </a:r>
          </a:p>
          <a:p>
            <a:pPr lvl="1"/>
            <a:r>
              <a:rPr lang="en-US" dirty="0"/>
              <a:t>255</a:t>
            </a:r>
          </a:p>
          <a:p>
            <a:pPr lvl="1"/>
            <a:r>
              <a:rPr lang="en-US" dirty="0"/>
              <a:t>18</a:t>
            </a:r>
          </a:p>
          <a:p>
            <a:pPr lvl="1"/>
            <a:r>
              <a:rPr lang="en-US"/>
              <a:t>16384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184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0680A-E82D-BBE9-C61F-EB0A6FEBF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number of ones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C6C243-F37B-89BF-2B6A-9A56B69C5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C41A2D-28FB-F7BC-6CAD-42CE944332B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a program to count the number of ones in a 32-bit register r0.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86545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47DC9-FEC2-35B7-BE17-C80023277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93014-01D8-9E5D-845A-870F048F2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the number of zeros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D51E58-1BCE-C9D5-7122-108C438E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E59F7F-A91F-C3AC-6F2E-7E041BC2CCCA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486400"/>
          </a:xfrm>
        </p:spPr>
        <p:txBody>
          <a:bodyPr>
            <a:normAutofit/>
          </a:bodyPr>
          <a:lstStyle/>
          <a:p>
            <a:r>
              <a:rPr lang="en-US" dirty="0"/>
              <a:t>Based on the program that counts 1’s, modify it to count the number of zeros a 32-bit register r0. </a:t>
            </a:r>
          </a:p>
        </p:txBody>
      </p:sp>
    </p:spTree>
    <p:extLst>
      <p:ext uri="{BB962C8B-B14F-4D97-AF65-F5344CB8AC3E}">
        <p14:creationId xmlns:p14="http://schemas.microsoft.com/office/powerpoint/2010/main" val="29522820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52526-FDDF-35FA-A44E-1A233444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B70333-70B3-0D05-E999-759739E50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995D49-573C-6129-4E24-762AAEB6BD0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What are value of r2, and NZCV flags after execution, assuming all flags are initially 0.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B598EB-3D73-A532-9DE0-CBC965E702FA}"/>
              </a:ext>
            </a:extLst>
          </p:cNvPr>
          <p:cNvSpPr/>
          <p:nvPr/>
        </p:nvSpPr>
        <p:spPr>
          <a:xfrm>
            <a:off x="860298" y="2213036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ANDS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14452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709F9-4905-FD89-18E1-B8EB2F602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E8A52C-2E2E-54F3-49AA-2CABED2CB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B21BD5E1-8C43-5CBF-BEB4-B430BDD4D73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r>
              <a:rPr lang="en-US" dirty="0"/>
              <a:t>What are value of r2, and NZCV flags after execution, assuming all flags are initially 0.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3F8B0C-9B9C-5AAA-26B5-003AE580EB61}"/>
              </a:ext>
            </a:extLst>
          </p:cNvPr>
          <p:cNvSpPr/>
          <p:nvPr/>
        </p:nvSpPr>
        <p:spPr>
          <a:xfrm>
            <a:off x="860298" y="2133600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ADDS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15450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CE9CC-DEC3-BC36-FF0A-FD088EB3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DFB2C4-0E87-791F-5E7D-1A0D8DB24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21DA5F-0B0C-5E4B-FFBA-4A8692F7A97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Suppose registers have the following values:</a:t>
            </a:r>
          </a:p>
          <a:p>
            <a:r>
              <a:rPr lang="en-US" dirty="0"/>
              <a:t>What are value of r4, and NZCV flags after execution, assuming all flags are initially 0. (Each instruction runs individually.)</a:t>
            </a:r>
          </a:p>
          <a:p>
            <a:pPr lvl="1"/>
            <a:r>
              <a:rPr lang="pt-BR" dirty="0"/>
              <a:t>(a) ADD r4, r0, r2, ASR #3</a:t>
            </a:r>
          </a:p>
          <a:p>
            <a:pPr lvl="1"/>
            <a:r>
              <a:rPr lang="pt-BR" dirty="0"/>
              <a:t>(b) ADDS r4, r0, r1</a:t>
            </a:r>
          </a:p>
          <a:p>
            <a:pPr lvl="1"/>
            <a:r>
              <a:rPr lang="pt-BR" dirty="0"/>
              <a:t>(c) LSRS r4, r0, #1</a:t>
            </a:r>
          </a:p>
          <a:p>
            <a:pPr lvl="1"/>
            <a:r>
              <a:rPr lang="pt-BR" dirty="0"/>
              <a:t>(d) ANDS r4, r0, r3</a:t>
            </a:r>
          </a:p>
          <a:p>
            <a:pPr lvl="1"/>
            <a:r>
              <a:rPr lang="en-US" dirty="0"/>
              <a:t>(e) CMP r2, #3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6C027E4-0F54-2503-6E54-155E1BC927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9088588"/>
              </p:ext>
            </p:extLst>
          </p:nvPr>
        </p:nvGraphicFramePr>
        <p:xfrm>
          <a:off x="7070034" y="69573"/>
          <a:ext cx="1984513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018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61661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07B51-11BC-FFC9-CF42-A6BABBAD6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9B07D-F698-D274-049D-5A8519701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249653-EF96-2820-E597-C71FA0AB1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380CFB-3CFF-ED04-FB0F-0B0AEF72870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Suppose registers have the following values:</a:t>
            </a:r>
          </a:p>
          <a:p>
            <a:r>
              <a:rPr lang="en-US" dirty="0"/>
              <a:t>What are value of r3, and NZCV flags after execution, assuming all flags are initially 0. (Assume each instruction runs individually, not sequentially.)</a:t>
            </a:r>
          </a:p>
          <a:p>
            <a:pPr lvl="1"/>
            <a:r>
              <a:rPr lang="pt-BR" dirty="0"/>
              <a:t>ADD r3, r0, r2</a:t>
            </a:r>
          </a:p>
          <a:p>
            <a:pPr lvl="1"/>
            <a:r>
              <a:rPr lang="pt-BR" dirty="0"/>
              <a:t>SUBS r3, r0, r0</a:t>
            </a:r>
          </a:p>
          <a:p>
            <a:pPr lvl="1"/>
            <a:r>
              <a:rPr lang="pt-BR" dirty="0"/>
              <a:t>ADDS r3, r0, r2</a:t>
            </a:r>
          </a:p>
          <a:p>
            <a:pPr lvl="1"/>
            <a:r>
              <a:rPr lang="pt-BR" dirty="0"/>
              <a:t>LSL r3, r0, #1</a:t>
            </a:r>
          </a:p>
          <a:p>
            <a:pPr lvl="1"/>
            <a:r>
              <a:rPr lang="pt-BR" dirty="0"/>
              <a:t>LSRS r3, r1, #1</a:t>
            </a:r>
          </a:p>
          <a:p>
            <a:pPr lvl="1"/>
            <a:r>
              <a:rPr lang="pt-BR" dirty="0"/>
              <a:t>ANDS r3, r0, r2</a:t>
            </a: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26B2FE4-3D6B-5F71-9A58-0E695C18479A}"/>
              </a:ext>
            </a:extLst>
          </p:cNvPr>
          <p:cNvGraphicFramePr>
            <a:graphicFrameLocks noGrp="1"/>
          </p:cNvGraphicFramePr>
          <p:nvPr/>
        </p:nvGraphicFramePr>
        <p:xfrm>
          <a:off x="7070034" y="69573"/>
          <a:ext cx="1984513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712674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3474</TotalTime>
  <Words>1790</Words>
  <Application>Microsoft Office PowerPoint</Application>
  <PresentationFormat>On-screen Show (4:3)</PresentationFormat>
  <Paragraphs>218</Paragraphs>
  <Slides>20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1" baseType="lpstr">
      <vt:lpstr>Bookman Old Style (Headings)</vt:lpstr>
      <vt:lpstr>Gill Sans Light</vt:lpstr>
      <vt:lpstr>Bookman Old Style</vt:lpstr>
      <vt:lpstr>Calibri</vt:lpstr>
      <vt:lpstr>Cambria Math</vt:lpstr>
      <vt:lpstr>Consolas</vt:lpstr>
      <vt:lpstr>Gill Sans MT</vt:lpstr>
      <vt:lpstr>Times New Roman</vt:lpstr>
      <vt:lpstr>Wingdings</vt:lpstr>
      <vt:lpstr>Wingdings 3</vt:lpstr>
      <vt:lpstr>Origin</vt:lpstr>
      <vt:lpstr>Z. Gu</vt:lpstr>
      <vt:lpstr>Barrel Shifter: Explanations</vt:lpstr>
      <vt:lpstr>Carry and Overflow Flags w/ Arithmetic Instructions</vt:lpstr>
      <vt:lpstr>Bit Manipulations</vt:lpstr>
      <vt:lpstr>Bit Manipulations</vt:lpstr>
      <vt:lpstr>Clearing a Register </vt:lpstr>
      <vt:lpstr>Set bits</vt:lpstr>
      <vt:lpstr>Add two 128-bit numbers</vt:lpstr>
      <vt:lpstr>Absolute value</vt:lpstr>
      <vt:lpstr>Arithmetic with Shifts</vt:lpstr>
      <vt:lpstr>Assembly Programming</vt:lpstr>
      <vt:lpstr>Shift LSL</vt:lpstr>
      <vt:lpstr>Shift ASR</vt:lpstr>
      <vt:lpstr>Multiply without MUL</vt:lpstr>
      <vt:lpstr>Count number of ones</vt:lpstr>
      <vt:lpstr>Count the number of zeros</vt:lpstr>
      <vt:lpstr>Flags ANDS</vt:lpstr>
      <vt:lpstr>Flags ADDS</vt:lpstr>
      <vt:lpstr>Flags</vt:lpstr>
      <vt:lpstr>Flags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346</cp:revision>
  <dcterms:created xsi:type="dcterms:W3CDTF">2014-02-05T02:41:42Z</dcterms:created>
  <dcterms:modified xsi:type="dcterms:W3CDTF">2025-10-16T23:18:33Z</dcterms:modified>
</cp:coreProperties>
</file>