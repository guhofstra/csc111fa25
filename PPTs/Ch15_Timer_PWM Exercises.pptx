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10"/>
  </p:notesMasterIdLst>
  <p:handoutMasterIdLst>
    <p:handoutMasterId r:id="rId11"/>
  </p:handoutMasterIdLst>
  <p:sldIdLst>
    <p:sldId id="256" r:id="rId3"/>
    <p:sldId id="314" r:id="rId4"/>
    <p:sldId id="324" r:id="rId5"/>
    <p:sldId id="327" r:id="rId6"/>
    <p:sldId id="318" r:id="rId7"/>
    <p:sldId id="322" r:id="rId8"/>
    <p:sldId id="311" r:id="rId9"/>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42" autoAdjust="0"/>
    <p:restoredTop sz="86734" autoAdjust="0"/>
  </p:normalViewPr>
  <p:slideViewPr>
    <p:cSldViewPr>
      <p:cViewPr varScale="1">
        <p:scale>
          <a:sx n="82" d="100"/>
          <a:sy n="82" d="100"/>
        </p:scale>
        <p:origin x="1733" y="72"/>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delSld modSld">
      <pc:chgData name="Zonghua Gu" userId="9a7e1853e1951ef5" providerId="LiveId" clId="{CF1FAA12-072C-4ED5-BA76-0FFFAEFDB88A}" dt="2025-09-28T19:34:50.303" v="5" actId="20577"/>
      <pc:docMkLst>
        <pc:docMk/>
      </pc:docMkLst>
      <pc:sldChg chg="modSp mod">
        <pc:chgData name="Zonghua Gu" userId="9a7e1853e1951ef5" providerId="LiveId" clId="{CF1FAA12-072C-4ED5-BA76-0FFFAEFDB88A}" dt="2025-09-28T19:34:50.303" v="5" actId="20577"/>
        <pc:sldMkLst>
          <pc:docMk/>
          <pc:sldMk cId="1227639730" sldId="256"/>
        </pc:sldMkLst>
        <pc:spChg chg="mod">
          <ac:chgData name="Zonghua Gu" userId="9a7e1853e1951ef5" providerId="LiveId" clId="{CF1FAA12-072C-4ED5-BA76-0FFFAEFDB88A}" dt="2025-09-28T19:34:50.303" v="5" actId="20577"/>
          <ac:spMkLst>
            <pc:docMk/>
            <pc:sldMk cId="1227639730" sldId="256"/>
            <ac:spMk id="5" creationId="{00000000-0000-0000-0000-000000000000}"/>
          </ac:spMkLst>
        </pc:spChg>
      </pc:sldChg>
      <pc:sldChg chg="del">
        <pc:chgData name="Zonghua Gu" userId="9a7e1853e1951ef5" providerId="LiveId" clId="{CF1FAA12-072C-4ED5-BA76-0FFFAEFDB88A}" dt="2025-09-28T19:34:43.736" v="4" actId="47"/>
        <pc:sldMkLst>
          <pc:docMk/>
          <pc:sldMk cId="2231599014" sldId="313"/>
        </pc:sldMkLst>
      </pc:sldChg>
      <pc:sldChg chg="del">
        <pc:chgData name="Zonghua Gu" userId="9a7e1853e1951ef5" providerId="LiveId" clId="{CF1FAA12-072C-4ED5-BA76-0FFFAEFDB88A}" dt="2025-09-28T19:34:42.159" v="2" actId="47"/>
        <pc:sldMkLst>
          <pc:docMk/>
          <pc:sldMk cId="2889144330" sldId="319"/>
        </pc:sldMkLst>
      </pc:sldChg>
      <pc:sldChg chg="del">
        <pc:chgData name="Zonghua Gu" userId="9a7e1853e1951ef5" providerId="LiveId" clId="{CF1FAA12-072C-4ED5-BA76-0FFFAEFDB88A}" dt="2025-09-28T19:34:42.934" v="3" actId="47"/>
        <pc:sldMkLst>
          <pc:docMk/>
          <pc:sldMk cId="4107115112" sldId="323"/>
        </pc:sldMkLst>
      </pc:sldChg>
      <pc:sldChg chg="del">
        <pc:chgData name="Zonghua Gu" userId="9a7e1853e1951ef5" providerId="LiveId" clId="{CF1FAA12-072C-4ED5-BA76-0FFFAEFDB88A}" dt="2025-09-28T19:34:39.923" v="0" actId="47"/>
        <pc:sldMkLst>
          <pc:docMk/>
          <pc:sldMk cId="1063495253" sldId="326"/>
        </pc:sldMkLst>
      </pc:sldChg>
      <pc:sldChg chg="del">
        <pc:chgData name="Zonghua Gu" userId="9a7e1853e1951ef5" providerId="LiveId" clId="{CF1FAA12-072C-4ED5-BA76-0FFFAEFDB88A}" dt="2025-09-28T19:34:40.849" v="1" actId="47"/>
        <pc:sldMkLst>
          <pc:docMk/>
          <pc:sldMk cId="1363681695" sldId="3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BD4F56A7-3CDE-194F-B9AF-D598FBBF1989}" type="datetimeFigureOut">
              <a:rPr lang="en-US" smtClean="0"/>
              <a:pPr/>
              <a:t>9/28/2025</a:t>
            </a:fld>
            <a:endParaRPr lang="en-US"/>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E52AD58-60CE-E948-9CBA-0BD7030FC28E}" type="datetimeFigureOut">
              <a:rPr lang="en-US" smtClean="0"/>
              <a:pPr/>
              <a:t>9/28/2025</a:t>
            </a:fld>
            <a:endParaRPr lang="en-US"/>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0C9D69-9831-4844-8B1E-062B2DA58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35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3</a:t>
            </a:fld>
            <a:endParaRPr lang="en-US">
              <a:solidFill>
                <a:prstClr val="black"/>
              </a:solidFill>
              <a:latin typeface="Calibri"/>
            </a:endParaRPr>
          </a:p>
        </p:txBody>
      </p:sp>
    </p:spTree>
    <p:extLst>
      <p:ext uri="{BB962C8B-B14F-4D97-AF65-F5344CB8AC3E}">
        <p14:creationId xmlns:p14="http://schemas.microsoft.com/office/powerpoint/2010/main" val="2822910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the clock source that drives the timer counter has a frequency of 80 </a:t>
            </a:r>
            <a:r>
              <a:rPr lang="en-US" dirty="0" err="1"/>
              <a:t>MHz.</a:t>
            </a:r>
            <a:r>
              <a:rPr lang="en-US" dirty="0"/>
              <a:t> We want to generate a </a:t>
            </a:r>
            <a:r>
              <a:rPr lang="en-US" dirty="0" err="1"/>
              <a:t>SysTick</a:t>
            </a:r>
            <a:r>
              <a:rPr lang="en-US" dirty="0"/>
              <a:t> interrupt every 10 milliseconds. What is the reload value? {{Pause=2}} Here is the diagram of </a:t>
            </a:r>
            <a:r>
              <a:rPr lang="en-US" dirty="0" err="1"/>
              <a:t>SysTicks</a:t>
            </a:r>
            <a:r>
              <a:rPr lang="en-US" dirty="0"/>
              <a:t>. {{Pause=0.5}} This is the clock signal, which has a frequency of 80 </a:t>
            </a:r>
            <a:r>
              <a:rPr lang="en-US" dirty="0" err="1"/>
              <a:t>MHz.</a:t>
            </a:r>
            <a:r>
              <a:rPr lang="en-US" dirty="0"/>
              <a:t> A </a:t>
            </a:r>
            <a:r>
              <a:rPr lang="en-US" dirty="0" err="1"/>
              <a:t>SysTick</a:t>
            </a:r>
            <a:r>
              <a:rPr lang="en-US" dirty="0"/>
              <a:t> interrupt is generated every 10 milliseconds. {{Pause=0.5}} An interrupt is generated when the counter makes the transition from 1 to 0.  {{Pause=1} It takes a total of, reload plus 1, cycles to count down from the reload value to 0. {{Pause=0.5}} The reload value is calculated in this way. Reload value equals to 10 milliseconds, divided by the clock period, minus 1.  This is equivalent to 10 milliseconds, multiply the clock frequency, minus 1.  {{Pause=0.5}} The final result is 799999.</a:t>
            </a:r>
          </a:p>
        </p:txBody>
      </p:sp>
      <p:sp>
        <p:nvSpPr>
          <p:cNvPr id="4" name="Slide Number Placeholder 3"/>
          <p:cNvSpPr>
            <a:spLocks noGrp="1"/>
          </p:cNvSpPr>
          <p:nvPr>
            <p:ph type="sldNum" sz="quarter" idx="10"/>
          </p:nvPr>
        </p:nvSpPr>
        <p:spPr/>
        <p:txBody>
          <a:bodyPr/>
          <a:lstStyle/>
          <a:p>
            <a:pPr defTabSz="933237">
              <a:defRPr/>
            </a:pPr>
            <a:fld id="{D624DF53-3DD3-9F45-9E7E-472B96F1AB81}" type="slidenum">
              <a:rPr lang="en-US">
                <a:solidFill>
                  <a:prstClr val="black"/>
                </a:solidFill>
                <a:latin typeface="Calibri"/>
              </a:rPr>
              <a:pPr defTabSz="933237">
                <a:defRPr/>
              </a:pPr>
              <a:t>4</a:t>
            </a:fld>
            <a:endParaRPr lang="en-US">
              <a:solidFill>
                <a:prstClr val="black"/>
              </a:solidFill>
              <a:latin typeface="Calibri"/>
            </a:endParaRPr>
          </a:p>
        </p:txBody>
      </p:sp>
    </p:spTree>
    <p:extLst>
      <p:ext uri="{BB962C8B-B14F-4D97-AF65-F5344CB8AC3E}">
        <p14:creationId xmlns:p14="http://schemas.microsoft.com/office/powerpoint/2010/main" val="769705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8E8B2B42-CBC2-7D4E-BA50-0E7F29B4DAAB}" type="datetime1">
              <a:rPr lang="en-US" smtClean="0"/>
              <a:t>9/28/2025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34C82E41-DA7E-CA4C-823B-C759BEA16CE8}"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24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1500">
                <a:solidFill>
                  <a:schemeClr val="tx2"/>
                </a:solidFill>
                <a:latin typeface="+mj-lt"/>
                <a:ea typeface="+mj-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050"/>
            </a:lvl1pPr>
          </a:lstStyle>
          <a:p>
            <a:pPr eaLnBrk="1" latinLnBrk="0" hangingPunct="1"/>
            <a:fld id="{3B6732A1-8A50-42D0-9FB5-A7CC4F887D83}" type="datetime1">
              <a:rPr lang="en-US" smtClean="0"/>
              <a:t>9/28/2025</a:t>
            </a:fld>
            <a:endParaRPr lang="en-US" sz="12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582932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44B809B3-6A2C-46CF-98AB-C7B45372B065}" type="datetime1">
              <a:rPr lang="en-US" smtClean="0"/>
              <a:t>9/28/2025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7316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24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15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C191117F-3CD7-4767-AEE5-49A060274EAA}" type="datetime1">
              <a:rPr lang="en-US" smtClean="0"/>
              <a:t>9/28/2025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702193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47B8C5CE-9DF7-4BB4-863A-6E277DDC03D4}"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01884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1800" b="1">
                <a:solidFill>
                  <a:schemeClr val="accent2"/>
                </a:solidFill>
              </a:defRPr>
            </a:lvl1pPr>
            <a:lvl2pPr>
              <a:buNone/>
              <a:defRPr sz="1500" b="1"/>
            </a:lvl2pPr>
            <a:lvl3pPr>
              <a:buNone/>
              <a:defRPr sz="1350" b="1"/>
            </a:lvl3pPr>
            <a:lvl4pPr>
              <a:buNone/>
              <a:defRPr sz="1200" b="1"/>
            </a:lvl4pPr>
            <a:lvl5pPr>
              <a:buNone/>
              <a:defRPr sz="12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5EE11402-9D83-40E7-9253-0548CE63EB94}" type="datetime1">
              <a:rPr lang="en-US" smtClean="0"/>
              <a:t>9/28/2025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83890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0C0C8811-C7DA-4658-BB60-F635F9220CDF}" type="datetime1">
              <a:rPr lang="en-US" smtClean="0"/>
              <a:t>9/28/2025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0129734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EB38FCF-5E28-44CB-A212-D3E75CA77D8D}" type="datetime1">
              <a:rPr lang="en-US" smtClean="0"/>
              <a:t>9/28/2025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6" name="Isosceles Triangle 5"/>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865507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15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1650"/>
              </a:lnSpc>
              <a:spcAft>
                <a:spcPts val="750"/>
              </a:spcAft>
              <a:buNone/>
              <a:defRPr sz="1200">
                <a:solidFill>
                  <a:schemeClr val="tx2"/>
                </a:solidFill>
              </a:defRPr>
            </a:lvl1pPr>
            <a:lvl2pPr>
              <a:buNone/>
              <a:defRPr sz="900"/>
            </a:lvl2pPr>
            <a:lvl3pPr>
              <a:buNone/>
              <a:defRPr sz="750"/>
            </a:lvl3pPr>
            <a:lvl4pPr>
              <a:buNone/>
              <a:defRPr sz="675"/>
            </a:lvl4pPr>
            <a:lvl5pPr>
              <a:buNone/>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55FE7C6-0DE5-4400-A2DD-37AB2CB98797}"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dirty="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4957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15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450"/>
              </a:spcBef>
              <a:buNone/>
              <a:defRPr sz="24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050"/>
            </a:lvl1pPr>
            <a:lvl2pPr>
              <a:defRPr sz="900"/>
            </a:lvl2pPr>
            <a:lvl3pPr>
              <a:defRPr sz="750"/>
            </a:lvl3pPr>
            <a:lvl4pPr>
              <a:defRPr sz="675"/>
            </a:lvl4pPr>
            <a:lvl5pPr>
              <a:defRPr sz="675"/>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312819A-A7E0-496A-9C6B-0FBBF375D97B}" type="datetime1">
              <a:rPr lang="en-US" smtClean="0"/>
              <a:t>9/28/2025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9" name="Isosceles Triangle 8"/>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279232578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32F6112-2530-4960-AA07-04E672D1E722}"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extLst>
      <p:ext uri="{BB962C8B-B14F-4D97-AF65-F5344CB8AC3E}">
        <p14:creationId xmlns:p14="http://schemas.microsoft.com/office/powerpoint/2010/main" val="3423238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96A6EFF-8172-426D-9AC7-B0DD95EEE533}" type="datetime1">
              <a:rPr lang="en-US" smtClean="0"/>
              <a:t>9/28/2025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8" name="Isosceles Triangle 7"/>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Tree>
    <p:extLst>
      <p:ext uri="{BB962C8B-B14F-4D97-AF65-F5344CB8AC3E}">
        <p14:creationId xmlns:p14="http://schemas.microsoft.com/office/powerpoint/2010/main" val="26183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9/28/2025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050">
                <a:solidFill>
                  <a:schemeClr val="tx2"/>
                </a:solidFill>
              </a:defRPr>
            </a:lvl1pPr>
          </a:lstStyle>
          <a:p>
            <a:pPr eaLnBrk="1" latinLnBrk="0" hangingPunct="1"/>
            <a:fld id="{0259BA2E-082A-4ACD-AA34-4B617DF5D259}" type="datetime1">
              <a:rPr lang="en-US" smtClean="0"/>
              <a:t>9/28/2025</a:t>
            </a:fld>
            <a:endParaRPr lang="en-US" sz="105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050">
                <a:solidFill>
                  <a:schemeClr val="tx2"/>
                </a:solidFill>
              </a:defRPr>
            </a:lvl1pPr>
          </a:lstStyle>
          <a:p>
            <a:pPr algn="r" eaLnBrk="1" latinLnBrk="0" hangingPunct="1"/>
            <a:endParaRPr kumimoji="0" lang="en-US" sz="105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05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2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68580" tIns="34290" rIns="68580" bIns="34290" anchor="t" compatLnSpc="1"/>
          <a:lstStyle/>
          <a:p>
            <a:endParaRPr kumimoji="0" lang="en-US" sz="1350"/>
          </a:p>
        </p:txBody>
      </p:sp>
      <p:sp>
        <p:nvSpPr>
          <p:cNvPr id="10" name="Isosceles Triangle 9"/>
          <p:cNvSpPr>
            <a:spLocks noChangeAspect="1"/>
          </p:cNvSpPr>
          <p:nvPr/>
        </p:nvSpPr>
        <p:spPr>
          <a:xfrm rot="5400000">
            <a:off x="419101" y="6467476"/>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a:p>
        </p:txBody>
      </p:sp>
    </p:spTree>
    <p:extLst>
      <p:ext uri="{BB962C8B-B14F-4D97-AF65-F5344CB8AC3E}">
        <p14:creationId xmlns:p14="http://schemas.microsoft.com/office/powerpoint/2010/main" val="3175999156"/>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hdr="0" ftr="0" dt="0"/>
  <p:txStyles>
    <p:titleStyle>
      <a:lvl1pPr algn="l" rtl="0" eaLnBrk="1" latinLnBrk="0" hangingPunct="1">
        <a:spcBef>
          <a:spcPct val="0"/>
        </a:spcBef>
        <a:buNone/>
        <a:defRPr kumimoji="0" sz="2400" kern="1200">
          <a:solidFill>
            <a:schemeClr val="tx2"/>
          </a:solidFill>
          <a:latin typeface="+mj-lt"/>
          <a:ea typeface="+mj-ea"/>
          <a:cs typeface="+mj-cs"/>
        </a:defRPr>
      </a:lvl1pPr>
    </p:titleStyle>
    <p:bodyStyle>
      <a:lvl1pPr marL="205740" indent="-205740" algn="l" rtl="0" eaLnBrk="1" latinLnBrk="0" hangingPunct="1">
        <a:spcBef>
          <a:spcPts val="450"/>
        </a:spcBef>
        <a:buClr>
          <a:schemeClr val="accent1"/>
        </a:buClr>
        <a:buSzPct val="76000"/>
        <a:buFont typeface="Wingdings 3"/>
        <a:buChar char=""/>
        <a:defRPr kumimoji="0" sz="1950" kern="1200">
          <a:solidFill>
            <a:schemeClr val="tx1"/>
          </a:solidFill>
          <a:latin typeface="+mn-lt"/>
          <a:ea typeface="+mn-ea"/>
          <a:cs typeface="+mn-cs"/>
        </a:defRPr>
      </a:lvl1pPr>
      <a:lvl2pPr marL="411480" indent="-205740" algn="l" rtl="0" eaLnBrk="1" latinLnBrk="0" hangingPunct="1">
        <a:spcBef>
          <a:spcPts val="375"/>
        </a:spcBef>
        <a:buClr>
          <a:schemeClr val="accent2"/>
        </a:buClr>
        <a:buSzPct val="76000"/>
        <a:buFont typeface="Wingdings 3"/>
        <a:buChar char=""/>
        <a:defRPr kumimoji="0" sz="1725" kern="1200">
          <a:solidFill>
            <a:schemeClr val="tx2"/>
          </a:solidFill>
          <a:latin typeface="+mn-lt"/>
          <a:ea typeface="+mn-ea"/>
          <a:cs typeface="+mn-cs"/>
        </a:defRPr>
      </a:lvl2pPr>
      <a:lvl3pPr marL="617220" indent="-171450" algn="l" rtl="0" eaLnBrk="1" latinLnBrk="0" hangingPunct="1">
        <a:spcBef>
          <a:spcPts val="375"/>
        </a:spcBef>
        <a:buClr>
          <a:schemeClr val="bg1">
            <a:shade val="50000"/>
          </a:schemeClr>
        </a:buClr>
        <a:buSzPct val="76000"/>
        <a:buFont typeface="Wingdings 3"/>
        <a:buChar char=""/>
        <a:defRPr kumimoji="0" sz="1500" kern="1200">
          <a:solidFill>
            <a:schemeClr val="tx1"/>
          </a:solidFill>
          <a:latin typeface="+mn-lt"/>
          <a:ea typeface="+mn-ea"/>
          <a:cs typeface="+mn-cs"/>
        </a:defRPr>
      </a:lvl3pPr>
      <a:lvl4pPr marL="822960" indent="-171450" algn="l" rtl="0" eaLnBrk="1" latinLnBrk="0" hangingPunct="1">
        <a:spcBef>
          <a:spcPts val="300"/>
        </a:spcBef>
        <a:buClr>
          <a:schemeClr val="accent2">
            <a:shade val="75000"/>
          </a:schemeClr>
        </a:buClr>
        <a:buSzPct val="70000"/>
        <a:buFont typeface="Wingdings"/>
        <a:buChar char=""/>
        <a:defRPr kumimoji="0" sz="1350" kern="1200">
          <a:solidFill>
            <a:schemeClr val="tx1"/>
          </a:solidFill>
          <a:latin typeface="+mn-lt"/>
          <a:ea typeface="+mn-ea"/>
          <a:cs typeface="+mn-cs"/>
        </a:defRPr>
      </a:lvl4pPr>
      <a:lvl5pPr marL="1028700" indent="-171450" algn="l" rtl="0" eaLnBrk="1" latinLnBrk="0" hangingPunct="1">
        <a:spcBef>
          <a:spcPts val="225"/>
        </a:spcBef>
        <a:buClr>
          <a:schemeClr val="accent2"/>
        </a:buClr>
        <a:buSzPct val="70000"/>
        <a:buFont typeface="Wingdings"/>
        <a:buChar char=""/>
        <a:defRPr kumimoji="0" sz="1200" kern="120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Fall 2025</a:t>
            </a:r>
          </a:p>
        </p:txBody>
      </p:sp>
      <p:sp>
        <p:nvSpPr>
          <p:cNvPr id="4" name="TextBox 3"/>
          <p:cNvSpPr txBox="1"/>
          <p:nvPr/>
        </p:nvSpPr>
        <p:spPr>
          <a:xfrm>
            <a:off x="742950" y="1110410"/>
            <a:ext cx="7258050" cy="253916"/>
          </a:xfrm>
          <a:prstGeom prst="rect">
            <a:avLst/>
          </a:prstGeom>
          <a:noFill/>
        </p:spPr>
        <p:txBody>
          <a:bodyPr wrap="square" rtlCol="0">
            <a:spAutoFit/>
          </a:bodyPr>
          <a:lstStyle/>
          <a:p>
            <a:pPr algn="r" defTabSz="685800"/>
            <a:r>
              <a:rPr lang="en-US" sz="1050" b="1" dirty="0">
                <a:solidFill>
                  <a:prstClr val="black"/>
                </a:solidFill>
                <a:latin typeface="Bookman Old Style (Headings)"/>
              </a:rPr>
              <a:t>Embedded Systems with ARM Cortex-M Microcontrollers in Assembly Language and C</a:t>
            </a:r>
          </a:p>
        </p:txBody>
      </p:sp>
      <p:sp>
        <p:nvSpPr>
          <p:cNvPr id="5" name="TextBox 4"/>
          <p:cNvSpPr txBox="1"/>
          <p:nvPr/>
        </p:nvSpPr>
        <p:spPr>
          <a:xfrm>
            <a:off x="3452875" y="2228851"/>
            <a:ext cx="4719575" cy="923330"/>
          </a:xfrm>
          <a:prstGeom prst="rect">
            <a:avLst/>
          </a:prstGeom>
          <a:noFill/>
        </p:spPr>
        <p:txBody>
          <a:bodyPr wrap="square" rtlCol="0">
            <a:spAutoFit/>
          </a:bodyPr>
          <a:lstStyle/>
          <a:p>
            <a:pPr algn="r" defTabSz="685800"/>
            <a:r>
              <a:rPr lang="en-US" b="1" dirty="0">
                <a:solidFill>
                  <a:srgbClr val="C00000"/>
                </a:solidFill>
                <a:latin typeface="Gill Sans MT"/>
              </a:rPr>
              <a:t>Chapter 15</a:t>
            </a:r>
          </a:p>
          <a:p>
            <a:pPr algn="r" defTabSz="685800"/>
            <a:r>
              <a:rPr lang="en-US" b="1" dirty="0">
                <a:solidFill>
                  <a:srgbClr val="C00000"/>
                </a:solidFill>
                <a:latin typeface="Gill Sans MT"/>
              </a:rPr>
              <a:t>Timer and PWM</a:t>
            </a:r>
          </a:p>
          <a:p>
            <a:pPr algn="r" defTabSz="685800"/>
            <a:r>
              <a:rPr lang="en-US" b="1">
                <a:solidFill>
                  <a:srgbClr val="C00000"/>
                </a:solidFill>
                <a:latin typeface="Gill Sans MT"/>
              </a:rPr>
              <a:t>Exercises</a:t>
            </a:r>
            <a:endParaRPr lang="en-US" b="1" dirty="0">
              <a:solidFill>
                <a:srgbClr val="C00000"/>
              </a:solidFill>
              <a:latin typeface="Gill Sans MT"/>
            </a:endParaRPr>
          </a:p>
        </p:txBody>
      </p:sp>
      <p:sp>
        <p:nvSpPr>
          <p:cNvPr id="6" name="Slide Number Placeholder 5"/>
          <p:cNvSpPr>
            <a:spLocks noGrp="1"/>
          </p:cNvSpPr>
          <p:nvPr>
            <p:ph type="sldNum" sz="quarter" idx="12"/>
          </p:nvPr>
        </p:nvSpPr>
        <p:spPr/>
        <p:txBody>
          <a:bodyPr/>
          <a:lstStyle/>
          <a:p>
            <a:pPr defTabSz="685800"/>
            <a:fld id="{EA7C8D44-3667-46F6-9772-CC52308E2A7F}" type="slidenum">
              <a:rPr lang="en-US">
                <a:solidFill>
                  <a:srgbClr val="1F497D"/>
                </a:solidFill>
                <a:latin typeface="Gill Sans MT"/>
              </a:rPr>
              <a:pPr defTabSz="685800"/>
              <a:t>1</a:t>
            </a:fld>
            <a:endParaRPr lang="en-US" dirty="0">
              <a:solidFill>
                <a:srgbClr val="1F497D"/>
              </a:solidFill>
              <a:latin typeface="Gill Sans MT"/>
            </a:endParaRPr>
          </a:p>
        </p:txBody>
      </p:sp>
      <p:sp>
        <p:nvSpPr>
          <p:cNvPr id="11" name="Title 1">
            <a:extLst>
              <a:ext uri="{FF2B5EF4-FFF2-40B4-BE49-F238E27FC236}">
                <a16:creationId xmlns:a16="http://schemas.microsoft.com/office/drawing/2014/main" id="{A950AF61-E22F-B40C-FB60-A35C53D05D61}"/>
              </a:ext>
            </a:extLst>
          </p:cNvPr>
          <p:cNvSpPr txBox="1">
            <a:spLocks/>
          </p:cNvSpPr>
          <p:nvPr/>
        </p:nvSpPr>
        <p:spPr>
          <a:xfrm>
            <a:off x="1219200" y="3771900"/>
            <a:ext cx="6858000" cy="742950"/>
          </a:xfrm>
          <a:prstGeom prst="rect">
            <a:avLst/>
          </a:prstGeom>
        </p:spPr>
        <p:txBody>
          <a:bodyPr vert="horz" anchor="t" anchorCtr="0">
            <a:no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defTabSz="685800"/>
            <a:r>
              <a:rPr lang="en-US" sz="1500" dirty="0">
                <a:solidFill>
                  <a:prstClr val="black"/>
                </a:solidFill>
                <a:latin typeface="Bookman Old Style"/>
              </a:rPr>
              <a:t>Z. Gu</a:t>
            </a:r>
            <a:endParaRPr lang="en-US" sz="1500" b="1" dirty="0">
              <a:solidFill>
                <a:srgbClr val="C00000"/>
              </a:solidFill>
              <a:latin typeface="Bookman Old Style"/>
            </a:endParaRPr>
          </a:p>
        </p:txBody>
      </p:sp>
      <p:sp>
        <p:nvSpPr>
          <p:cNvPr id="13" name="TextBox 12">
            <a:extLst>
              <a:ext uri="{FF2B5EF4-FFF2-40B4-BE49-F238E27FC236}">
                <a16:creationId xmlns:a16="http://schemas.microsoft.com/office/drawing/2014/main" id="{273EC5B2-C191-2980-14D0-C87219AED9C5}"/>
              </a:ext>
            </a:extLst>
          </p:cNvPr>
          <p:cNvSpPr txBox="1"/>
          <p:nvPr/>
        </p:nvSpPr>
        <p:spPr>
          <a:xfrm>
            <a:off x="1825752" y="6082784"/>
            <a:ext cx="5794293" cy="369332"/>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pPr defTabSz="685800"/>
            <a:r>
              <a:rPr lang="en-US" altLang="zh-CN" sz="900" dirty="0">
                <a:solidFill>
                  <a:prstClr val="black"/>
                </a:solidFill>
                <a:latin typeface="Gill Sans Light"/>
                <a:ea typeface="华文新魏" panose="02010800040101010101" pitchFamily="2" charset="-122"/>
              </a:rPr>
              <a:t>Acknowledgement: Lecture slides based on Embedded Systems with ARM Cortex-M Microcontrollers in Assembly Language and C, University of Maine </a:t>
            </a:r>
            <a:r>
              <a:rPr lang="en-US" altLang="zh-CN" sz="900" dirty="0">
                <a:solidFill>
                  <a:prstClr val="black"/>
                </a:solidFill>
                <a:latin typeface="Gill Sans Light"/>
                <a:ea typeface="华文新魏" panose="02010800040101010101" pitchFamily="2" charset="-122"/>
                <a:hlinkClick r:id="rId3"/>
              </a:rPr>
              <a:t>https://web.eece.maine.edu/~zhu/book/</a:t>
            </a:r>
            <a:r>
              <a:rPr lang="en-US" altLang="zh-CN" sz="900" dirty="0">
                <a:solidFill>
                  <a:prstClr val="black"/>
                </a:solidFill>
                <a:latin typeface="Gill Sans Light"/>
                <a:ea typeface="华文新魏" panose="02010800040101010101" pitchFamily="2" charset="-122"/>
              </a:rPr>
              <a:t> </a:t>
            </a:r>
            <a:endParaRPr lang="en-SE" sz="900" dirty="0">
              <a:solidFill>
                <a:prstClr val="black"/>
              </a:solidFill>
              <a:latin typeface="Gill Sans Light"/>
            </a:endParaRPr>
          </a:p>
        </p:txBody>
      </p:sp>
    </p:spTree>
    <p:extLst>
      <p:ext uri="{BB962C8B-B14F-4D97-AF65-F5344CB8AC3E}">
        <p14:creationId xmlns:p14="http://schemas.microsoft.com/office/powerpoint/2010/main" val="1227639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457200" y="1219200"/>
                <a:ext cx="8229600" cy="381000"/>
              </a:xfrm>
            </p:spPr>
            <p:txBody>
              <a:bodyPr>
                <a:normAutofit fontScale="85000" lnSpcReduction="20000"/>
              </a:bodyPr>
              <a:lstStyle/>
              <a:p>
                <a:pPr lvl="0"/>
                <a:r>
                  <a:rPr lang="en-US" dirty="0"/>
                  <a:t>Timer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oMath>
                </a14:m>
                <a:r>
                  <a:rPr lang="en-US" dirty="0"/>
                  <a:t> vs. CPU Clock Frequency </a:t>
                </a:r>
                <a14:m>
                  <m:oMath xmlns:m="http://schemas.openxmlformats.org/officeDocument/2006/math">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b="0" i="1" smtClean="0">
                            <a:solidFill>
                              <a:prstClr val="black"/>
                            </a:solidFill>
                            <a:latin typeface="Cambria Math" panose="02040503050406030204" pitchFamily="18" charset="0"/>
                          </a:rPr>
                          <m:t>𝑃𝑆𝐶</m:t>
                        </m:r>
                      </m:sub>
                    </m:sSub>
                  </m:oMath>
                </a14:m>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457200" y="1219200"/>
                <a:ext cx="8229600" cy="381000"/>
              </a:xfrm>
              <a:blipFill>
                <a:blip r:embed="rId2"/>
                <a:stretch>
                  <a:fillRect l="-370" t="-26984" b="-26984"/>
                </a:stretch>
              </a:blipFill>
            </p:spPr>
            <p:txBody>
              <a:bodyPr/>
              <a:lstStyle/>
              <a:p>
                <a:r>
                  <a:rPr lang="en-US">
                    <a:noFill/>
                  </a:rPr>
                  <a:t> </a:t>
                </a:r>
              </a:p>
            </p:txBody>
          </p:sp>
        </mc:Fallback>
      </mc:AlternateContent>
      <p:sp>
        <p:nvSpPr>
          <p:cNvPr id="5" name="Title 4"/>
          <p:cNvSpPr>
            <a:spLocks noGrp="1"/>
          </p:cNvSpPr>
          <p:nvPr>
            <p:ph type="title"/>
          </p:nvPr>
        </p:nvSpPr>
        <p:spPr/>
        <p:txBody>
          <a:bodyPr/>
          <a:lstStyle/>
          <a:p>
            <a:r>
              <a:rPr lang="en-US" dirty="0"/>
              <a:t>Summary of Equations</a:t>
            </a:r>
          </a:p>
        </p:txBody>
      </p:sp>
      <mc:AlternateContent xmlns:mc="http://schemas.openxmlformats.org/markup-compatibility/2006" xmlns:a14="http://schemas.microsoft.com/office/drawing/2010/main">
        <mc:Choice Requires="a14">
          <p:sp>
            <p:nvSpPr>
              <p:cNvPr id="6" name="Rectangle 5"/>
              <p:cNvSpPr/>
              <p:nvPr/>
            </p:nvSpPr>
            <p:spPr>
              <a:xfrm>
                <a:off x="0" y="1540721"/>
                <a:ext cx="4800601"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r>
                        <a:rPr lang="en-US" i="1">
                          <a:solidFill>
                            <a:prstClr val="black"/>
                          </a:solidFill>
                          <a:latin typeface="Cambria Math"/>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m:t>
                              </m:r>
                              <m:r>
                                <a:rPr lang="en-US" b="0" i="1" smtClean="0">
                                  <a:solidFill>
                                    <a:prstClr val="black"/>
                                  </a:solidFill>
                                  <a:latin typeface="Cambria Math" panose="02040503050406030204" pitchFamily="18" charset="0"/>
                                </a:rPr>
                                <m:t>𝐾</m:t>
                              </m:r>
                              <m:r>
                                <a:rPr lang="en-US" i="1">
                                  <a:solidFill>
                                    <a:prstClr val="black"/>
                                  </a:solidFill>
                                  <a:latin typeface="Cambria Math"/>
                                </a:rPr>
                                <m:t>_</m:t>
                              </m:r>
                              <m:r>
                                <a:rPr lang="en-US" i="1">
                                  <a:solidFill>
                                    <a:prstClr val="black"/>
                                  </a:solidFill>
                                  <a:latin typeface="Cambria Math"/>
                                </a:rPr>
                                <m:t>𝑃𝑆𝐶</m:t>
                              </m:r>
                            </m:sub>
                          </m:sSub>
                        </m:num>
                        <m:den>
                          <m:r>
                            <a:rPr lang="en-US" i="1">
                              <a:solidFill>
                                <a:prstClr val="black"/>
                              </a:solidFill>
                              <a:latin typeface="Cambria Math" panose="02040503050406030204" pitchFamily="18" charset="0"/>
                            </a:rPr>
                            <m:t>𝑃𝑆𝐶</m:t>
                          </m:r>
                          <m:r>
                            <a:rPr lang="en-US" i="1">
                              <a:solidFill>
                                <a:prstClr val="black"/>
                              </a:solidFill>
                              <a:latin typeface="Cambria Math"/>
                            </a:rPr>
                            <m:t>+1</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0" y="1540721"/>
                <a:ext cx="4800601" cy="6235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326690" y="4388116"/>
                <a:ext cx="2518062"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1326690" y="4388116"/>
                <a:ext cx="2518062" cy="61734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3"/>
              <p:cNvSpPr txBox="1">
                <a:spLocks/>
              </p:cNvSpPr>
              <p:nvPr/>
            </p:nvSpPr>
            <p:spPr>
              <a:xfrm>
                <a:off x="457200" y="2215484"/>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up-counting or down-counting mode:</a:t>
                </a:r>
              </a:p>
            </p:txBody>
          </p:sp>
        </mc:Choice>
        <mc:Fallback xmlns="">
          <p:sp>
            <p:nvSpPr>
              <p:cNvPr id="10" name="Content Placeholder 3"/>
              <p:cNvSpPr txBox="1">
                <a:spLocks noRot="1" noChangeAspect="1" noMove="1" noResize="1" noEditPoints="1" noAdjustHandles="1" noChangeArrowheads="1" noChangeShapeType="1" noTextEdit="1"/>
              </p:cNvSpPr>
              <p:nvPr/>
            </p:nvSpPr>
            <p:spPr>
              <a:xfrm>
                <a:off x="457200" y="2215484"/>
                <a:ext cx="8229600" cy="381000"/>
              </a:xfrm>
              <a:prstGeom prst="rect">
                <a:avLst/>
              </a:prstGeom>
              <a:blipFill>
                <a:blip r:embed="rId5"/>
                <a:stretch>
                  <a:fillRect l="-370" t="-26984" b="-269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81000" y="2529260"/>
                <a:ext cx="8534400" cy="6235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prstClr val="black"/>
                          </a:solidFill>
                          <a:latin typeface="Cambria Math" panose="02040503050406030204" pitchFamily="18" charset="0"/>
                        </a:rPr>
                        <m:t>𝑓</m:t>
                      </m:r>
                      <m:r>
                        <a:rPr lang="en-US" b="0" i="1" baseline="-25000" smtClean="0">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den>
                      </m:f>
                      <m:r>
                        <a:rPr lang="en-US" b="0" i="0"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𝐴𝑅𝑅</m:t>
                          </m:r>
                          <m:r>
                            <a:rPr lang="en-US" b="0" i="1" smtClean="0">
                              <a:solidFill>
                                <a:prstClr val="black"/>
                              </a:solidFill>
                              <a:latin typeface="Cambria Math" panose="02040503050406030204" pitchFamily="18" charset="0"/>
                            </a:rPr>
                            <m:t>+1</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381000" y="2529260"/>
                <a:ext cx="8534400" cy="623504"/>
              </a:xfrm>
              <a:prstGeom prst="rect">
                <a:avLst/>
              </a:prstGeom>
              <a:blipFill>
                <a:blip r:embed="rId6"/>
                <a:stretch>
                  <a:fillRect/>
                </a:stretch>
              </a:blipFill>
            </p:spPr>
            <p:txBody>
              <a:bodyPr/>
              <a:lstStyle/>
              <a:p>
                <a:r>
                  <a:rPr lang="en-US">
                    <a:noFill/>
                  </a:rPr>
                  <a:t> </a:t>
                </a:r>
              </a:p>
            </p:txBody>
          </p:sp>
        </mc:Fallback>
      </mc:AlternateContent>
      <p:sp>
        <p:nvSpPr>
          <p:cNvPr id="16" name="Content Placeholder 3"/>
          <p:cNvSpPr txBox="1">
            <a:spLocks/>
          </p:cNvSpPr>
          <p:nvPr/>
        </p:nvSpPr>
        <p:spPr>
          <a:xfrm>
            <a:off x="469348" y="4037596"/>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1 (Low-True):</a:t>
            </a:r>
            <a:endParaRPr lang="en-US" dirty="0"/>
          </a:p>
        </p:txBody>
      </p:sp>
      <mc:AlternateContent xmlns:mc="http://schemas.openxmlformats.org/markup-compatibility/2006" xmlns:a14="http://schemas.microsoft.com/office/drawing/2010/main">
        <mc:Choice Requires="a14">
          <p:sp>
            <p:nvSpPr>
              <p:cNvPr id="18" name="Content Placeholder 3"/>
              <p:cNvSpPr txBox="1">
                <a:spLocks/>
              </p:cNvSpPr>
              <p:nvPr/>
            </p:nvSpPr>
            <p:spPr>
              <a:xfrm>
                <a:off x="463051" y="3124200"/>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Timer frequency </a:t>
                </a:r>
                <a14:m>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𝑇𝑖𝑚𝑒𝑟</m:t>
                    </m:r>
                  </m:oMath>
                </a14:m>
                <a:r>
                  <a:rPr lang="en-US" altLang="zh-CN" dirty="0"/>
                  <a:t> with </a:t>
                </a:r>
                <a:r>
                  <a:rPr lang="en-US" dirty="0"/>
                  <a:t>center-aligned counting mode:</a:t>
                </a:r>
              </a:p>
            </p:txBody>
          </p:sp>
        </mc:Choice>
        <mc:Fallback xmlns="">
          <p:sp>
            <p:nvSpPr>
              <p:cNvPr id="18" name="Content Placeholder 3"/>
              <p:cNvSpPr txBox="1">
                <a:spLocks noRot="1" noChangeAspect="1" noMove="1" noResize="1" noEditPoints="1" noAdjustHandles="1" noChangeArrowheads="1" noChangeShapeType="1" noTextEdit="1"/>
              </p:cNvSpPr>
              <p:nvPr/>
            </p:nvSpPr>
            <p:spPr>
              <a:xfrm>
                <a:off x="463051" y="3124200"/>
                <a:ext cx="8229600" cy="381000"/>
              </a:xfrm>
              <a:prstGeom prst="rect">
                <a:avLst/>
              </a:prstGeom>
              <a:blipFill>
                <a:blip r:embed="rId7"/>
                <a:stretch>
                  <a:fillRect l="-370" t="-29032" b="-27419"/>
                </a:stretch>
              </a:blipFill>
            </p:spPr>
            <p:txBody>
              <a:bodyPr/>
              <a:lstStyle/>
              <a:p>
                <a:r>
                  <a:rPr lang="en-US">
                    <a:noFill/>
                  </a:rPr>
                  <a:t> </a:t>
                </a:r>
              </a:p>
            </p:txBody>
          </p:sp>
        </mc:Fallback>
      </mc:AlternateContent>
      <p:sp>
        <p:nvSpPr>
          <p:cNvPr id="20" name="Content Placeholder 3"/>
          <p:cNvSpPr txBox="1">
            <a:spLocks/>
          </p:cNvSpPr>
          <p:nvPr/>
        </p:nvSpPr>
        <p:spPr>
          <a:xfrm>
            <a:off x="457200" y="5013207"/>
            <a:ext cx="8229600" cy="381000"/>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altLang="zh-CN" dirty="0"/>
              <a:t>PWM duty cycle for Mode 2 (High-True):</a:t>
            </a:r>
            <a:endParaRPr lang="en-US" dirty="0"/>
          </a:p>
        </p:txBody>
      </p:sp>
      <mc:AlternateContent xmlns:mc="http://schemas.openxmlformats.org/markup-compatibility/2006" xmlns:a14="http://schemas.microsoft.com/office/drawing/2010/main">
        <mc:Choice Requires="a14">
          <p:sp>
            <p:nvSpPr>
              <p:cNvPr id="21" name="Rectangle 20"/>
              <p:cNvSpPr/>
              <p:nvPr/>
            </p:nvSpPr>
            <p:spPr>
              <a:xfrm>
                <a:off x="1326690" y="5341118"/>
                <a:ext cx="286431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𝐷𝑢𝑡𝑦</m:t>
                      </m:r>
                      <m:r>
                        <a:rPr lang="en-US" i="0">
                          <a:latin typeface="Cambria Math" panose="02040503050406030204" pitchFamily="18" charset="0"/>
                        </a:rPr>
                        <m:t> </m:t>
                      </m:r>
                      <m:r>
                        <a:rPr lang="en-US" i="1">
                          <a:latin typeface="Cambria Math" panose="02040503050406030204" pitchFamily="18" charset="0"/>
                        </a:rPr>
                        <m:t>𝐶𝑦𝑐𝑙𝑒</m:t>
                      </m:r>
                      <m:r>
                        <a:rPr lang="en-US" i="0">
                          <a:latin typeface="Cambria Math" panose="02040503050406030204" pitchFamily="18" charset="0"/>
                        </a:rPr>
                        <m:t>=</m:t>
                      </m:r>
                      <m:r>
                        <a:rPr lang="en-US" i="1" smtClean="0">
                          <a:solidFill>
                            <a:prstClr val="black"/>
                          </a:solidFill>
                          <a:latin typeface="Cambria Math" panose="02040503050406030204" pitchFamily="18" charset="0"/>
                        </a:rPr>
                        <m:t>1</m:t>
                      </m:r>
                      <m:r>
                        <a:rPr lang="en-US" b="0" i="1" smtClean="0">
                          <a:solidFill>
                            <a:prstClr val="black"/>
                          </a:solidFill>
                          <a:latin typeface="Cambria Math" panose="02040503050406030204" pitchFamily="18" charset="0"/>
                        </a:rPr>
                        <m:t> </m:t>
                      </m:r>
                      <m:r>
                        <a:rPr lang="en-US" altLang="zh-CN" i="1" smtClean="0">
                          <a:solidFill>
                            <a:prstClr val="black"/>
                          </a:solidFill>
                          <a:latin typeface="Cambria Math" panose="02040503050406030204" pitchFamily="18" charset="0"/>
                        </a:rPr>
                        <m:t>−</m:t>
                      </m:r>
                      <m:r>
                        <a:rPr lang="en-US" altLang="zh-CN" b="0" i="1" smtClean="0">
                          <a:solidFill>
                            <a:prstClr val="black"/>
                          </a:solidFill>
                          <a:latin typeface="Cambria Math" panose="02040503050406030204" pitchFamily="18" charset="0"/>
                        </a:rPr>
                        <m:t> </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CCR</m:t>
                          </m:r>
                        </m:num>
                        <m:den>
                          <m:r>
                            <m:rPr>
                              <m:sty m:val="p"/>
                            </m:rPr>
                            <a:rPr lang="en-US" b="0" i="0" smtClean="0">
                              <a:latin typeface="Cambria Math" panose="02040503050406030204" pitchFamily="18" charset="0"/>
                            </a:rPr>
                            <m:t>ARR</m:t>
                          </m:r>
                          <m:r>
                            <a:rPr lang="en-US" b="0" i="0" smtClean="0">
                              <a:latin typeface="Cambria Math" panose="02040503050406030204" pitchFamily="18" charset="0"/>
                            </a:rPr>
                            <m:t>+1</m:t>
                          </m:r>
                        </m:den>
                      </m:f>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1326690" y="5341118"/>
                <a:ext cx="2864310" cy="61734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304800" y="3405843"/>
                <a:ext cx="8534400" cy="61709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solidFill>
                            <a:prstClr val="black"/>
                          </a:solidFill>
                          <a:latin typeface="Cambria Math" panose="02040503050406030204" pitchFamily="18" charset="0"/>
                        </a:rPr>
                        <m:t>𝑓</m:t>
                      </m:r>
                      <m:r>
                        <a:rPr lang="en-US" i="1" baseline="-25000">
                          <a:solidFill>
                            <a:prstClr val="black"/>
                          </a:solidFill>
                          <a:latin typeface="Cambria Math" panose="02040503050406030204" pitchFamily="18" charset="0"/>
                        </a:rPr>
                        <m:t>𝑇𝑖𝑚𝑒</m:t>
                      </m:r>
                      <m:r>
                        <a:rPr lang="en-US" i="1" baseline="-25000" smtClean="0">
                          <a:solidFill>
                            <a:prstClr val="black"/>
                          </a:solidFill>
                          <a:latin typeface="Cambria Math" panose="02040503050406030204" pitchFamily="18" charset="0"/>
                        </a:rPr>
                        <m:t>𝑟</m:t>
                      </m:r>
                      <m:r>
                        <a:rPr lang="en-US" i="1">
                          <a:solidFill>
                            <a:prstClr val="black"/>
                          </a:solidFill>
                          <a:latin typeface="Cambria Math" panose="02040503050406030204" pitchFamily="18" charset="0"/>
                        </a:rPr>
                        <m:t>=</m:t>
                      </m:r>
                      <m:f>
                        <m:fPr>
                          <m:ctrlPr>
                            <a:rPr lang="en-US" i="1">
                              <a:solidFill>
                                <a:prstClr val="black"/>
                              </a:solidFill>
                              <a:latin typeface="Cambria Math" panose="02040503050406030204" pitchFamily="18" charset="0"/>
                            </a:rPr>
                          </m:ctrlPr>
                        </m:fPr>
                        <m:num>
                          <m:sSub>
                            <m:sSubPr>
                              <m:ctrlPr>
                                <a:rPr lang="en-US" i="1">
                                  <a:solidFill>
                                    <a:prstClr val="black"/>
                                  </a:solidFill>
                                  <a:latin typeface="Cambria Math" panose="02040503050406030204" pitchFamily="18" charset="0"/>
                                </a:rPr>
                              </m:ctrlPr>
                            </m:sSubPr>
                            <m:e>
                              <m:r>
                                <a:rPr lang="en-US" i="1">
                                  <a:solidFill>
                                    <a:prstClr val="black"/>
                                  </a:solidFill>
                                  <a:latin typeface="Cambria Math"/>
                                </a:rPr>
                                <m:t>𝑓</m:t>
                              </m:r>
                            </m:e>
                            <m:sub>
                              <m:r>
                                <a:rPr lang="en-US" i="1">
                                  <a:solidFill>
                                    <a:prstClr val="black"/>
                                  </a:solidFill>
                                  <a:latin typeface="Cambria Math"/>
                                </a:rPr>
                                <m:t>𝐶𝐾</m:t>
                              </m:r>
                              <m:r>
                                <a:rPr lang="en-US" i="1">
                                  <a:solidFill>
                                    <a:prstClr val="black"/>
                                  </a:solidFill>
                                  <a:latin typeface="Cambria Math"/>
                                </a:rPr>
                                <m:t>_</m:t>
                              </m:r>
                              <m:r>
                                <a:rPr lang="en-US" i="1">
                                  <a:solidFill>
                                    <a:prstClr val="black"/>
                                  </a:solidFill>
                                  <a:latin typeface="Cambria Math"/>
                                </a:rPr>
                                <m:t>𝐶𝑁𝑇</m:t>
                              </m:r>
                            </m:sub>
                          </m:sSub>
                        </m:num>
                        <m:den>
                          <m:r>
                            <a:rPr lang="en-US" b="0" i="1" smtClean="0">
                              <a:solidFill>
                                <a:prstClr val="black"/>
                              </a:solidFill>
                              <a:latin typeface="Cambria Math" panose="02040503050406030204" pitchFamily="18" charset="0"/>
                            </a:rPr>
                            <m:t>2∗</m:t>
                          </m:r>
                          <m:r>
                            <a:rPr lang="en-US" b="0" i="1" smtClean="0">
                              <a:solidFill>
                                <a:prstClr val="black"/>
                              </a:solidFill>
                              <a:latin typeface="Cambria Math" panose="02040503050406030204" pitchFamily="18" charset="0"/>
                            </a:rPr>
                            <m:t>𝐴𝑅𝑅</m:t>
                          </m:r>
                        </m:den>
                      </m:f>
                      <m:r>
                        <a:rPr lang="en-US" b="0" i="0" smtClean="0">
                          <a:solidFill>
                            <a:prstClr val="black"/>
                          </a:solidFill>
                          <a:latin typeface="Cambria Math" panose="02040503050406030204" pitchFamily="18" charset="0"/>
                        </a:rPr>
                        <m:t>;</m:t>
                      </m:r>
                      <m:r>
                        <a:rPr lang="en-US" b="0" i="1" smtClean="0">
                          <a:solidFill>
                            <a:prstClr val="black"/>
                          </a:solidFill>
                          <a:latin typeface="Cambria Math" panose="02040503050406030204" pitchFamily="18" charset="0"/>
                        </a:rPr>
                        <m:t>(</m:t>
                      </m:r>
                      <m:r>
                        <a:rPr lang="en-US" i="1">
                          <a:solidFill>
                            <a:prstClr val="black"/>
                          </a:solidFill>
                          <a:latin typeface="Cambria Math" panose="02040503050406030204" pitchFamily="18" charset="0"/>
                        </a:rPr>
                        <m:t>𝑇𝑖𝑚𝑒𝑟</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i="1">
                          <a:solidFill>
                            <a:prstClr val="black"/>
                          </a:solidFill>
                          <a:latin typeface="Cambria Math" panose="02040503050406030204" pitchFamily="18" charset="0"/>
                        </a:rPr>
                        <m:t>=</m:t>
                      </m:r>
                      <m:d>
                        <m:dPr>
                          <m:ctrlPr>
                            <a:rPr lang="en-US" i="1">
                              <a:solidFill>
                                <a:prstClr val="black"/>
                              </a:solidFill>
                              <a:latin typeface="Cambria Math" panose="02040503050406030204" pitchFamily="18" charset="0"/>
                            </a:rPr>
                          </m:ctrlPr>
                        </m:dPr>
                        <m:e>
                          <m:r>
                            <a:rPr lang="en-US" b="0" i="1" smtClean="0">
                              <a:solidFill>
                                <a:prstClr val="black"/>
                              </a:solidFill>
                              <a:latin typeface="Cambria Math" panose="02040503050406030204" pitchFamily="18" charset="0"/>
                            </a:rPr>
                            <m:t>2∗</m:t>
                          </m:r>
                          <m:r>
                            <a:rPr lang="en-US" i="1">
                              <a:solidFill>
                                <a:prstClr val="black"/>
                              </a:solidFill>
                              <a:latin typeface="Cambria Math" panose="02040503050406030204" pitchFamily="18" charset="0"/>
                            </a:rPr>
                            <m:t>𝐴𝑅𝑅</m:t>
                          </m:r>
                        </m:e>
                      </m:d>
                      <m:r>
                        <a:rPr lang="en-US" i="1">
                          <a:solidFill>
                            <a:prstClr val="black"/>
                          </a:solidFill>
                          <a:latin typeface="Cambria Math" panose="02040503050406030204" pitchFamily="18" charset="0"/>
                        </a:rPr>
                        <m:t>∗</m:t>
                      </m:r>
                      <m:r>
                        <a:rPr lang="en-US" i="1">
                          <a:solidFill>
                            <a:prstClr val="black"/>
                          </a:solidFill>
                          <a:latin typeface="Cambria Math" panose="02040503050406030204" pitchFamily="18" charset="0"/>
                        </a:rPr>
                        <m:t>𝐶𝑙𝑜𝑐𝑘</m:t>
                      </m:r>
                      <m:r>
                        <a:rPr lang="en-US" i="1">
                          <a:solidFill>
                            <a:prstClr val="black"/>
                          </a:solidFill>
                          <a:latin typeface="Cambria Math" panose="02040503050406030204" pitchFamily="18" charset="0"/>
                        </a:rPr>
                        <m:t> </m:t>
                      </m:r>
                      <m:r>
                        <a:rPr lang="en-US" i="1">
                          <a:solidFill>
                            <a:prstClr val="black"/>
                          </a:solidFill>
                          <a:latin typeface="Cambria Math" panose="02040503050406030204" pitchFamily="18" charset="0"/>
                        </a:rPr>
                        <m:t>𝑃𝑒𝑟𝑖𝑜𝑑</m:t>
                      </m:r>
                      <m:r>
                        <a:rPr lang="en-US" b="0" i="1" smtClean="0">
                          <a:solidFill>
                            <a:prstClr val="black"/>
                          </a:solidFill>
                          <a:latin typeface="Cambria Math" panose="02040503050406030204" pitchFamily="18" charset="0"/>
                        </a:rPr>
                        <m:t>)</m:t>
                      </m:r>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304800" y="3405843"/>
                <a:ext cx="8534400" cy="61709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07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ARR</a:t>
            </a:r>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0"/>
            <a:ext cx="7747672" cy="2286000"/>
          </a:xfrm>
        </p:spPr>
        <p:txBody>
          <a:bodyPr>
            <a:normAutofit/>
          </a:bodyPr>
          <a:lstStyle/>
          <a:p>
            <a:pPr lvl="0">
              <a:buClr>
                <a:srgbClr val="4F81BD"/>
              </a:buClr>
            </a:pPr>
            <a:r>
              <a:rPr lang="en-US" sz="2000" dirty="0">
                <a:solidFill>
                  <a:prstClr val="black"/>
                </a:solidFill>
              </a:rPr>
              <a:t>Suppose Timer Clock </a:t>
            </a:r>
            <a:r>
              <a:rPr lang="en-US" altLang="zh-CN" sz="2000" dirty="0">
                <a:solidFill>
                  <a:prstClr val="black"/>
                </a:solidFill>
              </a:rPr>
              <a:t>Frequency</a:t>
            </a:r>
            <a:r>
              <a:rPr lang="en-US" sz="2000" dirty="0">
                <a:solidFill>
                  <a:prstClr val="black"/>
                </a:solidFill>
              </a:rPr>
              <a:t> = </a:t>
            </a:r>
            <a:r>
              <a:rPr lang="en-US" sz="2000" dirty="0">
                <a:solidFill>
                  <a:prstClr val="black"/>
                </a:solidFill>
                <a:latin typeface="Consolas" panose="020B0609020204030204" pitchFamily="49" charset="0"/>
              </a:rPr>
              <a:t>80MHz</a:t>
            </a:r>
          </a:p>
          <a:p>
            <a:r>
              <a:rPr lang="en-US" sz="2000" dirty="0"/>
              <a:t>Goal: Timer Frequency = 100Hz</a:t>
            </a:r>
          </a:p>
          <a:p>
            <a:pPr lvl="0">
              <a:buClr>
                <a:srgbClr val="4F81BD"/>
              </a:buClr>
            </a:pPr>
            <a:r>
              <a:rPr lang="en-US" sz="2000" dirty="0">
                <a:solidFill>
                  <a:prstClr val="black"/>
                </a:solidFill>
              </a:rPr>
              <a:t>What should the ARR value be for 1. up-counting </a:t>
            </a:r>
            <a:r>
              <a:rPr lang="en-US" altLang="zh-CN" sz="2000" dirty="0">
                <a:solidFill>
                  <a:prstClr val="black"/>
                </a:solidFill>
              </a:rPr>
              <a:t>mode</a:t>
            </a:r>
            <a:r>
              <a:rPr lang="en-US" sz="2000" dirty="0">
                <a:solidFill>
                  <a:prstClr val="black"/>
                </a:solidFill>
              </a:rPr>
              <a:t>; 2. down-counting mode; 3. center-aligned counting mode?</a:t>
            </a:r>
          </a:p>
        </p:txBody>
      </p:sp>
    </p:spTree>
    <p:custDataLst>
      <p:tags r:id="rId1"/>
    </p:custDataLst>
    <p:extLst>
      <p:ext uri="{BB962C8B-B14F-4D97-AF65-F5344CB8AC3E}">
        <p14:creationId xmlns:p14="http://schemas.microsoft.com/office/powerpoint/2010/main" val="2719984395"/>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52400"/>
            <a:ext cx="8434161" cy="990600"/>
          </a:xfrm>
        </p:spPr>
        <p:txBody>
          <a:bodyPr>
            <a:normAutofit/>
          </a:bodyPr>
          <a:lstStyle/>
          <a:p>
            <a:r>
              <a:rPr lang="en-US" dirty="0"/>
              <a:t>Calculating ARR </a:t>
            </a:r>
            <a:r>
              <a:rPr lang="en-US" altLang="zh-CN" dirty="0"/>
              <a:t>with </a:t>
            </a:r>
            <a:r>
              <a:rPr lang="en-US" altLang="zh-CN" dirty="0" err="1"/>
              <a:t>prescaler</a:t>
            </a:r>
            <a:endParaRPr lang="en-US" dirty="0"/>
          </a:p>
        </p:txBody>
      </p:sp>
      <p:sp>
        <p:nvSpPr>
          <p:cNvPr id="3" name="Slide Number Placehold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7C8D44-3667-46F6-9772-CC52308E2A7F}" type="slidenum">
              <a:rPr kumimoji="0" lang="en-US" sz="1400" b="0" i="0" u="none" strike="noStrike" kern="1200" cap="none" spc="0" normalizeH="0" baseline="0" noProof="0" smtClean="0">
                <a:ln>
                  <a:noFill/>
                </a:ln>
                <a:solidFill>
                  <a:srgbClr val="1F497D"/>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1F497D"/>
              </a:solidFill>
              <a:effectLst/>
              <a:uLnTx/>
              <a:uFillTx/>
              <a:latin typeface="Gill Sans MT"/>
              <a:ea typeface="+mn-ea"/>
              <a:cs typeface="+mn-cs"/>
            </a:endParaRPr>
          </a:p>
        </p:txBody>
      </p:sp>
      <p:sp>
        <p:nvSpPr>
          <p:cNvPr id="4" name="Content Placeholder 3"/>
          <p:cNvSpPr>
            <a:spLocks noGrp="1"/>
          </p:cNvSpPr>
          <p:nvPr>
            <p:ph sz="quarter" idx="1"/>
          </p:nvPr>
        </p:nvSpPr>
        <p:spPr>
          <a:xfrm>
            <a:off x="304800" y="1143001"/>
            <a:ext cx="7747672" cy="1335540"/>
          </a:xfrm>
        </p:spPr>
        <p:txBody>
          <a:bodyPr>
            <a:noAutofit/>
          </a:bodyPr>
          <a:lstStyle/>
          <a:p>
            <a:r>
              <a:rPr lang="en-US" sz="2000" dirty="0"/>
              <a:t>Suppose CPU Clock </a:t>
            </a:r>
            <a:r>
              <a:rPr lang="en-US" altLang="zh-CN" sz="2000" dirty="0"/>
              <a:t>Frequency</a:t>
            </a:r>
            <a:r>
              <a:rPr lang="en-US" sz="2000" dirty="0"/>
              <a:t> = </a:t>
            </a:r>
            <a:r>
              <a:rPr lang="en-US" sz="2000" dirty="0">
                <a:latin typeface="Consolas" panose="020B0609020204030204" pitchFamily="49" charset="0"/>
              </a:rPr>
              <a:t>80MHz, PSC=79</a:t>
            </a:r>
          </a:p>
          <a:p>
            <a:r>
              <a:rPr lang="en-US" sz="2000" dirty="0"/>
              <a:t>Goal: Timer Frequency = 100Hz</a:t>
            </a:r>
          </a:p>
          <a:p>
            <a:r>
              <a:rPr lang="en-US" sz="2000" dirty="0"/>
              <a:t>What should the ARR value be for 1. up-counting </a:t>
            </a:r>
            <a:r>
              <a:rPr lang="en-US" altLang="zh-CN" sz="2000" dirty="0"/>
              <a:t>mode</a:t>
            </a:r>
            <a:r>
              <a:rPr lang="en-US" sz="2000" dirty="0"/>
              <a:t>; 2. down-counting mode; 3. center-aligned counting mode?</a:t>
            </a:r>
          </a:p>
        </p:txBody>
      </p:sp>
    </p:spTree>
    <p:custDataLst>
      <p:tags r:id="rId1"/>
    </p:custDataLst>
    <p:extLst>
      <p:ext uri="{BB962C8B-B14F-4D97-AF65-F5344CB8AC3E}">
        <p14:creationId xmlns:p14="http://schemas.microsoft.com/office/powerpoint/2010/main" val="134236884"/>
      </p:ext>
    </p:extLst>
  </p:cSld>
  <p:clrMapOvr>
    <a:masterClrMapping/>
  </p:clrMapOvr>
  <mc:AlternateContent xmlns:mc="http://schemas.openxmlformats.org/markup-compatibility/2006" xmlns:p14="http://schemas.microsoft.com/office/powerpoint/2010/main">
    <mc:Choice Requires="p14">
      <p:transition spd="slow" p14:dur="2000" advTm="57021"/>
    </mc:Choice>
    <mc:Fallback xmlns="">
      <p:transition spd="slow" advTm="57021"/>
    </mc:Fallback>
  </mc:AlternateContent>
  <p:extLst>
    <p:ext uri="{3A86A75C-4F4B-4683-9AE1-C65F6400EC91}">
      <p14:laserTraceLst xmlns:p14="http://schemas.microsoft.com/office/powerpoint/2010/main">
        <p14:tracePtLst>
          <p14:tracePt t="5374" x="3949700" y="1709738"/>
          <p14:tracePt t="6110" x="4010025" y="1709738"/>
          <p14:tracePt t="6133" x="4060825" y="1709738"/>
          <p14:tracePt t="6134" x="4070350" y="1709738"/>
          <p14:tracePt t="6154" x="4130675" y="1709738"/>
          <p14:tracePt t="6178" x="4211638" y="1719263"/>
          <p14:tracePt t="6199" x="4262438" y="1730375"/>
          <p14:tracePt t="6223" x="4302125" y="1730375"/>
          <p14:tracePt t="6247" x="4332288" y="1730375"/>
          <p14:tracePt t="6269" x="4341813" y="1730375"/>
          <p14:tracePt t="6291" x="4381500" y="1730375"/>
          <p14:tracePt t="6312" x="4411663" y="1730375"/>
          <p14:tracePt t="6336" x="4441825" y="1730375"/>
          <p14:tracePt t="6361" x="4452938" y="1730375"/>
          <p14:tracePt t="6385" x="4492625" y="1730375"/>
          <p14:tracePt t="6407" x="4543425" y="1730375"/>
          <p14:tracePt t="6434" x="4573588" y="1730375"/>
          <p14:tracePt t="6457" x="4583113" y="1730375"/>
          <p14:tracePt t="6500" x="4603750" y="1730375"/>
          <p14:tracePt t="7461" x="4613275" y="1730375"/>
          <p14:tracePt t="7462" x="0" y="0"/>
        </p14:tracePtLst>
        <p14:tracePtLst>
          <p14:tracePt t="10251" x="3870325" y="2201863"/>
          <p14:tracePt t="10351" x="3910013" y="2201863"/>
          <p14:tracePt t="10379" x="3979863" y="2201863"/>
          <p14:tracePt t="10404" x="4060825" y="2232025"/>
          <p14:tracePt t="10430" x="4111625" y="2243138"/>
          <p14:tracePt t="10454" x="4160838" y="2252663"/>
          <p14:tracePt t="10477" x="4211638" y="2252663"/>
          <p14:tracePt t="10501" x="4232275" y="2262188"/>
          <p14:tracePt t="10523" x="4251325" y="2273300"/>
          <p14:tracePt t="10546" x="4281488" y="2273300"/>
          <p14:tracePt t="10569" x="4311650" y="2273300"/>
          <p14:tracePt t="10592" x="4341813" y="2273300"/>
          <p14:tracePt t="10617" x="4362450" y="2273300"/>
          <p14:tracePt t="10645" x="4392613" y="2273300"/>
          <p14:tracePt t="10669" x="4432300" y="2273300"/>
          <p14:tracePt t="10693" x="4471988" y="2273300"/>
          <p14:tracePt t="10717" x="4492625" y="2273300"/>
          <p14:tracePt t="10743" x="4522788" y="2273300"/>
          <p14:tracePt t="10768" x="4562475" y="2273300"/>
          <p14:tracePt t="10792" x="4573588" y="2262188"/>
          <p14:tracePt t="11342" x="4583113" y="2262188"/>
          <p14:tracePt t="11343" x="0" y="0"/>
        </p14:tracePtLst>
        <p14:tracePtLst>
          <p14:tracePt t="11954" x="2201863" y="2635250"/>
          <p14:tracePt t="12023" x="2211388" y="2635250"/>
          <p14:tracePt t="12046" x="2251075" y="2635250"/>
          <p14:tracePt t="12068" x="2341563" y="2635250"/>
          <p14:tracePt t="12090" x="2401888" y="2635250"/>
          <p14:tracePt t="12114" x="2473325" y="2635250"/>
          <p14:tracePt t="12114" x="2482850" y="2635250"/>
          <p14:tracePt t="12138" x="2573338" y="2635250"/>
          <p14:tracePt t="12160" x="2613025" y="2635250"/>
          <p14:tracePt t="12181" x="2652713" y="2635250"/>
          <p14:tracePt t="12204" x="2703513" y="2635250"/>
          <p14:tracePt t="12204" x="2733675" y="2635250"/>
          <p14:tracePt t="12226" x="2794000" y="2635250"/>
          <p14:tracePt t="12249" x="2844800" y="2635250"/>
          <p14:tracePt t="12272" x="2924175" y="2635250"/>
          <p14:tracePt t="12272" x="2944813" y="2635250"/>
          <p14:tracePt t="12295" x="3014663" y="2635250"/>
          <p14:tracePt t="12317" x="3105150" y="2635250"/>
          <p14:tracePt t="12340" x="3165475" y="2635250"/>
          <p14:tracePt t="12340" x="3186113" y="2635250"/>
          <p14:tracePt t="12365" x="3267075" y="2635250"/>
          <p14:tracePt t="12387" x="3336925" y="2635250"/>
          <p14:tracePt t="12410" x="3448050" y="2635250"/>
          <p14:tracePt t="12433" x="3568700" y="2635250"/>
          <p14:tracePt t="12458" x="3617913" y="2635250"/>
          <p14:tracePt t="12613" x="3638550" y="2635250"/>
          <p14:tracePt t="12973" x="0" y="0"/>
        </p14:tracePtLst>
        <p14:tracePtLst>
          <p14:tracePt t="19905" x="7558088" y="2343150"/>
          <p14:tracePt t="19929" x="7569200" y="2343150"/>
          <p14:tracePt t="19951" x="7599363" y="2343150"/>
          <p14:tracePt t="19979" x="7780338" y="2322513"/>
          <p14:tracePt t="19979" x="7820025" y="2322513"/>
          <p14:tracePt t="20003" x="8140700" y="2282825"/>
          <p14:tracePt t="20004" x="8170863" y="2282825"/>
          <p14:tracePt t="20026" x="8583613" y="2262188"/>
          <p14:tracePt t="20047" x="8985250" y="2262188"/>
          <p14:tracePt t="20070" x="9267825" y="2262188"/>
          <p14:tracePt t="20094" x="9437688" y="2262188"/>
          <p14:tracePt t="20119" x="9548813" y="2262188"/>
          <p14:tracePt t="20145" x="9678988" y="2243138"/>
          <p14:tracePt t="20171" x="9729788" y="2232025"/>
          <p14:tracePt t="20196" x="9779000" y="2232025"/>
          <p14:tracePt t="20222" x="9880600" y="2212975"/>
          <p14:tracePt t="20244" x="9959975" y="2182813"/>
          <p14:tracePt t="20267" x="10031413" y="2182813"/>
          <p14:tracePt t="20267" x="10040938" y="2182813"/>
          <p14:tracePt t="20289" x="10091738" y="2182813"/>
          <p14:tracePt t="20315" x="10140950" y="2182813"/>
          <p14:tracePt t="20339" x="10161588" y="2182813"/>
          <p14:tracePt t="20392" x="10171113" y="2182813"/>
          <p14:tracePt t="20423" x="10191750" y="2182813"/>
          <p14:tracePt t="20608" x="10161588" y="2182813"/>
          <p14:tracePt t="20633" x="9959975" y="2182813"/>
          <p14:tracePt t="20657" x="9729788" y="2182813"/>
          <p14:tracePt t="20657" x="9709150" y="2182813"/>
          <p14:tracePt t="20681" x="9337675" y="2182813"/>
          <p14:tracePt t="20705" x="8845550" y="2162175"/>
          <p14:tracePt t="20731" x="8382000" y="2162175"/>
          <p14:tracePt t="20757" x="8091488" y="2152650"/>
          <p14:tracePt t="20781" x="7910513" y="2152650"/>
          <p14:tracePt t="20781" x="7889875" y="2152650"/>
          <p14:tracePt t="20805" x="7739063" y="2152650"/>
          <p14:tracePt t="20805" x="7708900" y="2152650"/>
          <p14:tracePt t="20828" x="7569200" y="2132013"/>
          <p14:tracePt t="20852" x="7478713" y="2132013"/>
          <p14:tracePt t="20876" x="7407275" y="2132013"/>
          <p14:tracePt t="20992" x="7437438" y="2111375"/>
          <p14:tracePt t="21017" x="7569200" y="2111375"/>
          <p14:tracePt t="21042" x="7850188" y="2111375"/>
          <p14:tracePt t="21067" x="8261350" y="2111375"/>
          <p14:tracePt t="21091" x="8743950" y="2092325"/>
          <p14:tracePt t="21118" x="9186863" y="2092325"/>
          <p14:tracePt t="21146" x="9598025" y="2092325"/>
          <p14:tracePt t="21174" x="10001250" y="2092325"/>
          <p14:tracePt t="21197" x="10231438" y="2092325"/>
          <p14:tracePt t="21197" x="10252075" y="2092325"/>
          <p14:tracePt t="21221" x="10363200" y="2092325"/>
          <p14:tracePt t="21245" x="10463213" y="2092325"/>
          <p14:tracePt t="21271" x="10583863" y="2092325"/>
          <p14:tracePt t="21318" x="10604500" y="2092325"/>
          <p14:tracePt t="21575" x="0" y="0"/>
        </p14:tracePtLst>
        <p14:tracePtLst>
          <p14:tracePt t="24608" x="8170863" y="5691188"/>
          <p14:tracePt t="24718" x="8170863" y="5702300"/>
          <p14:tracePt t="24742" x="8170863" y="5711825"/>
          <p14:tracePt t="24766" x="8191500" y="5721350"/>
          <p14:tracePt t="24791" x="8231188" y="5732463"/>
          <p14:tracePt t="24813" x="8302625" y="5772150"/>
          <p14:tracePt t="24836" x="8402638" y="5792788"/>
          <p14:tracePt t="24863" x="8472488" y="5792788"/>
          <p14:tracePt t="24863" x="8483600" y="5802313"/>
          <p14:tracePt t="24892" x="8553450" y="5811838"/>
          <p14:tracePt t="24915" x="8613775" y="5811838"/>
          <p14:tracePt t="24941" x="8694738" y="5811838"/>
          <p14:tracePt t="24967" x="8743950" y="5811838"/>
          <p14:tracePt t="24991" x="8774113" y="5811838"/>
          <p14:tracePt t="25015" x="8855075" y="5811838"/>
          <p14:tracePt t="25040" x="8936038" y="5811838"/>
          <p14:tracePt t="25064" x="9045575" y="5811838"/>
          <p14:tracePt t="25094" x="9126538" y="5811838"/>
          <p14:tracePt t="25117" x="9156700" y="5811838"/>
          <p14:tracePt t="25141" x="9207500" y="5811838"/>
          <p14:tracePt t="25162" x="9237663" y="5811838"/>
          <p14:tracePt t="25186" x="9286875" y="5811838"/>
          <p14:tracePt t="25209" x="9358313" y="5811838"/>
          <p14:tracePt t="25209" x="9367838" y="5811838"/>
          <p14:tracePt t="25234" x="9437688" y="5811838"/>
          <p14:tracePt t="25257" x="9458325" y="5811838"/>
          <p14:tracePt t="25305" x="9478963" y="5811838"/>
          <p14:tracePt t="25379" x="9488488" y="5811838"/>
          <p14:tracePt t="25953" x="9478963" y="5811838"/>
          <p14:tracePt t="25979" x="9367838" y="5811838"/>
          <p14:tracePt t="26003" x="9237663" y="5811838"/>
          <p14:tracePt t="26028" x="9156700" y="5811838"/>
          <p14:tracePt t="26052" x="9075738" y="5811838"/>
          <p14:tracePt t="26077" x="8924925" y="5811838"/>
          <p14:tracePt t="26101" x="8764588" y="5832475"/>
          <p14:tracePt t="26101" x="8734425" y="5832475"/>
          <p14:tracePt t="26124" x="8562975" y="5832475"/>
          <p14:tracePt t="26148" x="8423275" y="5832475"/>
          <p14:tracePt t="26172" x="8261350" y="5832475"/>
          <p14:tracePt t="26196" x="8201025" y="5832475"/>
          <p14:tracePt t="26250" x="8181975" y="5832475"/>
          <p14:tracePt t="26276" x="8151813" y="5832475"/>
          <p14:tracePt t="26300" x="8080375" y="5832475"/>
          <p14:tracePt t="26324" x="8070850" y="5832475"/>
          <p14:tracePt t="26348" x="8050213" y="5832475"/>
          <p14:tracePt t="26554" x="0" y="0"/>
        </p14:tracePtLst>
        <p14:tracePtLst>
          <p14:tracePt t="28806" x="8031163" y="4143375"/>
          <p14:tracePt t="30619" x="8031163" y="4162425"/>
          <p14:tracePt t="30642" x="8031163" y="4173538"/>
          <p14:tracePt t="30665" x="8031163" y="4192588"/>
          <p14:tracePt t="30690" x="8031163" y="4213225"/>
          <p14:tracePt t="30740" x="8031163" y="4222750"/>
          <p14:tracePt t="30787" x="8031163" y="4252913"/>
          <p14:tracePt t="30928" x="8031163" y="4273550"/>
          <p14:tracePt t="30953" x="8050213" y="4283075"/>
          <p14:tracePt t="31299" x="8050213" y="4303713"/>
          <p14:tracePt t="31322" x="8050213" y="4364038"/>
          <p14:tracePt t="31349" x="8050213" y="4394200"/>
          <p14:tracePt t="31844" x="8050213" y="4403725"/>
          <p14:tracePt t="31871" x="0" y="0"/>
        </p14:tracePtLst>
      </p14:laserTraceLst>
    </p:ext>
    <p:ext uri="{E180D4A7-C9FB-4DFB-919C-405C955672EB}">
      <p14:showEvtLst xmlns:p14="http://schemas.microsoft.com/office/powerpoint/2010/main">
        <p14:playEvt time="35" objId="7"/>
        <p14:stopEvt time="51385" objId="7"/>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Calculating the ARR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4 </a:t>
            </a:r>
            <a:r>
              <a:rPr lang="en-US" sz="2100" dirty="0" err="1"/>
              <a:t>MHz.</a:t>
            </a:r>
            <a:r>
              <a:rPr lang="en-US" sz="2100" dirty="0"/>
              <a:t> </a:t>
            </a:r>
          </a:p>
          <a:p>
            <a:pPr lvl="2"/>
            <a:r>
              <a:rPr lang="en-US" sz="2100" dirty="0" err="1"/>
              <a:t>Prescaler</a:t>
            </a:r>
            <a:r>
              <a:rPr lang="en-US" sz="2100" dirty="0"/>
              <a:t> PSC = 39</a:t>
            </a:r>
          </a:p>
          <a:p>
            <a:pPr lvl="2"/>
            <a:r>
              <a:rPr lang="en-US" sz="2100" dirty="0"/>
              <a:t>Counting direction: center-aligned counting</a:t>
            </a:r>
          </a:p>
          <a:p>
            <a:pPr lvl="2"/>
            <a:r>
              <a:rPr lang="en-US" sz="2100" dirty="0"/>
              <a:t>Desired timer frequency = 100 Hz</a:t>
            </a:r>
          </a:p>
          <a:p>
            <a:r>
              <a:rPr lang="en-US" sz="2800" dirty="0"/>
              <a:t>Calculate the ARR.</a:t>
            </a:r>
            <a:endParaRPr lang="en-US" dirty="0"/>
          </a:p>
          <a:p>
            <a:pPr marL="0" indent="0">
              <a:buNone/>
            </a:pPr>
            <a:endParaRPr lang="en-US" dirty="0"/>
          </a:p>
        </p:txBody>
      </p:sp>
    </p:spTree>
    <p:extLst>
      <p:ext uri="{BB962C8B-B14F-4D97-AF65-F5344CB8AC3E}">
        <p14:creationId xmlns:p14="http://schemas.microsoft.com/office/powerpoint/2010/main" val="118291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Frequency and Timer Frequency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p:txBody>
          <a:bodyPr/>
          <a:lstStyle/>
          <a:p>
            <a:pPr lvl="0"/>
            <a:r>
              <a:rPr lang="en-US" sz="2800" dirty="0"/>
              <a:t>Suppose all registers are 16 bits. CPU clock frequency is 400 </a:t>
            </a:r>
            <a:r>
              <a:rPr lang="en-US" sz="2800" dirty="0" err="1"/>
              <a:t>MHz.</a:t>
            </a:r>
            <a:endParaRPr lang="en-US" sz="2800" dirty="0"/>
          </a:p>
          <a:p>
            <a:r>
              <a:rPr lang="en-US" sz="2800" dirty="0"/>
              <a:t>What is the maximum and minimum Clock Frequency, and Timer Frequency, assuming up-counting mode?</a:t>
            </a:r>
            <a:endParaRPr lang="en-US" dirty="0"/>
          </a:p>
        </p:txBody>
      </p:sp>
    </p:spTree>
    <p:extLst>
      <p:ext uri="{BB962C8B-B14F-4D97-AF65-F5344CB8AC3E}">
        <p14:creationId xmlns:p14="http://schemas.microsoft.com/office/powerpoint/2010/main" val="127195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PWM duty cycle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4" name="Content Placeholder 3"/>
          <p:cNvSpPr>
            <a:spLocks noGrp="1"/>
          </p:cNvSpPr>
          <p:nvPr>
            <p:ph sz="quarter" idx="1"/>
          </p:nvPr>
        </p:nvSpPr>
        <p:spPr/>
        <p:txBody>
          <a:bodyPr/>
          <a:lstStyle/>
          <a:p>
            <a:pPr lvl="0"/>
            <a:r>
              <a:rPr lang="en-US" sz="2800" dirty="0"/>
              <a:t>Suppose a 16-bit timer has the following setting</a:t>
            </a:r>
            <a:r>
              <a:rPr lang="en-US" altLang="zh-CN" sz="2800" dirty="0"/>
              <a:t>s</a:t>
            </a:r>
            <a:r>
              <a:rPr lang="en-US" sz="2800" dirty="0"/>
              <a:t> </a:t>
            </a:r>
          </a:p>
          <a:p>
            <a:pPr lvl="2"/>
            <a:r>
              <a:rPr lang="en-US" sz="2100" dirty="0"/>
              <a:t>CPU Clock frequency is 16 </a:t>
            </a:r>
            <a:r>
              <a:rPr lang="en-US" sz="2100" dirty="0" err="1"/>
              <a:t>MHz.</a:t>
            </a:r>
            <a:r>
              <a:rPr lang="en-US" sz="2100" dirty="0"/>
              <a:t> </a:t>
            </a:r>
          </a:p>
          <a:p>
            <a:pPr lvl="2"/>
            <a:r>
              <a:rPr lang="en-US" sz="2100" dirty="0" err="1"/>
              <a:t>Prescaler</a:t>
            </a:r>
            <a:r>
              <a:rPr lang="en-US" sz="2100" dirty="0"/>
              <a:t> PSC = 159</a:t>
            </a:r>
          </a:p>
          <a:p>
            <a:pPr lvl="2"/>
            <a:r>
              <a:rPr lang="en-US" sz="2100" dirty="0"/>
              <a:t>ARR = 1999</a:t>
            </a:r>
          </a:p>
          <a:p>
            <a:pPr lvl="2"/>
            <a:r>
              <a:rPr lang="en-US" sz="2100" dirty="0"/>
              <a:t>CCR = 499</a:t>
            </a:r>
          </a:p>
          <a:p>
            <a:pPr lvl="2"/>
            <a:r>
              <a:rPr lang="en-US" sz="2100" dirty="0"/>
              <a:t>Counting direction: up-counting</a:t>
            </a:r>
          </a:p>
          <a:p>
            <a:pPr lvl="2"/>
            <a:r>
              <a:rPr lang="en-US" sz="2100" dirty="0"/>
              <a:t>Output is set as PWM Mode 2 (High True).</a:t>
            </a:r>
          </a:p>
          <a:p>
            <a:r>
              <a:rPr lang="en-US" sz="2800" b="1" dirty="0"/>
              <a:t> </a:t>
            </a:r>
            <a:r>
              <a:rPr lang="en-US" sz="2800" dirty="0"/>
              <a:t>Calculate the timer frequency and PWM duty cycle.</a:t>
            </a:r>
            <a:endParaRPr lang="en-US" dirty="0"/>
          </a:p>
        </p:txBody>
      </p:sp>
    </p:spTree>
    <p:extLst>
      <p:ext uri="{BB962C8B-B14F-4D97-AF65-F5344CB8AC3E}">
        <p14:creationId xmlns:p14="http://schemas.microsoft.com/office/powerpoint/2010/main" val="2573725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8.9|6.9|6.4"/>
</p:tagLst>
</file>

<file path=ppt/tags/tag2.xml><?xml version="1.0" encoding="utf-8"?>
<p:tagLst xmlns:a="http://schemas.openxmlformats.org/drawingml/2006/main" xmlns:r="http://schemas.openxmlformats.org/officeDocument/2006/relationships" xmlns:p="http://schemas.openxmlformats.org/presentationml/2006/main">
  <p:tag name="TIMING" val="|15|18.9|6.9|6.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3263</TotalTime>
  <Words>718</Words>
  <Application>Microsoft Office PowerPoint</Application>
  <PresentationFormat>On-screen Show (4:3)</PresentationFormat>
  <Paragraphs>57</Paragraphs>
  <Slides>7</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vt:i4>
      </vt:variant>
    </vt:vector>
  </HeadingPairs>
  <TitlesOfParts>
    <vt:vector size="19" baseType="lpstr">
      <vt:lpstr>Bookman Old Style (Headings)</vt:lpstr>
      <vt:lpstr>Gill Sans Light</vt:lpstr>
      <vt:lpstr>Arial</vt:lpstr>
      <vt:lpstr>Bookman Old Style</vt:lpstr>
      <vt:lpstr>Calibri</vt:lpstr>
      <vt:lpstr>Cambria Math</vt:lpstr>
      <vt:lpstr>Consolas</vt:lpstr>
      <vt:lpstr>Gill Sans MT</vt:lpstr>
      <vt:lpstr>Wingdings</vt:lpstr>
      <vt:lpstr>Wingdings 3</vt:lpstr>
      <vt:lpstr>Origin</vt:lpstr>
      <vt:lpstr>2_Origin</vt:lpstr>
      <vt:lpstr>PowerPoint Presentation</vt:lpstr>
      <vt:lpstr>Summary of Equations</vt:lpstr>
      <vt:lpstr>Calculating ARR</vt:lpstr>
      <vt:lpstr>Calculating ARR with prescaler</vt:lpstr>
      <vt:lpstr>Calculating the ARR</vt:lpstr>
      <vt:lpstr>Clock Frequency and Timer Frequency</vt:lpstr>
      <vt:lpstr>PWM duty cycle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353</cp:revision>
  <cp:lastPrinted>2018-03-23T02:32:24Z</cp:lastPrinted>
  <dcterms:created xsi:type="dcterms:W3CDTF">2013-02-03T05:36:57Z</dcterms:created>
  <dcterms:modified xsi:type="dcterms:W3CDTF">2025-09-28T19:34:51Z</dcterms:modified>
</cp:coreProperties>
</file>