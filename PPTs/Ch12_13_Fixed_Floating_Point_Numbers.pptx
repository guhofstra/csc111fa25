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734" r:id="rId2"/>
    <p:sldId id="272" r:id="rId3"/>
    <p:sldId id="257" r:id="rId4"/>
    <p:sldId id="270" r:id="rId5"/>
    <p:sldId id="271" r:id="rId6"/>
    <p:sldId id="263" r:id="rId7"/>
    <p:sldId id="735" r:id="rId8"/>
    <p:sldId id="264" r:id="rId9"/>
    <p:sldId id="265" r:id="rId10"/>
    <p:sldId id="274" r:id="rId11"/>
    <p:sldId id="280" r:id="rId12"/>
    <p:sldId id="259" r:id="rId13"/>
    <p:sldId id="261" r:id="rId14"/>
    <p:sldId id="743" r:id="rId15"/>
    <p:sldId id="736" r:id="rId16"/>
    <p:sldId id="281" r:id="rId17"/>
    <p:sldId id="282" r:id="rId18"/>
    <p:sldId id="284" r:id="rId19"/>
    <p:sldId id="267" r:id="rId20"/>
    <p:sldId id="739" r:id="rId21"/>
    <p:sldId id="741" r:id="rId22"/>
    <p:sldId id="277" r:id="rId23"/>
    <p:sldId id="278" r:id="rId24"/>
    <p:sldId id="737" r:id="rId25"/>
    <p:sldId id="268" r:id="rId26"/>
    <p:sldId id="258" r:id="rId27"/>
    <p:sldId id="732" r:id="rId28"/>
    <p:sldId id="742" r:id="rId29"/>
    <p:sldId id="73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432FF"/>
    <a:srgbClr val="AB7942"/>
    <a:srgbClr val="FF9300"/>
    <a:srgbClr val="FF4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564324-3CBA-4E84-95E9-F69DCA3B5F12}" v="568" dt="2025-11-02T15:18:19.5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1" autoAdjust="0"/>
    <p:restoredTop sz="86682" autoAdjust="0"/>
  </p:normalViewPr>
  <p:slideViewPr>
    <p:cSldViewPr>
      <p:cViewPr varScale="1">
        <p:scale>
          <a:sx n="71" d="100"/>
          <a:sy n="71" d="100"/>
        </p:scale>
        <p:origin x="48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805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 sldOrd">
      <pc:chgData name="Zonghua Gu" userId="9a7e1853e1951ef5" providerId="LiveId" clId="{CF1FAA12-072C-4ED5-BA76-0FFFAEFDB88A}" dt="2025-11-02T15:24:54.877" v="1426" actId="1076"/>
      <pc:docMkLst>
        <pc:docMk/>
      </pc:docMkLst>
      <pc:sldChg chg="add">
        <pc:chgData name="Zonghua Gu" userId="9a7e1853e1951ef5" providerId="LiveId" clId="{CF1FAA12-072C-4ED5-BA76-0FFFAEFDB88A}" dt="2025-10-04T20:56:33.083" v="131"/>
        <pc:sldMkLst>
          <pc:docMk/>
          <pc:sldMk cId="905681104" sldId="257"/>
        </pc:sldMkLst>
      </pc:sldChg>
      <pc:sldChg chg="add">
        <pc:chgData name="Zonghua Gu" userId="9a7e1853e1951ef5" providerId="LiveId" clId="{CF1FAA12-072C-4ED5-BA76-0FFFAEFDB88A}" dt="2025-10-04T21:14:03.366" v="511"/>
        <pc:sldMkLst>
          <pc:docMk/>
          <pc:sldMk cId="4111405843" sldId="258"/>
        </pc:sldMkLst>
      </pc:sldChg>
      <pc:sldChg chg="add">
        <pc:chgData name="Zonghua Gu" userId="9a7e1853e1951ef5" providerId="LiveId" clId="{CF1FAA12-072C-4ED5-BA76-0FFFAEFDB88A}" dt="2025-10-04T21:14:03.366" v="511"/>
        <pc:sldMkLst>
          <pc:docMk/>
          <pc:sldMk cId="4187797743" sldId="259"/>
        </pc:sldMkLst>
      </pc:sldChg>
      <pc:sldChg chg="modSp add mod">
        <pc:chgData name="Zonghua Gu" userId="9a7e1853e1951ef5" providerId="LiveId" clId="{CF1FAA12-072C-4ED5-BA76-0FFFAEFDB88A}" dt="2025-11-02T15:24:54.877" v="1426" actId="1076"/>
        <pc:sldMkLst>
          <pc:docMk/>
          <pc:sldMk cId="2669434976" sldId="261"/>
        </pc:sldMkLst>
        <pc:spChg chg="mod">
          <ac:chgData name="Zonghua Gu" userId="9a7e1853e1951ef5" providerId="LiveId" clId="{CF1FAA12-072C-4ED5-BA76-0FFFAEFDB88A}" dt="2025-10-05T02:00:36.495" v="581" actId="20577"/>
          <ac:spMkLst>
            <pc:docMk/>
            <pc:sldMk cId="2669434976" sldId="261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11-02T15:24:54.877" v="1426" actId="1076"/>
          <ac:spMkLst>
            <pc:docMk/>
            <pc:sldMk cId="2669434976" sldId="261"/>
            <ac:spMk id="5" creationId="{00000000-0000-0000-0000-000000000000}"/>
          </ac:spMkLst>
        </pc:spChg>
      </pc:sldChg>
      <pc:sldChg chg="addSp modSp add mod ord">
        <pc:chgData name="Zonghua Gu" userId="9a7e1853e1951ef5" providerId="LiveId" clId="{CF1FAA12-072C-4ED5-BA76-0FFFAEFDB88A}" dt="2025-11-02T14:59:33.253" v="1204" actId="1076"/>
        <pc:sldMkLst>
          <pc:docMk/>
          <pc:sldMk cId="2690786522" sldId="263"/>
        </pc:sldMkLst>
        <pc:spChg chg="mod">
          <ac:chgData name="Zonghua Gu" userId="9a7e1853e1951ef5" providerId="LiveId" clId="{CF1FAA12-072C-4ED5-BA76-0FFFAEFDB88A}" dt="2025-10-04T21:04:43.214" v="204" actId="108"/>
          <ac:spMkLst>
            <pc:docMk/>
            <pc:sldMk cId="2690786522" sldId="263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10-04T21:03:34.552" v="157" actId="1076"/>
          <ac:spMkLst>
            <pc:docMk/>
            <pc:sldMk cId="2690786522" sldId="263"/>
            <ac:spMk id="4" creationId="{588CFBB5-1212-601B-2237-368E039FFF71}"/>
          </ac:spMkLst>
        </pc:spChg>
        <pc:spChg chg="add mod">
          <ac:chgData name="Zonghua Gu" userId="9a7e1853e1951ef5" providerId="LiveId" clId="{CF1FAA12-072C-4ED5-BA76-0FFFAEFDB88A}" dt="2025-10-04T21:03:34.552" v="157" actId="1076"/>
          <ac:spMkLst>
            <pc:docMk/>
            <pc:sldMk cId="2690786522" sldId="263"/>
            <ac:spMk id="6" creationId="{8FAE8020-4EB0-3A3C-B817-2E0CDD071A13}"/>
          </ac:spMkLst>
        </pc:spChg>
        <pc:spChg chg="add mod">
          <ac:chgData name="Zonghua Gu" userId="9a7e1853e1951ef5" providerId="LiveId" clId="{CF1FAA12-072C-4ED5-BA76-0FFFAEFDB88A}" dt="2025-10-04T21:03:34.552" v="157" actId="1076"/>
          <ac:spMkLst>
            <pc:docMk/>
            <pc:sldMk cId="2690786522" sldId="263"/>
            <ac:spMk id="8" creationId="{0786CA58-35DC-35A0-59CB-E995AC9A6AC0}"/>
          </ac:spMkLst>
        </pc:spChg>
        <pc:spChg chg="add mod">
          <ac:chgData name="Zonghua Gu" userId="9a7e1853e1951ef5" providerId="LiveId" clId="{CF1FAA12-072C-4ED5-BA76-0FFFAEFDB88A}" dt="2025-11-02T14:59:33.253" v="1204" actId="1076"/>
          <ac:spMkLst>
            <pc:docMk/>
            <pc:sldMk cId="2690786522" sldId="263"/>
            <ac:spMk id="9" creationId="{E1728BAD-20A6-C549-3961-871A98BB8BD5}"/>
          </ac:spMkLst>
        </pc:spChg>
        <pc:spChg chg="add mod">
          <ac:chgData name="Zonghua Gu" userId="9a7e1853e1951ef5" providerId="LiveId" clId="{CF1FAA12-072C-4ED5-BA76-0FFFAEFDB88A}" dt="2025-11-02T14:59:33.253" v="1204" actId="1076"/>
          <ac:spMkLst>
            <pc:docMk/>
            <pc:sldMk cId="2690786522" sldId="263"/>
            <ac:spMk id="10" creationId="{A48B9F24-9B86-C996-2235-D44777E997D0}"/>
          </ac:spMkLst>
        </pc:spChg>
        <pc:spChg chg="add mod">
          <ac:chgData name="Zonghua Gu" userId="9a7e1853e1951ef5" providerId="LiveId" clId="{CF1FAA12-072C-4ED5-BA76-0FFFAEFDB88A}" dt="2025-10-04T21:03:34.552" v="157" actId="1076"/>
          <ac:spMkLst>
            <pc:docMk/>
            <pc:sldMk cId="2690786522" sldId="263"/>
            <ac:spMk id="11" creationId="{0F545598-B5FA-FE94-4620-A1EE2EC37783}"/>
          </ac:spMkLst>
        </pc:spChg>
        <pc:spChg chg="add mod">
          <ac:chgData name="Zonghua Gu" userId="9a7e1853e1951ef5" providerId="LiveId" clId="{CF1FAA12-072C-4ED5-BA76-0FFFAEFDB88A}" dt="2025-10-04T21:03:34.552" v="157" actId="1076"/>
          <ac:spMkLst>
            <pc:docMk/>
            <pc:sldMk cId="2690786522" sldId="263"/>
            <ac:spMk id="12" creationId="{31A8DD24-1DA5-CB13-6660-A497481550D9}"/>
          </ac:spMkLst>
        </pc:spChg>
        <pc:spChg chg="add mod">
          <ac:chgData name="Zonghua Gu" userId="9a7e1853e1951ef5" providerId="LiveId" clId="{CF1FAA12-072C-4ED5-BA76-0FFFAEFDB88A}" dt="2025-10-04T21:05:11.297" v="212" actId="20577"/>
          <ac:spMkLst>
            <pc:docMk/>
            <pc:sldMk cId="2690786522" sldId="263"/>
            <ac:spMk id="13" creationId="{CAE22E4F-AFA9-45D6-550A-06ADB794B1A9}"/>
          </ac:spMkLst>
        </pc:spChg>
        <pc:spChg chg="add mod">
          <ac:chgData name="Zonghua Gu" userId="9a7e1853e1951ef5" providerId="LiveId" clId="{CF1FAA12-072C-4ED5-BA76-0FFFAEFDB88A}" dt="2025-10-04T21:03:34.552" v="157" actId="1076"/>
          <ac:spMkLst>
            <pc:docMk/>
            <pc:sldMk cId="2690786522" sldId="263"/>
            <ac:spMk id="15" creationId="{D5F8D846-E86A-6AC9-7F97-F7A2747DA131}"/>
          </ac:spMkLst>
        </pc:spChg>
        <pc:spChg chg="add mod">
          <ac:chgData name="Zonghua Gu" userId="9a7e1853e1951ef5" providerId="LiveId" clId="{CF1FAA12-072C-4ED5-BA76-0FFFAEFDB88A}" dt="2025-10-04T21:03:43.118" v="163" actId="20577"/>
          <ac:spMkLst>
            <pc:docMk/>
            <pc:sldMk cId="2690786522" sldId="263"/>
            <ac:spMk id="16" creationId="{2367B1F1-0089-5E89-6DC4-7AA2C4B2AA6A}"/>
          </ac:spMkLst>
        </pc:spChg>
        <pc:picChg chg="mod">
          <ac:chgData name="Zonghua Gu" userId="9a7e1853e1951ef5" providerId="LiveId" clId="{CF1FAA12-072C-4ED5-BA76-0FFFAEFDB88A}" dt="2025-10-04T21:00:59.149" v="144" actId="1076"/>
          <ac:picMkLst>
            <pc:docMk/>
            <pc:sldMk cId="2690786522" sldId="263"/>
            <ac:picMk id="5" creationId="{00000000-0000-0000-0000-000000000000}"/>
          </ac:picMkLst>
        </pc:picChg>
        <pc:picChg chg="add mod">
          <ac:chgData name="Zonghua Gu" userId="9a7e1853e1951ef5" providerId="LiveId" clId="{CF1FAA12-072C-4ED5-BA76-0FFFAEFDB88A}" dt="2025-10-04T21:00:14.958" v="140"/>
          <ac:picMkLst>
            <pc:docMk/>
            <pc:sldMk cId="2690786522" sldId="263"/>
            <ac:picMk id="7" creationId="{F26A787C-D5E8-DF93-A947-D5D06F2FA2D2}"/>
          </ac:picMkLst>
        </pc:picChg>
      </pc:sldChg>
      <pc:sldChg chg="modSp mod">
        <pc:chgData name="Zonghua Gu" userId="9a7e1853e1951ef5" providerId="LiveId" clId="{CF1FAA12-072C-4ED5-BA76-0FFFAEFDB88A}" dt="2025-11-02T15:03:21.949" v="1271" actId="20577"/>
        <pc:sldMkLst>
          <pc:docMk/>
          <pc:sldMk cId="1922114052" sldId="264"/>
        </pc:sldMkLst>
        <pc:spChg chg="mod">
          <ac:chgData name="Zonghua Gu" userId="9a7e1853e1951ef5" providerId="LiveId" clId="{CF1FAA12-072C-4ED5-BA76-0FFFAEFDB88A}" dt="2025-11-02T15:02:34.666" v="1248" actId="20577"/>
          <ac:spMkLst>
            <pc:docMk/>
            <pc:sldMk cId="1922114052" sldId="264"/>
            <ac:spMk id="4" creationId="{00000000-0000-0000-0000-000000000000}"/>
          </ac:spMkLst>
        </pc:spChg>
        <pc:spChg chg="mod">
          <ac:chgData name="Zonghua Gu" userId="9a7e1853e1951ef5" providerId="LiveId" clId="{CF1FAA12-072C-4ED5-BA76-0FFFAEFDB88A}" dt="2025-11-02T15:03:21.949" v="1271" actId="20577"/>
          <ac:spMkLst>
            <pc:docMk/>
            <pc:sldMk cId="1922114052" sldId="264"/>
            <ac:spMk id="5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5-11-02T15:03:18.690" v="1270" actId="14100"/>
        <pc:sldMkLst>
          <pc:docMk/>
          <pc:sldMk cId="3002516707" sldId="265"/>
        </pc:sldMkLst>
        <pc:spChg chg="mod">
          <ac:chgData name="Zonghua Gu" userId="9a7e1853e1951ef5" providerId="LiveId" clId="{CF1FAA12-072C-4ED5-BA76-0FFFAEFDB88A}" dt="2025-11-02T15:02:40.849" v="1250" actId="20577"/>
          <ac:spMkLst>
            <pc:docMk/>
            <pc:sldMk cId="3002516707" sldId="265"/>
            <ac:spMk id="4" creationId="{00000000-0000-0000-0000-000000000000}"/>
          </ac:spMkLst>
        </pc:spChg>
        <pc:spChg chg="mod">
          <ac:chgData name="Zonghua Gu" userId="9a7e1853e1951ef5" providerId="LiveId" clId="{CF1FAA12-072C-4ED5-BA76-0FFFAEFDB88A}" dt="2025-11-02T15:03:18.690" v="1270" actId="14100"/>
          <ac:spMkLst>
            <pc:docMk/>
            <pc:sldMk cId="3002516707" sldId="265"/>
            <ac:spMk id="5" creationId="{00000000-0000-0000-0000-000000000000}"/>
          </ac:spMkLst>
        </pc:spChg>
      </pc:sldChg>
      <pc:sldChg chg="add">
        <pc:chgData name="Zonghua Gu" userId="9a7e1853e1951ef5" providerId="LiveId" clId="{CF1FAA12-072C-4ED5-BA76-0FFFAEFDB88A}" dt="2025-10-04T21:14:03.366" v="511"/>
        <pc:sldMkLst>
          <pc:docMk/>
          <pc:sldMk cId="378386796" sldId="267"/>
        </pc:sldMkLst>
      </pc:sldChg>
      <pc:sldChg chg="add">
        <pc:chgData name="Zonghua Gu" userId="9a7e1853e1951ef5" providerId="LiveId" clId="{CF1FAA12-072C-4ED5-BA76-0FFFAEFDB88A}" dt="2025-10-04T21:14:03.366" v="511"/>
        <pc:sldMkLst>
          <pc:docMk/>
          <pc:sldMk cId="2849682855" sldId="268"/>
        </pc:sldMkLst>
      </pc:sldChg>
      <pc:sldChg chg="add">
        <pc:chgData name="Zonghua Gu" userId="9a7e1853e1951ef5" providerId="LiveId" clId="{CF1FAA12-072C-4ED5-BA76-0FFFAEFDB88A}" dt="2025-10-04T21:14:03.366" v="511"/>
        <pc:sldMkLst>
          <pc:docMk/>
          <pc:sldMk cId="430635750" sldId="277"/>
        </pc:sldMkLst>
      </pc:sldChg>
      <pc:sldChg chg="add">
        <pc:chgData name="Zonghua Gu" userId="9a7e1853e1951ef5" providerId="LiveId" clId="{CF1FAA12-072C-4ED5-BA76-0FFFAEFDB88A}" dt="2025-10-04T21:14:03.366" v="511"/>
        <pc:sldMkLst>
          <pc:docMk/>
          <pc:sldMk cId="1945936955" sldId="278"/>
        </pc:sldMkLst>
      </pc:sldChg>
      <pc:sldChg chg="add">
        <pc:chgData name="Zonghua Gu" userId="9a7e1853e1951ef5" providerId="LiveId" clId="{CF1FAA12-072C-4ED5-BA76-0FFFAEFDB88A}" dt="2025-10-04T21:14:03.366" v="511"/>
        <pc:sldMkLst>
          <pc:docMk/>
          <pc:sldMk cId="4199759654" sldId="280"/>
        </pc:sldMkLst>
      </pc:sldChg>
      <pc:sldChg chg="modSp add mod ord">
        <pc:chgData name="Zonghua Gu" userId="9a7e1853e1951ef5" providerId="LiveId" clId="{CF1FAA12-072C-4ED5-BA76-0FFFAEFDB88A}" dt="2025-11-02T15:06:54.689" v="1278" actId="20578"/>
        <pc:sldMkLst>
          <pc:docMk/>
          <pc:sldMk cId="3761897037" sldId="281"/>
        </pc:sldMkLst>
        <pc:spChg chg="mod">
          <ac:chgData name="Zonghua Gu" userId="9a7e1853e1951ef5" providerId="LiveId" clId="{CF1FAA12-072C-4ED5-BA76-0FFFAEFDB88A}" dt="2025-10-26T16:50:30.808" v="1183" actId="113"/>
          <ac:spMkLst>
            <pc:docMk/>
            <pc:sldMk cId="3761897037" sldId="281"/>
            <ac:spMk id="2" creationId="{375475F4-E526-1473-6263-AB10E888210F}"/>
          </ac:spMkLst>
        </pc:spChg>
      </pc:sldChg>
      <pc:sldChg chg="modSp add mod">
        <pc:chgData name="Zonghua Gu" userId="9a7e1853e1951ef5" providerId="LiveId" clId="{CF1FAA12-072C-4ED5-BA76-0FFFAEFDB88A}" dt="2025-10-26T16:50:33.152" v="1184" actId="113"/>
        <pc:sldMkLst>
          <pc:docMk/>
          <pc:sldMk cId="1065607407" sldId="282"/>
        </pc:sldMkLst>
        <pc:spChg chg="mod">
          <ac:chgData name="Zonghua Gu" userId="9a7e1853e1951ef5" providerId="LiveId" clId="{CF1FAA12-072C-4ED5-BA76-0FFFAEFDB88A}" dt="2025-10-26T16:50:33.152" v="1184" actId="113"/>
          <ac:spMkLst>
            <pc:docMk/>
            <pc:sldMk cId="1065607407" sldId="282"/>
            <ac:spMk id="2" creationId="{1F000EC5-11FF-B40D-E96F-A868D391149B}"/>
          </ac:spMkLst>
        </pc:spChg>
      </pc:sldChg>
      <pc:sldChg chg="modSp add mod">
        <pc:chgData name="Zonghua Gu" userId="9a7e1853e1951ef5" providerId="LiveId" clId="{CF1FAA12-072C-4ED5-BA76-0FFFAEFDB88A}" dt="2025-10-26T16:50:35.425" v="1185" actId="113"/>
        <pc:sldMkLst>
          <pc:docMk/>
          <pc:sldMk cId="2683607622" sldId="284"/>
        </pc:sldMkLst>
        <pc:spChg chg="mod">
          <ac:chgData name="Zonghua Gu" userId="9a7e1853e1951ef5" providerId="LiveId" clId="{CF1FAA12-072C-4ED5-BA76-0FFFAEFDB88A}" dt="2025-10-26T16:50:35.425" v="1185" actId="113"/>
          <ac:spMkLst>
            <pc:docMk/>
            <pc:sldMk cId="2683607622" sldId="284"/>
            <ac:spMk id="2" creationId="{9A89A2AC-1EFE-50A9-F487-AFE87D1F70FC}"/>
          </ac:spMkLst>
        </pc:spChg>
      </pc:sldChg>
      <pc:sldChg chg="add del">
        <pc:chgData name="Zonghua Gu" userId="9a7e1853e1951ef5" providerId="LiveId" clId="{CF1FAA12-072C-4ED5-BA76-0FFFAEFDB88A}" dt="2025-10-04T21:14:03.366" v="511"/>
        <pc:sldMkLst>
          <pc:docMk/>
          <pc:sldMk cId="1002974014" sldId="732"/>
        </pc:sldMkLst>
      </pc:sldChg>
      <pc:sldChg chg="modSp add mod">
        <pc:chgData name="Zonghua Gu" userId="9a7e1853e1951ef5" providerId="LiveId" clId="{CF1FAA12-072C-4ED5-BA76-0FFFAEFDB88A}" dt="2025-10-04T20:23:48.621" v="12"/>
        <pc:sldMkLst>
          <pc:docMk/>
          <pc:sldMk cId="4001237007" sldId="734"/>
        </pc:sldMkLst>
        <pc:spChg chg="mod">
          <ac:chgData name="Zonghua Gu" userId="9a7e1853e1951ef5" providerId="LiveId" clId="{CF1FAA12-072C-4ED5-BA76-0FFFAEFDB88A}" dt="2025-10-04T18:30:07.733" v="2" actId="1076"/>
          <ac:spMkLst>
            <pc:docMk/>
            <pc:sldMk cId="4001237007" sldId="734"/>
            <ac:spMk id="5" creationId="{00000000-0000-0000-0000-000000000000}"/>
          </ac:spMkLst>
        </pc:spChg>
        <pc:spChg chg="mod">
          <ac:chgData name="Zonghua Gu" userId="9a7e1853e1951ef5" providerId="LiveId" clId="{CF1FAA12-072C-4ED5-BA76-0FFFAEFDB88A}" dt="2025-10-04T20:23:48.621" v="12"/>
          <ac:spMkLst>
            <pc:docMk/>
            <pc:sldMk cId="4001237007" sldId="734"/>
            <ac:spMk id="6" creationId="{00000000-0000-0000-0000-000000000000}"/>
          </ac:spMkLst>
        </pc:spChg>
      </pc:sldChg>
      <pc:sldChg chg="modSp new mod">
        <pc:chgData name="Zonghua Gu" userId="9a7e1853e1951ef5" providerId="LiveId" clId="{CF1FAA12-072C-4ED5-BA76-0FFFAEFDB88A}" dt="2025-11-02T15:11:14.203" v="1317" actId="20577"/>
        <pc:sldMkLst>
          <pc:docMk/>
          <pc:sldMk cId="3161310983" sldId="735"/>
        </pc:sldMkLst>
        <pc:spChg chg="mod">
          <ac:chgData name="Zonghua Gu" userId="9a7e1853e1951ef5" providerId="LiveId" clId="{CF1FAA12-072C-4ED5-BA76-0FFFAEFDB88A}" dt="2025-10-04T21:12:51.990" v="509" actId="27636"/>
          <ac:spMkLst>
            <pc:docMk/>
            <pc:sldMk cId="3161310983" sldId="735"/>
            <ac:spMk id="2" creationId="{9066D74F-45C0-6BB9-583C-6A413F518C38}"/>
          </ac:spMkLst>
        </pc:spChg>
        <pc:spChg chg="mod">
          <ac:chgData name="Zonghua Gu" userId="9a7e1853e1951ef5" providerId="LiveId" clId="{CF1FAA12-072C-4ED5-BA76-0FFFAEFDB88A}" dt="2025-11-02T15:11:14.203" v="1317" actId="20577"/>
          <ac:spMkLst>
            <pc:docMk/>
            <pc:sldMk cId="3161310983" sldId="735"/>
            <ac:spMk id="4" creationId="{A8EC4C54-027C-6745-109D-55B118BE5E14}"/>
          </ac:spMkLst>
        </pc:spChg>
      </pc:sldChg>
      <pc:sldChg chg="addSp delSp modSp add mod">
        <pc:chgData name="Zonghua Gu" userId="9a7e1853e1951ef5" providerId="LiveId" clId="{CF1FAA12-072C-4ED5-BA76-0FFFAEFDB88A}" dt="2025-11-02T15:18:19.595" v="1375" actId="20577"/>
        <pc:sldMkLst>
          <pc:docMk/>
          <pc:sldMk cId="2896628209" sldId="736"/>
        </pc:sldMkLst>
        <pc:spChg chg="mod">
          <ac:chgData name="Zonghua Gu" userId="9a7e1853e1951ef5" providerId="LiveId" clId="{CF1FAA12-072C-4ED5-BA76-0FFFAEFDB88A}" dt="2025-10-26T16:50:28.602" v="1182" actId="113"/>
          <ac:spMkLst>
            <pc:docMk/>
            <pc:sldMk cId="2896628209" sldId="736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11-02T15:18:19.595" v="1375" actId="20577"/>
          <ac:spMkLst>
            <pc:docMk/>
            <pc:sldMk cId="2896628209" sldId="736"/>
            <ac:spMk id="4" creationId="{00000000-0000-0000-0000-000000000000}"/>
          </ac:spMkLst>
        </pc:spChg>
        <pc:picChg chg="add mod">
          <ac:chgData name="Zonghua Gu" userId="9a7e1853e1951ef5" providerId="LiveId" clId="{CF1FAA12-072C-4ED5-BA76-0FFFAEFDB88A}" dt="2025-11-02T15:07:56.158" v="1292" actId="1076"/>
          <ac:picMkLst>
            <pc:docMk/>
            <pc:sldMk cId="2896628209" sldId="736"/>
            <ac:picMk id="5" creationId="{00000000-0000-0000-0000-000000000000}"/>
          </ac:picMkLst>
        </pc:picChg>
        <pc:picChg chg="del">
          <ac:chgData name="Zonghua Gu" userId="9a7e1853e1951ef5" providerId="LiveId" clId="{CF1FAA12-072C-4ED5-BA76-0FFFAEFDB88A}" dt="2025-11-02T15:07:08.190" v="1281" actId="21"/>
          <ac:picMkLst>
            <pc:docMk/>
            <pc:sldMk cId="2896628209" sldId="736"/>
            <ac:picMk id="7" creationId="{00000000-0000-0000-0000-000000000000}"/>
          </ac:picMkLst>
        </pc:picChg>
      </pc:sldChg>
      <pc:sldChg chg="add">
        <pc:chgData name="Zonghua Gu" userId="9a7e1853e1951ef5" providerId="LiveId" clId="{CF1FAA12-072C-4ED5-BA76-0FFFAEFDB88A}" dt="2025-10-04T21:14:03.366" v="511"/>
        <pc:sldMkLst>
          <pc:docMk/>
          <pc:sldMk cId="4218711516" sldId="737"/>
        </pc:sldMkLst>
      </pc:sldChg>
      <pc:sldChg chg="modSp new mod">
        <pc:chgData name="Zonghua Gu" userId="9a7e1853e1951ef5" providerId="LiveId" clId="{CF1FAA12-072C-4ED5-BA76-0FFFAEFDB88A}" dt="2025-10-26T19:32:42.828" v="1192" actId="21"/>
        <pc:sldMkLst>
          <pc:docMk/>
          <pc:sldMk cId="990295586" sldId="738"/>
        </pc:sldMkLst>
        <pc:spChg chg="mod">
          <ac:chgData name="Zonghua Gu" userId="9a7e1853e1951ef5" providerId="LiveId" clId="{CF1FAA12-072C-4ED5-BA76-0FFFAEFDB88A}" dt="2025-10-05T01:27:09.067" v="525" actId="20577"/>
          <ac:spMkLst>
            <pc:docMk/>
            <pc:sldMk cId="990295586" sldId="738"/>
            <ac:spMk id="2" creationId="{07C18DDC-948E-EE03-2F91-C42717B07826}"/>
          </ac:spMkLst>
        </pc:spChg>
        <pc:spChg chg="mod">
          <ac:chgData name="Zonghua Gu" userId="9a7e1853e1951ef5" providerId="LiveId" clId="{CF1FAA12-072C-4ED5-BA76-0FFFAEFDB88A}" dt="2025-10-26T19:32:42.828" v="1192" actId="21"/>
          <ac:spMkLst>
            <pc:docMk/>
            <pc:sldMk cId="990295586" sldId="738"/>
            <ac:spMk id="4" creationId="{DB304D09-7213-2F35-AD9D-8F22A94BFA9A}"/>
          </ac:spMkLst>
        </pc:spChg>
      </pc:sldChg>
      <pc:sldChg chg="addSp delSp modSp add mod modNotesTx">
        <pc:chgData name="Zonghua Gu" userId="9a7e1853e1951ef5" providerId="LiveId" clId="{CF1FAA12-072C-4ED5-BA76-0FFFAEFDB88A}" dt="2025-10-26T16:47:46.641" v="1181" actId="20577"/>
        <pc:sldMkLst>
          <pc:docMk/>
          <pc:sldMk cId="3951653191" sldId="739"/>
        </pc:sldMkLst>
        <pc:spChg chg="mod">
          <ac:chgData name="Zonghua Gu" userId="9a7e1853e1951ef5" providerId="LiveId" clId="{CF1FAA12-072C-4ED5-BA76-0FFFAEFDB88A}" dt="2025-10-07T18:00:28.039" v="584" actId="20577"/>
          <ac:spMkLst>
            <pc:docMk/>
            <pc:sldMk cId="3951653191" sldId="739"/>
            <ac:spMk id="2" creationId="{06D0CDC3-A7FF-9EEE-C5C3-502A76B1D8CC}"/>
          </ac:spMkLst>
        </pc:spChg>
        <pc:spChg chg="mod">
          <ac:chgData name="Zonghua Gu" userId="9a7e1853e1951ef5" providerId="LiveId" clId="{CF1FAA12-072C-4ED5-BA76-0FFFAEFDB88A}" dt="2025-10-26T16:47:46.641" v="1181" actId="20577"/>
          <ac:spMkLst>
            <pc:docMk/>
            <pc:sldMk cId="3951653191" sldId="739"/>
            <ac:spMk id="4" creationId="{B3D4FF65-D71D-3471-F040-1E677F86A2DD}"/>
          </ac:spMkLst>
        </pc:spChg>
        <pc:spChg chg="add mod">
          <ac:chgData name="Zonghua Gu" userId="9a7e1853e1951ef5" providerId="LiveId" clId="{CF1FAA12-072C-4ED5-BA76-0FFFAEFDB88A}" dt="2025-10-07T18:09:33.366" v="755" actId="1037"/>
          <ac:spMkLst>
            <pc:docMk/>
            <pc:sldMk cId="3951653191" sldId="739"/>
            <ac:spMk id="8" creationId="{FADDE5B4-2BF0-3346-B39B-1C17BD95CCA8}"/>
          </ac:spMkLst>
        </pc:spChg>
        <pc:spChg chg="add mod">
          <ac:chgData name="Zonghua Gu" userId="9a7e1853e1951ef5" providerId="LiveId" clId="{CF1FAA12-072C-4ED5-BA76-0FFFAEFDB88A}" dt="2025-10-07T18:09:37.018" v="756" actId="1076"/>
          <ac:spMkLst>
            <pc:docMk/>
            <pc:sldMk cId="3951653191" sldId="739"/>
            <ac:spMk id="9" creationId="{ACE7E842-BCEF-B6B4-E109-FC4B047B29D0}"/>
          </ac:spMkLst>
        </pc:spChg>
      </pc:sldChg>
      <pc:sldChg chg="addSp modSp add mod">
        <pc:chgData name="Zonghua Gu" userId="9a7e1853e1951ef5" providerId="LiveId" clId="{CF1FAA12-072C-4ED5-BA76-0FFFAEFDB88A}" dt="2025-10-26T16:44:11.512" v="1178" actId="1076"/>
        <pc:sldMkLst>
          <pc:docMk/>
          <pc:sldMk cId="598855194" sldId="741"/>
        </pc:sldMkLst>
        <pc:spChg chg="mod">
          <ac:chgData name="Zonghua Gu" userId="9a7e1853e1951ef5" providerId="LiveId" clId="{CF1FAA12-072C-4ED5-BA76-0FFFAEFDB88A}" dt="2025-10-07T18:17:28.947" v="847" actId="20577"/>
          <ac:spMkLst>
            <pc:docMk/>
            <pc:sldMk cId="598855194" sldId="741"/>
            <ac:spMk id="2" creationId="{EE7BB3F4-71E3-6480-2DD5-AA4EAD4E5DBE}"/>
          </ac:spMkLst>
        </pc:spChg>
        <pc:spChg chg="mod">
          <ac:chgData name="Zonghua Gu" userId="9a7e1853e1951ef5" providerId="LiveId" clId="{CF1FAA12-072C-4ED5-BA76-0FFFAEFDB88A}" dt="2025-10-07T18:21:37.296" v="930" actId="6549"/>
          <ac:spMkLst>
            <pc:docMk/>
            <pc:sldMk cId="598855194" sldId="741"/>
            <ac:spMk id="4" creationId="{1E35FFBE-A292-0D67-EFA6-AEFA3301A8EC}"/>
          </ac:spMkLst>
        </pc:spChg>
        <pc:spChg chg="add mod">
          <ac:chgData name="Zonghua Gu" userId="9a7e1853e1951ef5" providerId="LiveId" clId="{CF1FAA12-072C-4ED5-BA76-0FFFAEFDB88A}" dt="2025-10-26T16:44:11.512" v="1178" actId="1076"/>
          <ac:spMkLst>
            <pc:docMk/>
            <pc:sldMk cId="598855194" sldId="741"/>
            <ac:spMk id="5" creationId="{FFF26C8F-DF03-64D8-CF77-B258AADB637B}"/>
          </ac:spMkLst>
        </pc:spChg>
      </pc:sldChg>
      <pc:sldChg chg="addSp modSp new mod">
        <pc:chgData name="Zonghua Gu" userId="9a7e1853e1951ef5" providerId="LiveId" clId="{CF1FAA12-072C-4ED5-BA76-0FFFAEFDB88A}" dt="2025-10-12T18:47:22.216" v="981" actId="20577"/>
        <pc:sldMkLst>
          <pc:docMk/>
          <pc:sldMk cId="4167531389" sldId="742"/>
        </pc:sldMkLst>
        <pc:spChg chg="mod">
          <ac:chgData name="Zonghua Gu" userId="9a7e1853e1951ef5" providerId="LiveId" clId="{CF1FAA12-072C-4ED5-BA76-0FFFAEFDB88A}" dt="2025-10-12T18:47:22.216" v="981" actId="20577"/>
          <ac:spMkLst>
            <pc:docMk/>
            <pc:sldMk cId="4167531389" sldId="742"/>
            <ac:spMk id="2" creationId="{162E9A7F-FF94-CF8B-8F58-AA740C0B8A5F}"/>
          </ac:spMkLst>
        </pc:spChg>
        <pc:spChg chg="mod">
          <ac:chgData name="Zonghua Gu" userId="9a7e1853e1951ef5" providerId="LiveId" clId="{CF1FAA12-072C-4ED5-BA76-0FFFAEFDB88A}" dt="2025-10-12T18:46:57.308" v="970" actId="20577"/>
          <ac:spMkLst>
            <pc:docMk/>
            <pc:sldMk cId="4167531389" sldId="742"/>
            <ac:spMk id="4" creationId="{1F04D77F-669A-A724-34EC-94F5C04F32A5}"/>
          </ac:spMkLst>
        </pc:spChg>
        <pc:picChg chg="add mod">
          <ac:chgData name="Zonghua Gu" userId="9a7e1853e1951ef5" providerId="LiveId" clId="{CF1FAA12-072C-4ED5-BA76-0FFFAEFDB88A}" dt="2025-10-12T18:47:08.554" v="976" actId="1076"/>
          <ac:picMkLst>
            <pc:docMk/>
            <pc:sldMk cId="4167531389" sldId="742"/>
            <ac:picMk id="6" creationId="{FFC9B12A-5BB4-5F2F-BCC2-1CB754290CEB}"/>
          </ac:picMkLst>
        </pc:picChg>
      </pc:sldChg>
      <pc:sldChg chg="addSp delSp modSp new mod">
        <pc:chgData name="Zonghua Gu" userId="9a7e1853e1951ef5" providerId="LiveId" clId="{CF1FAA12-072C-4ED5-BA76-0FFFAEFDB88A}" dt="2025-10-17T23:34:43.244" v="1160" actId="20577"/>
        <pc:sldMkLst>
          <pc:docMk/>
          <pc:sldMk cId="3892365445" sldId="743"/>
        </pc:sldMkLst>
        <pc:spChg chg="mod">
          <ac:chgData name="Zonghua Gu" userId="9a7e1853e1951ef5" providerId="LiveId" clId="{CF1FAA12-072C-4ED5-BA76-0FFFAEFDB88A}" dt="2025-10-17T23:34:43.244" v="1160" actId="20577"/>
          <ac:spMkLst>
            <pc:docMk/>
            <pc:sldMk cId="3892365445" sldId="743"/>
            <ac:spMk id="2" creationId="{96369424-0102-7D10-CA3C-02B3C0033DF2}"/>
          </ac:spMkLst>
        </pc:spChg>
        <pc:spChg chg="add del mod">
          <ac:chgData name="Zonghua Gu" userId="9a7e1853e1951ef5" providerId="LiveId" clId="{CF1FAA12-072C-4ED5-BA76-0FFFAEFDB88A}" dt="2025-10-17T23:34:33.960" v="1138" actId="20577"/>
          <ac:spMkLst>
            <pc:docMk/>
            <pc:sldMk cId="3892365445" sldId="743"/>
            <ac:spMk id="4" creationId="{F6E9C26C-00C6-ED10-C2C9-02E0EBAC4C6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85AC37-E01B-5D42-890D-6B1249024F64}" type="doc">
      <dgm:prSet loTypeId="urn:microsoft.com/office/officeart/2005/8/layout/balanc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55E5A6-8A07-A843-A7AD-D502CEFB5584}">
      <dgm:prSet phldrT="[Text]"/>
      <dgm:spPr/>
      <dgm:t>
        <a:bodyPr/>
        <a:lstStyle/>
        <a:p>
          <a:r>
            <a:rPr lang="en-US" dirty="0"/>
            <a:t>Floating Point</a:t>
          </a:r>
        </a:p>
      </dgm:t>
    </dgm:pt>
    <dgm:pt modelId="{E40FA94D-A94D-8E42-8837-6C6710A0A903}" type="parTrans" cxnId="{4FCF7886-2303-A243-8B4F-9B05211D4C6E}">
      <dgm:prSet/>
      <dgm:spPr/>
      <dgm:t>
        <a:bodyPr/>
        <a:lstStyle/>
        <a:p>
          <a:endParaRPr lang="en-US"/>
        </a:p>
      </dgm:t>
    </dgm:pt>
    <dgm:pt modelId="{EA276170-043F-1746-BA77-0DD99BC7B05E}" type="sibTrans" cxnId="{4FCF7886-2303-A243-8B4F-9B05211D4C6E}">
      <dgm:prSet/>
      <dgm:spPr/>
      <dgm:t>
        <a:bodyPr/>
        <a:lstStyle/>
        <a:p>
          <a:endParaRPr lang="en-US"/>
        </a:p>
      </dgm:t>
    </dgm:pt>
    <dgm:pt modelId="{EB5BA813-5FD9-C046-9002-8EDD4D49B9DA}">
      <dgm:prSet phldrT="[Text]"/>
      <dgm:spPr/>
      <dgm:t>
        <a:bodyPr/>
        <a:lstStyle/>
        <a:p>
          <a:r>
            <a:rPr lang="en-US" dirty="0"/>
            <a:t>Shorter Development Time</a:t>
          </a:r>
        </a:p>
      </dgm:t>
    </dgm:pt>
    <dgm:pt modelId="{3C7D64DC-987D-2C46-9800-F2505641095A}" type="parTrans" cxnId="{952BF13B-A532-A44F-93F4-E13223C5B154}">
      <dgm:prSet/>
      <dgm:spPr/>
      <dgm:t>
        <a:bodyPr/>
        <a:lstStyle/>
        <a:p>
          <a:endParaRPr lang="en-US"/>
        </a:p>
      </dgm:t>
    </dgm:pt>
    <dgm:pt modelId="{01006B11-F937-DA4F-848C-842A527F3C1D}" type="sibTrans" cxnId="{952BF13B-A532-A44F-93F4-E13223C5B154}">
      <dgm:prSet/>
      <dgm:spPr/>
      <dgm:t>
        <a:bodyPr/>
        <a:lstStyle/>
        <a:p>
          <a:endParaRPr lang="en-US"/>
        </a:p>
      </dgm:t>
    </dgm:pt>
    <dgm:pt modelId="{85D85CB2-FBEA-054D-8678-39B2892A20FC}">
      <dgm:prSet phldrT="[Text]"/>
      <dgm:spPr/>
      <dgm:t>
        <a:bodyPr/>
        <a:lstStyle/>
        <a:p>
          <a:r>
            <a:rPr lang="en-US" dirty="0"/>
            <a:t>Wide Dynamic Range</a:t>
          </a:r>
        </a:p>
      </dgm:t>
    </dgm:pt>
    <dgm:pt modelId="{7DDBF804-1DE2-BF4B-9D0F-765EC3364EEC}" type="parTrans" cxnId="{59A300C4-8F8B-B94F-BBEA-5657608A73B2}">
      <dgm:prSet/>
      <dgm:spPr/>
      <dgm:t>
        <a:bodyPr/>
        <a:lstStyle/>
        <a:p>
          <a:endParaRPr lang="en-US"/>
        </a:p>
      </dgm:t>
    </dgm:pt>
    <dgm:pt modelId="{D2D9A0D6-9B8C-9644-9B7B-65F8C4974F48}" type="sibTrans" cxnId="{59A300C4-8F8B-B94F-BBEA-5657608A73B2}">
      <dgm:prSet/>
      <dgm:spPr/>
      <dgm:t>
        <a:bodyPr/>
        <a:lstStyle/>
        <a:p>
          <a:endParaRPr lang="en-US"/>
        </a:p>
      </dgm:t>
    </dgm:pt>
    <dgm:pt modelId="{B4271438-B940-7B47-8FAF-9117657D7D72}">
      <dgm:prSet phldrT="[Text]"/>
      <dgm:spPr/>
      <dgm:t>
        <a:bodyPr/>
        <a:lstStyle/>
        <a:p>
          <a:r>
            <a:rPr lang="en-US" dirty="0"/>
            <a:t>Fixed Point</a:t>
          </a:r>
        </a:p>
      </dgm:t>
    </dgm:pt>
    <dgm:pt modelId="{59C29BCE-E229-7C44-9C03-73F6EDFE4B32}" type="parTrans" cxnId="{EC270871-3D65-DB4F-B9F0-92759EDECD73}">
      <dgm:prSet/>
      <dgm:spPr/>
      <dgm:t>
        <a:bodyPr/>
        <a:lstStyle/>
        <a:p>
          <a:endParaRPr lang="en-US"/>
        </a:p>
      </dgm:t>
    </dgm:pt>
    <dgm:pt modelId="{8B39BFA0-3E6A-E340-B579-CF496A73E3D0}" type="sibTrans" cxnId="{EC270871-3D65-DB4F-B9F0-92759EDECD73}">
      <dgm:prSet/>
      <dgm:spPr/>
      <dgm:t>
        <a:bodyPr/>
        <a:lstStyle/>
        <a:p>
          <a:endParaRPr lang="en-US"/>
        </a:p>
      </dgm:t>
    </dgm:pt>
    <dgm:pt modelId="{ACEB3FAF-AE7D-7845-AB54-9A9392306A94}">
      <dgm:prSet phldrT="[Text]"/>
      <dgm:spPr/>
      <dgm:t>
        <a:bodyPr/>
        <a:lstStyle/>
        <a:p>
          <a:r>
            <a:rPr lang="en-US" dirty="0"/>
            <a:t>Higher Performance</a:t>
          </a:r>
        </a:p>
      </dgm:t>
    </dgm:pt>
    <dgm:pt modelId="{FA07560F-9895-F14F-B0A6-3E3D48078C3F}" type="parTrans" cxnId="{ACCB49A5-B078-4B4E-B9FC-AF0D386E6462}">
      <dgm:prSet/>
      <dgm:spPr/>
      <dgm:t>
        <a:bodyPr/>
        <a:lstStyle/>
        <a:p>
          <a:endParaRPr lang="en-US"/>
        </a:p>
      </dgm:t>
    </dgm:pt>
    <dgm:pt modelId="{5FCF4F26-6ECF-FF48-A68C-41C29331CED5}" type="sibTrans" cxnId="{ACCB49A5-B078-4B4E-B9FC-AF0D386E6462}">
      <dgm:prSet/>
      <dgm:spPr/>
      <dgm:t>
        <a:bodyPr/>
        <a:lstStyle/>
        <a:p>
          <a:endParaRPr lang="en-US"/>
        </a:p>
      </dgm:t>
    </dgm:pt>
    <dgm:pt modelId="{A64B28A9-5E34-D345-ABAD-CFD42AFAB009}">
      <dgm:prSet phldrT="[Text]"/>
      <dgm:spPr/>
      <dgm:t>
        <a:bodyPr/>
        <a:lstStyle/>
        <a:p>
          <a:r>
            <a:rPr lang="en-US" dirty="0"/>
            <a:t>Lower Product Cost</a:t>
          </a:r>
        </a:p>
      </dgm:t>
    </dgm:pt>
    <dgm:pt modelId="{10194699-8341-AE47-B601-2F4C67E29518}" type="parTrans" cxnId="{81A3CA5F-99D5-2B43-9891-2BE061283332}">
      <dgm:prSet/>
      <dgm:spPr/>
      <dgm:t>
        <a:bodyPr/>
        <a:lstStyle/>
        <a:p>
          <a:endParaRPr lang="en-US"/>
        </a:p>
      </dgm:t>
    </dgm:pt>
    <dgm:pt modelId="{14A7B154-5E51-734F-8E3A-EE3A9E1FB9EB}" type="sibTrans" cxnId="{81A3CA5F-99D5-2B43-9891-2BE061283332}">
      <dgm:prSet/>
      <dgm:spPr/>
      <dgm:t>
        <a:bodyPr/>
        <a:lstStyle/>
        <a:p>
          <a:endParaRPr lang="en-US"/>
        </a:p>
      </dgm:t>
    </dgm:pt>
    <dgm:pt modelId="{6CDDC9FC-08E6-194F-AB44-916912911EF2}">
      <dgm:prSet/>
      <dgm:spPr/>
      <dgm:t>
        <a:bodyPr/>
        <a:lstStyle/>
        <a:p>
          <a:r>
            <a:rPr lang="en-US" dirty="0"/>
            <a:t>More bits for precision</a:t>
          </a:r>
        </a:p>
      </dgm:t>
    </dgm:pt>
    <dgm:pt modelId="{8AC216A7-2FE0-3745-AEC3-DE5C8B16C79B}" type="parTrans" cxnId="{D0E8C542-1E6A-1A49-B06F-79BA6FBCF20A}">
      <dgm:prSet/>
      <dgm:spPr/>
      <dgm:t>
        <a:bodyPr/>
        <a:lstStyle/>
        <a:p>
          <a:endParaRPr lang="en-US"/>
        </a:p>
      </dgm:t>
    </dgm:pt>
    <dgm:pt modelId="{4F533A3B-638B-464B-A588-2205AC82964B}" type="sibTrans" cxnId="{D0E8C542-1E6A-1A49-B06F-79BA6FBCF20A}">
      <dgm:prSet/>
      <dgm:spPr/>
      <dgm:t>
        <a:bodyPr/>
        <a:lstStyle/>
        <a:p>
          <a:endParaRPr lang="en-US"/>
        </a:p>
      </dgm:t>
    </dgm:pt>
    <dgm:pt modelId="{30743B64-0889-EA47-8B0D-468BF1DCD0E1}" type="pres">
      <dgm:prSet presAssocID="{5C85AC37-E01B-5D42-890D-6B1249024F64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A2596A87-602A-D64A-BE07-FBEAD98FDF78}" type="pres">
      <dgm:prSet presAssocID="{5C85AC37-E01B-5D42-890D-6B1249024F64}" presName="dummyMaxCanvas" presStyleCnt="0"/>
      <dgm:spPr/>
    </dgm:pt>
    <dgm:pt modelId="{203E6AE2-CA81-3640-A7AC-C9B658CAAF08}" type="pres">
      <dgm:prSet presAssocID="{5C85AC37-E01B-5D42-890D-6B1249024F64}" presName="parentComposite" presStyleCnt="0"/>
      <dgm:spPr/>
    </dgm:pt>
    <dgm:pt modelId="{CEBBF3E7-CE1E-884B-97E0-28EC40917FC1}" type="pres">
      <dgm:prSet presAssocID="{5C85AC37-E01B-5D42-890D-6B1249024F64}" presName="parent1" presStyleLbl="alignAccFollowNode1" presStyleIdx="0" presStyleCnt="4">
        <dgm:presLayoutVars>
          <dgm:chMax val="4"/>
        </dgm:presLayoutVars>
      </dgm:prSet>
      <dgm:spPr/>
    </dgm:pt>
    <dgm:pt modelId="{F1AA0A07-55DD-BD42-92F2-2E2DD6F63FCF}" type="pres">
      <dgm:prSet presAssocID="{5C85AC37-E01B-5D42-890D-6B1249024F64}" presName="parent2" presStyleLbl="alignAccFollowNode1" presStyleIdx="1" presStyleCnt="4">
        <dgm:presLayoutVars>
          <dgm:chMax val="4"/>
        </dgm:presLayoutVars>
      </dgm:prSet>
      <dgm:spPr/>
    </dgm:pt>
    <dgm:pt modelId="{1C8837B9-498C-A148-9402-26A54887A86D}" type="pres">
      <dgm:prSet presAssocID="{5C85AC37-E01B-5D42-890D-6B1249024F64}" presName="childrenComposite" presStyleCnt="0"/>
      <dgm:spPr/>
    </dgm:pt>
    <dgm:pt modelId="{9DF07774-5CBA-DF4E-BC14-253549227A34}" type="pres">
      <dgm:prSet presAssocID="{5C85AC37-E01B-5D42-890D-6B1249024F64}" presName="dummyMaxCanvas_ChildArea" presStyleCnt="0"/>
      <dgm:spPr/>
    </dgm:pt>
    <dgm:pt modelId="{1BC4C38C-8DCF-EA4A-8CFF-0ECB9B86E355}" type="pres">
      <dgm:prSet presAssocID="{5C85AC37-E01B-5D42-890D-6B1249024F64}" presName="fulcrum" presStyleLbl="alignAccFollowNode1" presStyleIdx="2" presStyleCnt="4"/>
      <dgm:spPr/>
    </dgm:pt>
    <dgm:pt modelId="{87735EBC-9C2C-2645-82D8-642D72A5710D}" type="pres">
      <dgm:prSet presAssocID="{5C85AC37-E01B-5D42-890D-6B1249024F64}" presName="balance_23" presStyleLbl="alignAccFollowNode1" presStyleIdx="3" presStyleCnt="4">
        <dgm:presLayoutVars>
          <dgm:bulletEnabled val="1"/>
        </dgm:presLayoutVars>
      </dgm:prSet>
      <dgm:spPr/>
    </dgm:pt>
    <dgm:pt modelId="{36882827-6B68-0046-A85D-6B8947AD81E2}" type="pres">
      <dgm:prSet presAssocID="{5C85AC37-E01B-5D42-890D-6B1249024F64}" presName="right_23_1" presStyleLbl="node1" presStyleIdx="0" presStyleCnt="5">
        <dgm:presLayoutVars>
          <dgm:bulletEnabled val="1"/>
        </dgm:presLayoutVars>
      </dgm:prSet>
      <dgm:spPr/>
    </dgm:pt>
    <dgm:pt modelId="{D08658B1-8C0F-6445-B262-DE60880B40C3}" type="pres">
      <dgm:prSet presAssocID="{5C85AC37-E01B-5D42-890D-6B1249024F64}" presName="right_23_2" presStyleLbl="node1" presStyleIdx="1" presStyleCnt="5">
        <dgm:presLayoutVars>
          <dgm:bulletEnabled val="1"/>
        </dgm:presLayoutVars>
      </dgm:prSet>
      <dgm:spPr/>
    </dgm:pt>
    <dgm:pt modelId="{D0C27737-0BFD-214F-9ECB-5D64DFC7AD5E}" type="pres">
      <dgm:prSet presAssocID="{5C85AC37-E01B-5D42-890D-6B1249024F64}" presName="right_23_3" presStyleLbl="node1" presStyleIdx="2" presStyleCnt="5">
        <dgm:presLayoutVars>
          <dgm:bulletEnabled val="1"/>
        </dgm:presLayoutVars>
      </dgm:prSet>
      <dgm:spPr/>
    </dgm:pt>
    <dgm:pt modelId="{BB3BBC36-90DE-1F40-8652-E9D6FD130FAE}" type="pres">
      <dgm:prSet presAssocID="{5C85AC37-E01B-5D42-890D-6B1249024F64}" presName="left_23_1" presStyleLbl="node1" presStyleIdx="3" presStyleCnt="5">
        <dgm:presLayoutVars>
          <dgm:bulletEnabled val="1"/>
        </dgm:presLayoutVars>
      </dgm:prSet>
      <dgm:spPr/>
    </dgm:pt>
    <dgm:pt modelId="{22199B65-2576-9946-8BA7-338828BB5C92}" type="pres">
      <dgm:prSet presAssocID="{5C85AC37-E01B-5D42-890D-6B1249024F64}" presName="left_23_2" presStyleLbl="node1" presStyleIdx="4" presStyleCnt="5">
        <dgm:presLayoutVars>
          <dgm:bulletEnabled val="1"/>
        </dgm:presLayoutVars>
      </dgm:prSet>
      <dgm:spPr/>
    </dgm:pt>
  </dgm:ptLst>
  <dgm:cxnLst>
    <dgm:cxn modelId="{A105A219-F630-7A47-B719-E6DE8DA9D92B}" type="presOf" srcId="{6255E5A6-8A07-A843-A7AD-D502CEFB5584}" destId="{CEBBF3E7-CE1E-884B-97E0-28EC40917FC1}" srcOrd="0" destOrd="0" presId="urn:microsoft.com/office/officeart/2005/8/layout/balance1"/>
    <dgm:cxn modelId="{2EC98039-FB87-DA47-AB27-1AD9B5F895CC}" type="presOf" srcId="{ACEB3FAF-AE7D-7845-AB54-9A9392306A94}" destId="{36882827-6B68-0046-A85D-6B8947AD81E2}" srcOrd="0" destOrd="0" presId="urn:microsoft.com/office/officeart/2005/8/layout/balance1"/>
    <dgm:cxn modelId="{952BF13B-A532-A44F-93F4-E13223C5B154}" srcId="{6255E5A6-8A07-A843-A7AD-D502CEFB5584}" destId="{EB5BA813-5FD9-C046-9002-8EDD4D49B9DA}" srcOrd="0" destOrd="0" parTransId="{3C7D64DC-987D-2C46-9800-F2505641095A}" sibTransId="{01006B11-F937-DA4F-848C-842A527F3C1D}"/>
    <dgm:cxn modelId="{81A3CA5F-99D5-2B43-9891-2BE061283332}" srcId="{B4271438-B940-7B47-8FAF-9117657D7D72}" destId="{A64B28A9-5E34-D345-ABAD-CFD42AFAB009}" srcOrd="2" destOrd="0" parTransId="{10194699-8341-AE47-B601-2F4C67E29518}" sibTransId="{14A7B154-5E51-734F-8E3A-EE3A9E1FB9EB}"/>
    <dgm:cxn modelId="{D0E8C542-1E6A-1A49-B06F-79BA6FBCF20A}" srcId="{B4271438-B940-7B47-8FAF-9117657D7D72}" destId="{6CDDC9FC-08E6-194F-AB44-916912911EF2}" srcOrd="1" destOrd="0" parTransId="{8AC216A7-2FE0-3745-AEC3-DE5C8B16C79B}" sibTransId="{4F533A3B-638B-464B-A588-2205AC82964B}"/>
    <dgm:cxn modelId="{ABAFE562-8F10-0745-BB8C-F1930C9DB625}" type="presOf" srcId="{85D85CB2-FBEA-054D-8678-39B2892A20FC}" destId="{22199B65-2576-9946-8BA7-338828BB5C92}" srcOrd="0" destOrd="0" presId="urn:microsoft.com/office/officeart/2005/8/layout/balance1"/>
    <dgm:cxn modelId="{7F4B9648-057F-A040-B154-14A35FA8AE24}" type="presOf" srcId="{6CDDC9FC-08E6-194F-AB44-916912911EF2}" destId="{D08658B1-8C0F-6445-B262-DE60880B40C3}" srcOrd="0" destOrd="0" presId="urn:microsoft.com/office/officeart/2005/8/layout/balance1"/>
    <dgm:cxn modelId="{EC270871-3D65-DB4F-B9F0-92759EDECD73}" srcId="{5C85AC37-E01B-5D42-890D-6B1249024F64}" destId="{B4271438-B940-7B47-8FAF-9117657D7D72}" srcOrd="1" destOrd="0" parTransId="{59C29BCE-E229-7C44-9C03-73F6EDFE4B32}" sibTransId="{8B39BFA0-3E6A-E340-B579-CF496A73E3D0}"/>
    <dgm:cxn modelId="{128B727E-37EE-0D40-9E1A-80B2CBF50F7F}" type="presOf" srcId="{EB5BA813-5FD9-C046-9002-8EDD4D49B9DA}" destId="{BB3BBC36-90DE-1F40-8652-E9D6FD130FAE}" srcOrd="0" destOrd="0" presId="urn:microsoft.com/office/officeart/2005/8/layout/balance1"/>
    <dgm:cxn modelId="{4FD9F580-2A10-6B4F-9043-0F26CBD85699}" type="presOf" srcId="{5C85AC37-E01B-5D42-890D-6B1249024F64}" destId="{30743B64-0889-EA47-8B0D-468BF1DCD0E1}" srcOrd="0" destOrd="0" presId="urn:microsoft.com/office/officeart/2005/8/layout/balance1"/>
    <dgm:cxn modelId="{4FCF7886-2303-A243-8B4F-9B05211D4C6E}" srcId="{5C85AC37-E01B-5D42-890D-6B1249024F64}" destId="{6255E5A6-8A07-A843-A7AD-D502CEFB5584}" srcOrd="0" destOrd="0" parTransId="{E40FA94D-A94D-8E42-8837-6C6710A0A903}" sibTransId="{EA276170-043F-1746-BA77-0DD99BC7B05E}"/>
    <dgm:cxn modelId="{48C2CC92-B485-D846-82BA-CE9FA1E0D2E2}" type="presOf" srcId="{A64B28A9-5E34-D345-ABAD-CFD42AFAB009}" destId="{D0C27737-0BFD-214F-9ECB-5D64DFC7AD5E}" srcOrd="0" destOrd="0" presId="urn:microsoft.com/office/officeart/2005/8/layout/balance1"/>
    <dgm:cxn modelId="{ACCB49A5-B078-4B4E-B9FC-AF0D386E6462}" srcId="{B4271438-B940-7B47-8FAF-9117657D7D72}" destId="{ACEB3FAF-AE7D-7845-AB54-9A9392306A94}" srcOrd="0" destOrd="0" parTransId="{FA07560F-9895-F14F-B0A6-3E3D48078C3F}" sibTransId="{5FCF4F26-6ECF-FF48-A68C-41C29331CED5}"/>
    <dgm:cxn modelId="{59A300C4-8F8B-B94F-BBEA-5657608A73B2}" srcId="{6255E5A6-8A07-A843-A7AD-D502CEFB5584}" destId="{85D85CB2-FBEA-054D-8678-39B2892A20FC}" srcOrd="1" destOrd="0" parTransId="{7DDBF804-1DE2-BF4B-9D0F-765EC3364EEC}" sibTransId="{D2D9A0D6-9B8C-9644-9B7B-65F8C4974F48}"/>
    <dgm:cxn modelId="{7387E8E4-98AD-AB4F-AE09-E73FAB18A78D}" type="presOf" srcId="{B4271438-B940-7B47-8FAF-9117657D7D72}" destId="{F1AA0A07-55DD-BD42-92F2-2E2DD6F63FCF}" srcOrd="0" destOrd="0" presId="urn:microsoft.com/office/officeart/2005/8/layout/balance1"/>
    <dgm:cxn modelId="{ACC17BB6-5422-4D47-B2B1-586C5D298BE5}" type="presParOf" srcId="{30743B64-0889-EA47-8B0D-468BF1DCD0E1}" destId="{A2596A87-602A-D64A-BE07-FBEAD98FDF78}" srcOrd="0" destOrd="0" presId="urn:microsoft.com/office/officeart/2005/8/layout/balance1"/>
    <dgm:cxn modelId="{D2BDA034-F784-B845-BC36-E10949C7FB5F}" type="presParOf" srcId="{30743B64-0889-EA47-8B0D-468BF1DCD0E1}" destId="{203E6AE2-CA81-3640-A7AC-C9B658CAAF08}" srcOrd="1" destOrd="0" presId="urn:microsoft.com/office/officeart/2005/8/layout/balance1"/>
    <dgm:cxn modelId="{50BFCDD9-81BA-534D-9011-3D935691406A}" type="presParOf" srcId="{203E6AE2-CA81-3640-A7AC-C9B658CAAF08}" destId="{CEBBF3E7-CE1E-884B-97E0-28EC40917FC1}" srcOrd="0" destOrd="0" presId="urn:microsoft.com/office/officeart/2005/8/layout/balance1"/>
    <dgm:cxn modelId="{5622BCC5-2AE7-5C41-81EA-13F003B7CEFD}" type="presParOf" srcId="{203E6AE2-CA81-3640-A7AC-C9B658CAAF08}" destId="{F1AA0A07-55DD-BD42-92F2-2E2DD6F63FCF}" srcOrd="1" destOrd="0" presId="urn:microsoft.com/office/officeart/2005/8/layout/balance1"/>
    <dgm:cxn modelId="{2FA04FF1-0037-CB43-901D-7AED39776054}" type="presParOf" srcId="{30743B64-0889-EA47-8B0D-468BF1DCD0E1}" destId="{1C8837B9-498C-A148-9402-26A54887A86D}" srcOrd="2" destOrd="0" presId="urn:microsoft.com/office/officeart/2005/8/layout/balance1"/>
    <dgm:cxn modelId="{62851EC3-D49A-BD4F-80F7-387CBF4ED68A}" type="presParOf" srcId="{1C8837B9-498C-A148-9402-26A54887A86D}" destId="{9DF07774-5CBA-DF4E-BC14-253549227A34}" srcOrd="0" destOrd="0" presId="urn:microsoft.com/office/officeart/2005/8/layout/balance1"/>
    <dgm:cxn modelId="{85DADE22-581B-1848-AB8B-ECCE5720173C}" type="presParOf" srcId="{1C8837B9-498C-A148-9402-26A54887A86D}" destId="{1BC4C38C-8DCF-EA4A-8CFF-0ECB9B86E355}" srcOrd="1" destOrd="0" presId="urn:microsoft.com/office/officeart/2005/8/layout/balance1"/>
    <dgm:cxn modelId="{40EAD6E5-BDE6-864B-851B-39C993DD3502}" type="presParOf" srcId="{1C8837B9-498C-A148-9402-26A54887A86D}" destId="{87735EBC-9C2C-2645-82D8-642D72A5710D}" srcOrd="2" destOrd="0" presId="urn:microsoft.com/office/officeart/2005/8/layout/balance1"/>
    <dgm:cxn modelId="{C1325AE0-1F11-ED47-BCB1-451FC7084A81}" type="presParOf" srcId="{1C8837B9-498C-A148-9402-26A54887A86D}" destId="{36882827-6B68-0046-A85D-6B8947AD81E2}" srcOrd="3" destOrd="0" presId="urn:microsoft.com/office/officeart/2005/8/layout/balance1"/>
    <dgm:cxn modelId="{2E01BE6E-EBC6-FD4A-8DB6-53D3A9C7D4D5}" type="presParOf" srcId="{1C8837B9-498C-A148-9402-26A54887A86D}" destId="{D08658B1-8C0F-6445-B262-DE60880B40C3}" srcOrd="4" destOrd="0" presId="urn:microsoft.com/office/officeart/2005/8/layout/balance1"/>
    <dgm:cxn modelId="{67FA81AB-C55E-E540-9B0A-CDCBD87E897C}" type="presParOf" srcId="{1C8837B9-498C-A148-9402-26A54887A86D}" destId="{D0C27737-0BFD-214F-9ECB-5D64DFC7AD5E}" srcOrd="5" destOrd="0" presId="urn:microsoft.com/office/officeart/2005/8/layout/balance1"/>
    <dgm:cxn modelId="{A15E4502-BF66-444F-BB8E-1FE669D4E514}" type="presParOf" srcId="{1C8837B9-498C-A148-9402-26A54887A86D}" destId="{BB3BBC36-90DE-1F40-8652-E9D6FD130FAE}" srcOrd="6" destOrd="0" presId="urn:microsoft.com/office/officeart/2005/8/layout/balance1"/>
    <dgm:cxn modelId="{15DCC95A-DBC0-4442-8901-67450BE81529}" type="presParOf" srcId="{1C8837B9-498C-A148-9402-26A54887A86D}" destId="{22199B65-2576-9946-8BA7-338828BB5C92}" srcOrd="7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BBF3E7-CE1E-884B-97E0-28EC40917FC1}">
      <dsp:nvSpPr>
        <dsp:cNvPr id="0" name=""/>
        <dsp:cNvSpPr/>
      </dsp:nvSpPr>
      <dsp:spPr>
        <a:xfrm>
          <a:off x="1259840" y="0"/>
          <a:ext cx="1463040" cy="8128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Floating Point</a:t>
          </a:r>
        </a:p>
      </dsp:txBody>
      <dsp:txXfrm>
        <a:off x="1283646" y="23806"/>
        <a:ext cx="1415428" cy="765188"/>
      </dsp:txXfrm>
    </dsp:sp>
    <dsp:sp modelId="{F1AA0A07-55DD-BD42-92F2-2E2DD6F63FCF}">
      <dsp:nvSpPr>
        <dsp:cNvPr id="0" name=""/>
        <dsp:cNvSpPr/>
      </dsp:nvSpPr>
      <dsp:spPr>
        <a:xfrm>
          <a:off x="3373120" y="0"/>
          <a:ext cx="1463040" cy="8128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Fixed Point</a:t>
          </a:r>
        </a:p>
      </dsp:txBody>
      <dsp:txXfrm>
        <a:off x="3396926" y="23806"/>
        <a:ext cx="1415428" cy="765188"/>
      </dsp:txXfrm>
    </dsp:sp>
    <dsp:sp modelId="{1BC4C38C-8DCF-EA4A-8CFF-0ECB9B86E355}">
      <dsp:nvSpPr>
        <dsp:cNvPr id="0" name=""/>
        <dsp:cNvSpPr/>
      </dsp:nvSpPr>
      <dsp:spPr>
        <a:xfrm>
          <a:off x="2743200" y="3454400"/>
          <a:ext cx="609600" cy="609600"/>
        </a:xfrm>
        <a:prstGeom prst="triangl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735EBC-9C2C-2645-82D8-642D72A5710D}">
      <dsp:nvSpPr>
        <dsp:cNvPr id="0" name=""/>
        <dsp:cNvSpPr/>
      </dsp:nvSpPr>
      <dsp:spPr>
        <a:xfrm rot="240000">
          <a:off x="1218641" y="3193179"/>
          <a:ext cx="3658717" cy="2558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882827-6B68-0046-A85D-6B8947AD81E2}">
      <dsp:nvSpPr>
        <dsp:cNvPr id="0" name=""/>
        <dsp:cNvSpPr/>
      </dsp:nvSpPr>
      <dsp:spPr>
        <a:xfrm rot="240000">
          <a:off x="3415383" y="2553510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Higher Performance</a:t>
          </a:r>
        </a:p>
      </dsp:txBody>
      <dsp:txXfrm>
        <a:off x="3448583" y="2586710"/>
        <a:ext cx="1393393" cy="613714"/>
      </dsp:txXfrm>
    </dsp:sp>
    <dsp:sp modelId="{D08658B1-8C0F-6445-B262-DE60880B40C3}">
      <dsp:nvSpPr>
        <dsp:cNvPr id="0" name=""/>
        <dsp:cNvSpPr/>
      </dsp:nvSpPr>
      <dsp:spPr>
        <a:xfrm rot="240000">
          <a:off x="3468215" y="1821990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More bits for precision</a:t>
          </a:r>
        </a:p>
      </dsp:txBody>
      <dsp:txXfrm>
        <a:off x="3501415" y="1855190"/>
        <a:ext cx="1393393" cy="613714"/>
      </dsp:txXfrm>
    </dsp:sp>
    <dsp:sp modelId="{D0C27737-0BFD-214F-9ECB-5D64DFC7AD5E}">
      <dsp:nvSpPr>
        <dsp:cNvPr id="0" name=""/>
        <dsp:cNvSpPr/>
      </dsp:nvSpPr>
      <dsp:spPr>
        <a:xfrm rot="240000">
          <a:off x="3521047" y="1106726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Lower Product Cost</a:t>
          </a:r>
        </a:p>
      </dsp:txBody>
      <dsp:txXfrm>
        <a:off x="3554247" y="1139926"/>
        <a:ext cx="1393393" cy="613714"/>
      </dsp:txXfrm>
    </dsp:sp>
    <dsp:sp modelId="{BB3BBC36-90DE-1F40-8652-E9D6FD130FAE}">
      <dsp:nvSpPr>
        <dsp:cNvPr id="0" name=""/>
        <dsp:cNvSpPr/>
      </dsp:nvSpPr>
      <dsp:spPr>
        <a:xfrm rot="240000">
          <a:off x="1322423" y="2407206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Shorter Development Time</a:t>
          </a:r>
        </a:p>
      </dsp:txBody>
      <dsp:txXfrm>
        <a:off x="1355623" y="2440406"/>
        <a:ext cx="1393393" cy="613714"/>
      </dsp:txXfrm>
    </dsp:sp>
    <dsp:sp modelId="{22199B65-2576-9946-8BA7-338828BB5C92}">
      <dsp:nvSpPr>
        <dsp:cNvPr id="0" name=""/>
        <dsp:cNvSpPr/>
      </dsp:nvSpPr>
      <dsp:spPr>
        <a:xfrm rot="240000">
          <a:off x="1375255" y="1675686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Wide Dynamic Range</a:t>
          </a:r>
        </a:p>
      </dsp:txBody>
      <dsp:txXfrm>
        <a:off x="1408455" y="1708886"/>
        <a:ext cx="1393393" cy="6137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97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6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https://mp.weixin.qq.com/s/LQgPT8opkjjZzbn0nUevUw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56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位有符号整数的范围是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-128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81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10000101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15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05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3E172-3650-4C7B-5F97-C2985931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9BEE9-8813-91E7-C25E-ECAFC22B8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0FC57-0B47-CFB9-C2E6-7A994D940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A6760-4D05-8CBB-BFE2-B1758E532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71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82036-57E8-E006-F2B6-1D42B0FD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04ACF-D534-FB9F-4019-35120748A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241FA-60F4-CA54-5FE1-090B067BE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9D12C-113C-590C-F762-9AE2C0DCD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24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32-9=23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23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52D85-D859-2CF8-7D62-5A49E921D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DF6E65-26C7-0006-F5A4-55C9D5378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A1A13-74FB-B694-8E30-7E1DD0742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C9427-E730-9A2A-12E7-328DE01C1A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7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C00000"/>
                </a:solidFill>
              </a:rPr>
              <a:t>Numbers farthest from zero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35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https://www.edge-ai-vision.com/2025/08/introduction-to-data-types-for-ai-trade-offs-and-trends-a-presentation-from-synopsys/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07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11/2/2025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11/2/2025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3.emf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_Knvo9NuJ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_Knvo9NuJ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2gIxbTn7GSc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4DfXdJdaNYs" TargetMode="External"/><Relationship Id="rId2" Type="http://schemas.openxmlformats.org/officeDocument/2006/relationships/hyperlink" Target="https://www.youtube.com/watch?v=W_Knvo9NuJY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9k5rdPUzij8&amp;list=PL-ftFcielQtGxBUfzkbz9tWlRZb-rlJ2p&amp;index=2" TargetMode="External"/><Relationship Id="rId4" Type="http://schemas.openxmlformats.org/officeDocument/2006/relationships/hyperlink" Target="https://www.youtube.com/watch?v=2gIxbTn7GS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95800" y="304101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1530" y="1795354"/>
            <a:ext cx="32548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13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</a:t>
            </a:r>
            <a:r>
              <a:rPr lang="en-US" altLang="zh-CN" sz="2400" b="1" dirty="0">
                <a:solidFill>
                  <a:srgbClr val="C00000"/>
                </a:solidFill>
              </a:rPr>
              <a:t>ixed</a:t>
            </a:r>
            <a:r>
              <a:rPr lang="en-US" sz="2400" b="1" dirty="0">
                <a:solidFill>
                  <a:srgbClr val="C00000"/>
                </a:solidFill>
              </a:rPr>
              <a:t>-point Numbers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FF092-3585-B13B-58A3-B49646BFFF15}"/>
              </a:ext>
            </a:extLst>
          </p:cNvPr>
          <p:cNvSpPr txBox="1"/>
          <p:nvPr/>
        </p:nvSpPr>
        <p:spPr>
          <a:xfrm>
            <a:off x="3349753" y="6082784"/>
            <a:ext cx="5794293" cy="369332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685800"/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  <a:hlinkClick r:id="rId2"/>
              </a:rPr>
              <a:t>https://web.eece.maine.edu/~zhu/book/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 </a:t>
            </a:r>
            <a:endParaRPr lang="en-SE" sz="900" dirty="0">
              <a:solidFill>
                <a:prstClr val="black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00123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84" y="133597"/>
            <a:ext cx="8534400" cy="990600"/>
          </a:xfrm>
        </p:spPr>
        <p:txBody>
          <a:bodyPr>
            <a:normAutofit/>
          </a:bodyPr>
          <a:lstStyle/>
          <a:p>
            <a:r>
              <a:rPr lang="en-US" dirty="0"/>
              <a:t>Fixed-point Format: Q Notation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F65C89-F52C-994A-AF02-27E9DEE7ACC7}"/>
              </a:ext>
            </a:extLst>
          </p:cNvPr>
          <p:cNvSpPr/>
          <p:nvPr/>
        </p:nvSpPr>
        <p:spPr>
          <a:xfrm>
            <a:off x="3505200" y="2133600"/>
            <a:ext cx="2590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Integer Part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58D1FD-D3AE-E64B-86C2-C7A181B47511}"/>
              </a:ext>
            </a:extLst>
          </p:cNvPr>
          <p:cNvSpPr/>
          <p:nvPr/>
        </p:nvSpPr>
        <p:spPr>
          <a:xfrm>
            <a:off x="6288024" y="2133600"/>
            <a:ext cx="2362200" cy="381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Fractional Part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FDDF5F3D-E5B9-314A-9072-B1E7D2334494}"/>
              </a:ext>
            </a:extLst>
          </p:cNvPr>
          <p:cNvSpPr/>
          <p:nvPr/>
        </p:nvSpPr>
        <p:spPr>
          <a:xfrm rot="5400000">
            <a:off x="7350517" y="1546290"/>
            <a:ext cx="228600" cy="2353586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8ED4DB57-0542-5F46-AAE1-8C41E6325359}"/>
              </a:ext>
            </a:extLst>
          </p:cNvPr>
          <p:cNvSpPr/>
          <p:nvPr/>
        </p:nvSpPr>
        <p:spPr>
          <a:xfrm rot="5400000">
            <a:off x="4686300" y="1438833"/>
            <a:ext cx="228600" cy="2590800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574D68-224A-1149-810A-A387FCDA60A3}"/>
              </a:ext>
            </a:extLst>
          </p:cNvPr>
          <p:cNvSpPr txBox="1"/>
          <p:nvPr/>
        </p:nvSpPr>
        <p:spPr>
          <a:xfrm>
            <a:off x="4421330" y="2848533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 bits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7272C4-4B35-5940-ABC9-5ED7704347F2}"/>
              </a:ext>
            </a:extLst>
          </p:cNvPr>
          <p:cNvSpPr txBox="1"/>
          <p:nvPr/>
        </p:nvSpPr>
        <p:spPr>
          <a:xfrm>
            <a:off x="7121112" y="2857986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bits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6A4605F-C33B-6843-B18A-E06D9A133C72}"/>
              </a:ext>
            </a:extLst>
          </p:cNvPr>
          <p:cNvSpPr/>
          <p:nvPr/>
        </p:nvSpPr>
        <p:spPr>
          <a:xfrm>
            <a:off x="6153912" y="2477976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6428A0-DFA0-D443-BD4A-0BC75EA280F1}"/>
              </a:ext>
            </a:extLst>
          </p:cNvPr>
          <p:cNvSpPr txBox="1"/>
          <p:nvPr/>
        </p:nvSpPr>
        <p:spPr>
          <a:xfrm>
            <a:off x="615714" y="1454970"/>
            <a:ext cx="4164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+mj-lt"/>
                <a:cs typeface="Consolas" panose="020B0609020204030204" pitchFamily="49" charset="0"/>
              </a:rPr>
              <a:t>UQm.n</a:t>
            </a:r>
            <a:r>
              <a:rPr lang="en-US" sz="2000" dirty="0">
                <a:latin typeface="+mj-lt"/>
                <a:cs typeface="Consolas" panose="020B0609020204030204" pitchFamily="49" charset="0"/>
              </a:rPr>
              <a:t> for unsigned fixed-point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2D7E4E6-0593-E046-814C-3F67CCBD1825}"/>
              </a:ext>
            </a:extLst>
          </p:cNvPr>
          <p:cNvGrpSpPr/>
          <p:nvPr/>
        </p:nvGrpSpPr>
        <p:grpSpPr>
          <a:xfrm>
            <a:off x="628684" y="3762733"/>
            <a:ext cx="8041594" cy="2464314"/>
            <a:chOff x="-895317" y="3762733"/>
            <a:chExt cx="8041594" cy="246431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9B2AD9-3899-C048-B6CD-31308B725940}"/>
                </a:ext>
              </a:extLst>
            </p:cNvPr>
            <p:cNvSpPr/>
            <p:nvPr/>
          </p:nvSpPr>
          <p:spPr>
            <a:xfrm>
              <a:off x="2180380" y="4497740"/>
              <a:ext cx="239162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Integer Part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8298B1C-732F-ED43-9FA2-7FDDF0222880}"/>
                </a:ext>
              </a:extLst>
            </p:cNvPr>
            <p:cNvSpPr/>
            <p:nvPr/>
          </p:nvSpPr>
          <p:spPr>
            <a:xfrm>
              <a:off x="4764024" y="4501865"/>
              <a:ext cx="2362200" cy="381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Fractional Part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61075A8-E9AC-3143-8E73-24E7C37827B1}"/>
                </a:ext>
              </a:extLst>
            </p:cNvPr>
            <p:cNvSpPr/>
            <p:nvPr/>
          </p:nvSpPr>
          <p:spPr>
            <a:xfrm>
              <a:off x="1972586" y="4497740"/>
              <a:ext cx="228600" cy="381000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7503E1B-97C5-3E49-B880-46683FFDE3C9}"/>
                </a:ext>
              </a:extLst>
            </p:cNvPr>
            <p:cNvSpPr/>
            <p:nvPr/>
          </p:nvSpPr>
          <p:spPr>
            <a:xfrm>
              <a:off x="4629912" y="4840640"/>
              <a:ext cx="76200" cy="7619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ight Brace 21">
              <a:extLst>
                <a:ext uri="{FF2B5EF4-FFF2-40B4-BE49-F238E27FC236}">
                  <a16:creationId xmlns:a16="http://schemas.microsoft.com/office/drawing/2014/main" id="{DC18E5A2-91AB-C34B-AD04-2B40A8AB2FFD}"/>
                </a:ext>
              </a:extLst>
            </p:cNvPr>
            <p:cNvSpPr/>
            <p:nvPr/>
          </p:nvSpPr>
          <p:spPr>
            <a:xfrm rot="5400000">
              <a:off x="5855184" y="3953141"/>
              <a:ext cx="228600" cy="2353586"/>
            </a:xfrm>
            <a:prstGeom prst="rightBrace">
              <a:avLst>
                <a:gd name="adj1" fmla="val 32681"/>
                <a:gd name="adj2" fmla="val 5000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Brace 22">
              <a:extLst>
                <a:ext uri="{FF2B5EF4-FFF2-40B4-BE49-F238E27FC236}">
                  <a16:creationId xmlns:a16="http://schemas.microsoft.com/office/drawing/2014/main" id="{E9D1ED51-DA99-7243-86FC-B792B4998765}"/>
                </a:ext>
              </a:extLst>
            </p:cNvPr>
            <p:cNvSpPr/>
            <p:nvPr/>
          </p:nvSpPr>
          <p:spPr>
            <a:xfrm rot="5400000">
              <a:off x="3257583" y="3934307"/>
              <a:ext cx="228600" cy="2383006"/>
            </a:xfrm>
            <a:prstGeom prst="rightBrace">
              <a:avLst>
                <a:gd name="adj1" fmla="val 32681"/>
                <a:gd name="adj2" fmla="val 5000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66FE765-B908-F946-B0C0-D9245A2B742C}"/>
                </a:ext>
              </a:extLst>
            </p:cNvPr>
            <p:cNvSpPr txBox="1"/>
            <p:nvPr/>
          </p:nvSpPr>
          <p:spPr>
            <a:xfrm>
              <a:off x="2828104" y="5229177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 bits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719CF6A-7FDC-9342-A006-757DBAE18CF1}"/>
                </a:ext>
              </a:extLst>
            </p:cNvPr>
            <p:cNvSpPr txBox="1"/>
            <p:nvPr/>
          </p:nvSpPr>
          <p:spPr>
            <a:xfrm>
              <a:off x="5621472" y="5244235"/>
              <a:ext cx="696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 bits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7669D87-4CAB-CA43-A171-3FF4309D9B67}"/>
                </a:ext>
              </a:extLst>
            </p:cNvPr>
            <p:cNvCxnSpPr/>
            <p:nvPr/>
          </p:nvCxnSpPr>
          <p:spPr>
            <a:xfrm flipH="1">
              <a:off x="1795007" y="4825576"/>
              <a:ext cx="177579" cy="2817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4A5C9FE-098E-7041-8873-48CB18A7EDD8}"/>
                </a:ext>
              </a:extLst>
            </p:cNvPr>
            <p:cNvSpPr txBox="1"/>
            <p:nvPr/>
          </p:nvSpPr>
          <p:spPr>
            <a:xfrm>
              <a:off x="1188455" y="5112454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sign bit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9AADF69-4B13-7A40-9AC7-E644F0E981DA}"/>
                </a:ext>
              </a:extLst>
            </p:cNvPr>
            <p:cNvSpPr txBox="1"/>
            <p:nvPr/>
          </p:nvSpPr>
          <p:spPr>
            <a:xfrm>
              <a:off x="-895317" y="3762733"/>
              <a:ext cx="36199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latin typeface="+mj-lt"/>
                  <a:cs typeface="Consolas" panose="020B0609020204030204" pitchFamily="49" charset="0"/>
                </a:rPr>
                <a:t>Qm.n</a:t>
              </a:r>
              <a:r>
                <a:rPr lang="en-US" sz="2000" dirty="0">
                  <a:latin typeface="+mj-lt"/>
                  <a:cs typeface="Consolas" panose="020B0609020204030204" pitchFamily="49" charset="0"/>
                </a:rPr>
                <a:t> for signed fixed-point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F3A148B-7F3C-4943-B253-9077A2B144B7}"/>
                </a:ext>
              </a:extLst>
            </p:cNvPr>
            <p:cNvSpPr txBox="1"/>
            <p:nvPr/>
          </p:nvSpPr>
          <p:spPr>
            <a:xfrm>
              <a:off x="3622570" y="5857715"/>
              <a:ext cx="18389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m + n + 1 </a:t>
              </a:r>
              <a:r>
                <a:rPr lang="en-US" b="1" dirty="0"/>
                <a:t>bits</a:t>
              </a: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B12F7A-1228-CF45-8B9E-0B02E55C55DF}"/>
              </a:ext>
            </a:extLst>
          </p:cNvPr>
          <p:cNvCxnSpPr/>
          <p:nvPr/>
        </p:nvCxnSpPr>
        <p:spPr>
          <a:xfrm>
            <a:off x="6193909" y="2618018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CF2B3ED-A492-FA4C-B788-1942E60CE47C}"/>
              </a:ext>
            </a:extLst>
          </p:cNvPr>
          <p:cNvSpPr txBox="1"/>
          <p:nvPr/>
        </p:nvSpPr>
        <p:spPr>
          <a:xfrm>
            <a:off x="5510607" y="3045397"/>
            <a:ext cx="136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Radix Point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1E5B112-7229-6848-B76D-F95A05EAE75B}"/>
              </a:ext>
            </a:extLst>
          </p:cNvPr>
          <p:cNvCxnSpPr/>
          <p:nvPr/>
        </p:nvCxnSpPr>
        <p:spPr>
          <a:xfrm>
            <a:off x="6204529" y="5000560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7EE6A05-5FF9-884E-B4C8-6061A5BD6924}"/>
              </a:ext>
            </a:extLst>
          </p:cNvPr>
          <p:cNvSpPr txBox="1"/>
          <p:nvPr/>
        </p:nvSpPr>
        <p:spPr>
          <a:xfrm>
            <a:off x="5553797" y="5406212"/>
            <a:ext cx="1301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Radix Point</a:t>
            </a:r>
          </a:p>
        </p:txBody>
      </p:sp>
    </p:spTree>
    <p:extLst>
      <p:ext uri="{BB962C8B-B14F-4D97-AF65-F5344CB8AC3E}">
        <p14:creationId xmlns:p14="http://schemas.microsoft.com/office/powerpoint/2010/main" val="407164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588" y="122623"/>
            <a:ext cx="8534400" cy="990600"/>
          </a:xfrm>
        </p:spPr>
        <p:txBody>
          <a:bodyPr>
            <a:normAutofit/>
          </a:bodyPr>
          <a:lstStyle/>
          <a:p>
            <a:r>
              <a:rPr lang="en-US" dirty="0"/>
              <a:t>Q Notation: </a:t>
            </a:r>
            <a:r>
              <a:rPr lang="en-US" b="1" dirty="0" err="1">
                <a:solidFill>
                  <a:srgbClr val="C00000"/>
                </a:solidFill>
              </a:rPr>
              <a:t>UQm.n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553201" y="1734573"/>
                <a:ext cx="25937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𝒇</m:t>
                      </m:r>
                      <m:r>
                        <a:rPr lang="en-US" sz="24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𝒉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𝒍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1" y="1734573"/>
                <a:ext cx="2593787" cy="461665"/>
              </a:xfrm>
              <a:prstGeom prst="rect">
                <a:avLst/>
              </a:prstGeom>
              <a:blipFill>
                <a:blip r:embed="rId2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3865526"/>
            <a:ext cx="3495675" cy="156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934076" y="4191001"/>
                <a:ext cx="427672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/>
                        </a:rPr>
                        <m:t>101</m:t>
                      </m:r>
                      <m:r>
                        <a:rPr lang="en-US" sz="2400">
                          <a:latin typeface="Cambria Math"/>
                        </a:rPr>
                        <m:t>01</m:t>
                      </m:r>
                      <m:r>
                        <a:rPr lang="en-US" sz="2400">
                          <a:latin typeface="Cambria Math"/>
                        </a:rPr>
                        <m:t>.</m:t>
                      </m:r>
                      <m:r>
                        <a:rPr lang="en-US" sz="2400">
                          <a:latin typeface="Cambria Math"/>
                        </a:rPr>
                        <m:t>10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2</m:t>
                          </m:r>
                          <m:r>
                            <a:rPr lang="en-US" sz="2400">
                              <a:latin typeface="Cambria Math"/>
                            </a:rPr>
                            <m:t> </m:t>
                          </m:r>
                        </m:sub>
                      </m:sSub>
                      <m:r>
                        <a:rPr lang="en-US" sz="240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076" y="4191001"/>
                <a:ext cx="4276725" cy="461665"/>
              </a:xfrm>
              <a:prstGeom prst="rect">
                <a:avLst/>
              </a:prstGeom>
              <a:blipFill>
                <a:blip r:embed="rId4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689586" y="4719936"/>
                <a:ext cx="215578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</m:t>
                      </m:r>
                      <m:r>
                        <a:rPr lang="en-US" sz="2400">
                          <a:latin typeface="Cambria Math"/>
                        </a:rPr>
                        <m:t>21</m:t>
                      </m:r>
                      <m:r>
                        <a:rPr lang="en-US" sz="2400">
                          <a:latin typeface="Cambria Math"/>
                        </a:rPr>
                        <m:t>+</m:t>
                      </m:r>
                      <m:r>
                        <a:rPr lang="en-US" sz="2400">
                          <a:latin typeface="Cambria Math"/>
                        </a:rPr>
                        <m:t>5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586" y="4719936"/>
                <a:ext cx="215578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723766" y="5253336"/>
                <a:ext cx="14964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</m:t>
                      </m:r>
                      <m:r>
                        <a:rPr lang="en-US" sz="2400">
                          <a:latin typeface="Cambria Math"/>
                        </a:rPr>
                        <m:t>21</m:t>
                      </m:r>
                      <m:r>
                        <a:rPr lang="en-US" sz="2400">
                          <a:latin typeface="Cambria Math"/>
                        </a:rPr>
                        <m:t>.</m:t>
                      </m:r>
                      <m:r>
                        <a:rPr lang="en-US" sz="2400">
                          <a:latin typeface="Cambria Math"/>
                        </a:rPr>
                        <m:t>625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766" y="5253336"/>
                <a:ext cx="149643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9876" y="1295401"/>
            <a:ext cx="4235944" cy="20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681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B84E-23D7-EF42-AD9A-2FD16AB4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Fixed-point </a:t>
            </a:r>
            <a:r>
              <a:rPr lang="en-US" dirty="0">
                <a:solidFill>
                  <a:srgbClr val="C00000"/>
                </a:solidFill>
              </a:rPr>
              <a:t>UQ5.3</a:t>
            </a:r>
            <a:r>
              <a:rPr lang="en-US" dirty="0"/>
              <a:t> to Float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4A73-41F6-7242-AA10-FB202C6CE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FFBCBF-1E84-844F-A05E-70732418C1D8}"/>
              </a:ext>
            </a:extLst>
          </p:cNvPr>
          <p:cNvGraphicFramePr>
            <a:graphicFrameLocks noGrp="1"/>
          </p:cNvGraphicFramePr>
          <p:nvPr/>
        </p:nvGraphicFramePr>
        <p:xfrm>
          <a:off x="2819400" y="1676400"/>
          <a:ext cx="6096000" cy="828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9608722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120367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361635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5023902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86361807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184029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8040905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66764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4</a:t>
                      </a:r>
                      <a:endParaRPr lang="en-US" baseline="30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2172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45596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/>
              <p:nvPr/>
            </p:nvSpPr>
            <p:spPr>
              <a:xfrm>
                <a:off x="1905001" y="3664416"/>
                <a:ext cx="8922689" cy="15081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endParaRPr lang="en-US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endParaRPr lang="en-US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21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.625</m:t>
                      </m:r>
                    </m:oMath>
                  </m:oMathPara>
                </a14:m>
                <a:endParaRPr 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1" y="3664416"/>
                <a:ext cx="8922689" cy="15081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41DCFD71-547D-294F-BA74-45C2EF4B531A}"/>
              </a:ext>
            </a:extLst>
          </p:cNvPr>
          <p:cNvSpPr/>
          <p:nvPr/>
        </p:nvSpPr>
        <p:spPr>
          <a:xfrm rot="5400000">
            <a:off x="4497324" y="960158"/>
            <a:ext cx="228600" cy="3578352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FD32-5D8D-D44B-B333-A9AC97BC1092}"/>
              </a:ext>
            </a:extLst>
          </p:cNvPr>
          <p:cNvSpPr txBox="1"/>
          <p:nvPr/>
        </p:nvSpPr>
        <p:spPr>
          <a:xfrm>
            <a:off x="3963145" y="2929074"/>
            <a:ext cx="129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 Part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6A33F13-8E9F-354C-827C-6EE65EBEEA57}"/>
              </a:ext>
            </a:extLst>
          </p:cNvPr>
          <p:cNvSpPr/>
          <p:nvPr/>
        </p:nvSpPr>
        <p:spPr>
          <a:xfrm rot="5400000">
            <a:off x="7799898" y="1758735"/>
            <a:ext cx="228600" cy="1981200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A91736-9BB8-BA43-926F-CA096C87BB08}"/>
              </a:ext>
            </a:extLst>
          </p:cNvPr>
          <p:cNvSpPr txBox="1"/>
          <p:nvPr/>
        </p:nvSpPr>
        <p:spPr>
          <a:xfrm>
            <a:off x="7136678" y="2921895"/>
            <a:ext cx="1555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Fractional Part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0D60508-FCE6-254C-AB22-B433E6168A6F}"/>
                  </a:ext>
                </a:extLst>
              </p:cNvPr>
              <p:cNvSpPr/>
              <p:nvPr/>
            </p:nvSpPr>
            <p:spPr>
              <a:xfrm>
                <a:off x="1828801" y="5385050"/>
                <a:ext cx="5923059" cy="6705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US" sz="20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10101101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173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=21.625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0D60508-FCE6-254C-AB22-B433E6168A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1" y="5385050"/>
                <a:ext cx="5923059" cy="670568"/>
              </a:xfrm>
              <a:prstGeom prst="rect">
                <a:avLst/>
              </a:prstGeom>
              <a:blipFill>
                <a:blip r:embed="rId4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5C742A56-BC97-D34C-BEEC-4FBC71B7F89A}"/>
              </a:ext>
            </a:extLst>
          </p:cNvPr>
          <p:cNvSpPr/>
          <p:nvPr/>
        </p:nvSpPr>
        <p:spPr>
          <a:xfrm>
            <a:off x="6591300" y="2334248"/>
            <a:ext cx="76200" cy="76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D3C55D-5D39-C947-8F39-5654725F5B52}"/>
              </a:ext>
            </a:extLst>
          </p:cNvPr>
          <p:cNvCxnSpPr/>
          <p:nvPr/>
        </p:nvCxnSpPr>
        <p:spPr>
          <a:xfrm>
            <a:off x="6629400" y="2547166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B0F79D3-4478-4D48-9D4D-6F44633C14AA}"/>
              </a:ext>
            </a:extLst>
          </p:cNvPr>
          <p:cNvSpPr txBox="1"/>
          <p:nvPr/>
        </p:nvSpPr>
        <p:spPr>
          <a:xfrm>
            <a:off x="6244520" y="2898752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Radix </a:t>
            </a:r>
          </a:p>
          <a:p>
            <a:pPr algn="ctr"/>
            <a:r>
              <a:rPr lang="en-US" dirty="0"/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val="230364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B84E-23D7-EF42-AD9A-2FD16AB4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Fixed-point </a:t>
            </a:r>
            <a:r>
              <a:rPr lang="en-US" dirty="0">
                <a:solidFill>
                  <a:srgbClr val="C00000"/>
                </a:solidFill>
              </a:rPr>
              <a:t>Q4.3</a:t>
            </a:r>
            <a:r>
              <a:rPr lang="en-US" dirty="0"/>
              <a:t> to Float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4A73-41F6-7242-AA10-FB202C6CE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FFBCBF-1E84-844F-A05E-70732418C1D8}"/>
              </a:ext>
            </a:extLst>
          </p:cNvPr>
          <p:cNvGraphicFramePr>
            <a:graphicFrameLocks noGrp="1"/>
          </p:cNvGraphicFramePr>
          <p:nvPr/>
        </p:nvGraphicFramePr>
        <p:xfrm>
          <a:off x="2819400" y="1676400"/>
          <a:ext cx="6096000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9608722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120367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361635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5023902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86361807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184029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8040905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66764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FF"/>
                          </a:solidFill>
                        </a:rPr>
                        <a:t>-2</a:t>
                      </a:r>
                      <a:r>
                        <a:rPr lang="en-US" sz="2000" b="1" baseline="30000" dirty="0">
                          <a:solidFill>
                            <a:srgbClr val="0000FF"/>
                          </a:solidFill>
                        </a:rPr>
                        <a:t>4</a:t>
                      </a:r>
                      <a:endParaRPr lang="en-US" sz="2000" b="1" baseline="300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2172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455968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572FC781-D6CA-B049-B604-EAA5CFCB5413}"/>
              </a:ext>
            </a:extLst>
          </p:cNvPr>
          <p:cNvSpPr/>
          <p:nvPr/>
        </p:nvSpPr>
        <p:spPr>
          <a:xfrm>
            <a:off x="6591300" y="2334248"/>
            <a:ext cx="76200" cy="76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/>
              <p:nvPr/>
            </p:nvSpPr>
            <p:spPr>
              <a:xfrm>
                <a:off x="2385392" y="5465047"/>
                <a:ext cx="5923059" cy="6705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US" sz="20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10101101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−83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=−10.375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92" y="5465047"/>
                <a:ext cx="5923059" cy="670568"/>
              </a:xfrm>
              <a:prstGeom prst="rect">
                <a:avLst/>
              </a:prstGeom>
              <a:blipFill>
                <a:blip r:embed="rId2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41DCFD71-547D-294F-BA74-45C2EF4B531A}"/>
              </a:ext>
            </a:extLst>
          </p:cNvPr>
          <p:cNvSpPr/>
          <p:nvPr/>
        </p:nvSpPr>
        <p:spPr>
          <a:xfrm rot="5400000">
            <a:off x="4953000" y="1415834"/>
            <a:ext cx="228600" cy="2667000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FD32-5D8D-D44B-B333-A9AC97BC1092}"/>
              </a:ext>
            </a:extLst>
          </p:cNvPr>
          <p:cNvSpPr txBox="1"/>
          <p:nvPr/>
        </p:nvSpPr>
        <p:spPr>
          <a:xfrm>
            <a:off x="4405653" y="2908130"/>
            <a:ext cx="129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 Part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6A33F13-8E9F-354C-827C-6EE65EBEEA57}"/>
              </a:ext>
            </a:extLst>
          </p:cNvPr>
          <p:cNvSpPr/>
          <p:nvPr/>
        </p:nvSpPr>
        <p:spPr>
          <a:xfrm rot="5400000">
            <a:off x="7799898" y="1758735"/>
            <a:ext cx="228600" cy="1981200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A91736-9BB8-BA43-926F-CA096C87BB08}"/>
              </a:ext>
            </a:extLst>
          </p:cNvPr>
          <p:cNvSpPr txBox="1"/>
          <p:nvPr/>
        </p:nvSpPr>
        <p:spPr>
          <a:xfrm>
            <a:off x="7211218" y="2929074"/>
            <a:ext cx="1555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Fractional Part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B91D5A-1F0A-AC4F-84A6-703526DB75C1}"/>
              </a:ext>
            </a:extLst>
          </p:cNvPr>
          <p:cNvCxnSpPr/>
          <p:nvPr/>
        </p:nvCxnSpPr>
        <p:spPr>
          <a:xfrm>
            <a:off x="6629400" y="2547166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81B8BEC-94E1-1748-A70A-9D0C2996E3F2}"/>
              </a:ext>
            </a:extLst>
          </p:cNvPr>
          <p:cNvSpPr txBox="1"/>
          <p:nvPr/>
        </p:nvSpPr>
        <p:spPr>
          <a:xfrm>
            <a:off x="6244520" y="2898752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Radix </a:t>
            </a:r>
          </a:p>
          <a:p>
            <a:pPr algn="ctr"/>
            <a:r>
              <a:rPr lang="en-US" dirty="0"/>
              <a:t>Point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ACDFB6-CB1C-F046-903B-0F6330D2B021}"/>
              </a:ext>
            </a:extLst>
          </p:cNvPr>
          <p:cNvCxnSpPr/>
          <p:nvPr/>
        </p:nvCxnSpPr>
        <p:spPr>
          <a:xfrm>
            <a:off x="3210692" y="2519967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E32CB56-2FB8-054B-BFC2-1005E4FDFCEF}"/>
              </a:ext>
            </a:extLst>
          </p:cNvPr>
          <p:cNvSpPr txBox="1"/>
          <p:nvPr/>
        </p:nvSpPr>
        <p:spPr>
          <a:xfrm>
            <a:off x="2819401" y="2941060"/>
            <a:ext cx="782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Signed</a:t>
            </a:r>
          </a:p>
          <a:p>
            <a:pPr algn="ctr"/>
            <a:r>
              <a:rPr lang="en-US" dirty="0"/>
              <a:t>Bit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FE825E6-FF9D-4C4C-BAD6-B7F97262EE21}"/>
                  </a:ext>
                </a:extLst>
              </p:cNvPr>
              <p:cNvSpPr/>
              <p:nvPr/>
            </p:nvSpPr>
            <p:spPr>
              <a:xfrm>
                <a:off x="2385392" y="3765766"/>
                <a:ext cx="8282609" cy="15477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endParaRPr lang="en-US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endParaRPr lang="en-US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−10.375</m:t>
                      </m:r>
                    </m:oMath>
                  </m:oMathPara>
                </a14:m>
                <a:endParaRPr 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FE825E6-FF9D-4C4C-BAD6-B7F97262EE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92" y="3765766"/>
                <a:ext cx="8282609" cy="15477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541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136" y="135890"/>
            <a:ext cx="8458200" cy="990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U5.3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vs.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Q4.3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93" y="4248849"/>
            <a:ext cx="5867400" cy="10545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88CFBB5-1212-601B-2237-368E039FFF71}"/>
                  </a:ext>
                </a:extLst>
              </p:cNvPr>
              <p:cNvSpPr/>
              <p:nvPr/>
            </p:nvSpPr>
            <p:spPr>
              <a:xfrm>
                <a:off x="7043919" y="4248849"/>
                <a:ext cx="25937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𝒇</m:t>
                      </m:r>
                      <m:r>
                        <a:rPr lang="en-US" sz="24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𝒉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𝒍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88CFBB5-1212-601B-2237-368E039FFF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3919" y="4248849"/>
                <a:ext cx="2593787" cy="461665"/>
              </a:xfrm>
              <a:prstGeom prst="rect">
                <a:avLst/>
              </a:prstGeom>
              <a:blipFill>
                <a:blip r:embed="rId3"/>
                <a:stretch>
                  <a:fillRect l="-1878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FAE8020-4EB0-3A3C-B817-2E0CDD071A13}"/>
                  </a:ext>
                </a:extLst>
              </p:cNvPr>
              <p:cNvSpPr/>
              <p:nvPr/>
            </p:nvSpPr>
            <p:spPr>
              <a:xfrm>
                <a:off x="6967720" y="1927826"/>
                <a:ext cx="25937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𝒇</m:t>
                      </m:r>
                      <m:r>
                        <a:rPr lang="en-US" sz="24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𝒉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𝒍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FAE8020-4EB0-3A3C-B817-2E0CDD071A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720" y="1927826"/>
                <a:ext cx="2593787" cy="461665"/>
              </a:xfrm>
              <a:prstGeom prst="rect">
                <a:avLst/>
              </a:prstGeom>
              <a:blipFill>
                <a:blip r:embed="rId4"/>
                <a:stretch>
                  <a:fillRect l="-2118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26A787C-D5E8-DF93-A947-D5D06F2FA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4395" y="1488654"/>
            <a:ext cx="4235944" cy="20155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86CA58-35DC-35A0-59CB-E995AC9A6AC0}"/>
                  </a:ext>
                </a:extLst>
              </p:cNvPr>
              <p:cNvSpPr/>
              <p:nvPr/>
            </p:nvSpPr>
            <p:spPr>
              <a:xfrm>
                <a:off x="6815319" y="2387698"/>
                <a:ext cx="427672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/>
                        </a:rPr>
                        <m:t>101</m:t>
                      </m:r>
                      <m:r>
                        <a:rPr lang="en-US" sz="2400">
                          <a:latin typeface="Cambria Math"/>
                        </a:rPr>
                        <m:t>01.10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2 </m:t>
                          </m:r>
                        </m:sub>
                      </m:sSub>
                      <m:r>
                        <a:rPr lang="en-US" sz="240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86CA58-35DC-35A0-59CB-E995AC9A6A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319" y="2387698"/>
                <a:ext cx="4276725" cy="461665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1728BAD-20A6-C549-3961-871A98BB8BD5}"/>
                  </a:ext>
                </a:extLst>
              </p:cNvPr>
              <p:cNvSpPr/>
              <p:nvPr/>
            </p:nvSpPr>
            <p:spPr>
              <a:xfrm>
                <a:off x="8618549" y="2907553"/>
                <a:ext cx="215578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=21+5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1728BAD-20A6-C549-3961-871A98BB8B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549" y="2907553"/>
                <a:ext cx="2155783" cy="461665"/>
              </a:xfrm>
              <a:prstGeom prst="rect">
                <a:avLst/>
              </a:prstGeom>
              <a:blipFill>
                <a:blip r:embed="rId7"/>
                <a:stretch>
                  <a:fillRect r="-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48B9F24-9B86-C996-2235-D44777E997D0}"/>
                  </a:ext>
                </a:extLst>
              </p:cNvPr>
              <p:cNvSpPr/>
              <p:nvPr/>
            </p:nvSpPr>
            <p:spPr>
              <a:xfrm>
                <a:off x="8618549" y="3440953"/>
                <a:ext cx="14964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=21.625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48B9F24-9B86-C996-2235-D44777E997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549" y="3440953"/>
                <a:ext cx="149643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F545598-B5FA-FE94-4620-A1EE2EC37783}"/>
                  </a:ext>
                </a:extLst>
              </p:cNvPr>
              <p:cNvSpPr/>
              <p:nvPr/>
            </p:nvSpPr>
            <p:spPr>
              <a:xfrm>
                <a:off x="7043919" y="4768704"/>
                <a:ext cx="427672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/>
                        </a:rPr>
                        <m:t>101</m:t>
                      </m:r>
                      <m:r>
                        <a:rPr lang="en-US" sz="2400">
                          <a:latin typeface="Cambria Math"/>
                        </a:rPr>
                        <m:t>01.10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2 </m:t>
                          </m:r>
                        </m:sub>
                      </m:sSub>
                      <m:r>
                        <a:rPr lang="en-US" sz="240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F545598-B5FA-FE94-4620-A1EE2EC377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3919" y="4768704"/>
                <a:ext cx="4276725" cy="461665"/>
              </a:xfrm>
              <a:prstGeom prst="rect">
                <a:avLst/>
              </a:prstGeom>
              <a:blipFill>
                <a:blip r:embed="rId9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1A8DD24-1DA5-CB13-6660-A497481550D9}"/>
                  </a:ext>
                </a:extLst>
              </p:cNvPr>
              <p:cNvSpPr/>
              <p:nvPr/>
            </p:nvSpPr>
            <p:spPr>
              <a:xfrm>
                <a:off x="8799429" y="5297639"/>
                <a:ext cx="252184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−11</m:t>
                      </m:r>
                      <m:r>
                        <a:rPr lang="en-US" sz="2400">
                          <a:latin typeface="Cambria Math"/>
                        </a:rPr>
                        <m:t>+5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1A8DD24-1DA5-CB13-6660-A497481550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429" y="5297639"/>
                <a:ext cx="2521844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AE22E4F-AFA9-45D6-550A-06ADB794B1A9}"/>
                  </a:ext>
                </a:extLst>
              </p:cNvPr>
              <p:cNvSpPr/>
              <p:nvPr/>
            </p:nvSpPr>
            <p:spPr>
              <a:xfrm>
                <a:off x="8833609" y="5831039"/>
                <a:ext cx="172566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−10.375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AE22E4F-AFA9-45D6-550A-06ADB794B1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609" y="5831039"/>
                <a:ext cx="1725664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5F8D846-E86A-6AC9-7F97-F7A2747DA131}"/>
              </a:ext>
            </a:extLst>
          </p:cNvPr>
          <p:cNvSpPr txBox="1"/>
          <p:nvPr/>
        </p:nvSpPr>
        <p:spPr>
          <a:xfrm>
            <a:off x="560533" y="3879517"/>
            <a:ext cx="4191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Signed Fixed-point Representation </a:t>
            </a:r>
            <a:r>
              <a:rPr lang="en-US" b="1" dirty="0" err="1">
                <a:solidFill>
                  <a:srgbClr val="C00000"/>
                </a:solidFill>
              </a:rPr>
              <a:t>Qm.n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67B1F1-0089-5E89-6DC4-7AA2C4B2AA6A}"/>
              </a:ext>
            </a:extLst>
          </p:cNvPr>
          <p:cNvSpPr txBox="1"/>
          <p:nvPr/>
        </p:nvSpPr>
        <p:spPr>
          <a:xfrm>
            <a:off x="534632" y="1254452"/>
            <a:ext cx="4342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Unsigned Fixed-point Representation </a:t>
            </a:r>
            <a:r>
              <a:rPr lang="en-US" b="1" dirty="0" err="1">
                <a:solidFill>
                  <a:srgbClr val="C00000"/>
                </a:solidFill>
              </a:rPr>
              <a:t>Um.n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786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6D74F-45C0-6BB9-583C-6A413F518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Ways of Calculating Two’s Complement (integer)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55359D-93B9-F45E-EC22-0CF1557A8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8EC4C54-027C-6745-109D-55B118BE5E1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Convert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/>
                      </a:rPr>
                      <m:t>10101</m:t>
                    </m:r>
                  </m:oMath>
                </a14:m>
                <a:r>
                  <a:rPr lang="en-US" dirty="0"/>
                  <a:t> into decimal with Two’s Complement notation’</a:t>
                </a:r>
              </a:p>
              <a:p>
                <a:r>
                  <a:rPr lang="en-US" dirty="0"/>
                  <a:t>Method 1, invert bits and add 1:</a:t>
                </a:r>
              </a:p>
              <a:p>
                <a:pPr lvl="1"/>
                <a:r>
                  <a:rPr lang="en-US" dirty="0"/>
                  <a:t>01010 + 1 = 01011 = 11 in decimal, hence 10101 = -11 in decimal</a:t>
                </a:r>
              </a:p>
              <a:p>
                <a:r>
                  <a:rPr lang="en-US" dirty="0"/>
                  <a:t>Method 2, calculate directly: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=−16+4+1=−11</m:t>
                    </m:r>
                  </m:oMath>
                </a14:m>
                <a:r>
                  <a:rPr lang="en-US" dirty="0"/>
                  <a:t> in decimal</a:t>
                </a:r>
              </a:p>
              <a:p>
                <a:r>
                  <a:rPr lang="en-US" dirty="0"/>
                  <a:t>The two definitions are mathematically identical (proof omitted)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8EC4C54-027C-6745-109D-55B118BE5E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1310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35890"/>
            <a:ext cx="8458200" cy="990600"/>
          </a:xfrm>
        </p:spPr>
        <p:txBody>
          <a:bodyPr>
            <a:normAutofit/>
          </a:bodyPr>
          <a:lstStyle/>
          <a:p>
            <a:r>
              <a:rPr lang="en-US" dirty="0"/>
              <a:t>Convert Float to Fixed-point </a:t>
            </a:r>
            <a:r>
              <a:rPr lang="en-US" dirty="0">
                <a:solidFill>
                  <a:srgbClr val="C00000"/>
                </a:solidFill>
              </a:rPr>
              <a:t>UQ4.12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85800" y="3352800"/>
                <a:ext cx="10439400" cy="2804160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en-US" sz="2200" dirty="0"/>
                  <a:t>Calculate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12867.964928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pPr lvl="0"/>
                <a:r>
                  <a:rPr lang="en-US" sz="2200" dirty="0"/>
                  <a:t>Round the result to nearest integer,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12867.964928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12868</m:t>
                    </m:r>
                  </m:oMath>
                </a14:m>
                <a:endParaRPr lang="en-US" sz="2200" dirty="0"/>
              </a:p>
              <a:p>
                <a:pPr lvl="0"/>
                <a:r>
                  <a:rPr lang="en-US" sz="2200" dirty="0"/>
                  <a:t>Convert the integer to binary: </a:t>
                </a:r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12868</a:t>
                </a:r>
                <a:r>
                  <a:rPr lang="en-US" sz="2200" dirty="0"/>
                  <a:t> = </a:t>
                </a:r>
                <a:r>
                  <a:rPr lang="en-US" sz="22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0011_0010_0100_0100</a:t>
                </a:r>
                <a:r>
                  <a:rPr lang="en-US" sz="2200" baseline="-25000" dirty="0"/>
                  <a:t>2</a:t>
                </a:r>
                <a:endParaRPr lang="en-US" sz="2200" dirty="0"/>
              </a:p>
              <a:p>
                <a:pPr lvl="0"/>
                <a:r>
                  <a:rPr lang="en-US" sz="2200" dirty="0"/>
                  <a:t>Organize into </a:t>
                </a:r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UQ4.12</a:t>
                </a:r>
                <a:r>
                  <a:rPr lang="en-US" sz="2200" dirty="0"/>
                  <a:t>: </a:t>
                </a:r>
                <a:r>
                  <a:rPr lang="en-US" sz="22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0011.0010_0100_0100</a:t>
                </a:r>
                <a:r>
                  <a:rPr lang="en-US" sz="2200" baseline="-25000" dirty="0"/>
                  <a:t>2</a:t>
                </a:r>
                <a:endParaRPr lang="en-US" sz="2200" dirty="0"/>
              </a:p>
              <a:p>
                <a:pPr lvl="0"/>
                <a:r>
                  <a:rPr lang="en-US" sz="2200" dirty="0"/>
                  <a:t>Final result in hex: </a:t>
                </a:r>
                <a:r>
                  <a:rPr lang="en-US" sz="2200" b="1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0x3244</a:t>
                </a:r>
              </a:p>
              <a:p>
                <a:r>
                  <a:rPr lang="en-US" sz="2200" dirty="0"/>
                  <a:t>Error = </a:t>
                </a:r>
                <a:r>
                  <a:rPr lang="en-US" sz="2200" dirty="0" err="1"/>
                  <a:t>reconstructed_value</a:t>
                </a:r>
                <a:r>
                  <a:rPr lang="en-US" sz="2200" dirty="0"/>
                  <a:t> − </a:t>
                </a:r>
                <a:r>
                  <a:rPr lang="en-US" sz="2200" dirty="0" err="1"/>
                  <a:t>true_value</a:t>
                </a:r>
                <a:r>
                  <a:rPr lang="en-US" sz="22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12868</m:t>
                        </m:r>
                      </m:num>
                      <m:den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=8.5625×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en-US" sz="2200" dirty="0"/>
                  <a:t> 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85800" y="3352800"/>
                <a:ext cx="10439400" cy="2804160"/>
              </a:xfrm>
              <a:blipFill>
                <a:blip r:embed="rId2"/>
                <a:stretch>
                  <a:fillRect l="-292" t="-1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596630" y="2691745"/>
                <a:ext cx="1007137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 Convert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= 3. 141593 </m:t>
                    </m:r>
                  </m:oMath>
                </a14:m>
                <a:r>
                  <a:rPr lang="en-US" sz="2400" dirty="0"/>
                  <a:t> to UQ4.12 (4 bits integer, 12 bits fraction)</a:t>
                </a: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30" y="2691745"/>
                <a:ext cx="10071370" cy="461665"/>
              </a:xfrm>
              <a:prstGeom prst="rect">
                <a:avLst/>
              </a:prstGeom>
              <a:blipFill>
                <a:blip r:embed="rId3"/>
                <a:stretch>
                  <a:fillRect l="-969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23E331-4F21-1E49-A526-C032F063B251}"/>
                  </a:ext>
                </a:extLst>
              </p:cNvPr>
              <p:cNvSpPr txBox="1"/>
              <p:nvPr/>
            </p:nvSpPr>
            <p:spPr>
              <a:xfrm>
                <a:off x="3276601" y="1732865"/>
                <a:ext cx="5156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𝑅𝑒𝑝𝑟𝑒𝑠𝑒𝑛𝑡𝑎𝑡𝑖𝑜𝑛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𝑓𝑙𝑜𝑎𝑡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23E331-4F21-1E49-A526-C032F063B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1" y="1732865"/>
                <a:ext cx="5156925" cy="369332"/>
              </a:xfrm>
              <a:prstGeom prst="rect">
                <a:avLst/>
              </a:prstGeom>
              <a:blipFill>
                <a:blip r:embed="rId4"/>
                <a:stretch>
                  <a:fillRect l="-1478" t="-6667" r="-1724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0C59383-1FD7-3B4F-8020-F493DDEAC031}"/>
              </a:ext>
            </a:extLst>
          </p:cNvPr>
          <p:cNvSpPr txBox="1"/>
          <p:nvPr/>
        </p:nvSpPr>
        <p:spPr>
          <a:xfrm>
            <a:off x="596630" y="1282393"/>
            <a:ext cx="4164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+mj-lt"/>
                <a:cs typeface="Consolas" panose="020B0609020204030204" pitchFamily="49" charset="0"/>
              </a:rPr>
              <a:t>UQm.n</a:t>
            </a:r>
            <a:r>
              <a:rPr lang="en-US" sz="2000" dirty="0">
                <a:latin typeface="+mj-lt"/>
                <a:cs typeface="Consolas" panose="020B0609020204030204" pitchFamily="49" charset="0"/>
              </a:rPr>
              <a:t> for unsigned fixed-point</a:t>
            </a:r>
          </a:p>
        </p:txBody>
      </p:sp>
    </p:spTree>
    <p:extLst>
      <p:ext uri="{BB962C8B-B14F-4D97-AF65-F5344CB8AC3E}">
        <p14:creationId xmlns:p14="http://schemas.microsoft.com/office/powerpoint/2010/main" val="1922114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5511"/>
            <a:ext cx="8534400" cy="990600"/>
          </a:xfrm>
        </p:spPr>
        <p:txBody>
          <a:bodyPr>
            <a:normAutofit/>
          </a:bodyPr>
          <a:lstStyle/>
          <a:p>
            <a:r>
              <a:rPr lang="en-US" dirty="0"/>
              <a:t>Convert Float to Fixed-point </a:t>
            </a:r>
            <a:r>
              <a:rPr lang="en-US" dirty="0">
                <a:solidFill>
                  <a:srgbClr val="C00000"/>
                </a:solidFill>
              </a:rPr>
              <a:t>Q3.12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85800" y="3350596"/>
                <a:ext cx="11049000" cy="2806364"/>
              </a:xfrm>
            </p:spPr>
            <p:txBody>
              <a:bodyPr>
                <a:noAutofit/>
              </a:bodyPr>
              <a:lstStyle/>
              <a:p>
                <a:pPr lvl="0"/>
                <a:r>
                  <a:rPr lang="en-US" sz="2000" dirty="0"/>
                  <a:t>Calculate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−12867.964928</m:t>
                    </m:r>
                  </m:oMath>
                </a14:m>
                <a:r>
                  <a:rPr lang="en-US" sz="2000" dirty="0">
                    <a:solidFill>
                      <a:srgbClr val="0000FF"/>
                    </a:solidFill>
                  </a:rPr>
                  <a:t> </a:t>
                </a:r>
                <a:endParaRPr lang="en-US" sz="2000" dirty="0"/>
              </a:p>
              <a:p>
                <a:pPr lvl="0"/>
                <a:r>
                  <a:rPr lang="en-US" sz="2000" dirty="0"/>
                  <a:t>Round the result to an integer,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−12867.964928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12868</m:t>
                    </m:r>
                  </m:oMath>
                </a14:m>
                <a:endParaRPr lang="en-US" sz="2000" dirty="0"/>
              </a:p>
              <a:p>
                <a:pPr lvl="0"/>
                <a:r>
                  <a:rPr lang="en-US" sz="2000" dirty="0"/>
                  <a:t>Find the 16-bit two’s complement: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1100_1101_1011_1100</a:t>
                </a:r>
                <a:r>
                  <a:rPr lang="en-US" sz="2000" baseline="-25000" dirty="0"/>
                  <a:t>2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12868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3244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0011</m:t>
                    </m:r>
                    <m:r>
                      <m:rPr>
                        <m:nor/>
                      </m:rPr>
                      <a:rPr lang="ar-AE" sz="2000" i="1"/>
                      <m:t>  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0010</m:t>
                    </m:r>
                    <m:r>
                      <m:rPr>
                        <m:nor/>
                      </m:rPr>
                      <a:rPr lang="ar-AE" sz="2000" i="1"/>
                      <m:t>  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0100</m:t>
                    </m:r>
                    <m:r>
                      <m:rPr>
                        <m:nor/>
                      </m:rPr>
                      <a:rPr lang="ar-AE" sz="2000" i="1"/>
                      <m:t>  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0100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sz="2000" dirty="0"/>
              </a:p>
              <a:p>
                <a:pPr lvl="1"/>
                <a:r>
                  <a:rPr lang="en-US" sz="2000" dirty="0"/>
                  <a:t>Invert bits and add 1 →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12868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1100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1101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1011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110</m:t>
                        </m:r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  <a:p>
                <a:r>
                  <a:rPr lang="en-US" sz="2000" dirty="0"/>
                  <a:t>Organize into </a:t>
                </a: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Q3.12</a:t>
                </a:r>
                <a:r>
                  <a:rPr lang="en-US" sz="2000" dirty="0"/>
                  <a:t>: </a:t>
                </a:r>
                <a:r>
                  <a:rPr lang="en-US" sz="20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1100.1101_1011_1100</a:t>
                </a:r>
                <a:r>
                  <a:rPr lang="en-US" sz="2000" baseline="-25000" dirty="0"/>
                  <a:t>2</a:t>
                </a:r>
                <a:endParaRPr lang="en-US" sz="2000" dirty="0"/>
              </a:p>
              <a:p>
                <a:pPr lvl="0"/>
                <a:r>
                  <a:rPr lang="en-US" sz="2000" dirty="0"/>
                  <a:t>Final result in hex: </a:t>
                </a:r>
                <a:r>
                  <a:rPr lang="en-US" sz="2000" b="1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0xCDBC</a:t>
                </a:r>
              </a:p>
              <a:p>
                <a:r>
                  <a:rPr lang="en-US" sz="2000" dirty="0"/>
                  <a:t>Error = </a:t>
                </a:r>
                <a:r>
                  <a:rPr lang="en-US" sz="2000" dirty="0" err="1"/>
                  <a:t>reconstructed_value</a:t>
                </a:r>
                <a:r>
                  <a:rPr lang="en-US" sz="2000" dirty="0"/>
                  <a:t> − </a:t>
                </a:r>
                <a:r>
                  <a:rPr lang="en-US" sz="2000" dirty="0" err="1"/>
                  <a:t>true_value</a:t>
                </a:r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12868</m:t>
                        </m:r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5625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85800" y="3350596"/>
                <a:ext cx="11049000" cy="2806364"/>
              </a:xfrm>
              <a:blipFill>
                <a:blip r:embed="rId2"/>
                <a:stretch>
                  <a:fillRect l="-221" t="-1304" b="-1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609600" y="2888931"/>
                <a:ext cx="112776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Convert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141593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to Q3.12 (1 sign bit, 3 bits integer, 12 bits fraction)</a:t>
                </a: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888931"/>
                <a:ext cx="11277600" cy="461665"/>
              </a:xfrm>
              <a:prstGeom prst="rect">
                <a:avLst/>
              </a:prstGeom>
              <a:blipFill>
                <a:blip r:embed="rId3"/>
                <a:stretch>
                  <a:fillRect l="-811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1E4CD0E-2AE0-9540-81CF-2615F1F06A81}"/>
              </a:ext>
            </a:extLst>
          </p:cNvPr>
          <p:cNvSpPr txBox="1"/>
          <p:nvPr/>
        </p:nvSpPr>
        <p:spPr>
          <a:xfrm>
            <a:off x="609600" y="1325546"/>
            <a:ext cx="36199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+mj-lt"/>
                <a:cs typeface="Consolas" panose="020B0609020204030204" pitchFamily="49" charset="0"/>
              </a:rPr>
              <a:t>Qm.n</a:t>
            </a:r>
            <a:r>
              <a:rPr lang="en-US" sz="2000" dirty="0">
                <a:latin typeface="+mj-lt"/>
                <a:cs typeface="Consolas" panose="020B0609020204030204" pitchFamily="49" charset="0"/>
              </a:rPr>
              <a:t> for signed fixed-point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B04E03-EB00-4C48-A3F8-606D8769E25B}"/>
                  </a:ext>
                </a:extLst>
              </p:cNvPr>
              <p:cNvSpPr txBox="1"/>
              <p:nvPr/>
            </p:nvSpPr>
            <p:spPr>
              <a:xfrm>
                <a:off x="3470405" y="1925046"/>
                <a:ext cx="5156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𝑅𝑒𝑝𝑟𝑒𝑠𝑒𝑛𝑡𝑎𝑡𝑖𝑜𝑛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𝑓𝑙𝑜𝑎𝑡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B04E03-EB00-4C48-A3F8-606D8769E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405" y="1925046"/>
                <a:ext cx="5156925" cy="369332"/>
              </a:xfrm>
              <a:prstGeom prst="rect">
                <a:avLst/>
              </a:prstGeom>
              <a:blipFill>
                <a:blip r:embed="rId4"/>
                <a:stretch>
                  <a:fillRect l="-1474" t="-6667" r="-1474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2516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29791-DBA6-FA4A-B7B8-1F8257813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fixed-point?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331925-567A-3241-9B40-0D0F5ED63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357DD2A-14BC-8945-A065-C4CC4A5C3954}"/>
              </a:ext>
            </a:extLst>
          </p:cNvPr>
          <p:cNvGraphicFramePr/>
          <p:nvPr/>
        </p:nvGraphicFramePr>
        <p:xfrm>
          <a:off x="3095966" y="1717675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7169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12169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7046" y="1803422"/>
            <a:ext cx="36455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13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Floating-point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FF092-3585-B13B-58A3-B49646BFFF15}"/>
              </a:ext>
            </a:extLst>
          </p:cNvPr>
          <p:cNvSpPr txBox="1"/>
          <p:nvPr/>
        </p:nvSpPr>
        <p:spPr>
          <a:xfrm>
            <a:off x="3349753" y="6082784"/>
            <a:ext cx="5794293" cy="369332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685800"/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  <a:hlinkClick r:id="rId2"/>
              </a:rPr>
              <a:t>https://web.eece.maine.edu/~zhu/book/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 </a:t>
            </a:r>
            <a:endParaRPr lang="en-SE" sz="900" dirty="0">
              <a:solidFill>
                <a:prstClr val="black"/>
              </a:solidFill>
              <a:latin typeface="Gill Sans Light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53E96F5C-FC35-378C-26EB-F03DC0746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2641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199759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76400" y="4793158"/>
            <a:ext cx="678859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</a:rPr>
              <a:t>We can convert 10.746</a:t>
            </a: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</a:t>
            </a: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en-US" altLang="zh-CN" sz="2000" baseline="30000" dirty="0">
                <a:latin typeface="Palatino Linotype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6</a:t>
            </a: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 to normalized format as follows:</a:t>
            </a:r>
            <a:endParaRPr lang="en-US" altLang="zh-CN" sz="1050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2000" dirty="0">
              <a:latin typeface="Palatino Linotype" pitchFamily="18" charset="0"/>
              <a:ea typeface="宋体" pitchFamily="2" charset="-122"/>
              <a:cs typeface="Times New Roman" pitchFamily="18" charset="0"/>
              <a:sym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 bwMode="auto">
              <a:xfrm>
                <a:off x="3489325" y="5334000"/>
                <a:ext cx="4905375" cy="7112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10.746×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10.746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×8×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34325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9325" y="5334000"/>
                <a:ext cx="4905375" cy="711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17" name="Picture 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361" y="1219201"/>
            <a:ext cx="5396929" cy="3343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7797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35890"/>
            <a:ext cx="848731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IEEE Standard </a:t>
            </a:r>
            <a:r>
              <a:rPr lang="en-US"/>
              <a:t>754 (Signed </a:t>
            </a:r>
            <a:r>
              <a:rPr lang="en-US" dirty="0"/>
              <a:t>Floating Point)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1862667" y="3943766"/>
                <a:ext cx="8382000" cy="24125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IEEE 754 value: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×(1+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</a:rPr>
                        <m:t>𝐹𝑟𝑎𝑐𝑡𝑖𝑜𝑛</m:t>
                      </m:r>
                      <m:r>
                        <a:rPr lang="en-US" sz="2400" i="1">
                          <a:latin typeface="Cambria Math"/>
                        </a:rPr>
                        <m:t>)×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𝐵𝑖𝑎𝑠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where Bias = 2</a:t>
                </a:r>
                <a:r>
                  <a:rPr lang="en-US" baseline="30000" dirty="0"/>
                  <a:t>7</a:t>
                </a:r>
                <a:r>
                  <a:rPr lang="en-US" dirty="0"/>
                  <a:t> - 1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127</a:t>
                </a:r>
                <a:r>
                  <a:rPr lang="en-US" dirty="0"/>
                  <a:t> for single precision FP32 </a:t>
                </a:r>
              </a:p>
              <a:p>
                <a:r>
                  <a:rPr lang="en-US" dirty="0"/>
                  <a:t>          Bias = 2</a:t>
                </a:r>
                <a:r>
                  <a:rPr lang="en-US" baseline="30000" dirty="0"/>
                  <a:t>10</a:t>
                </a:r>
                <a:r>
                  <a:rPr lang="en-US" dirty="0"/>
                  <a:t> - 1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1023</a:t>
                </a:r>
                <a:r>
                  <a:rPr lang="en-US" dirty="0"/>
                  <a:t> for double precision FP64</a:t>
                </a:r>
              </a:p>
              <a:p>
                <a:r>
                  <a:rPr lang="en-US" dirty="0"/>
                  <a:t>Hidden bit refer to the implicit leading 1 in (1 + fraction)</a:t>
                </a:r>
              </a:p>
              <a:p>
                <a:r>
                  <a:rPr lang="en-US" dirty="0"/>
                  <a:t>Fraction is also called significand or </a:t>
                </a:r>
                <a:r>
                  <a:rPr lang="en-US" dirty="0">
                    <a:solidFill>
                      <a:srgbClr val="FF0000"/>
                    </a:solidFill>
                  </a:rPr>
                  <a:t>mantissa</a:t>
                </a: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667" y="3943766"/>
                <a:ext cx="8382000" cy="2412584"/>
              </a:xfrm>
              <a:prstGeom prst="rect">
                <a:avLst/>
              </a:prstGeom>
              <a:blipFill>
                <a:blip r:embed="rId3"/>
                <a:stretch>
                  <a:fillRect l="-655" t="-1515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934" y="1600200"/>
            <a:ext cx="877146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9434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69424-0102-7D10-CA3C-02B3C0033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Bias?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B665B1-93EA-6963-3A8D-A79CC4FCA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9C26C-00C6-ED10-C2C9-02E0EBAC4C6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FP32’s exponent field has 8 bits. So it can represent integers from 0 to 255. But real exponents in normalized floating-point numbers range roughly from –126 to +127.  To store both negative and positive exponents in that 0–255 range, IEEE-754 adds a bias, shifting all values upward so they become non-negative.</a:t>
            </a:r>
          </a:p>
          <a:p>
            <a:r>
              <a:rPr lang="en-US" dirty="0"/>
              <a:t>For an exponent field of n bits, the bias is 2</a:t>
            </a:r>
            <a:r>
              <a:rPr lang="en-US" baseline="30000" dirty="0"/>
              <a:t>(n−1)</a:t>
            </a:r>
            <a:r>
              <a:rPr lang="en-US" dirty="0"/>
              <a:t>- 1.</a:t>
            </a:r>
          </a:p>
          <a:p>
            <a:r>
              <a:rPr lang="en-US" dirty="0"/>
              <a:t>For FP32, the bias is chosen as 2</a:t>
            </a:r>
            <a:r>
              <a:rPr lang="en-US" baseline="30000" dirty="0"/>
              <a:t>(8−1)</a:t>
            </a:r>
            <a:r>
              <a:rPr lang="en-US" dirty="0"/>
              <a:t>- 1 = 127, so half the range is allocated for negative exponents, and half for positive. </a:t>
            </a:r>
          </a:p>
          <a:p>
            <a:pPr lvl="1"/>
            <a:r>
              <a:rPr lang="en-US" dirty="0"/>
              <a:t>Actual Exponent=Stored Exponent -127</a:t>
            </a:r>
          </a:p>
          <a:p>
            <a:pPr lvl="1"/>
            <a:r>
              <a:rPr lang="en-US" dirty="0"/>
              <a:t>Stored exponent 0 → actual exponent = -127 (used for special/subnormal cases)</a:t>
            </a:r>
          </a:p>
          <a:p>
            <a:pPr lvl="1"/>
            <a:r>
              <a:rPr lang="en-US" dirty="0"/>
              <a:t>Stored exponent 127 → actual exponent = 0</a:t>
            </a:r>
          </a:p>
          <a:p>
            <a:pPr lvl="1"/>
            <a:r>
              <a:rPr lang="en-US" dirty="0"/>
              <a:t>Stored exponent 255 → reserved for special values (like infinity and </a:t>
            </a:r>
            <a:r>
              <a:rPr lang="en-US" dirty="0" err="1"/>
              <a:t>NaN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365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Decoding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0xC1FF0000</a:t>
            </a:r>
            <a:r>
              <a:rPr lang="en-US" sz="3600" dirty="0"/>
              <a:t> </a:t>
            </a:r>
            <a:br>
              <a:rPr lang="en-US" dirty="0"/>
            </a:br>
            <a:r>
              <a:rPr lang="en-US" dirty="0"/>
              <a:t>into a floating-point number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63579"/>
                <a:ext cx="10972800" cy="3841821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sz="2800" dirty="0"/>
                  <a:t>Binary </a:t>
                </a:r>
                <a:r>
                  <a:rPr lang="en-US" sz="28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1</a:t>
                </a:r>
                <a:r>
                  <a:rPr lang="en-US" sz="28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10000011</a:t>
                </a:r>
                <a:r>
                  <a:rPr lang="en-US" sz="28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11111110000000000000000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10000011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131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0</m:t>
                        </m:r>
                        <m:r>
                          <a:rPr lang="en-US" sz="2800" i="1">
                            <a:latin typeface="Cambria Math"/>
                          </a:rPr>
                          <m:t>.</m:t>
                        </m:r>
                        <m:r>
                          <a:rPr lang="en-US" sz="2800" i="1">
                            <a:latin typeface="Cambria Math"/>
                          </a:rPr>
                          <m:t>1111111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6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7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0</m:t>
                    </m:r>
                    <m:r>
                      <a:rPr lang="en-US" sz="2800" i="1">
                        <a:latin typeface="Cambria Math"/>
                      </a:rPr>
                      <m:t>.</m:t>
                    </m:r>
                    <m:r>
                      <a:rPr lang="en-US" sz="2800" i="1">
                        <a:latin typeface="Cambria Math"/>
                      </a:rPr>
                      <m:t>9921875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/>
                            </a:rPr>
                            <m:t>+</m:t>
                          </m:r>
                          <m:r>
                            <a:rPr lang="en-US" sz="2800" i="1">
                              <a:latin typeface="Cambria Math"/>
                            </a:rPr>
                            <m:t>0</m:t>
                          </m:r>
                          <m:r>
                            <a:rPr lang="en-US" sz="2800" i="1">
                              <a:latin typeface="Cambria Math"/>
                            </a:rPr>
                            <m:t>.</m:t>
                          </m:r>
                          <m:r>
                            <a:rPr lang="en-US" sz="2800" i="1">
                              <a:latin typeface="Cambria Math"/>
                            </a:rPr>
                            <m:t>9921875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131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−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.</m:t>
                      </m:r>
                      <m:r>
                        <a:rPr lang="en-US" sz="2800" i="1">
                          <a:latin typeface="Cambria Math"/>
                        </a:rPr>
                        <m:t>9921875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−</m:t>
                      </m:r>
                      <m:r>
                        <a:rPr lang="en-US" sz="2800" i="1">
                          <a:latin typeface="Cambria Math"/>
                        </a:rPr>
                        <m:t>31</m:t>
                      </m:r>
                      <m:r>
                        <a:rPr lang="en-US" sz="2800" i="1">
                          <a:latin typeface="Cambria Math"/>
                        </a:rPr>
                        <m:t>.</m:t>
                      </m:r>
                      <m:r>
                        <a:rPr lang="en-US" sz="2800" i="1">
                          <a:latin typeface="Cambria Math"/>
                        </a:rPr>
                        <m:t>875</m:t>
                      </m:r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If 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10000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133</m:t>
                    </m:r>
                  </m:oMath>
                </a14:m>
                <a:r>
                  <a:rPr lang="en-US" sz="2800" dirty="0"/>
                  <a:t>, then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−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.</m:t>
                    </m:r>
                    <m:r>
                      <a:rPr lang="en-US" sz="2800" i="1">
                        <a:latin typeface="Cambria Math"/>
                      </a:rPr>
                      <m:t>9921875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127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If 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10000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134</m:t>
                    </m:r>
                  </m:oMath>
                </a14:m>
                <a:r>
                  <a:rPr lang="en-US" sz="2800" dirty="0"/>
                  <a:t>, then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−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.</m:t>
                    </m:r>
                    <m:r>
                      <a:rPr lang="en-US" sz="2800" i="1">
                        <a:latin typeface="Cambria Math"/>
                      </a:rPr>
                      <m:t>9921875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255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63579"/>
                <a:ext cx="10972800" cy="3841821"/>
              </a:xfrm>
              <a:blipFill>
                <a:blip r:embed="rId3"/>
                <a:stretch>
                  <a:fillRect l="-278" t="-2694" b="-1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5105400"/>
            <a:ext cx="6337174" cy="1662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6628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475F4-E526-1473-6263-AB10E8882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Decoding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0x40920000</a:t>
            </a:r>
            <a:br>
              <a:rPr lang="en-US" dirty="0"/>
            </a:br>
            <a:r>
              <a:rPr lang="en-US" dirty="0"/>
              <a:t>into a floating-point number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48B895-1373-021B-15E1-6EDC308D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34DA398-7598-5E3A-A505-43A059F4F4D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10000001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00100000000000000000000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100000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129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0</m:t>
                        </m:r>
                        <m:r>
                          <a:rPr lang="en-US" sz="2800" i="1">
                            <a:latin typeface="Cambria Math"/>
                          </a:rPr>
                          <m:t>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001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0</m:t>
                    </m:r>
                    <m:r>
                      <a:rPr lang="en-US" sz="2800" i="1">
                        <a:latin typeface="Cambria Math"/>
                      </a:rPr>
                      <m:t>.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/>
                            </a:rPr>
                            <m:t>+</m:t>
                          </m:r>
                          <m:r>
                            <a:rPr lang="en-US" sz="2800" i="1">
                              <a:latin typeface="Cambria Math"/>
                            </a:rPr>
                            <m:t>0</m:t>
                          </m:r>
                          <m:r>
                            <a:rPr lang="en-US" sz="2800" i="1">
                              <a:latin typeface="Cambria Math"/>
                            </a:rPr>
                            <m:t>.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125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29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−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125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  <a:p>
                <a:r>
                  <a:rPr lang="en-US" dirty="0"/>
                  <a:t>How Floating Point Numbers Work (in 7 minutes!)</a:t>
                </a:r>
              </a:p>
              <a:p>
                <a:pPr lvl="1"/>
                <a:r>
                  <a:rPr lang="en-US" dirty="0">
                    <a:hlinkClick r:id="rId3"/>
                  </a:rPr>
                  <a:t>https://www.youtube.com/watch?v=W_Knvo9NuJY</a:t>
                </a: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34DA398-7598-5E3A-A505-43A059F4F4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4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1897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E315-13A9-17C0-2BCF-2EDA2B04E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00EC5-11FF-B40D-E96F-A868D3911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Decoding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0x3F800000</a:t>
            </a:r>
            <a:br>
              <a:rPr lang="en-US" dirty="0"/>
            </a:br>
            <a:r>
              <a:rPr lang="en-US" dirty="0"/>
              <a:t>into a floating-point number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9654E5-F0B9-0DDE-01C7-CF66496BA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DF4C76-0367-6082-911A-D9E67CF2968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01111111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00000000000000000000000  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01111111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127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−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  <a:p>
                <a:r>
                  <a:rPr lang="en-US" dirty="0"/>
                  <a:t>How Floating Point Numbers Work (in 7 minutes!)</a:t>
                </a:r>
              </a:p>
              <a:p>
                <a:pPr lvl="1"/>
                <a:r>
                  <a:rPr lang="en-US" dirty="0">
                    <a:hlinkClick r:id="rId3"/>
                  </a:rPr>
                  <a:t>https://www.youtube.com/watch?v=W_Knvo9NuJY</a:t>
                </a: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DF4C76-0367-6082-911A-D9E67CF296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4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5607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EA529-C151-2761-A9E0-930B07EC7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A2AC-1EFE-50A9-F487-AFE87D1F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Decoding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0x41680000</a:t>
            </a:r>
            <a:br>
              <a:rPr lang="en-US" dirty="0"/>
            </a:br>
            <a:r>
              <a:rPr lang="en-US" dirty="0"/>
              <a:t>into a floating-point number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4A63CB-E768-A319-0DE1-E5A281C1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52A5B12-C807-E0B1-83CA-2990276670F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10000010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11010000000000000000000 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10000010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=130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0.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1101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−2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+1×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=0.8125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0.8125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sz="2800" i="1">
                              <a:latin typeface="Cambria Math"/>
                            </a:rPr>
                            <m:t>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1×1.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8125</m:t>
                      </m:r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14.5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52A5B12-C807-E0B1-83CA-2990276670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607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Encoding </a:t>
            </a:r>
            <a:r>
              <a:rPr lang="en-US" b="1" dirty="0">
                <a:solidFill>
                  <a:srgbClr val="C00000"/>
                </a:solidFill>
              </a:rPr>
              <a:t>14.5</a:t>
            </a:r>
            <a:r>
              <a:rPr lang="en-US" b="1" dirty="0"/>
              <a:t> into IEEE </a:t>
            </a:r>
            <a:r>
              <a:rPr lang="en-US" b="1" dirty="0" err="1"/>
              <a:t>Std</a:t>
            </a:r>
            <a:r>
              <a:rPr lang="en-US" b="1" dirty="0"/>
              <a:t> 754 Single-Precision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90600" y="1143000"/>
                <a:ext cx="10363200" cy="501396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Normalization:</a:t>
                </a:r>
                <a:endParaRPr lang="en-US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smtClean="0">
                        <a:latin typeface="Cambria Math"/>
                      </a:rPr>
                      <m:t>14</m:t>
                    </m:r>
                    <m:r>
                      <a:rPr lang="en-US" i="1" smtClean="0">
                        <a:latin typeface="Cambria Math"/>
                      </a:rPr>
                      <m:t>.</m:t>
                    </m:r>
                    <m:r>
                      <a:rPr lang="en-US" i="1" smtClean="0">
                        <a:latin typeface="Cambria Math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14</m:t>
                        </m:r>
                        <m:r>
                          <a:rPr lang="en-US" i="1"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latin typeface="Cambria Math"/>
                          </a:rPr>
                          <m:t>5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8125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r>
                  <a:rPr lang="en-US" dirty="0"/>
                  <a:t>Hence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14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5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8125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8125</m:t>
                    </m:r>
                    <m:r>
                      <a:rPr lang="en-US" i="1">
                        <a:latin typeface="Cambria Math"/>
                      </a:rPr>
                      <m:t>)×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Conversion: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𝑆𝑖𝑔𝑛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0</m:t>
                    </m:r>
                  </m:oMath>
                </a14:m>
                <a:endParaRPr lang="en-US" b="0" i="1" dirty="0">
                  <a:solidFill>
                    <a:srgbClr val="C0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𝐸𝑥𝑝𝑜𝑛𝑒𝑛𝑡</m:t>
                    </m:r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3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127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130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1000010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𝐹𝑟𝑎𝑐𝑡𝑖𝑜𝑛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  <m:r>
                          <a:rPr lang="en-US" b="0" i="1" smtClean="0">
                            <a:latin typeface="Cambria Math"/>
                          </a:rPr>
                          <m:t>.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1101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(multiply by 2 repeatedly)</a:t>
                </a:r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𝐹𝑟𝑎𝑐𝑡𝑖𝑜𝑛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8125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625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625</m:t>
                    </m:r>
                  </m:oMath>
                </a14:m>
                <a:r>
                  <a:rPr lang="en-US" dirty="0"/>
                  <a:t> =&gt; b1 = 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625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25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25</m:t>
                    </m:r>
                  </m:oMath>
                </a14:m>
                <a:r>
                  <a:rPr lang="en-US" dirty="0"/>
                  <a:t> =&gt; b2 = 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25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5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5</m:t>
                    </m:r>
                  </m:oMath>
                </a14:m>
                <a:r>
                  <a:rPr lang="en-US" dirty="0"/>
                  <a:t> =&gt; b3 = 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i="1">
                        <a:latin typeface="Cambria Math"/>
                      </a:rPr>
                      <m:t>5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1</m:t>
                    </m:r>
                  </m:oMath>
                </a14:m>
                <a:r>
                  <a:rPr lang="en-US" dirty="0"/>
                  <a:t> =&gt; b4 = 1</a:t>
                </a:r>
              </a:p>
              <a:p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14.5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10000010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11010000000000000000000</a:t>
                </a:r>
                <a:r>
                  <a:rPr lang="en-US" dirty="0"/>
                  <a:t> in binary or 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0x41680000</a:t>
                </a:r>
                <a:r>
                  <a:rPr lang="en-US" dirty="0"/>
                  <a:t> in hex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90600" y="1143000"/>
                <a:ext cx="10363200" cy="5013960"/>
              </a:xfrm>
              <a:blipFill>
                <a:blip r:embed="rId2"/>
                <a:stretch>
                  <a:fillRect l="-294" t="-1460" b="-25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386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A1E23-1948-4AB3-BE51-06B1176B9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CDC3-A7FF-9EEE-C5C3-502A76B1D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Encoding </a:t>
            </a:r>
            <a:r>
              <a:rPr lang="en-US" b="1" dirty="0">
                <a:solidFill>
                  <a:srgbClr val="C00000"/>
                </a:solidFill>
              </a:rPr>
              <a:t>1.3</a:t>
            </a:r>
            <a:r>
              <a:rPr lang="en-US" b="1" dirty="0"/>
              <a:t> into IEEE Std 754 Single-Precision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CB2435-927F-ED99-AB72-9D3492553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3D4FF65-D71D-3471-F040-1E677F86A2D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90600" y="1143000"/>
                <a:ext cx="10363200" cy="501396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Normalization:</a:t>
                </a:r>
                <a:endParaRPr lang="en-US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smtClean="0">
                        <a:latin typeface="Cambria Math"/>
                      </a:rPr>
                      <m:t>1.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=1.3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r>
                  <a:rPr lang="en-US" dirty="0"/>
                  <a:t>Hence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1.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 smtClean="0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(1+0.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/>
                      </a:rPr>
                      <m:t>)×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Conversion: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𝑆𝑖𝑔𝑛</m:t>
                    </m:r>
                    <m:r>
                      <a:rPr lang="en-US" b="0" i="1" smtClean="0">
                        <a:latin typeface="Cambria Math"/>
                      </a:rPr>
                      <m:t>=0</m:t>
                    </m:r>
                  </m:oMath>
                </a14:m>
                <a:endParaRPr lang="en-US" b="0" i="1" dirty="0">
                  <a:solidFill>
                    <a:srgbClr val="C0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𝐸𝑥𝑝𝑜𝑛𝑒𝑛𝑡</m:t>
                    </m:r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+127=127=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01111111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𝐹𝑟𝑎𝑐𝑡𝑖𝑜𝑛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0.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01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001100110011…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(multiply by 2 repeatedly)</a:t>
                </a:r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𝐹𝑟𝑎𝑐𝑡𝑖𝑜𝑛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−2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−4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/>
                      </a:rPr>
                      <m:t>×2=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.6</m:t>
                    </m:r>
                  </m:oMath>
                </a14:m>
                <a:r>
                  <a:rPr lang="en-US" dirty="0"/>
                  <a:t> =&gt; b1 = 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0.6×2=1.2</m:t>
                    </m:r>
                  </m:oMath>
                </a14:m>
                <a:r>
                  <a:rPr lang="en-US" dirty="0"/>
                  <a:t> =&gt; b2 = 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0.2×2=0.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 =&gt; b3 = 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/>
                      </a:rPr>
                      <m:t>×2=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0.8</m:t>
                    </m:r>
                  </m:oMath>
                </a14:m>
                <a:r>
                  <a:rPr lang="en-US" dirty="0"/>
                  <a:t> =&gt; b4 = 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>
                        <a:latin typeface="Cambria Math"/>
                      </a:rPr>
                      <m:t>×2=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1.6</m:t>
                    </m:r>
                  </m:oMath>
                </a14:m>
                <a:r>
                  <a:rPr lang="en-US" dirty="0"/>
                  <a:t> =&gt; b5 = 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>
                        <a:latin typeface="Cambria Math"/>
                      </a:rPr>
                      <m:t>×2=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=&gt; b6 = 1</a:t>
                </a:r>
              </a:p>
              <a:p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14.5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01111111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01001100110011001100110</a:t>
                </a:r>
                <a:r>
                  <a:rPr lang="en-US" dirty="0"/>
                  <a:t> in binary or 0x3FA66666 in hex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3D4FF65-D71D-3471-F040-1E677F86A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90600" y="1143000"/>
                <a:ext cx="10363200" cy="5013960"/>
              </a:xfrm>
              <a:blipFill>
                <a:blip r:embed="rId3"/>
                <a:stretch>
                  <a:fillRect l="-235" t="-1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Brace 7">
            <a:extLst>
              <a:ext uri="{FF2B5EF4-FFF2-40B4-BE49-F238E27FC236}">
                <a16:creationId xmlns:a16="http://schemas.microsoft.com/office/drawing/2014/main" id="{FADDE5B4-2BF0-3346-B39B-1C17BD95CCA8}"/>
              </a:ext>
            </a:extLst>
          </p:cNvPr>
          <p:cNvSpPr/>
          <p:nvPr/>
        </p:nvSpPr>
        <p:spPr>
          <a:xfrm>
            <a:off x="3979432" y="4686292"/>
            <a:ext cx="228597" cy="914400"/>
          </a:xfrm>
          <a:prstGeom prst="rightBrace">
            <a:avLst>
              <a:gd name="adj1" fmla="val 8333"/>
              <a:gd name="adj2" fmla="val 48117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E7E842-BCEF-B6B4-E109-FC4B047B29D0}"/>
              </a:ext>
            </a:extLst>
          </p:cNvPr>
          <p:cNvSpPr txBox="1"/>
          <p:nvPr/>
        </p:nvSpPr>
        <p:spPr>
          <a:xfrm flipH="1">
            <a:off x="4244784" y="4876800"/>
            <a:ext cx="2057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Repeats infinitely</a:t>
            </a:r>
          </a:p>
        </p:txBody>
      </p:sp>
    </p:spTree>
    <p:extLst>
      <p:ext uri="{BB962C8B-B14F-4D97-AF65-F5344CB8AC3E}">
        <p14:creationId xmlns:p14="http://schemas.microsoft.com/office/powerpoint/2010/main" val="3951653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DE8F-D6F6-AAA1-D94A-86C18C175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BB3F4-71E3-6480-2DD5-AA4EAD4E5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0x3FA66666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830A94-D33B-2B5A-4A7E-B773BA88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FFBE-A292-0D67-EFA6-AEFA3301A8E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01111111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01001100110011001100110 </a:t>
                </a:r>
              </a:p>
              <a:p>
                <a:r>
                  <a:rPr lang="en-US" sz="2800" dirty="0"/>
                  <a:t>Sign = </a:t>
                </a:r>
                <a:r>
                  <a:rPr lang="en-US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  <a:p>
                <a:r>
                  <a:rPr lang="en-US" sz="28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01111111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=127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Fraction =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.29999995</m:t>
                    </m:r>
                  </m:oMath>
                </a14:m>
                <a:r>
                  <a:rPr lang="en-US" sz="2800" dirty="0"/>
                  <a:t> (calculation process skipped)</a:t>
                </a:r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1+</m:t>
                        </m:r>
                        <m:r>
                          <a:rPr lang="en-US" sz="28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800" i="1">
                            <a:latin typeface="Cambria Math"/>
                          </a:rPr>
                          <m:t>−127</m:t>
                        </m:r>
                      </m:sup>
                    </m:sSup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1+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.29999995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27</m:t>
                          </m:r>
                          <m:r>
                            <a:rPr lang="en-US" sz="2800" i="1">
                              <a:latin typeface="Cambria Math"/>
                            </a:rPr>
                            <m:t>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.29999995</m:t>
                      </m:r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Error: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1.3−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.29999995=5×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</m:sup>
                    </m:sSup>
                  </m:oMath>
                </a14:m>
                <a:endParaRPr lang="en-US" sz="2800" dirty="0"/>
              </a:p>
              <a:p>
                <a:endParaRPr lang="en-US" sz="28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FFBE-A292-0D67-EFA6-AEFA3301A8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56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FF26C8F-DF03-64D8-CF77-B258AADB637B}"/>
              </a:ext>
            </a:extLst>
          </p:cNvPr>
          <p:cNvSpPr txBox="1"/>
          <p:nvPr/>
        </p:nvSpPr>
        <p:spPr>
          <a:xfrm>
            <a:off x="3581400" y="5710019"/>
            <a:ext cx="536037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Why Is This Happening?! Floating Point Approximation4</a:t>
            </a:r>
          </a:p>
          <a:p>
            <a:r>
              <a:rPr lang="en-US" dirty="0">
                <a:hlinkClick r:id="rId4"/>
              </a:rPr>
              <a:t>https://www.youtube.com/watch?v=2gIxbTn7GSc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8855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Values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Exponents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00000000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111111111</a:t>
            </a:r>
            <a:r>
              <a:rPr lang="en-US" dirty="0"/>
              <a:t> are reserved.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905000"/>
            <a:ext cx="8687616" cy="26912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3"/>
              <p:cNvSpPr txBox="1">
                <a:spLocks/>
              </p:cNvSpPr>
              <p:nvPr/>
            </p:nvSpPr>
            <p:spPr>
              <a:xfrm>
                <a:off x="2133600" y="4795684"/>
                <a:ext cx="8229600" cy="1513676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Example of Not-A-Number (</a:t>
                </a:r>
                <a:r>
                  <a:rPr lang="en-US" dirty="0" err="1"/>
                  <a:t>NaN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log(-10.0), </a:t>
                </a:r>
                <a:r>
                  <a:rPr lang="en-US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sqrt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(-1.0), 0.0/0.0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, </a:t>
                </a:r>
              </a:p>
            </p:txBody>
          </p:sp>
        </mc:Choice>
        <mc:Fallback xmlns="">
          <p:sp>
            <p:nvSpPr>
              <p:cNvPr id="8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795684"/>
                <a:ext cx="8229600" cy="1513676"/>
              </a:xfrm>
              <a:prstGeom prst="rect">
                <a:avLst/>
              </a:prstGeom>
              <a:blipFill>
                <a:blip r:embed="rId3"/>
                <a:stretch>
                  <a:fillRect l="-770"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0635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Subnormalized</a:t>
            </a:r>
            <a:r>
              <a:rPr lang="en-US" dirty="0"/>
              <a:t> Float Number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represent numbers between 0 and the minimum positive number that the normalized format can represent.</a:t>
            </a:r>
          </a:p>
          <a:p>
            <a:r>
              <a:rPr lang="en-US" b="1" dirty="0">
                <a:solidFill>
                  <a:srgbClr val="C00000"/>
                </a:solidFill>
              </a:rPr>
              <a:t>Normalized Format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Sub-normalized</a:t>
            </a:r>
            <a:r>
              <a:rPr lang="en-US" dirty="0"/>
              <a:t> Format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091524" y="4609707"/>
                <a:ext cx="4721352" cy="524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en-US" sz="2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𝐹𝑟𝑎𝑐𝑡𝑖𝑜𝑛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126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524" y="4609707"/>
                <a:ext cx="4721352" cy="5246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048000" y="3157166"/>
                <a:ext cx="6400800" cy="5309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en-US" sz="2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𝐹𝑟𝑎𝑐𝑡𝑖𝑜𝑛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)×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Exponent</m:t>
                          </m:r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3157166"/>
                <a:ext cx="6400800" cy="5309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5936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 and Underflow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914400" y="3894599"/>
            <a:ext cx="4020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Smallest Positive Normal Number: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095500" y="4357457"/>
                <a:ext cx="7924800" cy="4628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1+0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1−127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−126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≈1.18×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−38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4357457"/>
                <a:ext cx="7924800" cy="462884"/>
              </a:xfrm>
              <a:prstGeom prst="rect">
                <a:avLst/>
              </a:prstGeom>
              <a:blipFill>
                <a:blip r:embed="rId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23036"/>
            <a:ext cx="7696200" cy="2251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D135A4-909F-AADF-12B6-5EC390DC6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667" y="3903066"/>
            <a:ext cx="4616970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0 00000001 00000000000000000000000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08DD6A-EABD-D849-E186-3BBF3A26889B}"/>
              </a:ext>
            </a:extLst>
          </p:cNvPr>
          <p:cNvSpPr/>
          <p:nvPr/>
        </p:nvSpPr>
        <p:spPr>
          <a:xfrm>
            <a:off x="986197" y="5133941"/>
            <a:ext cx="434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Smallest Positive Subnormal Number: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2E38EF7-3D4F-9C94-DA2E-235D2C83DEEB}"/>
                  </a:ext>
                </a:extLst>
              </p:cNvPr>
              <p:cNvSpPr/>
              <p:nvPr/>
            </p:nvSpPr>
            <p:spPr>
              <a:xfrm>
                <a:off x="2167297" y="5596799"/>
                <a:ext cx="7924800" cy="4628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1−127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−149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≈1.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2E38EF7-3D4F-9C94-DA2E-235D2C83D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97" y="5596799"/>
                <a:ext cx="7924800" cy="462884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">
            <a:extLst>
              <a:ext uri="{FF2B5EF4-FFF2-40B4-BE49-F238E27FC236}">
                <a16:creationId xmlns:a16="http://schemas.microsoft.com/office/drawing/2014/main" id="{AB9677DD-76A7-FE8E-2204-92013C8F3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133941"/>
            <a:ext cx="4616970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0 00000000 00000000000000000000001 </a:t>
            </a:r>
          </a:p>
        </p:txBody>
      </p:sp>
    </p:spTree>
    <p:extLst>
      <p:ext uri="{BB962C8B-B14F-4D97-AF65-F5344CB8AC3E}">
        <p14:creationId xmlns:p14="http://schemas.microsoft.com/office/powerpoint/2010/main" val="4218711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 and Underflow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371600" y="4220430"/>
                <a:ext cx="9829800" cy="16757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To find the largest representable number:</a:t>
                </a:r>
              </a:p>
              <a:p>
                <a:r>
                  <a:rPr lang="en-US" sz="2000" b="1" dirty="0"/>
                  <a:t>Exponent</a:t>
                </a:r>
                <a:r>
                  <a:rPr lang="en-US" sz="2000" dirty="0"/>
                  <a:t> = largest possible </a:t>
                </a:r>
                <a:r>
                  <a:rPr lang="en-US" sz="2000" b="1" dirty="0"/>
                  <a:t>finite</a:t>
                </a:r>
                <a:r>
                  <a:rPr lang="en-US" sz="2000" dirty="0"/>
                  <a:t> value = 254 (since 255 is reserved for infinity and </a:t>
                </a:r>
                <a:r>
                  <a:rPr lang="en-US" sz="2000" dirty="0" err="1"/>
                  <a:t>NaN</a:t>
                </a:r>
                <a:r>
                  <a:rPr lang="en-US" sz="2000" dirty="0"/>
                  <a:t>)</a:t>
                </a:r>
              </a:p>
              <a:p>
                <a:r>
                  <a:rPr lang="en-US" sz="2000" b="1" dirty="0"/>
                  <a:t>Mantissa</a:t>
                </a:r>
                <a:r>
                  <a:rPr lang="en-US" sz="2000" dirty="0"/>
                  <a:t> = all 1s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11111111111111111111111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23</m:t>
                            </m:r>
                          </m:sup>
                        </m:sSup>
                      </m:e>
                    </m:d>
                  </m:oMath>
                </a14:m>
                <a:endParaRPr lang="ar-AE" sz="2000" dirty="0"/>
              </a:p>
              <a:p>
                <a:r>
                  <a:rPr lang="en-US" sz="2000" b="1" dirty="0"/>
                  <a:t>Numbers farthest from zero: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(−</m:t>
                          </m:r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  <m:r>
                            <a:rPr lang="en-US" sz="20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  <m:r>
                            <a:rPr lang="en-US" sz="2000" i="1"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23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254</m:t>
                          </m:r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</a:rPr>
                            <m:t>127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=±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128</m:t>
                              </m:r>
                            </m:sup>
                          </m:sSup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104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/>
                        </a:rPr>
                        <m:t>≈±</m:t>
                      </m:r>
                      <m:r>
                        <a:rPr lang="en-US" sz="2000" i="1">
                          <a:latin typeface="Cambria Math"/>
                        </a:rPr>
                        <m:t>3</m:t>
                      </m:r>
                      <m:r>
                        <a:rPr lang="en-US" sz="2000" i="1">
                          <a:latin typeface="Cambria Math"/>
                        </a:rPr>
                        <m:t>.</m:t>
                      </m:r>
                      <m:r>
                        <a:rPr lang="en-US" sz="2000" i="1">
                          <a:latin typeface="Cambria Math"/>
                        </a:rPr>
                        <m:t>40</m:t>
                      </m:r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38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220430"/>
                <a:ext cx="9829800" cy="1675715"/>
              </a:xfrm>
              <a:prstGeom prst="rect">
                <a:avLst/>
              </a:prstGeom>
              <a:blipFill>
                <a:blip r:embed="rId3"/>
                <a:stretch>
                  <a:fillRect l="-620" t="-1818" b="-2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23036"/>
            <a:ext cx="7696200" cy="2251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9682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95400"/>
            <a:ext cx="11049000" cy="4023360"/>
          </a:xfrm>
        </p:spPr>
        <p:txBody>
          <a:bodyPr/>
          <a:lstStyle/>
          <a:p>
            <a:r>
              <a:rPr lang="en-US" dirty="0"/>
              <a:t>Given a hypothetical five-bit floating-point system (similar to IEEE 754). </a:t>
            </a:r>
          </a:p>
          <a:p>
            <a:pPr lvl="1"/>
            <a:r>
              <a:rPr lang="en-US" dirty="0"/>
              <a:t>the sign bit, an exponent (2 bits), and a fraction (2 bits) </a:t>
            </a:r>
          </a:p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95600"/>
            <a:ext cx="9118287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14058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CF4B5-AD2F-9945-9BCB-9000518A6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 between Range and Precision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7A0D7C-5BDE-134D-93DD-D24421D5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13255939-6E2F-ED4D-98E3-3A2BE2F216A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4102616"/>
            <a:ext cx="8229600" cy="2101334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Floating-Point</a:t>
            </a:r>
          </a:p>
          <a:p>
            <a:pPr lvl="1"/>
            <a:r>
              <a:rPr lang="en-US" sz="1800" dirty="0"/>
              <a:t>Resolution: difference between two neighbor numbers</a:t>
            </a:r>
          </a:p>
          <a:p>
            <a:pPr lvl="1"/>
            <a:r>
              <a:rPr lang="en-US" sz="1800" dirty="0"/>
              <a:t>Precision decreases as the magnitude increases</a:t>
            </a:r>
          </a:p>
          <a:p>
            <a:r>
              <a:rPr lang="en-US" sz="2000" dirty="0"/>
              <a:t>Fixed-Point</a:t>
            </a:r>
          </a:p>
          <a:p>
            <a:pPr lvl="1"/>
            <a:r>
              <a:rPr lang="en-US" sz="1800" dirty="0"/>
              <a:t>Numbers are evenly distributed among the representable range</a:t>
            </a:r>
          </a:p>
          <a:p>
            <a:pPr lvl="1"/>
            <a:r>
              <a:rPr lang="en-US" sz="1800" dirty="0"/>
              <a:t>Precision is fixed</a:t>
            </a:r>
          </a:p>
          <a:p>
            <a:pPr lvl="1"/>
            <a:endParaRPr lang="en-US" sz="18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CE358FA-B8E5-B342-A612-64943272F9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36" y="2158484"/>
            <a:ext cx="8915400" cy="1238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5718608-427E-E445-A340-1FE2CA509E62}"/>
              </a:ext>
            </a:extLst>
          </p:cNvPr>
          <p:cNvSpPr txBox="1"/>
          <p:nvPr/>
        </p:nvSpPr>
        <p:spPr>
          <a:xfrm>
            <a:off x="1981200" y="1528286"/>
            <a:ext cx="4594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simplified 5-bit floating-point (IEEE 754 style)</a:t>
            </a:r>
          </a:p>
        </p:txBody>
      </p:sp>
    </p:spTree>
    <p:extLst>
      <p:ext uri="{BB962C8B-B14F-4D97-AF65-F5344CB8AC3E}">
        <p14:creationId xmlns:p14="http://schemas.microsoft.com/office/powerpoint/2010/main" val="1002974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E9A7F-FF94-CF8B-8F58-AA740C0B8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FP formats used in AI and machine learning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B585A-1E35-978A-1D8C-F85D9EA37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4D77F-669A-A724-34EC-94F5C04F32A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6096000" cy="4937760"/>
          </a:xfrm>
        </p:spPr>
        <p:txBody>
          <a:bodyPr>
            <a:normAutofit/>
          </a:bodyPr>
          <a:lstStyle/>
          <a:p>
            <a:r>
              <a:rPr lang="en-US" dirty="0"/>
              <a:t>bf16 (bfloat16) and bf8 (bfloat8) are floating point formats used in AI and machine learning for efficient computation with lower precision while retaining useful range.</a:t>
            </a:r>
          </a:p>
          <a:p>
            <a:r>
              <a:rPr lang="en-US" dirty="0"/>
              <a:t>bf8 is cutting edge and experimental for very efficient AI deployment where accuracy can be slightly sacrificed for speed and lower memory footprints. bf16 is established as a good practical balance for many ML tasks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C9B12A-5BB4-5F2F-BCC2-1CB754290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219200"/>
            <a:ext cx="5117613" cy="524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31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18DDC-948E-EE03-2F91-C42717B07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7B88B-00F4-B914-5EED-7CCE6E4C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04D09-7213-2F35-AD9D-8F22A94BFA9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How Floating Point Numbers Work (in 7 minutes!)</a:t>
            </a:r>
          </a:p>
          <a:p>
            <a:pPr lvl="1"/>
            <a:r>
              <a:rPr lang="en-US" dirty="0">
                <a:hlinkClick r:id="rId2"/>
              </a:rPr>
              <a:t>https://www.youtube.com/watch?v=W_Knvo9NuJY</a:t>
            </a:r>
            <a:endParaRPr lang="en-US" dirty="0"/>
          </a:p>
          <a:p>
            <a:r>
              <a:rPr lang="en-US" dirty="0"/>
              <a:t>HOW TO: Convert IEEE-754 Single-Precision Binary to Decimal, Steven Petryk</a:t>
            </a:r>
          </a:p>
          <a:p>
            <a:pPr lvl="1"/>
            <a:r>
              <a:rPr lang="en-US" dirty="0">
                <a:hlinkClick r:id="rId3"/>
              </a:rPr>
              <a:t>https://www.youtube.com/watch?v=4DfXdJdaNYs</a:t>
            </a:r>
            <a:r>
              <a:rPr lang="en-US" dirty="0"/>
              <a:t> </a:t>
            </a:r>
          </a:p>
          <a:p>
            <a:r>
              <a:rPr lang="en-US" dirty="0"/>
              <a:t>Why Is This Happening?! Floating Point Approximation</a:t>
            </a:r>
          </a:p>
          <a:p>
            <a:pPr lvl="1"/>
            <a:r>
              <a:rPr lang="en-US" dirty="0">
                <a:hlinkClick r:id="rId4"/>
              </a:rPr>
              <a:t>https://www.youtube.com/watch?v=2gIxbTn7GSc</a:t>
            </a:r>
            <a:r>
              <a:rPr lang="en-US" dirty="0"/>
              <a:t> </a:t>
            </a:r>
          </a:p>
          <a:p>
            <a:r>
              <a:rPr lang="en-US" dirty="0"/>
              <a:t>IEEE 754 Binary to Float Conversion</a:t>
            </a:r>
          </a:p>
          <a:p>
            <a:pPr lvl="1"/>
            <a:r>
              <a:rPr lang="en-US" dirty="0">
                <a:hlinkClick r:id="rId5"/>
              </a:rPr>
              <a:t>https://www.youtube.com/watch?v=9k5rdPUzij8&amp;list=PL-ftFcielQtGxBUfzkbz9tWlRZb-rlJ2p&amp;index=2</a:t>
            </a:r>
            <a:r>
              <a:rPr lang="en-US" dirty="0"/>
              <a:t> </a:t>
            </a:r>
          </a:p>
          <a:p>
            <a:r>
              <a:rPr lang="en-US" dirty="0"/>
              <a:t>IEEE 754 Float to Binary Conversion</a:t>
            </a:r>
          </a:p>
          <a:p>
            <a:pPr lvl="1"/>
            <a:r>
              <a:rPr lang="en-US" dirty="0">
                <a:hlinkClick r:id="rId5"/>
              </a:rPr>
              <a:t>https://www.youtube.com/watch?v=9k5rdPUzij8&amp;list=PL-ftFcielQtGxBUfzkbz9tWlRZb-rlJ2p&amp;index=2</a:t>
            </a: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2955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6725</TotalTime>
  <Words>2066</Words>
  <Application>Microsoft Office PowerPoint</Application>
  <PresentationFormat>Widescreen</PresentationFormat>
  <Paragraphs>330</Paragraphs>
  <Slides>29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Bookman Old Style (Headings)</vt:lpstr>
      <vt:lpstr>Gill Sans Light</vt:lpstr>
      <vt:lpstr>Arial</vt:lpstr>
      <vt:lpstr>Bookman Old Style</vt:lpstr>
      <vt:lpstr>Calibri</vt:lpstr>
      <vt:lpstr>Cambria Math</vt:lpstr>
      <vt:lpstr>Consolas</vt:lpstr>
      <vt:lpstr>Gill Sans MT</vt:lpstr>
      <vt:lpstr>Palatino Linotype</vt:lpstr>
      <vt:lpstr>Wingdings</vt:lpstr>
      <vt:lpstr>Wingdings 3</vt:lpstr>
      <vt:lpstr>Origin</vt:lpstr>
      <vt:lpstr>Z. Gu</vt:lpstr>
      <vt:lpstr>Fixed-point Format: Q Notation</vt:lpstr>
      <vt:lpstr>Q Notation: UQm.n</vt:lpstr>
      <vt:lpstr>Converting Fixed-point UQ5.3 to Float</vt:lpstr>
      <vt:lpstr>Converting Fixed-point Q4.3 to Float</vt:lpstr>
      <vt:lpstr>U5.3 vs. Q4.3</vt:lpstr>
      <vt:lpstr>Two Ways of Calculating Two’s Complement (integer) </vt:lpstr>
      <vt:lpstr>Convert Float to Fixed-point UQ4.12</vt:lpstr>
      <vt:lpstr>Convert Float to Fixed-point Q3.12</vt:lpstr>
      <vt:lpstr>Why use fixed-point?</vt:lpstr>
      <vt:lpstr>Z. Gu</vt:lpstr>
      <vt:lpstr>Normalization</vt:lpstr>
      <vt:lpstr>IEEE Standard 754 (Signed Floating Point)</vt:lpstr>
      <vt:lpstr>Why Bias?</vt:lpstr>
      <vt:lpstr>Decoding 0xC1FF0000  into a floating-point number</vt:lpstr>
      <vt:lpstr>Decoding 0x40920000 into a floating-point number</vt:lpstr>
      <vt:lpstr>Decoding 0x3F800000 into a floating-point number</vt:lpstr>
      <vt:lpstr>Decoding 0x41680000 into a floating-point number</vt:lpstr>
      <vt:lpstr>Encoding 14.5 into IEEE Std 754 Single-Precision</vt:lpstr>
      <vt:lpstr>Encoding 1.3 into IEEE Std 754 Single-Precision</vt:lpstr>
      <vt:lpstr>Decoding 0x3FA66666  into a floating-point number</vt:lpstr>
      <vt:lpstr>Special Values</vt:lpstr>
      <vt:lpstr>Subnormalized Float Number</vt:lpstr>
      <vt:lpstr>Overflow and Underflow</vt:lpstr>
      <vt:lpstr>Overflow and Underflow</vt:lpstr>
      <vt:lpstr>Resolution</vt:lpstr>
      <vt:lpstr>Tradeoff between Range and Precision</vt:lpstr>
      <vt:lpstr>FP formats used in AI and machine learning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383</cp:revision>
  <dcterms:created xsi:type="dcterms:W3CDTF">2013-02-03T05:36:57Z</dcterms:created>
  <dcterms:modified xsi:type="dcterms:W3CDTF">2025-11-02T15:24:58Z</dcterms:modified>
</cp:coreProperties>
</file>