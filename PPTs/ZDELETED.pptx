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256" r:id="rId2"/>
    <p:sldId id="383" r:id="rId3"/>
    <p:sldId id="381" r:id="rId4"/>
    <p:sldId id="335" r:id="rId5"/>
    <p:sldId id="813" r:id="rId6"/>
    <p:sldId id="475" r:id="rId7"/>
    <p:sldId id="473" r:id="rId8"/>
    <p:sldId id="306" r:id="rId9"/>
    <p:sldId id="322" r:id="rId10"/>
    <p:sldId id="323" r:id="rId11"/>
    <p:sldId id="325" r:id="rId12"/>
    <p:sldId id="324" r:id="rId13"/>
    <p:sldId id="525" r:id="rId14"/>
    <p:sldId id="261" r:id="rId15"/>
    <p:sldId id="264" r:id="rId16"/>
    <p:sldId id="262" r:id="rId17"/>
    <p:sldId id="265" r:id="rId18"/>
    <p:sldId id="379" r:id="rId19"/>
    <p:sldId id="320" r:id="rId20"/>
    <p:sldId id="319" r:id="rId2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4B15ED0-6DB4-4108-82C9-64F0E8E52BFB}" v="11" dt="2025-10-05T19:51:37.13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6176" autoAdjust="0"/>
    <p:restoredTop sz="93609"/>
  </p:normalViewPr>
  <p:slideViewPr>
    <p:cSldViewPr>
      <p:cViewPr varScale="1">
        <p:scale>
          <a:sx n="77" d="100"/>
          <a:sy n="77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204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custSel addSld delSld modSld">
      <pc:chgData name="Zonghua Gu" userId="9a7e1853e1951ef5" providerId="LiveId" clId="{CF1FAA12-072C-4ED5-BA76-0FFFAEFDB88A}" dt="2025-10-05T19:51:37.123" v="23"/>
      <pc:docMkLst>
        <pc:docMk/>
      </pc:docMkLst>
      <pc:sldChg chg="addSp modSp mod">
        <pc:chgData name="Zonghua Gu" userId="9a7e1853e1951ef5" providerId="LiveId" clId="{CF1FAA12-072C-4ED5-BA76-0FFFAEFDB88A}" dt="2025-09-16T21:27:48.835" v="8" actId="20577"/>
        <pc:sldMkLst>
          <pc:docMk/>
          <pc:sldMk cId="1227639730" sldId="256"/>
        </pc:sldMkLst>
        <pc:spChg chg="mod">
          <ac:chgData name="Zonghua Gu" userId="9a7e1853e1951ef5" providerId="LiveId" clId="{CF1FAA12-072C-4ED5-BA76-0FFFAEFDB88A}" dt="2025-09-16T21:27:44.448" v="3"/>
          <ac:spMkLst>
            <pc:docMk/>
            <pc:sldMk cId="1227639730" sldId="256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09-16T21:27:48.835" v="8" actId="20577"/>
          <ac:spMkLst>
            <pc:docMk/>
            <pc:sldMk cId="1227639730" sldId="256"/>
            <ac:spMk id="3" creationId="{00000000-0000-0000-0000-000000000000}"/>
          </ac:spMkLst>
        </pc:spChg>
        <pc:spChg chg="add mod">
          <ac:chgData name="Zonghua Gu" userId="9a7e1853e1951ef5" providerId="LiveId" clId="{CF1FAA12-072C-4ED5-BA76-0FFFAEFDB88A}" dt="2025-09-16T21:27:38.538" v="2" actId="1076"/>
          <ac:spMkLst>
            <pc:docMk/>
            <pc:sldMk cId="1227639730" sldId="256"/>
            <ac:spMk id="7" creationId="{04F69590-944C-2F0D-5FE5-A89C06E0D2BF}"/>
          </ac:spMkLst>
        </pc:spChg>
      </pc:sldChg>
      <pc:sldChg chg="add">
        <pc:chgData name="Zonghua Gu" userId="9a7e1853e1951ef5" providerId="LiveId" clId="{CF1FAA12-072C-4ED5-BA76-0FFFAEFDB88A}" dt="2025-09-21T23:03:14.599" v="18"/>
        <pc:sldMkLst>
          <pc:docMk/>
          <pc:sldMk cId="2714306100" sldId="261"/>
        </pc:sldMkLst>
      </pc:sldChg>
      <pc:sldChg chg="add">
        <pc:chgData name="Zonghua Gu" userId="9a7e1853e1951ef5" providerId="LiveId" clId="{CF1FAA12-072C-4ED5-BA76-0FFFAEFDB88A}" dt="2025-09-21T23:03:14.599" v="18"/>
        <pc:sldMkLst>
          <pc:docMk/>
          <pc:sldMk cId="99910597" sldId="262"/>
        </pc:sldMkLst>
      </pc:sldChg>
      <pc:sldChg chg="add">
        <pc:chgData name="Zonghua Gu" userId="9a7e1853e1951ef5" providerId="LiveId" clId="{CF1FAA12-072C-4ED5-BA76-0FFFAEFDB88A}" dt="2025-09-21T23:03:14.599" v="18"/>
        <pc:sldMkLst>
          <pc:docMk/>
          <pc:sldMk cId="1508398580" sldId="264"/>
        </pc:sldMkLst>
      </pc:sldChg>
      <pc:sldChg chg="add">
        <pc:chgData name="Zonghua Gu" userId="9a7e1853e1951ef5" providerId="LiveId" clId="{CF1FAA12-072C-4ED5-BA76-0FFFAEFDB88A}" dt="2025-09-21T23:03:14.599" v="18"/>
        <pc:sldMkLst>
          <pc:docMk/>
          <pc:sldMk cId="712390701" sldId="265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420550765" sldId="272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059043100" sldId="277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290796456" sldId="279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012842885" sldId="281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511335096" sldId="282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668909280" sldId="283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71435320" sldId="284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704552365" sldId="285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106604463" sldId="286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646693943" sldId="287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844324683" sldId="288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884958220" sldId="289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9255324" sldId="291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771709229" sldId="292"/>
        </pc:sldMkLst>
      </pc:sldChg>
      <pc:sldChg chg="modSp del mod">
        <pc:chgData name="Zonghua Gu" userId="9a7e1853e1951ef5" providerId="LiveId" clId="{CF1FAA12-072C-4ED5-BA76-0FFFAEFDB88A}" dt="2025-09-18T02:54:06.006" v="9" actId="47"/>
        <pc:sldMkLst>
          <pc:docMk/>
          <pc:sldMk cId="1337576135" sldId="293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459654649" sldId="295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785807384" sldId="307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644265921" sldId="312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277304446" sldId="313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099586659" sldId="314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430688265" sldId="315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128225317" sldId="316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703302262" sldId="317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321944581" sldId="318"/>
        </pc:sldMkLst>
      </pc:sldChg>
      <pc:sldChg chg="add">
        <pc:chgData name="Zonghua Gu" userId="9a7e1853e1951ef5" providerId="LiveId" clId="{CF1FAA12-072C-4ED5-BA76-0FFFAEFDB88A}" dt="2025-10-05T19:51:37.123" v="23"/>
        <pc:sldMkLst>
          <pc:docMk/>
          <pc:sldMk cId="96042344" sldId="319"/>
        </pc:sldMkLst>
      </pc:sldChg>
      <pc:sldChg chg="add">
        <pc:chgData name="Zonghua Gu" userId="9a7e1853e1951ef5" providerId="LiveId" clId="{CF1FAA12-072C-4ED5-BA76-0FFFAEFDB88A}" dt="2025-10-05T19:51:37.123" v="23"/>
        <pc:sldMkLst>
          <pc:docMk/>
          <pc:sldMk cId="2289735267" sldId="320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152283833" sldId="320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975851832" sldId="326"/>
        </pc:sldMkLst>
      </pc:sldChg>
      <pc:sldChg chg="new del">
        <pc:chgData name="Zonghua Gu" userId="9a7e1853e1951ef5" providerId="LiveId" clId="{CF1FAA12-072C-4ED5-BA76-0FFFAEFDB88A}" dt="2025-09-18T02:54:14.576" v="13" actId="47"/>
        <pc:sldMkLst>
          <pc:docMk/>
          <pc:sldMk cId="3087616913" sldId="326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42584573" sldId="328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148212839" sldId="329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380735846" sldId="330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640407279" sldId="331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4134758979" sldId="332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45956393" sldId="333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913135421" sldId="334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816386607" sldId="335"/>
        </pc:sldMkLst>
      </pc:sldChg>
      <pc:sldChg chg="add modNotes">
        <pc:chgData name="Zonghua Gu" userId="9a7e1853e1951ef5" providerId="LiveId" clId="{CF1FAA12-072C-4ED5-BA76-0FFFAEFDB88A}" dt="2025-10-02T21:43:06.404" v="21"/>
        <pc:sldMkLst>
          <pc:docMk/>
          <pc:sldMk cId="4015228595" sldId="335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525808290" sldId="336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861246248" sldId="337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476710942" sldId="338"/>
        </pc:sldMkLst>
      </pc:sldChg>
      <pc:sldChg chg="del">
        <pc:chgData name="Zonghua Gu" userId="9a7e1853e1951ef5" providerId="LiveId" clId="{CF1FAA12-072C-4ED5-BA76-0FFFAEFDB88A}" dt="2025-09-18T02:54:09.106" v="10" actId="47"/>
        <pc:sldMkLst>
          <pc:docMk/>
          <pc:sldMk cId="4270472410" sldId="341"/>
        </pc:sldMkLst>
      </pc:sldChg>
      <pc:sldChg chg="del">
        <pc:chgData name="Zonghua Gu" userId="9a7e1853e1951ef5" providerId="LiveId" clId="{CF1FAA12-072C-4ED5-BA76-0FFFAEFDB88A}" dt="2025-09-18T02:54:09.106" v="10" actId="47"/>
        <pc:sldMkLst>
          <pc:docMk/>
          <pc:sldMk cId="3897190462" sldId="342"/>
        </pc:sldMkLst>
      </pc:sldChg>
      <pc:sldChg chg="del">
        <pc:chgData name="Zonghua Gu" userId="9a7e1853e1951ef5" providerId="LiveId" clId="{CF1FAA12-072C-4ED5-BA76-0FFFAEFDB88A}" dt="2025-09-18T02:54:09.106" v="10" actId="47"/>
        <pc:sldMkLst>
          <pc:docMk/>
          <pc:sldMk cId="3398840445" sldId="343"/>
        </pc:sldMkLst>
      </pc:sldChg>
      <pc:sldChg chg="del">
        <pc:chgData name="Zonghua Gu" userId="9a7e1853e1951ef5" providerId="LiveId" clId="{CF1FAA12-072C-4ED5-BA76-0FFFAEFDB88A}" dt="2025-09-18T02:54:09.106" v="10" actId="47"/>
        <pc:sldMkLst>
          <pc:docMk/>
          <pc:sldMk cId="1330855799" sldId="344"/>
        </pc:sldMkLst>
      </pc:sldChg>
      <pc:sldChg chg="del">
        <pc:chgData name="Zonghua Gu" userId="9a7e1853e1951ef5" providerId="LiveId" clId="{CF1FAA12-072C-4ED5-BA76-0FFFAEFDB88A}" dt="2025-09-18T02:54:09.106" v="10" actId="47"/>
        <pc:sldMkLst>
          <pc:docMk/>
          <pc:sldMk cId="3251034726" sldId="345"/>
        </pc:sldMkLst>
      </pc:sldChg>
      <pc:sldChg chg="del">
        <pc:chgData name="Zonghua Gu" userId="9a7e1853e1951ef5" providerId="LiveId" clId="{CF1FAA12-072C-4ED5-BA76-0FFFAEFDB88A}" dt="2025-09-18T02:54:09.106" v="10" actId="47"/>
        <pc:sldMkLst>
          <pc:docMk/>
          <pc:sldMk cId="3132066556" sldId="346"/>
        </pc:sldMkLst>
      </pc:sldChg>
      <pc:sldChg chg="add">
        <pc:chgData name="Zonghua Gu" userId="9a7e1853e1951ef5" providerId="LiveId" clId="{CF1FAA12-072C-4ED5-BA76-0FFFAEFDB88A}" dt="2025-09-23T19:54:54.877" v="19"/>
        <pc:sldMkLst>
          <pc:docMk/>
          <pc:sldMk cId="397854206" sldId="379"/>
        </pc:sldMkLst>
      </pc:sldChg>
      <pc:sldChg chg="add">
        <pc:chgData name="Zonghua Gu" userId="9a7e1853e1951ef5" providerId="LiveId" clId="{CF1FAA12-072C-4ED5-BA76-0FFFAEFDB88A}" dt="2025-10-02T21:43:06.404" v="21"/>
        <pc:sldMkLst>
          <pc:docMk/>
          <pc:sldMk cId="2452138352" sldId="381"/>
        </pc:sldMkLst>
      </pc:sldChg>
      <pc:sldChg chg="add">
        <pc:chgData name="Zonghua Gu" userId="9a7e1853e1951ef5" providerId="LiveId" clId="{CF1FAA12-072C-4ED5-BA76-0FFFAEFDB88A}" dt="2025-10-02T23:51:49.400" v="22"/>
        <pc:sldMkLst>
          <pc:docMk/>
          <pc:sldMk cId="2623990252" sldId="383"/>
        </pc:sldMkLst>
      </pc:sldChg>
      <pc:sldChg chg="add del">
        <pc:chgData name="Zonghua Gu" userId="9a7e1853e1951ef5" providerId="LiveId" clId="{CF1FAA12-072C-4ED5-BA76-0FFFAEFDB88A}" dt="2025-09-18T02:55:09.669" v="16"/>
        <pc:sldMkLst>
          <pc:docMk/>
          <pc:sldMk cId="2963767799" sldId="473"/>
        </pc:sldMkLst>
      </pc:sldChg>
      <pc:sldChg chg="add">
        <pc:chgData name="Zonghua Gu" userId="9a7e1853e1951ef5" providerId="LiveId" clId="{CF1FAA12-072C-4ED5-BA76-0FFFAEFDB88A}" dt="2025-09-18T02:54:13.121" v="12"/>
        <pc:sldMkLst>
          <pc:docMk/>
          <pc:sldMk cId="2700446461" sldId="475"/>
        </pc:sldMkLst>
      </pc:sldChg>
      <pc:sldChg chg="add">
        <pc:chgData name="Zonghua Gu" userId="9a7e1853e1951ef5" providerId="LiveId" clId="{CF1FAA12-072C-4ED5-BA76-0FFFAEFDB88A}" dt="2025-09-18T21:31:24.471" v="17"/>
        <pc:sldMkLst>
          <pc:docMk/>
          <pc:sldMk cId="3686948551" sldId="525"/>
        </pc:sldMkLst>
      </pc:sldChg>
      <pc:sldChg chg="add">
        <pc:chgData name="Zonghua Gu" userId="9a7e1853e1951ef5" providerId="LiveId" clId="{CF1FAA12-072C-4ED5-BA76-0FFFAEFDB88A}" dt="2025-09-26T22:04:43.298" v="20"/>
        <pc:sldMkLst>
          <pc:docMk/>
          <pc:sldMk cId="464193995" sldId="81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C3A17A-95E8-4381-B66B-5D6DE2B3048A}" type="datetimeFigureOut">
              <a:rPr lang="en-US" smtClean="0"/>
              <a:pPr/>
              <a:t>10/5/2025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0C9D69-9831-4844-8B1E-062B2DA58B0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390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46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C is cleared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ea typeface="+mn-ea"/>
                <a:cs typeface="Times New Roman" pitchFamily="18" charset="0"/>
              </a:rPr>
              <a:t>upon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an </a:t>
            </a:r>
            <a:r>
              <a:rPr kumimoji="0" lang="en-US" sz="1200" b="1" i="0" u="sng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unsigned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 subtract if the answer is wrong</a:t>
            </a:r>
            <a:endParaRPr kumimoji="0" lang="en-US" sz="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/>
              <a:ea typeface="+mn-ea"/>
              <a:cs typeface="+mn-cs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14508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https://eclecticlight.co/2021/06/23/code-in-arm-assembly-controlling-flow/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 (Negative): Copies the most significant bit of the last result; 1 means the result’s sign bit is 1, which for two’s‑complement indicates a negative value in signed interpretation.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 (Zero): 1 if the result was exactly zero; otherwise 0.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 (Carry): For addition, 1 means an unsigned carry out; for subtraction (a − b or CMP), 1 means “no borrow,” and 0 means a borrow occurred. For shifts/rotates, it holds the last bit shifted out.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 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 1 when signed overflow occurred, i.e., the true signed result didn’t fit in the destination width (e.g., positive + positive → negative, or negative + negative → positive in 32‑bit two’s‑complement).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C=1 and Z=0 corresponds to “unsigned higher” (HI):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After a CMP a, b (which computes a − b for flags), C=1 means the subtraction needed no borrow, so a ≥ b in unsigned arithmetic; Z=0 rules out equality, leaving a &gt; b. That composite condition is named HI.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6462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924810" y="4404346"/>
            <a:ext cx="5100458" cy="417057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2350" tIns="46174" rIns="92350" bIns="46174"/>
          <a:lstStyle/>
          <a:p>
            <a:endParaRPr lang="en-US" dirty="0"/>
          </a:p>
        </p:txBody>
      </p:sp>
      <p:sp>
        <p:nvSpPr>
          <p:cNvPr id="47107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79525" y="863600"/>
            <a:ext cx="4403725" cy="3303588"/>
          </a:xfrm>
          <a:ln/>
        </p:spPr>
      </p:sp>
    </p:spTree>
    <p:extLst>
      <p:ext uri="{BB962C8B-B14F-4D97-AF65-F5344CB8AC3E}">
        <p14:creationId xmlns:p14="http://schemas.microsoft.com/office/powerpoint/2010/main" val="24249951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B2AF1D-1787-4F45-8D94-E7435950448C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8582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966FEA0E-C2DF-4252-97AD-54F2B7E07EAC}" type="datetime1">
              <a:rPr lang="en-US" smtClean="0"/>
              <a:pPr eaLnBrk="1" latinLnBrk="0" hangingPunct="1"/>
              <a:t>10/5/2025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CD88620-7329-4FC3-B65D-4EA691138F1B}" type="datetime1">
              <a:rPr lang="en-US" smtClean="0"/>
              <a:pPr eaLnBrk="1" latinLnBrk="0" hangingPunct="1"/>
              <a:t>10/5/2025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pPr eaLnBrk="1" latinLnBrk="0" hangingPunct="1"/>
            <a:fld id="{0E46F3A1-5653-427D-9F78-56077401431A}" type="datetime1">
              <a:rPr lang="en-US" smtClean="0"/>
              <a:pPr eaLnBrk="1" latinLnBrk="0" hangingPunct="1"/>
              <a:t>10/5/2025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67FC03-415A-45F0-B002-DF181377F7DC}" type="datetime1">
              <a:rPr lang="en-US" smtClean="0"/>
              <a:pPr eaLnBrk="1" latinLnBrk="0" hangingPunct="1"/>
              <a:t>10/5/2025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B6FC726-A0B4-4FC7-90F5-F17415A5C1A3}" type="datetime1">
              <a:rPr lang="en-US" smtClean="0"/>
              <a:pPr eaLnBrk="1" latinLnBrk="0" hangingPunct="1"/>
              <a:t>10/5/2025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E217211-C3F9-4892-9CC3-C7105638567D}" type="datetime1">
              <a:rPr lang="en-US" smtClean="0"/>
              <a:pPr eaLnBrk="1" latinLnBrk="0" hangingPunct="1"/>
              <a:t>10/5/2025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A713E6A-6B26-4373-A75B-EF395DC64F9E}" type="datetime1">
              <a:rPr lang="en-US" smtClean="0"/>
              <a:pPr eaLnBrk="1" latinLnBrk="0" hangingPunct="1"/>
              <a:t>10/5/2025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7EB41EF-4260-415A-8DD6-FEDCC46E7EFC}" type="datetime1">
              <a:rPr lang="en-US" smtClean="0"/>
              <a:pPr eaLnBrk="1" latinLnBrk="0" hangingPunct="1"/>
              <a:t>10/5/2025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BDA80A0-06CC-4492-94A0-E8516751045E}" type="datetime1">
              <a:rPr lang="en-US" smtClean="0"/>
              <a:pPr eaLnBrk="1" latinLnBrk="0" hangingPunct="1"/>
              <a:t>10/5/2025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9EF9524-0CAA-4F98-BAC2-CE6B712F5E94}" type="datetime1">
              <a:rPr lang="en-US" smtClean="0"/>
              <a:pPr eaLnBrk="1" latinLnBrk="0" hangingPunct="1"/>
              <a:t>10/5/2025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20516D-6F89-4C89-8307-32A716E22875}" type="datetime1">
              <a:rPr lang="en-US" smtClean="0"/>
              <a:pPr eaLnBrk="1" latinLnBrk="0" hangingPunct="1"/>
              <a:t>10/5/2025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A25B5B4B-57EE-495D-8E74-A657CFD8BB6C}" type="datetime1">
              <a:rPr lang="en-US" smtClean="0"/>
              <a:pPr eaLnBrk="1" latinLnBrk="0" hangingPunct="1"/>
              <a:t>10/5/2025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Zonghua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5175" y="1828800"/>
            <a:ext cx="58142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4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ARM Arithmetic and Logic Instructions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69590-944C-2F0D-5FE5-A89C06E0D2BF}"/>
              </a:ext>
            </a:extLst>
          </p:cNvPr>
          <p:cNvSpPr txBox="1"/>
          <p:nvPr/>
        </p:nvSpPr>
        <p:spPr>
          <a:xfrm>
            <a:off x="709138" y="6355080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27639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1024745" y="39747"/>
            <a:ext cx="8229600" cy="990600"/>
          </a:xfrm>
          <a:ln>
            <a:miter lim="800000"/>
            <a:headEnd/>
            <a:tailEnd/>
          </a:ln>
        </p:spPr>
        <p:txBody>
          <a:bodyPr/>
          <a:lstStyle/>
          <a:p>
            <a:r>
              <a:rPr lang="en-US" sz="3600" dirty="0">
                <a:solidFill>
                  <a:srgbClr val="FF0000"/>
                </a:solidFill>
                <a:latin typeface="Gill Sans MT"/>
                <a:cs typeface="Times New Roman" pitchFamily="18" charset="0"/>
              </a:rPr>
              <a:t>Summary of Carry and Overflow Flags</a:t>
            </a:r>
            <a:endParaRPr lang="en-US" sz="3600" dirty="0">
              <a:solidFill>
                <a:srgbClr val="FF0000"/>
              </a:solidFill>
            </a:endParaRPr>
          </a:p>
        </p:txBody>
      </p:sp>
      <p:sp>
        <p:nvSpPr>
          <p:cNvPr id="8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56C4D0-D1DD-434F-9E39-17578F101405}" type="slidenum"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Gill Sans MT"/>
              <a:ea typeface="+mn-ea"/>
              <a:cs typeface="+mn-cs"/>
            </a:endParaRPr>
          </a:p>
        </p:txBody>
      </p:sp>
      <p:sp>
        <p:nvSpPr>
          <p:cNvPr id="323586" name="Date Placeholder 3"/>
          <p:cNvSpPr txBox="1">
            <a:spLocks noGrp="1"/>
          </p:cNvSpPr>
          <p:nvPr/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Arial" pitchFamily="34" charset="0"/>
              <a:ea typeface="+mn-ea"/>
              <a:cs typeface="+mn-cs"/>
            </a:endParaRPr>
          </a:p>
        </p:txBody>
      </p:sp>
      <p:sp>
        <p:nvSpPr>
          <p:cNvPr id="323587" name="Slide Number Placeholder 5"/>
          <p:cNvSpPr txBox="1">
            <a:spLocks noGrp="1"/>
          </p:cNvSpPr>
          <p:nvPr/>
        </p:nvSpPr>
        <p:spPr bwMode="auto">
          <a:xfrm>
            <a:off x="6553200" y="5864225"/>
            <a:ext cx="213360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3D14BE-FE52-4332-969F-3696FB65ED39}" type="slidenum"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Arial" pitchFamily="34" charset="0"/>
              <a:ea typeface="+mn-ea"/>
              <a:cs typeface="+mn-cs"/>
            </a:endParaRPr>
          </a:p>
        </p:txBody>
      </p:sp>
      <p:sp>
        <p:nvSpPr>
          <p:cNvPr id="38917" name="Rectangle 5"/>
          <p:cNvSpPr>
            <a:spLocks noChangeArrowheads="1"/>
          </p:cNvSpPr>
          <p:nvPr/>
        </p:nvSpPr>
        <p:spPr bwMode="auto">
          <a:xfrm>
            <a:off x="609600" y="3370151"/>
            <a:ext cx="8083550" cy="23544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/>
              <a:ea typeface="+mn-ea"/>
              <a:cs typeface="+mn-cs"/>
            </a:endParaRPr>
          </a:p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cs typeface="Times New Roman" pitchFamily="18" charset="0"/>
              </a:rPr>
              <a:t>Carry flag C = 1 upon an </a:t>
            </a:r>
            <a:r>
              <a:rPr kumimoji="0" lang="en-US" b="1" i="0" u="sng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Gill Sans MT"/>
                <a:cs typeface="Times New Roman" pitchFamily="18" charset="0"/>
              </a:rPr>
              <a:t>unsigned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cs typeface="Times New Roman" pitchFamily="18" charset="0"/>
              </a:rPr>
              <a:t> addition if the answer is wrong (true result &gt; 2</a:t>
            </a:r>
            <a:r>
              <a:rPr kumimoji="0" lang="en-US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cs typeface="Times New Roman" pitchFamily="18" charset="0"/>
              </a:rPr>
              <a:t>n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cs typeface="Times New Roman" pitchFamily="18" charset="0"/>
              </a:rPr>
              <a:t>-1)</a:t>
            </a:r>
          </a:p>
          <a:p>
            <a:pPr lvl="0" fontAlgn="auto">
              <a:spcBef>
                <a:spcPts val="0"/>
              </a:spcBef>
              <a:spcAft>
                <a:spcPts val="0"/>
              </a:spcAft>
            </a:pPr>
            <a:r>
              <a:rPr lang="en-US" b="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</a:t>
            </a:r>
            <a:r>
              <a:rPr lang="en-US" b="0" dirty="0">
                <a:solidFill>
                  <a:prstClr val="black"/>
                </a:solidFill>
                <a:latin typeface="Gill Sans MT"/>
              </a:rPr>
              <a:t>C = 0 (Borrow flag = 1) </a:t>
            </a:r>
            <a:r>
              <a:rPr lang="en-US" b="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</a:t>
            </a:r>
            <a:r>
              <a:rPr lang="en-US" b="0" dirty="0">
                <a:solidFill>
                  <a:prstClr val="black"/>
                </a:solidFill>
                <a:latin typeface="Gill Sans MT"/>
              </a:rPr>
              <a:t>an </a:t>
            </a:r>
            <a:r>
              <a:rPr lang="en-US" u="sng" dirty="0">
                <a:solidFill>
                  <a:srgbClr val="800000"/>
                </a:solidFill>
                <a:latin typeface="Gill Sans MT"/>
              </a:rPr>
              <a:t>unsigned</a:t>
            </a:r>
            <a:r>
              <a:rPr lang="en-US" b="0" dirty="0">
                <a:solidFill>
                  <a:prstClr val="black"/>
                </a:solidFill>
                <a:latin typeface="Gill Sans MT"/>
              </a:rPr>
              <a:t> subtraction </a:t>
            </a:r>
            <a:r>
              <a:rPr lang="en-US" b="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if the answer is wrong </a:t>
            </a:r>
            <a:r>
              <a:rPr lang="en-US" b="0" dirty="0">
                <a:solidFill>
                  <a:prstClr val="black"/>
                </a:solidFill>
                <a:latin typeface="Gill Sans MT"/>
              </a:rPr>
              <a:t> (</a:t>
            </a:r>
            <a:r>
              <a:rPr lang="en-US" b="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true result &lt; 0)</a:t>
            </a:r>
            <a:endParaRPr lang="en-US" sz="700" b="0" dirty="0">
              <a:solidFill>
                <a:prstClr val="black"/>
              </a:solidFill>
              <a:latin typeface="Gill Sans MT"/>
            </a:endParaRPr>
          </a:p>
          <a:p>
            <a:pPr lv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cs typeface="Times New Roman" pitchFamily="18" charset="0"/>
              </a:rPr>
              <a:t>Overflow</a:t>
            </a:r>
            <a:r>
              <a:rPr kumimoji="0" lang="en-US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cs typeface="Times New Roman" pitchFamily="18" charset="0"/>
              </a:rPr>
              <a:t> flag 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cs typeface="Times New Roman" pitchFamily="18" charset="0"/>
              </a:rPr>
              <a:t>V =1 upon a </a:t>
            </a:r>
            <a:r>
              <a:rPr kumimoji="0" lang="en-US" b="1" i="0" u="sng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Gill Sans MT"/>
                <a:cs typeface="Times New Roman" pitchFamily="18" charset="0"/>
              </a:rPr>
              <a:t>signed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/>
                <a:cs typeface="Times New Roman" pitchFamily="18" charset="0"/>
              </a:rPr>
              <a:t> addition </a:t>
            </a:r>
            <a:r>
              <a:rPr lang="en-US" b="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if the answer is wrong (true result &gt; 2</a:t>
            </a:r>
            <a:r>
              <a:rPr lang="en-US" b="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b="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b="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 </a:t>
            </a:r>
            <a:r>
              <a:rPr lang="en-US" altLang="zh-CN" b="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or true result &lt; -</a:t>
            </a:r>
            <a:r>
              <a:rPr lang="en-US" b="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2</a:t>
            </a:r>
            <a:r>
              <a:rPr lang="en-US" b="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b="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altLang="zh-CN" b="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)</a:t>
            </a:r>
            <a:endParaRPr kumimoji="0" lang="en-US" b="0" i="0" u="none" strike="noStrike" kern="1200" cap="none" spc="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/>
              <a:cs typeface="Times New Roman" pitchFamily="18" charset="0"/>
            </a:endParaRPr>
          </a:p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/>
              <a:cs typeface="Times New Roman" pitchFamily="18" charset="0"/>
            </a:endParaRPr>
          </a:p>
        </p:txBody>
      </p:sp>
      <p:graphicFrame>
        <p:nvGraphicFramePr>
          <p:cNvPr id="39012" name="Group 100"/>
          <p:cNvGraphicFramePr>
            <a:graphicFrameLocks noGrp="1"/>
          </p:cNvGraphicFramePr>
          <p:nvPr/>
        </p:nvGraphicFramePr>
        <p:xfrm>
          <a:off x="1447800" y="1143000"/>
          <a:ext cx="5715000" cy="2362201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5857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9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96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3075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Bit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Name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>
                          <a:ln>
                            <a:noFill/>
                          </a:ln>
                          <a:effectLst/>
                        </a:rPr>
                        <a:t>Meaning after add or sub</a:t>
                      </a:r>
                      <a:endParaRPr kumimoji="0" lang="en-US" sz="20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488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>
                          <a:ln>
                            <a:noFill/>
                          </a:ln>
                          <a:effectLst/>
                        </a:rPr>
                        <a:t>N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negative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>
                          <a:ln>
                            <a:noFill/>
                          </a:ln>
                          <a:effectLst/>
                        </a:rPr>
                        <a:t>result is negative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3075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>
                          <a:ln>
                            <a:noFill/>
                          </a:ln>
                          <a:effectLst/>
                        </a:rPr>
                        <a:t>Z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zero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>
                          <a:ln>
                            <a:noFill/>
                          </a:ln>
                          <a:effectLst/>
                        </a:rPr>
                        <a:t>result is zero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488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>
                          <a:ln>
                            <a:noFill/>
                          </a:ln>
                          <a:effectLst/>
                        </a:rPr>
                        <a:t>V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>
                          <a:ln>
                            <a:noFill/>
                          </a:ln>
                          <a:effectLst/>
                        </a:rPr>
                        <a:t>overflow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signed overflow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3075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>
                          <a:ln>
                            <a:noFill/>
                          </a:ln>
                          <a:effectLst/>
                        </a:rPr>
                        <a:t>C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>
                          <a:ln>
                            <a:noFill/>
                          </a:ln>
                          <a:effectLst/>
                        </a:rPr>
                        <a:t>carry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unsigned overflow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Rectangle 20"/>
          <p:cNvSpPr>
            <a:spLocks noChangeArrowheads="1"/>
          </p:cNvSpPr>
          <p:nvPr/>
        </p:nvSpPr>
        <p:spPr bwMode="auto">
          <a:xfrm>
            <a:off x="3340970" y="5575300"/>
            <a:ext cx="1943100" cy="400050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pPr algn="ctr" defTabSz="342900" eaLnBrk="1" fontAlgn="auto" hangingPunct="1">
              <a:spcBef>
                <a:spcPts val="0"/>
              </a:spcBef>
              <a:spcAft>
                <a:spcPts val="0"/>
              </a:spcAft>
            </a:pPr>
            <a:endParaRPr lang="en-US" sz="1350" b="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8" name="Text Box 21"/>
          <p:cNvSpPr txBox="1">
            <a:spLocks noChangeArrowheads="1"/>
          </p:cNvSpPr>
          <p:nvPr/>
        </p:nvSpPr>
        <p:spPr bwMode="auto">
          <a:xfrm>
            <a:off x="3271914" y="5336505"/>
            <a:ext cx="380232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en-US" sz="1500" b="0">
                <a:solidFill>
                  <a:prstClr val="black"/>
                </a:solidFill>
                <a:latin typeface="Calibri"/>
              </a:rPr>
              <a:t>31</a:t>
            </a:r>
          </a:p>
        </p:txBody>
      </p:sp>
      <p:sp>
        <p:nvSpPr>
          <p:cNvPr id="19" name="Text Box 22"/>
          <p:cNvSpPr txBox="1">
            <a:spLocks noChangeArrowheads="1"/>
          </p:cNvSpPr>
          <p:nvPr/>
        </p:nvSpPr>
        <p:spPr bwMode="auto">
          <a:xfrm>
            <a:off x="4998320" y="5325789"/>
            <a:ext cx="282450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en-US" sz="1500" b="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40970" y="5575300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en-US" sz="1350" b="0" dirty="0">
                <a:solidFill>
                  <a:prstClr val="black"/>
                </a:solidFill>
                <a:latin typeface="Calibri"/>
              </a:rPr>
              <a:t>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03092" y="5575022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en-US" sz="1350" b="0" dirty="0">
                <a:solidFill>
                  <a:prstClr val="black"/>
                </a:solidFill>
                <a:latin typeface="Calibri"/>
              </a:rPr>
              <a:t>Z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65215" y="5574465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en-US" sz="1350" b="0" dirty="0">
                <a:solidFill>
                  <a:prstClr val="black"/>
                </a:solidFill>
                <a:latin typeface="Calibri"/>
              </a:rPr>
              <a:t>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24956" y="5574464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en-US" sz="1350" b="0" dirty="0">
                <a:solidFill>
                  <a:prstClr val="black"/>
                </a:solidFill>
                <a:latin typeface="Calibri"/>
              </a:rPr>
              <a:t>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78666" y="6009879"/>
            <a:ext cx="2941896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3429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en-US" sz="1350" b="0" dirty="0">
                <a:solidFill>
                  <a:prstClr val="black"/>
                </a:solidFill>
                <a:latin typeface="Calibri"/>
              </a:rPr>
              <a:t>CPSR (Current Program Status Register)</a:t>
            </a:r>
          </a:p>
        </p:txBody>
      </p:sp>
      <p:sp>
        <p:nvSpPr>
          <p:cNvPr id="16" name="Horizontal Scroll 15"/>
          <p:cNvSpPr/>
          <p:nvPr/>
        </p:nvSpPr>
        <p:spPr>
          <a:xfrm>
            <a:off x="76200" y="-23210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2623990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7" grpId="0" autoUpdateAnimBg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3A519-DBC1-4403-2E8B-B6BADD69B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NZCV Flags in </a:t>
            </a:r>
            <a:r>
              <a:rPr lang="en-US" dirty="0" err="1"/>
              <a:t>xPSR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62D03D-6F8E-1055-AD43-53C024771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71F98-40C3-8109-24BE-24A75ED061C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910806"/>
          </a:xfrm>
        </p:spPr>
        <p:txBody>
          <a:bodyPr>
            <a:normAutofit fontScale="77500" lnSpcReduction="20000"/>
          </a:bodyPr>
          <a:lstStyle/>
          <a:p>
            <a:r>
              <a:rPr lang="en-US" sz="2800" b="1" dirty="0"/>
              <a:t>N</a:t>
            </a:r>
            <a:r>
              <a:rPr lang="en-US" sz="2800" dirty="0"/>
              <a:t> (negative) – set (1) when a signed result is negative, otherwise cleared (0).</a:t>
            </a:r>
          </a:p>
          <a:p>
            <a:r>
              <a:rPr lang="en-US" sz="2800" b="1" dirty="0"/>
              <a:t>Z</a:t>
            </a:r>
            <a:r>
              <a:rPr lang="en-US" sz="2800" dirty="0"/>
              <a:t> (zero) – set (1) when a result is 0, otherwise cleared (0).</a:t>
            </a:r>
          </a:p>
          <a:p>
            <a:r>
              <a:rPr lang="en-US" sz="2800" b="1" dirty="0"/>
              <a:t>C</a:t>
            </a:r>
            <a:r>
              <a:rPr lang="en-US" sz="2800" dirty="0"/>
              <a:t> (carry) – set (1) when an add-based operation produces an overflow, when a subtract-based operation doesn’t require a borrow; when shifting, holds the last bit that’s been shifted out; otherwise cleared (0).</a:t>
            </a:r>
          </a:p>
          <a:p>
            <a:r>
              <a:rPr lang="en-US" sz="2800" b="1" dirty="0"/>
              <a:t>V</a:t>
            </a:r>
            <a:r>
              <a:rPr lang="en-US" sz="2800" dirty="0"/>
              <a:t> (overflow) – set (1) when an add- or subtract-based operation generates a signed overflow, otherwise cleared (0).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168489-8B57-7C2E-A280-C2FCA5EA74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800" y="4016795"/>
            <a:ext cx="5940553" cy="2409224"/>
          </a:xfrm>
          <a:prstGeom prst="rect">
            <a:avLst/>
          </a:prstGeom>
        </p:spPr>
      </p:pic>
      <p:sp>
        <p:nvSpPr>
          <p:cNvPr id="5" name="Horizontal Scroll 15">
            <a:extLst>
              <a:ext uri="{FF2B5EF4-FFF2-40B4-BE49-F238E27FC236}">
                <a16:creationId xmlns:a16="http://schemas.microsoft.com/office/drawing/2014/main" id="{785D1948-1665-EC1C-519D-DEF2FD52EF22}"/>
              </a:ext>
            </a:extLst>
          </p:cNvPr>
          <p:cNvSpPr/>
          <p:nvPr/>
        </p:nvSpPr>
        <p:spPr>
          <a:xfrm>
            <a:off x="76200" y="-23210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24521383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41" name="Rectangle 57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1: Greatest Common Divider (GCD)</a:t>
            </a:r>
          </a:p>
        </p:txBody>
      </p:sp>
      <p:sp>
        <p:nvSpPr>
          <p:cNvPr id="16387" name="Rectangle 3"/>
          <p:cNvSpPr>
            <a:spLocks noChangeArrowheads="1"/>
          </p:cNvSpPr>
          <p:nvPr/>
        </p:nvSpPr>
        <p:spPr bwMode="auto">
          <a:xfrm>
            <a:off x="1660922" y="5539979"/>
            <a:ext cx="1427559" cy="3417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16388" name="Rectangle 4"/>
          <p:cNvSpPr>
            <a:spLocks noChangeArrowheads="1"/>
          </p:cNvSpPr>
          <p:nvPr/>
        </p:nvSpPr>
        <p:spPr bwMode="auto">
          <a:xfrm>
            <a:off x="3487342" y="5539979"/>
            <a:ext cx="2169319" cy="3417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16389" name="Rectangle 5"/>
          <p:cNvSpPr>
            <a:spLocks noChangeArrowheads="1"/>
          </p:cNvSpPr>
          <p:nvPr/>
        </p:nvSpPr>
        <p:spPr bwMode="auto">
          <a:xfrm>
            <a:off x="1660922" y="5539979"/>
            <a:ext cx="1427559" cy="3417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16390" name="Rectangle 6"/>
          <p:cNvSpPr>
            <a:spLocks noChangeArrowheads="1"/>
          </p:cNvSpPr>
          <p:nvPr/>
        </p:nvSpPr>
        <p:spPr bwMode="auto">
          <a:xfrm>
            <a:off x="3487342" y="5539979"/>
            <a:ext cx="2169319" cy="3417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58" name="Slide Number Placeholder 5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>
                <a:solidFill>
                  <a:srgbClr val="1F497D"/>
                </a:solidFill>
                <a:latin typeface="Gill Sans MT"/>
              </a:rPr>
              <a:pPr/>
              <a:t>4</a:t>
            </a:fld>
            <a:endParaRPr lang="en-US">
              <a:solidFill>
                <a:srgbClr val="1F497D"/>
              </a:solidFill>
              <a:latin typeface="Gill Sans MT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353699" y="3637264"/>
            <a:ext cx="3389752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200" dirty="0">
                <a:solidFill>
                  <a:prstClr val="white">
                    <a:lumMod val="65000"/>
                  </a:prst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suppose r0 = a and r1 = b</a:t>
            </a:r>
          </a:p>
          <a:p>
            <a:r>
              <a:rPr lang="en-US" sz="1200" b="1" dirty="0" err="1">
                <a:solidFill>
                  <a:srgbClr val="FF4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gcd</a:t>
            </a:r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CMP r0, r1	      </a:t>
            </a:r>
            <a:r>
              <a:rPr lang="en-US" sz="1200" dirty="0">
                <a:solidFill>
                  <a:prstClr val="white">
                    <a:lumMod val="65000"/>
                  </a:prst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 &gt; b?</a:t>
            </a:r>
          </a:p>
          <a:p>
            <a:r>
              <a:rPr lang="en-US" sz="1200" b="1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BEQ end</a:t>
            </a:r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      </a:t>
            </a:r>
            <a:r>
              <a:rPr lang="en-US" sz="1200" dirty="0">
                <a:solidFill>
                  <a:prstClr val="white">
                    <a:lumMod val="65000"/>
                  </a:prst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if a = b, done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2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BLO less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    </a:t>
            </a:r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200" dirty="0">
                <a:solidFill>
                  <a:prstClr val="white">
                    <a:lumMod val="65000"/>
                  </a:prst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 &lt; b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SUB r0, r0, r1  </a:t>
            </a:r>
            <a:r>
              <a:rPr lang="en-US" sz="1200" dirty="0">
                <a:solidFill>
                  <a:prstClr val="white">
                    <a:lumMod val="65000"/>
                  </a:prst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 = a – b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200" b="1" dirty="0">
                <a:solidFill>
                  <a:srgbClr val="FF4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   </a:t>
            </a:r>
            <a:r>
              <a:rPr lang="en-US" sz="1200" b="1" dirty="0" err="1">
                <a:solidFill>
                  <a:srgbClr val="FF4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gcd</a:t>
            </a:r>
            <a:endParaRPr lang="en-US" sz="1200" b="1" dirty="0">
              <a:solidFill>
                <a:srgbClr val="FF40FF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less  </a:t>
            </a:r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 r1, r1, r0  </a:t>
            </a:r>
            <a:r>
              <a:rPr lang="en-US" sz="1200" dirty="0">
                <a:solidFill>
                  <a:prstClr val="white">
                    <a:lumMod val="65000"/>
                  </a:prst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 = b – a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200" b="1" dirty="0">
                <a:solidFill>
                  <a:srgbClr val="FF4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   </a:t>
            </a:r>
            <a:r>
              <a:rPr lang="en-US" sz="1200" b="1" dirty="0" err="1">
                <a:solidFill>
                  <a:srgbClr val="FF4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gcd</a:t>
            </a:r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</a:t>
            </a:r>
          </a:p>
        </p:txBody>
      </p:sp>
      <p:sp>
        <p:nvSpPr>
          <p:cNvPr id="62" name="Down Arrow 61"/>
          <p:cNvSpPr/>
          <p:nvPr/>
        </p:nvSpPr>
        <p:spPr>
          <a:xfrm>
            <a:off x="2000251" y="3371297"/>
            <a:ext cx="124628" cy="21636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prstClr val="white"/>
              </a:solidFill>
              <a:latin typeface="Gill Sans MT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1283565" y="1698012"/>
            <a:ext cx="12872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latin typeface="Gill Sans MT"/>
              </a:rPr>
              <a:t>Euclid’s Algorithm</a:t>
            </a:r>
          </a:p>
        </p:txBody>
      </p:sp>
      <p:grpSp>
        <p:nvGrpSpPr>
          <p:cNvPr id="66" name="Group 65"/>
          <p:cNvGrpSpPr/>
          <p:nvPr/>
        </p:nvGrpSpPr>
        <p:grpSpPr>
          <a:xfrm>
            <a:off x="4686301" y="1714500"/>
            <a:ext cx="2679396" cy="830997"/>
            <a:chOff x="4461833" y="1619479"/>
            <a:chExt cx="3572527" cy="1107996"/>
          </a:xfrm>
        </p:grpSpPr>
        <p:sp>
          <p:nvSpPr>
            <p:cNvPr id="64" name="Right Arrow 63"/>
            <p:cNvSpPr/>
            <p:nvPr/>
          </p:nvSpPr>
          <p:spPr>
            <a:xfrm>
              <a:off x="4461833" y="2027104"/>
              <a:ext cx="716096" cy="209321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prstClr val="white"/>
                </a:solidFill>
                <a:latin typeface="Gill Sans MT"/>
              </a:endParaRP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5409282" y="1619479"/>
              <a:ext cx="2625078" cy="110799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gcd</a:t>
              </a:r>
              <a:r>
                <a:rPr lang="en-US" sz="12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 </a:t>
              </a:r>
              <a:r>
                <a:rPr lang="en-US" sz="1200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CMP</a:t>
              </a:r>
              <a:r>
                <a:rPr lang="en-US" sz="12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r0, r1</a:t>
              </a:r>
            </a:p>
            <a:p>
              <a:r>
                <a:rPr lang="en-US" sz="12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    SUBHI r0, r0, r1</a:t>
              </a:r>
            </a:p>
            <a:p>
              <a:r>
                <a:rPr lang="en-US" sz="12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    SUBLO r1, r1, r0</a:t>
              </a:r>
            </a:p>
            <a:p>
              <a:r>
                <a:rPr lang="en-US" sz="12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    </a:t>
              </a:r>
              <a:r>
                <a:rPr lang="en-US" sz="1200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BNE</a:t>
              </a:r>
              <a:r>
                <a:rPr lang="en-US" sz="12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sz="1200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gcd</a:t>
              </a:r>
              <a:endParaRPr lang="en-US" sz="1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sp>
        <p:nvSpPr>
          <p:cNvPr id="60" name="TextBox 59"/>
          <p:cNvSpPr txBox="1"/>
          <p:nvPr/>
        </p:nvSpPr>
        <p:spPr>
          <a:xfrm>
            <a:off x="1353699" y="1959784"/>
            <a:ext cx="2958028" cy="13849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uint32_t a, b;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while (a != b ) {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if (a &gt; b) 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a = a – b; 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else 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b = b – a; 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2" name="Arrow: Curved Right 1">
            <a:extLst>
              <a:ext uri="{FF2B5EF4-FFF2-40B4-BE49-F238E27FC236}">
                <a16:creationId xmlns:a16="http://schemas.microsoft.com/office/drawing/2014/main" id="{63AD5224-522C-18FC-A5C0-4CAEE167F4A7}"/>
              </a:ext>
            </a:extLst>
          </p:cNvPr>
          <p:cNvSpPr/>
          <p:nvPr/>
        </p:nvSpPr>
        <p:spPr>
          <a:xfrm>
            <a:off x="1143001" y="4114800"/>
            <a:ext cx="210698" cy="120015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3" name="Arrow: Curved Right 2">
            <a:extLst>
              <a:ext uri="{FF2B5EF4-FFF2-40B4-BE49-F238E27FC236}">
                <a16:creationId xmlns:a16="http://schemas.microsoft.com/office/drawing/2014/main" id="{D6951C95-8873-B916-2166-BF641EF82FD2}"/>
              </a:ext>
            </a:extLst>
          </p:cNvPr>
          <p:cNvSpPr/>
          <p:nvPr/>
        </p:nvSpPr>
        <p:spPr>
          <a:xfrm>
            <a:off x="1143000" y="4284417"/>
            <a:ext cx="210698" cy="630484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4" name="Arrow: Curved Right 3">
            <a:extLst>
              <a:ext uri="{FF2B5EF4-FFF2-40B4-BE49-F238E27FC236}">
                <a16:creationId xmlns:a16="http://schemas.microsoft.com/office/drawing/2014/main" id="{BF8ADD12-38AC-2F78-06EF-691CD8EC6539}"/>
              </a:ext>
            </a:extLst>
          </p:cNvPr>
          <p:cNvSpPr/>
          <p:nvPr/>
        </p:nvSpPr>
        <p:spPr>
          <a:xfrm flipV="1">
            <a:off x="1638717" y="3882854"/>
            <a:ext cx="262820" cy="868760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5" name="Arrow: Curved Right 4">
            <a:extLst>
              <a:ext uri="{FF2B5EF4-FFF2-40B4-BE49-F238E27FC236}">
                <a16:creationId xmlns:a16="http://schemas.microsoft.com/office/drawing/2014/main" id="{CC7A2AF8-E930-2C88-AA7D-100ACAD1C1CD}"/>
              </a:ext>
            </a:extLst>
          </p:cNvPr>
          <p:cNvSpPr/>
          <p:nvPr/>
        </p:nvSpPr>
        <p:spPr>
          <a:xfrm flipV="1">
            <a:off x="1625960" y="3874692"/>
            <a:ext cx="262820" cy="1203767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05A93BF7-A206-F2CA-CC13-D14DF785DD1A}"/>
              </a:ext>
            </a:extLst>
          </p:cNvPr>
          <p:cNvSpPr txBox="1">
            <a:spLocks/>
          </p:cNvSpPr>
          <p:nvPr/>
        </p:nvSpPr>
        <p:spPr bwMode="auto">
          <a:xfrm>
            <a:off x="4810052" y="2546908"/>
            <a:ext cx="3079900" cy="3395561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67859" tIns="33334" rIns="67859" bIns="33334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1350" kern="0" dirty="0">
                <a:solidFill>
                  <a:prstClr val="black"/>
                </a:solidFill>
              </a:rPr>
              <a:t>CMP r0, r1 compares r0 and r1, setting Z=1 if r0 == r1, which is the termination condition when tested by BNE later.</a:t>
            </a:r>
          </a:p>
          <a:p>
            <a:pPr marL="0" indent="0">
              <a:buNone/>
            </a:pPr>
            <a:r>
              <a:rPr lang="en-US" sz="1350" kern="0" dirty="0">
                <a:solidFill>
                  <a:prstClr val="black"/>
                </a:solidFill>
              </a:rPr>
              <a:t>SUBHI r0, r0, r1 executes only if the previous compare set HI (unsigned “higher”), i.e., r0 &gt; r1 for unsigned </a:t>
            </a:r>
            <a:r>
              <a:rPr lang="en-US" sz="1350" kern="0" dirty="0" err="1">
                <a:solidFill>
                  <a:prstClr val="black"/>
                </a:solidFill>
              </a:rPr>
              <a:t>ints</a:t>
            </a:r>
            <a:r>
              <a:rPr lang="en-US" sz="1350" kern="0" dirty="0">
                <a:solidFill>
                  <a:prstClr val="black"/>
                </a:solidFill>
              </a:rPr>
              <a:t> r0 and r1. Flags C=1 and Z=0 (“no borrow” and “not equal”).</a:t>
            </a:r>
          </a:p>
          <a:p>
            <a:pPr marL="0" indent="0">
              <a:buNone/>
            </a:pPr>
            <a:r>
              <a:rPr lang="en-US" sz="1350" kern="0" dirty="0">
                <a:solidFill>
                  <a:prstClr val="black"/>
                </a:solidFill>
              </a:rPr>
              <a:t>SUBLO r1, r1, r0 executes only if the previous compare of unsigned </a:t>
            </a:r>
            <a:r>
              <a:rPr lang="en-US" sz="1350" kern="0" dirty="0" err="1">
                <a:solidFill>
                  <a:prstClr val="black"/>
                </a:solidFill>
              </a:rPr>
              <a:t>ints</a:t>
            </a:r>
            <a:r>
              <a:rPr lang="en-US" sz="1350" kern="0" dirty="0">
                <a:solidFill>
                  <a:prstClr val="black"/>
                </a:solidFill>
              </a:rPr>
              <a:t> set LO (unsigned “lower”), i.e., r0 &lt; r1 for unsigned </a:t>
            </a:r>
            <a:r>
              <a:rPr lang="en-US" sz="1350" kern="0" dirty="0" err="1">
                <a:solidFill>
                  <a:prstClr val="black"/>
                </a:solidFill>
              </a:rPr>
              <a:t>ints</a:t>
            </a:r>
            <a:r>
              <a:rPr lang="en-US" sz="1350" kern="0" dirty="0">
                <a:solidFill>
                  <a:prstClr val="black"/>
                </a:solidFill>
              </a:rPr>
              <a:t> r0 and r1. Flag C=0 (“borrow”).</a:t>
            </a:r>
          </a:p>
          <a:p>
            <a:pPr marL="0" indent="0">
              <a:buNone/>
            </a:pPr>
            <a:r>
              <a:rPr lang="en-US" sz="1350" kern="0" dirty="0">
                <a:solidFill>
                  <a:prstClr val="black"/>
                </a:solidFill>
              </a:rPr>
              <a:t>BNE </a:t>
            </a:r>
            <a:r>
              <a:rPr lang="en-US" sz="1350" kern="0" dirty="0" err="1">
                <a:solidFill>
                  <a:prstClr val="black"/>
                </a:solidFill>
              </a:rPr>
              <a:t>gcd</a:t>
            </a:r>
            <a:r>
              <a:rPr lang="en-US" sz="1350" kern="0" dirty="0">
                <a:solidFill>
                  <a:prstClr val="black"/>
                </a:solidFill>
              </a:rPr>
              <a:t> branches back to the label if Z=0 from the CMP, i.e., while r0 != r1; when they become equal, Z=1 and the loop falls through, leaving r0 == r1 == </a:t>
            </a:r>
            <a:r>
              <a:rPr lang="en-US" sz="1350" kern="0" dirty="0" err="1">
                <a:solidFill>
                  <a:prstClr val="black"/>
                </a:solidFill>
              </a:rPr>
              <a:t>gcd</a:t>
            </a:r>
            <a:r>
              <a:rPr lang="en-US" sz="1350" kern="0" dirty="0">
                <a:solidFill>
                  <a:prstClr val="black"/>
                </a:solidFill>
              </a:rPr>
              <a:t>(a, b).</a:t>
            </a:r>
            <a:endParaRPr lang="en-GB" sz="1350" kern="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522859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3DE11-4A34-23E8-64C2-213C279CC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GCD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13F6058-B736-B29C-B402-F8D3E7E96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pic>
        <p:nvPicPr>
          <p:cNvPr id="6" name="Content Placeholder 5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B92B2B7E-F38B-2628-EF2D-83C2D72E679F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0584" y="1771650"/>
            <a:ext cx="6582833" cy="3702844"/>
          </a:xfrm>
        </p:spPr>
      </p:pic>
    </p:spTree>
    <p:extLst>
      <p:ext uri="{BB962C8B-B14F-4D97-AF65-F5344CB8AC3E}">
        <p14:creationId xmlns:p14="http://schemas.microsoft.com/office/powerpoint/2010/main" val="4641939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 View of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grpSp>
        <p:nvGrpSpPr>
          <p:cNvPr id="13" name="Group 42"/>
          <p:cNvGrpSpPr/>
          <p:nvPr/>
        </p:nvGrpSpPr>
        <p:grpSpPr>
          <a:xfrm>
            <a:off x="5943600" y="1307068"/>
            <a:ext cx="2690286" cy="4803577"/>
            <a:chOff x="5943600" y="1307068"/>
            <a:chExt cx="2690286" cy="4803577"/>
          </a:xfrm>
        </p:grpSpPr>
        <p:sp>
          <p:nvSpPr>
            <p:cNvPr id="5" name="Rectangle 4"/>
            <p:cNvSpPr/>
            <p:nvPr/>
          </p:nvSpPr>
          <p:spPr>
            <a:xfrm>
              <a:off x="7342456" y="26903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01110010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7344136" y="30592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00100101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7343951" y="34269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11100010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7342456" y="37958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solidFill>
                    <a:srgbClr val="0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10000100</a:t>
              </a:r>
              <a:endParaRPr lang="pl-PL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7342806" y="41635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01100001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7344486" y="45324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10001111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344301" y="49001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00010010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342806" y="52690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10010100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4" name="Straight Connector 13"/>
            <p:cNvCxnSpPr>
              <a:stCxn id="31" idx="0"/>
              <a:endCxn id="5" idx="1"/>
            </p:cNvCxnSpPr>
            <p:nvPr/>
          </p:nvCxnSpPr>
          <p:spPr>
            <a:xfrm>
              <a:off x="7342456" y="2434633"/>
              <a:ext cx="0" cy="409592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>
              <a:stCxn id="31" idx="3"/>
              <a:endCxn id="5" idx="3"/>
            </p:cNvCxnSpPr>
            <p:nvPr/>
          </p:nvCxnSpPr>
          <p:spPr>
            <a:xfrm>
              <a:off x="8628331" y="2225175"/>
              <a:ext cx="3525" cy="61905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stCxn id="12" idx="1"/>
              <a:endCxn id="34" idx="0"/>
            </p:cNvCxnSpPr>
            <p:nvPr/>
          </p:nvCxnSpPr>
          <p:spPr>
            <a:xfrm flipH="1">
              <a:off x="7342456" y="5422911"/>
              <a:ext cx="350" cy="60479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>
              <a:stCxn id="12" idx="3"/>
              <a:endCxn id="34" idx="3"/>
            </p:cNvCxnSpPr>
            <p:nvPr/>
          </p:nvCxnSpPr>
          <p:spPr>
            <a:xfrm flipH="1">
              <a:off x="8628331" y="5422911"/>
              <a:ext cx="3875" cy="395332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Freeform 30"/>
            <p:cNvSpPr/>
            <p:nvPr/>
          </p:nvSpPr>
          <p:spPr>
            <a:xfrm>
              <a:off x="7342456" y="2221468"/>
              <a:ext cx="1285875" cy="213783"/>
            </a:xfrm>
            <a:custGeom>
              <a:avLst/>
              <a:gdLst>
                <a:gd name="connsiteX0" fmla="*/ 0 w 1285875"/>
                <a:gd name="connsiteY0" fmla="*/ 365125 h 366183"/>
                <a:gd name="connsiteX1" fmla="*/ 428625 w 1285875"/>
                <a:gd name="connsiteY1" fmla="*/ 0 h 366183"/>
                <a:gd name="connsiteX2" fmla="*/ 885825 w 1285875"/>
                <a:gd name="connsiteY2" fmla="*/ 365125 h 366183"/>
                <a:gd name="connsiteX3" fmla="*/ 1285875 w 1285875"/>
                <a:gd name="connsiteY3" fmla="*/ 6350 h 366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875" h="366183">
                  <a:moveTo>
                    <a:pt x="0" y="365125"/>
                  </a:moveTo>
                  <a:cubicBezTo>
                    <a:pt x="140494" y="182562"/>
                    <a:pt x="280988" y="0"/>
                    <a:pt x="428625" y="0"/>
                  </a:cubicBezTo>
                  <a:cubicBezTo>
                    <a:pt x="576262" y="0"/>
                    <a:pt x="742950" y="364067"/>
                    <a:pt x="885825" y="365125"/>
                  </a:cubicBezTo>
                  <a:cubicBezTo>
                    <a:pt x="1028700" y="366183"/>
                    <a:pt x="1233488" y="58737"/>
                    <a:pt x="1285875" y="6350"/>
                  </a:cubicBezTo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34" name="Freeform 33"/>
            <p:cNvSpPr/>
            <p:nvPr/>
          </p:nvSpPr>
          <p:spPr>
            <a:xfrm>
              <a:off x="7342456" y="5814536"/>
              <a:ext cx="1285875" cy="213783"/>
            </a:xfrm>
            <a:custGeom>
              <a:avLst/>
              <a:gdLst>
                <a:gd name="connsiteX0" fmla="*/ 0 w 1285875"/>
                <a:gd name="connsiteY0" fmla="*/ 365125 h 366183"/>
                <a:gd name="connsiteX1" fmla="*/ 428625 w 1285875"/>
                <a:gd name="connsiteY1" fmla="*/ 0 h 366183"/>
                <a:gd name="connsiteX2" fmla="*/ 885825 w 1285875"/>
                <a:gd name="connsiteY2" fmla="*/ 365125 h 366183"/>
                <a:gd name="connsiteX3" fmla="*/ 1285875 w 1285875"/>
                <a:gd name="connsiteY3" fmla="*/ 6350 h 366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875" h="366183">
                  <a:moveTo>
                    <a:pt x="0" y="365125"/>
                  </a:moveTo>
                  <a:cubicBezTo>
                    <a:pt x="140494" y="182562"/>
                    <a:pt x="280988" y="0"/>
                    <a:pt x="428625" y="0"/>
                  </a:cubicBezTo>
                  <a:cubicBezTo>
                    <a:pt x="576262" y="0"/>
                    <a:pt x="742950" y="364067"/>
                    <a:pt x="885825" y="365125"/>
                  </a:cubicBezTo>
                  <a:cubicBezTo>
                    <a:pt x="1028700" y="366183"/>
                    <a:pt x="1233488" y="58737"/>
                    <a:pt x="1285875" y="6350"/>
                  </a:cubicBezTo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943600" y="5802868"/>
              <a:ext cx="127791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Low Address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5943600" y="2145268"/>
              <a:ext cx="13773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High Address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5943600" y="26903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0x20000007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5945280" y="30592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0x20000006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5945095" y="34269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chemeClr val="bg2">
                      <a:lumMod val="75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0x20000005</a:t>
              </a:r>
              <a:endParaRPr lang="pl-PL" dirty="0">
                <a:solidFill>
                  <a:schemeClr val="bg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943600" y="37958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chemeClr val="bg2">
                      <a:lumMod val="75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0x20000004</a:t>
              </a:r>
              <a:endParaRPr lang="pl-PL" dirty="0">
                <a:solidFill>
                  <a:schemeClr val="bg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943950" y="41635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chemeClr val="bg2">
                      <a:lumMod val="75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0x20000003</a:t>
              </a:r>
              <a:endParaRPr lang="pl-PL" dirty="0">
                <a:solidFill>
                  <a:schemeClr val="bg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945630" y="45324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chemeClr val="bg2">
                      <a:lumMod val="75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0x20000002</a:t>
              </a:r>
              <a:endParaRPr lang="pl-PL" dirty="0">
                <a:solidFill>
                  <a:schemeClr val="bg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945445" y="49001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943950" y="52690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grpSp>
          <p:nvGrpSpPr>
            <p:cNvPr id="18" name="Group 63"/>
            <p:cNvGrpSpPr/>
            <p:nvPr/>
          </p:nvGrpSpPr>
          <p:grpSpPr>
            <a:xfrm>
              <a:off x="7327900" y="1307068"/>
              <a:ext cx="1295400" cy="794266"/>
              <a:chOff x="3124200" y="4191000"/>
              <a:chExt cx="1295400" cy="794266"/>
            </a:xfrm>
          </p:grpSpPr>
          <p:sp>
            <p:nvSpPr>
              <p:cNvPr id="53" name="Rectangle 52"/>
              <p:cNvSpPr/>
              <p:nvPr/>
            </p:nvSpPr>
            <p:spPr>
              <a:xfrm>
                <a:off x="3124200" y="4191000"/>
                <a:ext cx="1289400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8 bits</a:t>
                </a:r>
                <a:endParaRPr lang="pl-PL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cxnSp>
            <p:nvCxnSpPr>
              <p:cNvPr id="55" name="Straight Connector 54"/>
              <p:cNvCxnSpPr>
                <a:stCxn id="53" idx="1"/>
              </p:cNvCxnSpPr>
              <p:nvPr/>
            </p:nvCxnSpPr>
            <p:spPr>
              <a:xfrm>
                <a:off x="3124200" y="4344889"/>
                <a:ext cx="0" cy="640377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/>
              <p:cNvCxnSpPr>
                <a:stCxn id="53" idx="3"/>
              </p:cNvCxnSpPr>
              <p:nvPr/>
            </p:nvCxnSpPr>
            <p:spPr>
              <a:xfrm>
                <a:off x="4413600" y="4344889"/>
                <a:ext cx="1588" cy="640377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>
                <a:off x="3124200" y="4648200"/>
                <a:ext cx="1295400" cy="1588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  <a:headEnd type="arrow" w="lg" len="med"/>
                <a:tailEnd type="arrow" w="lg" len="me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4" name="Rectangle 43"/>
          <p:cNvSpPr/>
          <p:nvPr/>
        </p:nvSpPr>
        <p:spPr>
          <a:xfrm>
            <a:off x="7270750" y="3426936"/>
            <a:ext cx="1447800" cy="1427639"/>
          </a:xfrm>
          <a:prstGeom prst="rect">
            <a:avLst/>
          </a:prstGeom>
          <a:noFill/>
          <a:ln w="28575" cmpd="sng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38" name="Straight Connector 37"/>
          <p:cNvCxnSpPr/>
          <p:nvPr/>
        </p:nvCxnSpPr>
        <p:spPr>
          <a:xfrm flipH="1" flipV="1">
            <a:off x="7162800" y="3299012"/>
            <a:ext cx="1676400" cy="1653989"/>
          </a:xfrm>
          <a:prstGeom prst="line">
            <a:avLst/>
          </a:prstGeom>
          <a:ln w="38100" cmpd="sng">
            <a:solidFill>
              <a:srgbClr val="FF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H="1">
            <a:off x="7162800" y="3299012"/>
            <a:ext cx="1676400" cy="1653988"/>
          </a:xfrm>
          <a:prstGeom prst="line">
            <a:avLst/>
          </a:prstGeom>
          <a:ln w="38100" cmpd="sng">
            <a:solidFill>
              <a:srgbClr val="FF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1544586" y="4270811"/>
            <a:ext cx="2728963" cy="83099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</a:rPr>
              <a:t>We cannot store a word at address </a:t>
            </a:r>
            <a:r>
              <a:rPr lang="en-US" sz="1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0x20000002</a:t>
            </a:r>
            <a:r>
              <a:rPr lang="en-US" sz="1600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8348" y="3219187"/>
            <a:ext cx="4191000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algn="ctr"/>
            <a:r>
              <a:rPr lang="en-US" sz="2100" dirty="0"/>
              <a:t>Word-address mod 4 = 0</a:t>
            </a:r>
          </a:p>
        </p:txBody>
      </p:sp>
      <p:sp>
        <p:nvSpPr>
          <p:cNvPr id="57" name="Content Placeholder 2"/>
          <p:cNvSpPr>
            <a:spLocks noGrp="1"/>
          </p:cNvSpPr>
          <p:nvPr>
            <p:ph sz="quarter" idx="1"/>
          </p:nvPr>
        </p:nvSpPr>
        <p:spPr>
          <a:xfrm>
            <a:off x="452788" y="1214489"/>
            <a:ext cx="5486400" cy="1618664"/>
          </a:xfrm>
        </p:spPr>
        <p:txBody>
          <a:bodyPr>
            <a:normAutofit/>
          </a:bodyPr>
          <a:lstStyle/>
          <a:p>
            <a:pPr lvl="1"/>
            <a:r>
              <a:rPr lang="en-US" sz="2000" dirty="0"/>
              <a:t>Can we store a word anywhere in memory?  </a:t>
            </a:r>
          </a:p>
          <a:p>
            <a:pPr marL="274320" lvl="1" indent="0">
              <a:buNone/>
            </a:pPr>
            <a:r>
              <a:rPr lang="en-US" sz="2000" dirty="0">
                <a:solidFill>
                  <a:schemeClr val="accent2"/>
                </a:solidFill>
              </a:rPr>
              <a:t>	</a:t>
            </a:r>
            <a:r>
              <a:rPr lang="en-US" sz="2000" b="1" dirty="0">
                <a:solidFill>
                  <a:schemeClr val="accent2"/>
                </a:solidFill>
              </a:rPr>
              <a:t>NO on most computers!</a:t>
            </a:r>
          </a:p>
          <a:p>
            <a:pPr lvl="1"/>
            <a:r>
              <a:rPr lang="en-US" sz="2000" dirty="0"/>
              <a:t>A word can only be stored at an address that's divisible by 4.</a:t>
            </a:r>
          </a:p>
          <a:p>
            <a:pPr marL="274320" lvl="1" indent="0">
              <a:buNone/>
            </a:pPr>
            <a:endParaRPr lang="en-US" sz="20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04464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 View of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grpSp>
        <p:nvGrpSpPr>
          <p:cNvPr id="13" name="Group 42"/>
          <p:cNvGrpSpPr/>
          <p:nvPr/>
        </p:nvGrpSpPr>
        <p:grpSpPr>
          <a:xfrm>
            <a:off x="5943600" y="1307068"/>
            <a:ext cx="2690286" cy="4803577"/>
            <a:chOff x="5943600" y="1307068"/>
            <a:chExt cx="2690286" cy="4803577"/>
          </a:xfrm>
        </p:grpSpPr>
        <p:sp>
          <p:nvSpPr>
            <p:cNvPr id="5" name="Rectangle 4"/>
            <p:cNvSpPr/>
            <p:nvPr/>
          </p:nvSpPr>
          <p:spPr>
            <a:xfrm>
              <a:off x="7342456" y="26903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01110010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7344136" y="30592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00100101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7343951" y="34269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11100010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7342456" y="37958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solidFill>
                    <a:srgbClr val="0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10000100</a:t>
              </a:r>
              <a:endParaRPr lang="pl-PL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7342806" y="41635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01100001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7344486" y="45324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10001111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344301" y="49001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00010010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342806" y="52690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10010100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4" name="Straight Connector 13"/>
            <p:cNvCxnSpPr>
              <a:stCxn id="31" idx="0"/>
              <a:endCxn id="5" idx="1"/>
            </p:cNvCxnSpPr>
            <p:nvPr/>
          </p:nvCxnSpPr>
          <p:spPr>
            <a:xfrm>
              <a:off x="7342456" y="2434633"/>
              <a:ext cx="0" cy="409592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>
              <a:stCxn id="31" idx="3"/>
              <a:endCxn id="5" idx="3"/>
            </p:cNvCxnSpPr>
            <p:nvPr/>
          </p:nvCxnSpPr>
          <p:spPr>
            <a:xfrm>
              <a:off x="8628331" y="2225175"/>
              <a:ext cx="3525" cy="61905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stCxn id="12" idx="1"/>
              <a:endCxn id="34" idx="0"/>
            </p:cNvCxnSpPr>
            <p:nvPr/>
          </p:nvCxnSpPr>
          <p:spPr>
            <a:xfrm flipH="1">
              <a:off x="7342456" y="5422911"/>
              <a:ext cx="350" cy="60479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>
              <a:stCxn id="12" idx="3"/>
              <a:endCxn id="34" idx="3"/>
            </p:cNvCxnSpPr>
            <p:nvPr/>
          </p:nvCxnSpPr>
          <p:spPr>
            <a:xfrm flipH="1">
              <a:off x="8628331" y="5422911"/>
              <a:ext cx="3875" cy="395332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Freeform 30"/>
            <p:cNvSpPr/>
            <p:nvPr/>
          </p:nvSpPr>
          <p:spPr>
            <a:xfrm>
              <a:off x="7342456" y="2221468"/>
              <a:ext cx="1285875" cy="213783"/>
            </a:xfrm>
            <a:custGeom>
              <a:avLst/>
              <a:gdLst>
                <a:gd name="connsiteX0" fmla="*/ 0 w 1285875"/>
                <a:gd name="connsiteY0" fmla="*/ 365125 h 366183"/>
                <a:gd name="connsiteX1" fmla="*/ 428625 w 1285875"/>
                <a:gd name="connsiteY1" fmla="*/ 0 h 366183"/>
                <a:gd name="connsiteX2" fmla="*/ 885825 w 1285875"/>
                <a:gd name="connsiteY2" fmla="*/ 365125 h 366183"/>
                <a:gd name="connsiteX3" fmla="*/ 1285875 w 1285875"/>
                <a:gd name="connsiteY3" fmla="*/ 6350 h 366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875" h="366183">
                  <a:moveTo>
                    <a:pt x="0" y="365125"/>
                  </a:moveTo>
                  <a:cubicBezTo>
                    <a:pt x="140494" y="182562"/>
                    <a:pt x="280988" y="0"/>
                    <a:pt x="428625" y="0"/>
                  </a:cubicBezTo>
                  <a:cubicBezTo>
                    <a:pt x="576262" y="0"/>
                    <a:pt x="742950" y="364067"/>
                    <a:pt x="885825" y="365125"/>
                  </a:cubicBezTo>
                  <a:cubicBezTo>
                    <a:pt x="1028700" y="366183"/>
                    <a:pt x="1233488" y="58737"/>
                    <a:pt x="1285875" y="6350"/>
                  </a:cubicBezTo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34" name="Freeform 33"/>
            <p:cNvSpPr/>
            <p:nvPr/>
          </p:nvSpPr>
          <p:spPr>
            <a:xfrm>
              <a:off x="7342456" y="5814536"/>
              <a:ext cx="1285875" cy="213783"/>
            </a:xfrm>
            <a:custGeom>
              <a:avLst/>
              <a:gdLst>
                <a:gd name="connsiteX0" fmla="*/ 0 w 1285875"/>
                <a:gd name="connsiteY0" fmla="*/ 365125 h 366183"/>
                <a:gd name="connsiteX1" fmla="*/ 428625 w 1285875"/>
                <a:gd name="connsiteY1" fmla="*/ 0 h 366183"/>
                <a:gd name="connsiteX2" fmla="*/ 885825 w 1285875"/>
                <a:gd name="connsiteY2" fmla="*/ 365125 h 366183"/>
                <a:gd name="connsiteX3" fmla="*/ 1285875 w 1285875"/>
                <a:gd name="connsiteY3" fmla="*/ 6350 h 366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875" h="366183">
                  <a:moveTo>
                    <a:pt x="0" y="365125"/>
                  </a:moveTo>
                  <a:cubicBezTo>
                    <a:pt x="140494" y="182562"/>
                    <a:pt x="280988" y="0"/>
                    <a:pt x="428625" y="0"/>
                  </a:cubicBezTo>
                  <a:cubicBezTo>
                    <a:pt x="576262" y="0"/>
                    <a:pt x="742950" y="364067"/>
                    <a:pt x="885825" y="365125"/>
                  </a:cubicBezTo>
                  <a:cubicBezTo>
                    <a:pt x="1028700" y="366183"/>
                    <a:pt x="1233488" y="58737"/>
                    <a:pt x="1285875" y="6350"/>
                  </a:cubicBezTo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943600" y="5802868"/>
              <a:ext cx="127791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Low Address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5943600" y="2145268"/>
              <a:ext cx="13773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High Address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5943600" y="26903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0x20000007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5945280" y="30592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0x20000006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5945095" y="34269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0x20000005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943600" y="37958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0x20000004</a:t>
              </a:r>
              <a:endParaRPr lang="pl-PL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943950" y="41635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0x20000003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945630" y="45324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0x20000002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945445" y="49001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0x20000001</a:t>
              </a:r>
              <a:endParaRPr lang="pl-PL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943950" y="52690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grpSp>
          <p:nvGrpSpPr>
            <p:cNvPr id="18" name="Group 63"/>
            <p:cNvGrpSpPr/>
            <p:nvPr/>
          </p:nvGrpSpPr>
          <p:grpSpPr>
            <a:xfrm>
              <a:off x="7327900" y="1307068"/>
              <a:ext cx="1295400" cy="794266"/>
              <a:chOff x="3124200" y="4191000"/>
              <a:chExt cx="1295400" cy="794266"/>
            </a:xfrm>
          </p:grpSpPr>
          <p:sp>
            <p:nvSpPr>
              <p:cNvPr id="53" name="Rectangle 52"/>
              <p:cNvSpPr/>
              <p:nvPr/>
            </p:nvSpPr>
            <p:spPr>
              <a:xfrm>
                <a:off x="3124200" y="4191000"/>
                <a:ext cx="1289400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8 bits</a:t>
                </a:r>
                <a:endParaRPr lang="pl-PL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cxnSp>
            <p:nvCxnSpPr>
              <p:cNvPr id="55" name="Straight Connector 54"/>
              <p:cNvCxnSpPr>
                <a:stCxn id="53" idx="1"/>
              </p:cNvCxnSpPr>
              <p:nvPr/>
            </p:nvCxnSpPr>
            <p:spPr>
              <a:xfrm>
                <a:off x="3124200" y="4344889"/>
                <a:ext cx="0" cy="640377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/>
              <p:cNvCxnSpPr>
                <a:stCxn id="53" idx="3"/>
              </p:cNvCxnSpPr>
              <p:nvPr/>
            </p:nvCxnSpPr>
            <p:spPr>
              <a:xfrm>
                <a:off x="4413600" y="4344889"/>
                <a:ext cx="1588" cy="640377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>
                <a:off x="3124200" y="4648200"/>
                <a:ext cx="1295400" cy="1588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  <a:headEnd type="arrow" w="lg" len="med"/>
                <a:tailEnd type="arrow" w="lg" len="me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4" name="Rectangle 43"/>
          <p:cNvSpPr/>
          <p:nvPr/>
        </p:nvSpPr>
        <p:spPr>
          <a:xfrm>
            <a:off x="7270750" y="4518210"/>
            <a:ext cx="1447800" cy="685800"/>
          </a:xfrm>
          <a:prstGeom prst="rect">
            <a:avLst/>
          </a:prstGeom>
          <a:noFill/>
          <a:ln w="28575" cmpd="sng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43" name="Straight Connector 42"/>
          <p:cNvCxnSpPr/>
          <p:nvPr/>
        </p:nvCxnSpPr>
        <p:spPr>
          <a:xfrm flipH="1" flipV="1">
            <a:off x="7086600" y="4442010"/>
            <a:ext cx="1828800" cy="838200"/>
          </a:xfrm>
          <a:prstGeom prst="line">
            <a:avLst/>
          </a:prstGeom>
          <a:ln w="38100" cmpd="sng">
            <a:solidFill>
              <a:srgbClr val="FF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rot="10800000" flipV="1">
            <a:off x="7086600" y="4442010"/>
            <a:ext cx="1828800" cy="838200"/>
          </a:xfrm>
          <a:prstGeom prst="line">
            <a:avLst/>
          </a:prstGeom>
          <a:ln w="38100" cmpd="sng">
            <a:solidFill>
              <a:srgbClr val="FF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769481" y="4465346"/>
            <a:ext cx="2685177" cy="83099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We c</a:t>
            </a:r>
            <a:r>
              <a:rPr lang="en-US" sz="1600" b="1" dirty="0">
                <a:solidFill>
                  <a:schemeClr val="bg1"/>
                </a:solidFill>
              </a:rPr>
              <a:t>annot store a halfword at address 0x20000001.</a:t>
            </a:r>
          </a:p>
        </p:txBody>
      </p:sp>
      <p:sp>
        <p:nvSpPr>
          <p:cNvPr id="54" name="Content Placeholder 2"/>
          <p:cNvSpPr>
            <a:spLocks noGrp="1"/>
          </p:cNvSpPr>
          <p:nvPr>
            <p:ph sz="quarter" idx="1"/>
          </p:nvPr>
        </p:nvSpPr>
        <p:spPr>
          <a:xfrm>
            <a:off x="142043" y="1219200"/>
            <a:ext cx="5768301" cy="4937760"/>
          </a:xfrm>
        </p:spPr>
        <p:txBody>
          <a:bodyPr>
            <a:normAutofit/>
          </a:bodyPr>
          <a:lstStyle/>
          <a:p>
            <a:pPr lvl="1"/>
            <a:r>
              <a:rPr lang="en-US" sz="2000" dirty="0"/>
              <a:t>Can you store a halfword anywhere?  </a:t>
            </a:r>
            <a:r>
              <a:rPr lang="en-US" sz="2000" b="1" dirty="0">
                <a:solidFill>
                  <a:schemeClr val="accent2"/>
                </a:solidFill>
              </a:rPr>
              <a:t>NO.</a:t>
            </a:r>
          </a:p>
          <a:p>
            <a:pPr lvl="1"/>
            <a:r>
              <a:rPr lang="en-US" sz="2000" dirty="0"/>
              <a:t>A halfword can only be stored at an address that's divisible by 2.</a:t>
            </a:r>
          </a:p>
          <a:p>
            <a:pPr lvl="1"/>
            <a:r>
              <a:rPr lang="en-US" sz="2000" dirty="0"/>
              <a:t>Memory address of a halfword is the lowest address of its two bytes.</a:t>
            </a:r>
          </a:p>
          <a:p>
            <a:pPr lvl="1"/>
            <a:endParaRPr lang="en-US" sz="2000" dirty="0"/>
          </a:p>
          <a:p>
            <a:pPr lvl="1"/>
            <a:endParaRPr lang="en-US" sz="2000" b="1" dirty="0">
              <a:solidFill>
                <a:schemeClr val="accent2"/>
              </a:solidFill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290989" y="3025517"/>
            <a:ext cx="5163669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algn="ctr"/>
            <a:r>
              <a:rPr lang="en-US" sz="2100" dirty="0" err="1"/>
              <a:t>Halfword</a:t>
            </a:r>
            <a:r>
              <a:rPr lang="en-US" sz="2100" dirty="0"/>
              <a:t>-address mod 2 = 0</a:t>
            </a:r>
          </a:p>
        </p:txBody>
      </p:sp>
    </p:spTree>
    <p:extLst>
      <p:ext uri="{BB962C8B-B14F-4D97-AF65-F5344CB8AC3E}">
        <p14:creationId xmlns:p14="http://schemas.microsoft.com/office/powerpoint/2010/main" val="29637677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Barrel Shifter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235826" y="5117068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Example four-bit Barrel shifter that performs </a:t>
            </a:r>
            <a:r>
              <a:rPr lang="en-US" b="1" dirty="0"/>
              <a:t>rotate right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023018"/>
              </p:ext>
            </p:extLst>
          </p:nvPr>
        </p:nvGraphicFramePr>
        <p:xfrm>
          <a:off x="6248400" y="2418965"/>
          <a:ext cx="2590800" cy="2045730"/>
        </p:xfrm>
        <a:graphic>
          <a:graphicData uri="http://schemas.openxmlformats.org/drawingml/2006/table">
            <a:tbl>
              <a:tblPr firstRow="1" firstCol="1" bandRow="1">
                <a:tableStyleId>{B301B821-A1FF-4177-AEE7-76D212191A09}</a:tableStyleId>
              </a:tblPr>
              <a:tblGrid>
                <a:gridCol w="417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0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1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3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1371600"/>
            <a:ext cx="8153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Typically, Barrel shifters are implemented as a cascade of parallel 2-to-1 multiplexers. 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21" y="2179314"/>
            <a:ext cx="5611379" cy="277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8384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Barrel Shifter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235826" y="5117068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Example four-bit Barrel shifter that performs </a:t>
            </a:r>
            <a:r>
              <a:rPr lang="en-US" b="1" dirty="0"/>
              <a:t>rotate right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8153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Example: 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00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7955595"/>
              </p:ext>
            </p:extLst>
          </p:nvPr>
        </p:nvGraphicFramePr>
        <p:xfrm>
          <a:off x="6248400" y="2418965"/>
          <a:ext cx="2590800" cy="2045730"/>
        </p:xfrm>
        <a:graphic>
          <a:graphicData uri="http://schemas.openxmlformats.org/drawingml/2006/table">
            <a:tbl>
              <a:tblPr firstRow="1" firstCol="1" bandRow="1">
                <a:tableStyleId>{B301B821-A1FF-4177-AEE7-76D212191A09}</a:tableStyleId>
              </a:tblPr>
              <a:tblGrid>
                <a:gridCol w="417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0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1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3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3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>
                          <a:solidFill>
                            <a:srgbClr val="FF0000"/>
                          </a:solidFill>
                          <a:effectLst/>
                        </a:rPr>
                        <a:t>2</a:t>
                      </a:r>
                      <a:endParaRPr lang="en-US" sz="180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1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21" y="2179314"/>
            <a:ext cx="5611379" cy="277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7610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Barrel Shifter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235826" y="5117068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Example four-bit Barrel shifter that performs </a:t>
            </a:r>
            <a:r>
              <a:rPr lang="en-US" b="1" dirty="0"/>
              <a:t>rotate right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8153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Example: 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01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6434776"/>
              </p:ext>
            </p:extLst>
          </p:nvPr>
        </p:nvGraphicFramePr>
        <p:xfrm>
          <a:off x="6248400" y="2418965"/>
          <a:ext cx="2590800" cy="2045730"/>
        </p:xfrm>
        <a:graphic>
          <a:graphicData uri="http://schemas.openxmlformats.org/drawingml/2006/table">
            <a:tbl>
              <a:tblPr firstRow="1" firstCol="1" bandRow="1">
                <a:tableStyleId>{B301B821-A1FF-4177-AEE7-76D212191A09}</a:tableStyleId>
              </a:tblPr>
              <a:tblGrid>
                <a:gridCol w="417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0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1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3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solidFill>
                            <a:schemeClr val="tx1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en-US" sz="180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chemeClr val="tx1"/>
                          </a:solidFill>
                          <a:effectLst/>
                        </a:rPr>
                        <a:t>0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3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2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21" y="2179314"/>
            <a:ext cx="5611379" cy="277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2008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Barrel Shifter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235826" y="5117068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Example four-bit Barrel shifter that performs </a:t>
            </a:r>
            <a:r>
              <a:rPr lang="en-US" b="1" dirty="0"/>
              <a:t>rotate right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1700696"/>
              </p:ext>
            </p:extLst>
          </p:nvPr>
        </p:nvGraphicFramePr>
        <p:xfrm>
          <a:off x="6248400" y="2418965"/>
          <a:ext cx="2590800" cy="2045730"/>
        </p:xfrm>
        <a:graphic>
          <a:graphicData uri="http://schemas.openxmlformats.org/drawingml/2006/table">
            <a:tbl>
              <a:tblPr firstRow="1" firstCol="1" bandRow="1">
                <a:tableStyleId>{B301B821-A1FF-4177-AEE7-76D212191A09}</a:tableStyleId>
              </a:tblPr>
              <a:tblGrid>
                <a:gridCol w="417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0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1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3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3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2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1295400"/>
            <a:ext cx="8153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Example: 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10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21" y="2179314"/>
            <a:ext cx="5611379" cy="277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5976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Barrel Shifter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12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235826" y="5117068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Example four-bit Barrel shifter that performs </a:t>
            </a:r>
            <a:r>
              <a:rPr lang="en-US" b="1" dirty="0"/>
              <a:t>rotate right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145348"/>
              </p:ext>
            </p:extLst>
          </p:nvPr>
        </p:nvGraphicFramePr>
        <p:xfrm>
          <a:off x="6248400" y="2418965"/>
          <a:ext cx="2590800" cy="2045730"/>
        </p:xfrm>
        <a:graphic>
          <a:graphicData uri="http://schemas.openxmlformats.org/drawingml/2006/table">
            <a:tbl>
              <a:tblPr firstRow="1" firstCol="1" bandRow="1">
                <a:tableStyleId>{B301B821-A1FF-4177-AEE7-76D212191A09}</a:tableStyleId>
              </a:tblPr>
              <a:tblGrid>
                <a:gridCol w="417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0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1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3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2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3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1371600"/>
            <a:ext cx="8153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Example: 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11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21" y="2179314"/>
            <a:ext cx="5611379" cy="277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5976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nsolas" panose="020B0609020204030204" pitchFamily="49" charset="0"/>
              </a:rPr>
              <a:t>ADR</a:t>
            </a:r>
            <a:r>
              <a:rPr lang="en-US" dirty="0"/>
              <a:t> Pseudo-instruction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13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b="1" dirty="0">
                <a:latin typeface="Consolas" panose="020B0609020204030204" pitchFamily="49" charset="0"/>
              </a:rPr>
              <a:t>ADR</a:t>
            </a:r>
            <a:r>
              <a:rPr lang="en-US" dirty="0"/>
              <a:t>: loads a program-relative or register-relative address into a register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524000" y="3124200"/>
            <a:ext cx="5715000" cy="73866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start  MOV r0,#10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32-bit instruction</a:t>
            </a:r>
          </a:p>
          <a:p>
            <a:r>
              <a:rPr lang="en-US" dirty="0">
                <a:latin typeface="Consolas" panose="020B0609020204030204" pitchFamily="49" charset="0"/>
              </a:rPr>
              <a:t>       ADR r4,start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32-bit instruction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=&gt; </a:t>
            </a:r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</a:rPr>
              <a:t>SUB r4,pc,#0xc</a:t>
            </a:r>
          </a:p>
        </p:txBody>
      </p:sp>
    </p:spTree>
    <p:extLst>
      <p:ext uri="{BB962C8B-B14F-4D97-AF65-F5344CB8AC3E}">
        <p14:creationId xmlns:p14="http://schemas.microsoft.com/office/powerpoint/2010/main" val="36869485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64-bit Logic Shift Left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14</a:t>
            </a:fld>
            <a:endParaRPr kumimoji="0"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124" y="3086370"/>
            <a:ext cx="8631751" cy="685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3061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64-bit Logic Shift Left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33400" y="1447800"/>
            <a:ext cx="3123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of Logic Shift Left by 3</a:t>
            </a: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950985"/>
            <a:ext cx="9144000" cy="29232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083985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64-bit Logic Shift Right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777" y="2940435"/>
            <a:ext cx="8644445" cy="977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105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64-bit Logic Shift Right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228600" y="1371600"/>
            <a:ext cx="3245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of Logic Shift Right by 3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295526"/>
            <a:ext cx="9100256" cy="25812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123907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E58F7-DD2C-7131-891F-4C21E8AC6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341" y="-457200"/>
            <a:ext cx="8839201" cy="914400"/>
          </a:xfrm>
        </p:spPr>
        <p:txBody>
          <a:bodyPr>
            <a:normAutofit/>
          </a:bodyPr>
          <a:lstStyle/>
          <a:p>
            <a:r>
              <a:rPr lang="en-US" sz="1800" dirty="0"/>
              <a:t>ARM Register Conventions (APCS-Application Procedure Call Standard)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2A9D7B4-1C12-419A-88B5-D188777C0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953B4AB-BCAF-439D-6351-9E157BE57934}"/>
              </a:ext>
            </a:extLst>
          </p:cNvPr>
          <p:cNvGraphicFramePr>
            <a:graphicFrameLocks noGrp="1"/>
          </p:cNvGraphicFramePr>
          <p:nvPr/>
        </p:nvGraphicFramePr>
        <p:xfrm>
          <a:off x="152399" y="616234"/>
          <a:ext cx="8839201" cy="61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2134">
                  <a:extLst>
                    <a:ext uri="{9D8B030D-6E8A-4147-A177-3AD203B41FA5}">
                      <a16:colId xmlns:a16="http://schemas.microsoft.com/office/drawing/2014/main" val="200291306"/>
                    </a:ext>
                  </a:extLst>
                </a:gridCol>
                <a:gridCol w="846667">
                  <a:extLst>
                    <a:ext uri="{9D8B030D-6E8A-4147-A177-3AD203B41FA5}">
                      <a16:colId xmlns:a16="http://schemas.microsoft.com/office/drawing/2014/main" val="1765130036"/>
                    </a:ext>
                  </a:extLst>
                </a:gridCol>
                <a:gridCol w="3654778">
                  <a:extLst>
                    <a:ext uri="{9D8B030D-6E8A-4147-A177-3AD203B41FA5}">
                      <a16:colId xmlns:a16="http://schemas.microsoft.com/office/drawing/2014/main" val="87492144"/>
                    </a:ext>
                  </a:extLst>
                </a:gridCol>
                <a:gridCol w="3355622">
                  <a:extLst>
                    <a:ext uri="{9D8B030D-6E8A-4147-A177-3AD203B41FA5}">
                      <a16:colId xmlns:a16="http://schemas.microsoft.com/office/drawing/2014/main" val="314569210"/>
                    </a:ext>
                  </a:extLst>
                </a:gridCol>
              </a:tblGrid>
              <a:tr h="555970">
                <a:tc>
                  <a:txBody>
                    <a:bodyPr/>
                    <a:lstStyle/>
                    <a:p>
                      <a:r>
                        <a:rPr lang="en-US" sz="1600" dirty="0"/>
                        <a:t>Reg. </a:t>
                      </a:r>
                    </a:p>
                    <a:p>
                      <a:r>
                        <a:rPr lang="en-US" sz="1600" dirty="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APCS</a:t>
                      </a:r>
                    </a:p>
                    <a:p>
                      <a:r>
                        <a:rPr lang="en-US" sz="1600" dirty="0"/>
                        <a:t>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Role in Procedure Calls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Comments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1678385"/>
                  </a:ext>
                </a:extLst>
              </a:tr>
              <a:tr h="1258247">
                <a:tc>
                  <a:txBody>
                    <a:bodyPr/>
                    <a:lstStyle/>
                    <a:p>
                      <a:r>
                        <a:rPr lang="en-US" sz="1600" dirty="0"/>
                        <a:t>r0 - 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a1 - a4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First 4 arguments into a procedure / Scratch pad / Return result(s) from a function (not preserved across call)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Caller-saved registers - subprogram can use them as</a:t>
                      </a:r>
                    </a:p>
                    <a:p>
                      <a:r>
                        <a:rPr lang="en-US" sz="1600" dirty="0"/>
                        <a:t> scratch registers, but it must also save any needed values</a:t>
                      </a:r>
                    </a:p>
                    <a:p>
                      <a:r>
                        <a:rPr lang="en-US" sz="1600" dirty="0"/>
                        <a:t> before calling another subprogram.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1341079"/>
                  </a:ext>
                </a:extLst>
              </a:tr>
              <a:tr h="1492339">
                <a:tc>
                  <a:txBody>
                    <a:bodyPr/>
                    <a:lstStyle/>
                    <a:p>
                      <a:r>
                        <a:rPr lang="en-US" sz="1600" dirty="0"/>
                        <a:t>r4 - r8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v1 - v5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Register Variables (preserved across 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Callee-saved registers - it can rely on an subprogram it calls not to change them (so a subprogram wishing to use these registers must save them on entry and restore them before it exits)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1379333"/>
                  </a:ext>
                </a:extLst>
              </a:tr>
              <a:tr h="555970">
                <a:tc>
                  <a:txBody>
                    <a:bodyPr/>
                    <a:lstStyle/>
                    <a:p>
                      <a:r>
                        <a:rPr lang="en-US" sz="1600" dirty="0"/>
                        <a:t>r9 – r12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Omitted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Details omitted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Details omitted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9102704"/>
                  </a:ext>
                </a:extLst>
              </a:tr>
              <a:tr h="555970">
                <a:tc>
                  <a:txBody>
                    <a:bodyPr/>
                    <a:lstStyle/>
                    <a:p>
                      <a:r>
                        <a:rPr lang="en-US" sz="1600" dirty="0"/>
                        <a:t>r11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fp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Frame pointer (if used) / Register Variable (preserved across call)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Callee-saved register - pointer to bottom of call-frame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2358629"/>
                  </a:ext>
                </a:extLst>
              </a:tr>
              <a:tr h="555970">
                <a:tc>
                  <a:txBody>
                    <a:bodyPr/>
                    <a:lstStyle/>
                    <a:p>
                      <a:r>
                        <a:rPr lang="en-US" sz="1600" dirty="0"/>
                        <a:t>r13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sp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Stack pointer - points to the top of the 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525502"/>
                  </a:ext>
                </a:extLst>
              </a:tr>
              <a:tr h="555970">
                <a:tc>
                  <a:txBody>
                    <a:bodyPr/>
                    <a:lstStyle/>
                    <a:p>
                      <a:r>
                        <a:rPr lang="en-US" sz="1600" dirty="0"/>
                        <a:t>r14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lr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Link register - holds the return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Receives return address on BL call to procedure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4203286"/>
                  </a:ext>
                </a:extLst>
              </a:tr>
              <a:tr h="356016">
                <a:tc>
                  <a:txBody>
                    <a:bodyPr/>
                    <a:lstStyle/>
                    <a:p>
                      <a:r>
                        <a:rPr lang="en-US" sz="1600" dirty="0"/>
                        <a:t>r15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Program 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15507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8542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Passing Extra Arguments via Stack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1428750" y="1828801"/>
            <a:ext cx="5600700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350" b="1" dirty="0">
                <a:latin typeface="Consolas" panose="020B0609020204030204" pitchFamily="49" charset="0"/>
              </a:rPr>
              <a:t>int32_t sum(int32_t a, int32_t b, int32_t c, int32_t d,</a:t>
            </a:r>
          </a:p>
          <a:p>
            <a:r>
              <a:rPr lang="en-US" sz="1350" b="1" dirty="0">
                <a:latin typeface="Consolas" panose="020B0609020204030204" pitchFamily="49" charset="0"/>
              </a:rPr>
              <a:t>            int32_t h, int32_t </a:t>
            </a:r>
            <a:r>
              <a:rPr lang="en-US" sz="1350" b="1" dirty="0" err="1">
                <a:latin typeface="Consolas" panose="020B0609020204030204" pitchFamily="49" charset="0"/>
              </a:rPr>
              <a:t>i</a:t>
            </a:r>
            <a:r>
              <a:rPr lang="en-US" sz="1350" b="1" dirty="0">
                <a:latin typeface="Consolas" panose="020B0609020204030204" pitchFamily="49" charset="0"/>
              </a:rPr>
              <a:t>, int32_t j, int32_t k);</a:t>
            </a:r>
          </a:p>
        </p:txBody>
      </p:sp>
      <p:sp>
        <p:nvSpPr>
          <p:cNvPr id="6" name="Rectangle 5"/>
          <p:cNvSpPr/>
          <p:nvPr/>
        </p:nvSpPr>
        <p:spPr>
          <a:xfrm>
            <a:off x="1428750" y="2324526"/>
            <a:ext cx="3829050" cy="3000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350" b="1" dirty="0">
                <a:solidFill>
                  <a:srgbClr val="FF0000"/>
                </a:solidFill>
                <a:latin typeface="Consolas" panose="020B0609020204030204" pitchFamily="49" charset="0"/>
              </a:rPr>
              <a:t>s = sum(1, 2, 3, 4, 5, 6, 7, 8);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" y="2597038"/>
            <a:ext cx="60946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Caller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279" y="2886716"/>
            <a:ext cx="2138727" cy="230832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</a:rPr>
              <a:t>  MOVS r0, #5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MOVS r1, #6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MOVS r2, #7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MOVS r3, #8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PUSH {r0, r1, r2, r3}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MOVS r0, #1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MOVS r1, #2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MOVS r2, #3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MOVS r3, #4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BL   sum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...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POP {r0, r1, r2, r3}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693177" y="2874037"/>
          <a:ext cx="2059115" cy="24917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6115">
                  <a:extLst>
                    <a:ext uri="{9D8B030D-6E8A-4147-A177-3AD203B41FA5}">
                      <a16:colId xmlns:a16="http://schemas.microsoft.com/office/drawing/2014/main" val="324715736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603072553"/>
                    </a:ext>
                  </a:extLst>
                </a:gridCol>
              </a:tblGrid>
              <a:tr h="278130"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Consolas" panose="020B0609020204030204" pitchFamily="49" charset="0"/>
                        </a:rPr>
                        <a:t>Old</a:t>
                      </a:r>
                      <a:r>
                        <a:rPr lang="en-US" sz="1400" baseline="0" dirty="0">
                          <a:latin typeface="Consolas" panose="020B0609020204030204" pitchFamily="49" charset="0"/>
                        </a:rPr>
                        <a:t> SP</a:t>
                      </a:r>
                      <a:endParaRPr lang="en-US" sz="1400" dirty="0">
                        <a:latin typeface="Consolas" panose="020B0609020204030204" pitchFamily="49" charset="0"/>
                      </a:endParaRPr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US" sz="1400" dirty="0" err="1">
                          <a:latin typeface="Consolas" panose="020B0609020204030204" pitchFamily="49" charset="0"/>
                        </a:rPr>
                        <a:t>xxxxxxxx</a:t>
                      </a:r>
                      <a:r>
                        <a:rPr lang="en-US" sz="1400" dirty="0">
                          <a:latin typeface="Consolas" panose="020B0609020204030204" pitchFamily="49" charset="0"/>
                        </a:rPr>
                        <a:t>&gt;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5228926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Consolas" panose="020B0609020204030204" pitchFamily="49" charset="0"/>
                        </a:rPr>
                        <a:t>SP+12</a:t>
                      </a:r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0x00000008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8424931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Consolas" panose="020B0609020204030204" pitchFamily="49" charset="0"/>
                        </a:rPr>
                        <a:t>SP+8</a:t>
                      </a:r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0x00000007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554528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Consolas" panose="020B0609020204030204" pitchFamily="49" charset="0"/>
                        </a:rPr>
                        <a:t>SP+4</a:t>
                      </a:r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0x00000006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8151533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Consolas" panose="020B0609020204030204" pitchFamily="49" charset="0"/>
                        </a:rPr>
                        <a:t>SP</a:t>
                      </a:r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0x00000005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449420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157124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265397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09913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endParaRPr lang="en-US" sz="1400" dirty="0">
                        <a:latin typeface="Consolas" panose="020B0609020204030204" pitchFamily="49" charset="0"/>
                      </a:endParaRPr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Consolas" panose="020B0609020204030204" pitchFamily="49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1925191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98320B7-1673-A249-985B-309333E06F0F}"/>
              </a:ext>
            </a:extLst>
          </p:cNvPr>
          <p:cNvSpPr txBox="1"/>
          <p:nvPr/>
        </p:nvSpPr>
        <p:spPr>
          <a:xfrm>
            <a:off x="3607577" y="2597038"/>
            <a:ext cx="1144715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Stack</a:t>
            </a:r>
          </a:p>
        </p:txBody>
      </p:sp>
    </p:spTree>
    <p:extLst>
      <p:ext uri="{BB962C8B-B14F-4D97-AF65-F5344CB8AC3E}">
        <p14:creationId xmlns:p14="http://schemas.microsoft.com/office/powerpoint/2010/main" val="22897352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Passing Extra Arguments via Stack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1428750" y="1828801"/>
            <a:ext cx="5600700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350" b="1" dirty="0">
                <a:latin typeface="Consolas" panose="020B0609020204030204" pitchFamily="49" charset="0"/>
              </a:rPr>
              <a:t>int32_t sum(int32_t a, int32_t b, int32_t c, int32_t d,</a:t>
            </a:r>
          </a:p>
          <a:p>
            <a:r>
              <a:rPr lang="en-US" sz="1350" b="1" dirty="0">
                <a:latin typeface="Consolas" panose="020B0609020204030204" pitchFamily="49" charset="0"/>
              </a:rPr>
              <a:t>            int32_t h, int32_t </a:t>
            </a:r>
            <a:r>
              <a:rPr lang="en-US" sz="1350" b="1" dirty="0" err="1">
                <a:latin typeface="Consolas" panose="020B0609020204030204" pitchFamily="49" charset="0"/>
              </a:rPr>
              <a:t>i</a:t>
            </a:r>
            <a:r>
              <a:rPr lang="en-US" sz="1350" b="1" dirty="0">
                <a:latin typeface="Consolas" panose="020B0609020204030204" pitchFamily="49" charset="0"/>
              </a:rPr>
              <a:t>, int32_t j, int32_t k);</a:t>
            </a:r>
          </a:p>
        </p:txBody>
      </p:sp>
      <p:sp>
        <p:nvSpPr>
          <p:cNvPr id="6" name="Rectangle 5"/>
          <p:cNvSpPr/>
          <p:nvPr/>
        </p:nvSpPr>
        <p:spPr>
          <a:xfrm>
            <a:off x="1428750" y="2324526"/>
            <a:ext cx="3829050" cy="3000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350" b="1" dirty="0">
                <a:solidFill>
                  <a:srgbClr val="FF0000"/>
                </a:solidFill>
                <a:latin typeface="Consolas" panose="020B0609020204030204" pitchFamily="49" charset="0"/>
              </a:rPr>
              <a:t>s = sum(1, 2, 3, 4, 5, 6, 7, 8);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86685" y="2625589"/>
            <a:ext cx="62388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 err="1"/>
              <a:t>Callee</a:t>
            </a:r>
            <a:endParaRPr lang="en-US" sz="1350" dirty="0"/>
          </a:p>
        </p:txBody>
      </p:sp>
      <p:sp>
        <p:nvSpPr>
          <p:cNvPr id="10" name="TextBox 9"/>
          <p:cNvSpPr txBox="1"/>
          <p:nvPr/>
        </p:nvSpPr>
        <p:spPr>
          <a:xfrm>
            <a:off x="3186684" y="2975172"/>
            <a:ext cx="4757166" cy="267765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3333FF"/>
                </a:solidFill>
                <a:latin typeface="Consolas" panose="020B0609020204030204" pitchFamily="49" charset="0"/>
              </a:rPr>
              <a:t>sum</a:t>
            </a:r>
            <a:r>
              <a:rPr lang="en-US" sz="1200" dirty="0">
                <a:latin typeface="Consolas" panose="020B0609020204030204" pitchFamily="49" charset="0"/>
              </a:rPr>
              <a:t> PROC 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EXPORT sum 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1" dirty="0">
                <a:solidFill>
                  <a:srgbClr val="3333FF"/>
                </a:solidFill>
                <a:latin typeface="Consolas" panose="020B0609020204030204" pitchFamily="49" charset="0"/>
              </a:rPr>
              <a:t>PUSH {r5, r6, </a:t>
            </a:r>
            <a:r>
              <a:rPr lang="en-US" sz="1200" b="1" dirty="0" err="1">
                <a:solidFill>
                  <a:srgbClr val="3333FF"/>
                </a:solidFill>
                <a:latin typeface="Consolas" panose="020B0609020204030204" pitchFamily="49" charset="0"/>
              </a:rPr>
              <a:t>lr</a:t>
            </a:r>
            <a:r>
              <a:rPr lang="en-US" sz="1200" b="1" dirty="0">
                <a:solidFill>
                  <a:srgbClr val="3333FF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ADD r0, r0, r1 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 a + b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ADD r0, r0, r2 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 c</a:t>
            </a:r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  ADD r0, r0, r3 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 d</a:t>
            </a:r>
          </a:p>
          <a:p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  </a:t>
            </a:r>
            <a:r>
              <a:rPr lang="en-US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LDRD r5,r6, [</a:t>
            </a:r>
            <a:r>
              <a:rPr lang="en-US" sz="12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sp</a:t>
            </a:r>
            <a:r>
              <a:rPr lang="en-US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, #12]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r5=mem[sp+12],r6=mem[sp+16]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ADD r0, r0, r5 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 h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ADD r0, r0, r6 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 i</a:t>
            </a:r>
          </a:p>
          <a:p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  </a:t>
            </a:r>
            <a:r>
              <a:rPr lang="en-US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LDRD r5,r6, [</a:t>
            </a:r>
            <a:r>
              <a:rPr lang="en-US" sz="12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sp</a:t>
            </a:r>
            <a:r>
              <a:rPr lang="en-US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, #20]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r5=mem[sp+20],r6=mem[sp+24]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ADD r0, r0, r5 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 j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ADD r0, r0, r6 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 k</a:t>
            </a:r>
          </a:p>
          <a:p>
            <a:r>
              <a:rPr lang="en-US" sz="1200" b="1" dirty="0">
                <a:solidFill>
                  <a:srgbClr val="3333FF"/>
                </a:solidFill>
                <a:latin typeface="Consolas" panose="020B0609020204030204" pitchFamily="49" charset="0"/>
              </a:rPr>
              <a:t>  POP {r5, r6, pc}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ENDP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71550" y="2996768"/>
          <a:ext cx="2059115" cy="24917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6115">
                  <a:extLst>
                    <a:ext uri="{9D8B030D-6E8A-4147-A177-3AD203B41FA5}">
                      <a16:colId xmlns:a16="http://schemas.microsoft.com/office/drawing/2014/main" val="324715736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603072553"/>
                    </a:ext>
                  </a:extLst>
                </a:gridCol>
              </a:tblGrid>
              <a:tr h="278130"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Consolas" panose="020B0609020204030204" pitchFamily="49" charset="0"/>
                        </a:rPr>
                        <a:t>Old</a:t>
                      </a:r>
                      <a:r>
                        <a:rPr lang="en-US" sz="1400" baseline="0" dirty="0">
                          <a:latin typeface="Consolas" panose="020B0609020204030204" pitchFamily="49" charset="0"/>
                        </a:rPr>
                        <a:t> SP</a:t>
                      </a:r>
                      <a:endParaRPr lang="en-US" sz="1400" dirty="0">
                        <a:latin typeface="Consolas" panose="020B0609020204030204" pitchFamily="49" charset="0"/>
                      </a:endParaRPr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US" sz="1400" dirty="0" err="1">
                          <a:latin typeface="Consolas" panose="020B0609020204030204" pitchFamily="49" charset="0"/>
                        </a:rPr>
                        <a:t>xxxxxxxx</a:t>
                      </a:r>
                      <a:r>
                        <a:rPr lang="en-US" sz="1400" dirty="0">
                          <a:latin typeface="Consolas" panose="020B0609020204030204" pitchFamily="49" charset="0"/>
                        </a:rPr>
                        <a:t>&gt;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5228926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Consolas" panose="020B0609020204030204" pitchFamily="49" charset="0"/>
                        </a:rPr>
                        <a:t>SP+24</a:t>
                      </a:r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0x00000008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8424931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Consolas" panose="020B0609020204030204" pitchFamily="49" charset="0"/>
                        </a:rPr>
                        <a:t>SP+20</a:t>
                      </a:r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0x00000007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554528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Consolas" panose="020B0609020204030204" pitchFamily="49" charset="0"/>
                        </a:rPr>
                        <a:t>SP+16</a:t>
                      </a:r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0x00000006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8151533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Consolas" panose="020B0609020204030204" pitchFamily="49" charset="0"/>
                        </a:rPr>
                        <a:t>SP+12</a:t>
                      </a:r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0x00000005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449420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Consolas" panose="020B0609020204030204" pitchFamily="49" charset="0"/>
                        </a:rPr>
                        <a:t>SP+8</a:t>
                      </a:r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 err="1">
                          <a:solidFill>
                            <a:srgbClr val="3333FF"/>
                          </a:solidFill>
                          <a:latin typeface="Consolas" panose="020B0609020204030204" pitchFamily="49" charset="0"/>
                        </a:rPr>
                        <a:t>lr</a:t>
                      </a:r>
                      <a:endParaRPr lang="en-US" sz="1400" b="1" dirty="0">
                        <a:solidFill>
                          <a:srgbClr val="3333FF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157124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Consolas" panose="020B0609020204030204" pitchFamily="49" charset="0"/>
                        </a:rPr>
                        <a:t>SP+4</a:t>
                      </a:r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3333FF"/>
                          </a:solidFill>
                          <a:latin typeface="Consolas" panose="020B0609020204030204" pitchFamily="49" charset="0"/>
                        </a:rPr>
                        <a:t>r6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265397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Consolas" panose="020B0609020204030204" pitchFamily="49" charset="0"/>
                        </a:rPr>
                        <a:t>SP</a:t>
                      </a:r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3333FF"/>
                          </a:solidFill>
                          <a:latin typeface="Consolas" panose="020B0609020204030204" pitchFamily="49" charset="0"/>
                        </a:rPr>
                        <a:t>r5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09913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endParaRPr lang="en-US" sz="1400" dirty="0">
                        <a:latin typeface="Consolas" panose="020B0609020204030204" pitchFamily="49" charset="0"/>
                      </a:endParaRPr>
                    </a:p>
                  </a:txBody>
                  <a:tcPr marL="68580" marR="68580" marT="34290" marB="3429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Consolas" panose="020B0609020204030204" pitchFamily="49" charset="0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1925191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0F3E23F3-7B52-2544-AFFF-69221F0A193A}"/>
              </a:ext>
            </a:extLst>
          </p:cNvPr>
          <p:cNvSpPr txBox="1"/>
          <p:nvPr/>
        </p:nvSpPr>
        <p:spPr>
          <a:xfrm>
            <a:off x="1889380" y="2719769"/>
            <a:ext cx="1141285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Stack</a:t>
            </a:r>
          </a:p>
        </p:txBody>
      </p:sp>
    </p:spTree>
    <p:extLst>
      <p:ext uri="{BB962C8B-B14F-4D97-AF65-F5344CB8AC3E}">
        <p14:creationId xmlns:p14="http://schemas.microsoft.com/office/powerpoint/2010/main" val="9604234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3112</TotalTime>
  <Words>1944</Words>
  <Application>Microsoft Office PowerPoint</Application>
  <PresentationFormat>On-screen Show (4:3)</PresentationFormat>
  <Paragraphs>423</Paragraphs>
  <Slides>20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Bookman Old Style (Headings)</vt:lpstr>
      <vt:lpstr>Gill Sans Light</vt:lpstr>
      <vt:lpstr>Arial</vt:lpstr>
      <vt:lpstr>Bookman Old Style</vt:lpstr>
      <vt:lpstr>Calibri</vt:lpstr>
      <vt:lpstr>Consolas</vt:lpstr>
      <vt:lpstr>Gill Sans MT</vt:lpstr>
      <vt:lpstr>Wingdings</vt:lpstr>
      <vt:lpstr>Wingdings 3</vt:lpstr>
      <vt:lpstr>Origin</vt:lpstr>
      <vt:lpstr>Zonghua Gu</vt:lpstr>
      <vt:lpstr>Summary of Carry and Overflow Flags</vt:lpstr>
      <vt:lpstr>NZCV Flags in xPSR</vt:lpstr>
      <vt:lpstr>Example 1: Greatest Common Divider (GCD)</vt:lpstr>
      <vt:lpstr>GCD</vt:lpstr>
      <vt:lpstr>Logic View of Memory</vt:lpstr>
      <vt:lpstr>Logic View of Memory</vt:lpstr>
      <vt:lpstr>Implementation of Barrel Shifter</vt:lpstr>
      <vt:lpstr>Implementation of Barrel Shifter</vt:lpstr>
      <vt:lpstr>Implementation of Barrel Shifter</vt:lpstr>
      <vt:lpstr>Implementation of Barrel Shifter</vt:lpstr>
      <vt:lpstr>Implementation of Barrel Shifter</vt:lpstr>
      <vt:lpstr>ADR Pseudo-instruction</vt:lpstr>
      <vt:lpstr>64-bit Logic Shift Left</vt:lpstr>
      <vt:lpstr>64-bit Logic Shift Left</vt:lpstr>
      <vt:lpstr>64-bit Logic Shift Right</vt:lpstr>
      <vt:lpstr>64-bit Logic Shift Right</vt:lpstr>
      <vt:lpstr>ARM Register Conventions (APCS-Application Procedure Call Standard)</vt:lpstr>
      <vt:lpstr>Passing Extra Arguments via Stack</vt:lpstr>
      <vt:lpstr>Passing Extra Arguments via Stack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345</cp:revision>
  <dcterms:created xsi:type="dcterms:W3CDTF">2014-02-05T02:41:42Z</dcterms:created>
  <dcterms:modified xsi:type="dcterms:W3CDTF">2025-10-05T19:51:38Z</dcterms:modified>
</cp:coreProperties>
</file>