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381" r:id="rId3"/>
    <p:sldId id="335" r:id="rId4"/>
    <p:sldId id="813" r:id="rId5"/>
    <p:sldId id="475" r:id="rId6"/>
    <p:sldId id="473" r:id="rId7"/>
    <p:sldId id="306" r:id="rId8"/>
    <p:sldId id="322" r:id="rId9"/>
    <p:sldId id="323" r:id="rId10"/>
    <p:sldId id="325" r:id="rId11"/>
    <p:sldId id="324" r:id="rId12"/>
    <p:sldId id="525" r:id="rId13"/>
    <p:sldId id="261" r:id="rId14"/>
    <p:sldId id="264" r:id="rId15"/>
    <p:sldId id="262" r:id="rId16"/>
    <p:sldId id="265" r:id="rId17"/>
    <p:sldId id="379" r:id="rId1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4B15ED0-6DB4-4108-82C9-64F0E8E52BFB}" v="9" dt="2025-10-02T21:43:06.4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custSel addSld delSld modSld">
      <pc:chgData name="Zonghua Gu" userId="9a7e1853e1951ef5" providerId="LiveId" clId="{CF1FAA12-072C-4ED5-BA76-0FFFAEFDB88A}" dt="2025-10-02T21:43:06.404" v="21"/>
      <pc:docMkLst>
        <pc:docMk/>
      </pc:docMkLst>
      <pc:sldChg chg="addSp modSp mod">
        <pc:chgData name="Zonghua Gu" userId="9a7e1853e1951ef5" providerId="LiveId" clId="{CF1FAA12-072C-4ED5-BA76-0FFFAEFDB88A}" dt="2025-09-16T21:27:48.835" v="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16T21:27:44.448" v="3"/>
          <ac:spMkLst>
            <pc:docMk/>
            <pc:sldMk cId="1227639730" sldId="256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5-09-16T21:27:48.835" v="8" actId="20577"/>
          <ac:spMkLst>
            <pc:docMk/>
            <pc:sldMk cId="1227639730" sldId="256"/>
            <ac:spMk id="3" creationId="{00000000-0000-0000-0000-000000000000}"/>
          </ac:spMkLst>
        </pc:spChg>
        <pc:spChg chg="add mod">
          <ac:chgData name="Zonghua Gu" userId="9a7e1853e1951ef5" providerId="LiveId" clId="{CF1FAA12-072C-4ED5-BA76-0FFFAEFDB88A}" dt="2025-09-16T21:27:38.538" v="2" actId="1076"/>
          <ac:spMkLst>
            <pc:docMk/>
            <pc:sldMk cId="1227639730" sldId="256"/>
            <ac:spMk id="7" creationId="{04F69590-944C-2F0D-5FE5-A89C06E0D2BF}"/>
          </ac:spMkLst>
        </pc:spChg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2714306100" sldId="261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99910597" sldId="262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1508398580" sldId="264"/>
        </pc:sldMkLst>
      </pc:sldChg>
      <pc:sldChg chg="add">
        <pc:chgData name="Zonghua Gu" userId="9a7e1853e1951ef5" providerId="LiveId" clId="{CF1FAA12-072C-4ED5-BA76-0FFFAEFDB88A}" dt="2025-09-21T23:03:14.599" v="18"/>
        <pc:sldMkLst>
          <pc:docMk/>
          <pc:sldMk cId="712390701" sldId="26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0550765" sldId="27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59043100" sldId="27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290796456" sldId="27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012842885" sldId="28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511335096" sldId="28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68909280" sldId="28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1435320" sldId="28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704552365" sldId="28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06604463" sldId="28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646693943" sldId="28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844324683" sldId="28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84958220" sldId="28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9255324" sldId="29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71709229" sldId="292"/>
        </pc:sldMkLst>
      </pc:sldChg>
      <pc:sldChg chg="modSp del mod">
        <pc:chgData name="Zonghua Gu" userId="9a7e1853e1951ef5" providerId="LiveId" clId="{CF1FAA12-072C-4ED5-BA76-0FFFAEFDB88A}" dt="2025-09-18T02:54:06.006" v="9" actId="47"/>
        <pc:sldMkLst>
          <pc:docMk/>
          <pc:sldMk cId="1337576135" sldId="29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459654649" sldId="29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785807384" sldId="30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644265921" sldId="31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277304446" sldId="31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099586659" sldId="31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30688265" sldId="31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28225317" sldId="31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703302262" sldId="31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321944581" sldId="31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152283833" sldId="32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975851832" sldId="326"/>
        </pc:sldMkLst>
      </pc:sldChg>
      <pc:sldChg chg="new del">
        <pc:chgData name="Zonghua Gu" userId="9a7e1853e1951ef5" providerId="LiveId" clId="{CF1FAA12-072C-4ED5-BA76-0FFFAEFDB88A}" dt="2025-09-18T02:54:14.576" v="13" actId="47"/>
        <pc:sldMkLst>
          <pc:docMk/>
          <pc:sldMk cId="3087616913" sldId="32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42584573" sldId="328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148212839" sldId="329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380735846" sldId="330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640407279" sldId="331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134758979" sldId="332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45956393" sldId="333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913135421" sldId="334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816386607" sldId="335"/>
        </pc:sldMkLst>
      </pc:sldChg>
      <pc:sldChg chg="add modNotes">
        <pc:chgData name="Zonghua Gu" userId="9a7e1853e1951ef5" providerId="LiveId" clId="{CF1FAA12-072C-4ED5-BA76-0FFFAEFDB88A}" dt="2025-10-02T21:43:06.404" v="21"/>
        <pc:sldMkLst>
          <pc:docMk/>
          <pc:sldMk cId="4015228595" sldId="335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3525808290" sldId="336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1861246248" sldId="337"/>
        </pc:sldMkLst>
      </pc:sldChg>
      <pc:sldChg chg="del">
        <pc:chgData name="Zonghua Gu" userId="9a7e1853e1951ef5" providerId="LiveId" clId="{CF1FAA12-072C-4ED5-BA76-0FFFAEFDB88A}" dt="2025-09-18T02:54:06.006" v="9" actId="47"/>
        <pc:sldMkLst>
          <pc:docMk/>
          <pc:sldMk cId="2476710942" sldId="338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4270472410" sldId="341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897190462" sldId="342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398840445" sldId="343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1330855799" sldId="344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251034726" sldId="345"/>
        </pc:sldMkLst>
      </pc:sldChg>
      <pc:sldChg chg="del">
        <pc:chgData name="Zonghua Gu" userId="9a7e1853e1951ef5" providerId="LiveId" clId="{CF1FAA12-072C-4ED5-BA76-0FFFAEFDB88A}" dt="2025-09-18T02:54:09.106" v="10" actId="47"/>
        <pc:sldMkLst>
          <pc:docMk/>
          <pc:sldMk cId="3132066556" sldId="346"/>
        </pc:sldMkLst>
      </pc:sldChg>
      <pc:sldChg chg="add">
        <pc:chgData name="Zonghua Gu" userId="9a7e1853e1951ef5" providerId="LiveId" clId="{CF1FAA12-072C-4ED5-BA76-0FFFAEFDB88A}" dt="2025-09-23T19:54:54.877" v="19"/>
        <pc:sldMkLst>
          <pc:docMk/>
          <pc:sldMk cId="397854206" sldId="379"/>
        </pc:sldMkLst>
      </pc:sldChg>
      <pc:sldChg chg="add">
        <pc:chgData name="Zonghua Gu" userId="9a7e1853e1951ef5" providerId="LiveId" clId="{CF1FAA12-072C-4ED5-BA76-0FFFAEFDB88A}" dt="2025-10-02T21:43:06.404" v="21"/>
        <pc:sldMkLst>
          <pc:docMk/>
          <pc:sldMk cId="2452138352" sldId="381"/>
        </pc:sldMkLst>
      </pc:sldChg>
      <pc:sldChg chg="add del">
        <pc:chgData name="Zonghua Gu" userId="9a7e1853e1951ef5" providerId="LiveId" clId="{CF1FAA12-072C-4ED5-BA76-0FFFAEFDB88A}" dt="2025-09-18T02:55:09.669" v="16"/>
        <pc:sldMkLst>
          <pc:docMk/>
          <pc:sldMk cId="2963767799" sldId="473"/>
        </pc:sldMkLst>
      </pc:sldChg>
      <pc:sldChg chg="add">
        <pc:chgData name="Zonghua Gu" userId="9a7e1853e1951ef5" providerId="LiveId" clId="{CF1FAA12-072C-4ED5-BA76-0FFFAEFDB88A}" dt="2025-09-18T02:54:13.121" v="12"/>
        <pc:sldMkLst>
          <pc:docMk/>
          <pc:sldMk cId="2700446461" sldId="475"/>
        </pc:sldMkLst>
      </pc:sldChg>
      <pc:sldChg chg="add">
        <pc:chgData name="Zonghua Gu" userId="9a7e1853e1951ef5" providerId="LiveId" clId="{CF1FAA12-072C-4ED5-BA76-0FFFAEFDB88A}" dt="2025-09-18T21:31:24.471" v="17"/>
        <pc:sldMkLst>
          <pc:docMk/>
          <pc:sldMk cId="3686948551" sldId="525"/>
        </pc:sldMkLst>
      </pc:sldChg>
      <pc:sldChg chg="add">
        <pc:chgData name="Zonghua Gu" userId="9a7e1853e1951ef5" providerId="LiveId" clId="{CF1FAA12-072C-4ED5-BA76-0FFFAEFDB88A}" dt="2025-09-26T22:04:43.298" v="20"/>
        <pc:sldMkLst>
          <pc:docMk/>
          <pc:sldMk cId="464193995" sldId="81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https://eclecticlight.co/2021/06/23/code-in-arm-assembly-controlling-flow/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 (Negative): Copies the most significant bit of the last result; 1 means the result’s sign bit is 1, which for two’s‑complement indicates a negative value in signed interpretation.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 (Zero): 1 if the result was exactly zero; otherwise 0.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 (Carry): For addition, 1 means an unsigned carry out; for subtraction (a − b or CMP), 1 means “no borrow,” and 0 means a borrow occurred. For shifts/rotates, it holds the last bit shifted out.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 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oVerflow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1 when signed overflow occurred, i.e., the true signed result didn’t fit in the destination width (e.g., positive + positive → negative, or negative + negative → positive in 32‑bit two’s‑complement).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Why C=1 and Z=0 corresponds to “unsigned higher” (HI):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After a CMP a, b (which computes a − b for flags), C=1 means the subtraction needed no borrow, so a ≥ b in unsigned arithmetic; Z=0 rules out equality, leaving a &gt; b. That composite condition is named HI.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71AD5F-E36F-46B9-A99B-7B025244359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6462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924810" y="4404346"/>
            <a:ext cx="5100458" cy="4170576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 lIns="92350" tIns="46174" rIns="92350" bIns="46174"/>
          <a:lstStyle/>
          <a:p>
            <a:endParaRPr lang="en-US" dirty="0"/>
          </a:p>
        </p:txBody>
      </p:sp>
      <p:sp>
        <p:nvSpPr>
          <p:cNvPr id="47107" name="Rectangle 3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79525" y="863600"/>
            <a:ext cx="4403725" cy="3303588"/>
          </a:xfrm>
          <a:ln/>
        </p:spPr>
      </p:sp>
    </p:spTree>
    <p:extLst>
      <p:ext uri="{BB962C8B-B14F-4D97-AF65-F5344CB8AC3E}">
        <p14:creationId xmlns:p14="http://schemas.microsoft.com/office/powerpoint/2010/main" val="24249951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10/2/2025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10/2/2025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Zonghua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75" y="1828800"/>
            <a:ext cx="581422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73A519-DBC1-4403-2E8B-B6BADD69B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NZCV Flags in </a:t>
            </a:r>
            <a:r>
              <a:rPr lang="en-US" dirty="0" err="1"/>
              <a:t>xPSR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62D03D-6F8E-1055-AD43-53C024771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571F98-40C3-8109-24BE-24A75ED061C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2910806"/>
          </a:xfrm>
        </p:spPr>
        <p:txBody>
          <a:bodyPr>
            <a:normAutofit fontScale="77500" lnSpcReduction="20000"/>
          </a:bodyPr>
          <a:lstStyle/>
          <a:p>
            <a:r>
              <a:rPr lang="en-US" sz="2800" b="1" dirty="0"/>
              <a:t>N</a:t>
            </a:r>
            <a:r>
              <a:rPr lang="en-US" sz="2800" dirty="0"/>
              <a:t> (negative) – set (1) when a signed result is negative, otherwise cleared (0).</a:t>
            </a:r>
          </a:p>
          <a:p>
            <a:r>
              <a:rPr lang="en-US" sz="2800" b="1" dirty="0"/>
              <a:t>Z</a:t>
            </a:r>
            <a:r>
              <a:rPr lang="en-US" sz="2800" dirty="0"/>
              <a:t> (zero) – set (1) when a result is 0, otherwise cleared (0).</a:t>
            </a:r>
          </a:p>
          <a:p>
            <a:r>
              <a:rPr lang="en-US" sz="2800" b="1" dirty="0"/>
              <a:t>C</a:t>
            </a:r>
            <a:r>
              <a:rPr lang="en-US" sz="2800" dirty="0"/>
              <a:t> (carry) – set (1) when an add-based operation produces an overflow, when a subtract-based operation doesn’t require a borrow; when shifting, holds the last bit that’s been shifted out; otherwise cleared (0).</a:t>
            </a:r>
          </a:p>
          <a:p>
            <a:r>
              <a:rPr lang="en-US" sz="2800" b="1" dirty="0"/>
              <a:t>V</a:t>
            </a:r>
            <a:r>
              <a:rPr lang="en-US" sz="2800" dirty="0"/>
              <a:t> (overflow) – set (1) when an add- or subtract-based operation generates a signed overflow, otherwise cleared (0).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168489-8B57-7C2E-A280-C2FCA5EA7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800" y="4016795"/>
            <a:ext cx="5940553" cy="2409224"/>
          </a:xfrm>
          <a:prstGeom prst="rect">
            <a:avLst/>
          </a:prstGeom>
        </p:spPr>
      </p:pic>
      <p:sp>
        <p:nvSpPr>
          <p:cNvPr id="5" name="Horizontal Scroll 15">
            <a:extLst>
              <a:ext uri="{FF2B5EF4-FFF2-40B4-BE49-F238E27FC236}">
                <a16:creationId xmlns:a16="http://schemas.microsoft.com/office/drawing/2014/main" id="{785D1948-1665-EC1C-519D-DEF2FD52EF22}"/>
              </a:ext>
            </a:extLst>
          </p:cNvPr>
          <p:cNvSpPr/>
          <p:nvPr/>
        </p:nvSpPr>
        <p:spPr>
          <a:xfrm>
            <a:off x="76200" y="-23210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24521383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41" name="Rectangle 57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1: Greatest Common Divider (GCD)</a:t>
            </a:r>
          </a:p>
        </p:txBody>
      </p:sp>
      <p:sp>
        <p:nvSpPr>
          <p:cNvPr id="16387" name="Rectangle 3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8" name="Rectangle 4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89" name="Rectangle 5"/>
          <p:cNvSpPr>
            <a:spLocks noChangeArrowheads="1"/>
          </p:cNvSpPr>
          <p:nvPr/>
        </p:nvSpPr>
        <p:spPr bwMode="auto">
          <a:xfrm>
            <a:off x="1660922" y="5539979"/>
            <a:ext cx="142755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16390" name="Rectangle 6"/>
          <p:cNvSpPr>
            <a:spLocks noChangeArrowheads="1"/>
          </p:cNvSpPr>
          <p:nvPr/>
        </p:nvSpPr>
        <p:spPr bwMode="auto">
          <a:xfrm>
            <a:off x="3487342" y="5539979"/>
            <a:ext cx="2169319" cy="3417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8" name="Slide Number Placeholder 5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14D4A-FE32-40AF-B06D-E9622816B101}" type="slidenum">
              <a:rPr lang="en-US">
                <a:solidFill>
                  <a:srgbClr val="1F497D"/>
                </a:solidFill>
                <a:latin typeface="Gill Sans MT"/>
              </a:rPr>
              <a:pPr/>
              <a:t>3</a:t>
            </a:fld>
            <a:endParaRPr lang="en-US">
              <a:solidFill>
                <a:srgbClr val="1F497D"/>
              </a:solidFill>
              <a:latin typeface="Gill Sans MT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353699" y="3637264"/>
            <a:ext cx="338975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suppose r0 = a and r1 = b</a:t>
            </a:r>
          </a:p>
          <a:p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CMP r0, r1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&gt; b?</a:t>
            </a:r>
          </a:p>
          <a:p>
            <a:r>
              <a:rPr lang="en-US" sz="1200" b="1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BEQ end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if a = b, done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BLO less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&lt;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SUB r0, r0, r1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a = a – b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endParaRPr lang="en-US" sz="1200" b="1" dirty="0">
              <a:solidFill>
                <a:srgbClr val="FF40FF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  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SUB r1, r1, r0  </a:t>
            </a:r>
            <a:r>
              <a:rPr lang="en-US" sz="1200" dirty="0">
                <a:solidFill>
                  <a:prstClr val="white">
                    <a:lumMod val="65000"/>
                  </a:prst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b = b – a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b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   </a:t>
            </a:r>
            <a:r>
              <a:rPr lang="en-US" sz="1200" b="1" dirty="0" err="1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gcd</a:t>
            </a:r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end</a:t>
            </a:r>
          </a:p>
        </p:txBody>
      </p:sp>
      <p:sp>
        <p:nvSpPr>
          <p:cNvPr id="62" name="Down Arrow 61"/>
          <p:cNvSpPr/>
          <p:nvPr/>
        </p:nvSpPr>
        <p:spPr>
          <a:xfrm>
            <a:off x="2000251" y="3371297"/>
            <a:ext cx="124628" cy="216367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white"/>
              </a:solidFill>
              <a:latin typeface="Gill Sans MT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1283565" y="1698012"/>
            <a:ext cx="12872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  <a:latin typeface="Gill Sans MT"/>
              </a:rPr>
              <a:t>Euclid’s Algorithm</a:t>
            </a:r>
          </a:p>
        </p:txBody>
      </p:sp>
      <p:grpSp>
        <p:nvGrpSpPr>
          <p:cNvPr id="66" name="Group 65"/>
          <p:cNvGrpSpPr/>
          <p:nvPr/>
        </p:nvGrpSpPr>
        <p:grpSpPr>
          <a:xfrm>
            <a:off x="4686301" y="1714500"/>
            <a:ext cx="2679396" cy="830997"/>
            <a:chOff x="4461833" y="1619479"/>
            <a:chExt cx="3572527" cy="1107996"/>
          </a:xfrm>
        </p:grpSpPr>
        <p:sp>
          <p:nvSpPr>
            <p:cNvPr id="64" name="Right Arrow 63"/>
            <p:cNvSpPr/>
            <p:nvPr/>
          </p:nvSpPr>
          <p:spPr>
            <a:xfrm>
              <a:off x="4461833" y="2027104"/>
              <a:ext cx="716096" cy="209321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>
                <a:solidFill>
                  <a:prstClr val="white"/>
                </a:solidFill>
                <a:latin typeface="Gill Sans MT"/>
              </a:endParaRPr>
            </a:p>
          </p:txBody>
        </p:sp>
        <p:sp>
          <p:nvSpPr>
            <p:cNvPr id="65" name="TextBox 64"/>
            <p:cNvSpPr txBox="1"/>
            <p:nvPr/>
          </p:nvSpPr>
          <p:spPr>
            <a:xfrm>
              <a:off x="5409282" y="1619479"/>
              <a:ext cx="2625078" cy="1107996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CMP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SUBHI r0, r0, r1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SUBLO r1, r1, r0</a:t>
              </a:r>
            </a:p>
            <a:p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   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BNE</a:t>
              </a:r>
              <a:r>
                <a:rPr lang="en-US" sz="1200" dirty="0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 </a:t>
              </a:r>
              <a:r>
                <a:rPr lang="en-US" sz="1200" dirty="0" err="1">
                  <a:solidFill>
                    <a:srgbClr val="FF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gcd</a:t>
              </a:r>
              <a:endParaRPr lang="en-US" sz="12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</p:grpSp>
      <p:sp>
        <p:nvSpPr>
          <p:cNvPr id="60" name="TextBox 59"/>
          <p:cNvSpPr txBox="1"/>
          <p:nvPr/>
        </p:nvSpPr>
        <p:spPr>
          <a:xfrm>
            <a:off x="1353699" y="1959784"/>
            <a:ext cx="2958028" cy="13849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uint32_t a, b;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while (a != b ) {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if (a &gt; b)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a = a – b;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else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b = b – a; </a:t>
            </a:r>
          </a:p>
          <a:p>
            <a:r>
              <a:rPr lang="en-US" sz="1200" dirty="0">
                <a:solidFill>
                  <a:prstClr val="black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2" name="Arrow: Curved Right 1">
            <a:extLst>
              <a:ext uri="{FF2B5EF4-FFF2-40B4-BE49-F238E27FC236}">
                <a16:creationId xmlns:a16="http://schemas.microsoft.com/office/drawing/2014/main" id="{63AD5224-522C-18FC-A5C0-4CAEE167F4A7}"/>
              </a:ext>
            </a:extLst>
          </p:cNvPr>
          <p:cNvSpPr/>
          <p:nvPr/>
        </p:nvSpPr>
        <p:spPr>
          <a:xfrm>
            <a:off x="1143001" y="4114800"/>
            <a:ext cx="210698" cy="1200151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3" name="Arrow: Curved Right 2">
            <a:extLst>
              <a:ext uri="{FF2B5EF4-FFF2-40B4-BE49-F238E27FC236}">
                <a16:creationId xmlns:a16="http://schemas.microsoft.com/office/drawing/2014/main" id="{D6951C95-8873-B916-2166-BF641EF82FD2}"/>
              </a:ext>
            </a:extLst>
          </p:cNvPr>
          <p:cNvSpPr/>
          <p:nvPr/>
        </p:nvSpPr>
        <p:spPr>
          <a:xfrm>
            <a:off x="1143000" y="4284417"/>
            <a:ext cx="210698" cy="630484"/>
          </a:xfrm>
          <a:prstGeom prst="curved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4" name="Arrow: Curved Right 3">
            <a:extLst>
              <a:ext uri="{FF2B5EF4-FFF2-40B4-BE49-F238E27FC236}">
                <a16:creationId xmlns:a16="http://schemas.microsoft.com/office/drawing/2014/main" id="{BF8ADD12-38AC-2F78-06EF-691CD8EC6539}"/>
              </a:ext>
            </a:extLst>
          </p:cNvPr>
          <p:cNvSpPr/>
          <p:nvPr/>
        </p:nvSpPr>
        <p:spPr>
          <a:xfrm flipV="1">
            <a:off x="1638717" y="3882854"/>
            <a:ext cx="262820" cy="86876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5" name="Arrow: Curved Right 4">
            <a:extLst>
              <a:ext uri="{FF2B5EF4-FFF2-40B4-BE49-F238E27FC236}">
                <a16:creationId xmlns:a16="http://schemas.microsoft.com/office/drawing/2014/main" id="{CC7A2AF8-E930-2C88-AA7D-100ACAD1C1CD}"/>
              </a:ext>
            </a:extLst>
          </p:cNvPr>
          <p:cNvSpPr/>
          <p:nvPr/>
        </p:nvSpPr>
        <p:spPr>
          <a:xfrm flipV="1">
            <a:off x="1625960" y="3874692"/>
            <a:ext cx="262820" cy="1203767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solidFill>
                <a:prstClr val="black"/>
              </a:solidFill>
              <a:latin typeface="Gill Sans MT"/>
            </a:endParaRPr>
          </a:p>
        </p:txBody>
      </p:sp>
      <p:sp>
        <p:nvSpPr>
          <p:cNvPr id="6" name="内容占位符 2">
            <a:extLst>
              <a:ext uri="{FF2B5EF4-FFF2-40B4-BE49-F238E27FC236}">
                <a16:creationId xmlns:a16="http://schemas.microsoft.com/office/drawing/2014/main" id="{05A93BF7-A206-F2CA-CC13-D14DF785DD1A}"/>
              </a:ext>
            </a:extLst>
          </p:cNvPr>
          <p:cNvSpPr txBox="1">
            <a:spLocks/>
          </p:cNvSpPr>
          <p:nvPr/>
        </p:nvSpPr>
        <p:spPr bwMode="auto">
          <a:xfrm>
            <a:off x="4810052" y="2546908"/>
            <a:ext cx="3079900" cy="3395561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="" xmlns:a14="http://schemas.microsoft.com/office/drawing/2010/main" w="12700">
                <a:pattFill prst="narHorz">
                  <a:fgClr>
                    <a:schemeClr val="tx1"/>
                  </a:fgClr>
                  <a:bgClr>
                    <a:schemeClr val="bg1"/>
                  </a:bgClr>
                </a:patt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vert="horz" wrap="square" lIns="67859" tIns="33334" rIns="67859" bIns="33334" numCol="1" anchor="t" anchorCtr="0" compatLnSpc="1">
            <a:prstTxWarp prst="textNoShape">
              <a:avLst/>
            </a:prstTxWarp>
          </a:bodyPr>
          <a:lstStyle>
            <a:lvl1pPr marL="285750" indent="-2857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400">
                <a:solidFill>
                  <a:schemeClr val="tx1"/>
                </a:solidFill>
                <a:latin typeface="Gill Sans" charset="0"/>
                <a:ea typeface="ＭＳ Ｐゴシック" charset="0"/>
                <a:cs typeface="Gill Sans" charset="0"/>
              </a:defRPr>
            </a:lvl1pPr>
            <a:lvl2pPr marL="6858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2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2pPr>
            <a:lvl3pPr marL="1143000" indent="-22860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»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3pPr>
            <a:lvl4pPr marL="1543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•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4pPr>
            <a:lvl5pPr marL="20002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>
                <a:solidFill>
                  <a:schemeClr val="tx1"/>
                </a:solidFill>
                <a:latin typeface="Gill Sans" charset="0"/>
                <a:ea typeface="Gill Sans" charset="0"/>
                <a:cs typeface="Gill Sans" charset="0"/>
              </a:defRPr>
            </a:lvl5pPr>
            <a:lvl6pPr marL="24574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6pPr>
            <a:lvl7pPr marL="29146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7pPr>
            <a:lvl8pPr marL="33718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8pPr>
            <a:lvl9pPr marL="3829050" indent="-171450" algn="l" rtl="0" eaLnBrk="0" fontAlgn="base" hangingPunct="0">
              <a:lnSpc>
                <a:spcPct val="90000"/>
              </a:lnSpc>
              <a:spcBef>
                <a:spcPct val="30000"/>
              </a:spcBef>
              <a:spcAft>
                <a:spcPct val="0"/>
              </a:spcAft>
              <a:buSzPct val="100000"/>
              <a:buChar char="–"/>
              <a:defRPr sz="2000" b="1">
                <a:solidFill>
                  <a:schemeClr val="tx1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CMP r0, r1 compares r0 and r1, setting Z=1 if r0 == r1, which is the termination condition when tested by BNE later.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SUBHI r0, r0, r1 executes only if the previous compare set HI (unsigned “higher”), i.e., r0 &gt;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Flags C=1 and Z=0 (“no borrow” and “not equal”).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SUBLO r1, r1, r0 executes only if the previous compare of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set LO (unsigned “lower”), i.e., r0 &lt; r1 for unsigned </a:t>
            </a:r>
            <a:r>
              <a:rPr lang="en-US" sz="1350" kern="0" dirty="0" err="1">
                <a:solidFill>
                  <a:prstClr val="black"/>
                </a:solidFill>
              </a:rPr>
              <a:t>ints</a:t>
            </a:r>
            <a:r>
              <a:rPr lang="en-US" sz="1350" kern="0" dirty="0">
                <a:solidFill>
                  <a:prstClr val="black"/>
                </a:solidFill>
              </a:rPr>
              <a:t> r0 and r1. Flag C=0 (“borrow”).</a:t>
            </a:r>
          </a:p>
          <a:p>
            <a:pPr marL="0" indent="0">
              <a:buNone/>
            </a:pPr>
            <a:r>
              <a:rPr lang="en-US" sz="1350" kern="0" dirty="0">
                <a:solidFill>
                  <a:prstClr val="black"/>
                </a:solidFill>
              </a:rPr>
              <a:t>BNE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 branches back to the label if Z=0 from the CMP, i.e., while r0 != r1; when they become equal, Z=1 and the loop falls through, leaving r0 == r1 == </a:t>
            </a:r>
            <a:r>
              <a:rPr lang="en-US" sz="1350" kern="0" dirty="0" err="1">
                <a:solidFill>
                  <a:prstClr val="black"/>
                </a:solidFill>
              </a:rPr>
              <a:t>gcd</a:t>
            </a:r>
            <a:r>
              <a:rPr lang="en-US" sz="1350" kern="0" dirty="0">
                <a:solidFill>
                  <a:prstClr val="black"/>
                </a:solidFill>
              </a:rPr>
              <a:t>(a, b).</a:t>
            </a:r>
            <a:endParaRPr lang="en-GB" sz="1350" kern="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5228595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3DE11-4A34-23E8-64C2-213C279CC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GCD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3F6058-B736-B29C-B402-F8D3E7E96A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pic>
        <p:nvPicPr>
          <p:cNvPr id="6" name="Content Placeholder 5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92B2B7E-F38B-2628-EF2D-83C2D72E679F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0584" y="1771650"/>
            <a:ext cx="6582833" cy="3702844"/>
          </a:xfrm>
        </p:spPr>
      </p:pic>
    </p:spTree>
    <p:extLst>
      <p:ext uri="{BB962C8B-B14F-4D97-AF65-F5344CB8AC3E}">
        <p14:creationId xmlns:p14="http://schemas.microsoft.com/office/powerpoint/2010/main" val="4641939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bg2">
                      <a:lumMod val="75000"/>
                    </a:schemeClr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solidFill>
                  <a:schemeClr val="bg2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3426936"/>
            <a:ext cx="1447800" cy="1427639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38" name="Straight Connector 37"/>
          <p:cNvCxnSpPr/>
          <p:nvPr/>
        </p:nvCxnSpPr>
        <p:spPr>
          <a:xfrm flipH="1" flipV="1">
            <a:off x="7162800" y="3299012"/>
            <a:ext cx="1676400" cy="1653989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 flipH="1">
            <a:off x="7162800" y="3299012"/>
            <a:ext cx="1676400" cy="1653988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544586" y="4270811"/>
            <a:ext cx="2728963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</a:rPr>
              <a:t>We cannot store a word at address </a:t>
            </a:r>
            <a:r>
              <a:rPr lang="en-US" sz="1600" b="1" dirty="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0x20000002</a:t>
            </a:r>
            <a:r>
              <a:rPr lang="en-US" sz="1600" b="1" dirty="0">
                <a:solidFill>
                  <a:schemeClr val="bg1"/>
                </a:solidFill>
              </a:rPr>
              <a:t>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8" y="3219187"/>
            <a:ext cx="4191000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/>
              <a:t>Word-address mod 4 = 0</a:t>
            </a:r>
          </a:p>
        </p:txBody>
      </p:sp>
      <p:sp>
        <p:nvSpPr>
          <p:cNvPr id="57" name="Content Placeholder 2"/>
          <p:cNvSpPr>
            <a:spLocks noGrp="1"/>
          </p:cNvSpPr>
          <p:nvPr>
            <p:ph sz="quarter" idx="1"/>
          </p:nvPr>
        </p:nvSpPr>
        <p:spPr>
          <a:xfrm>
            <a:off x="452788" y="1214489"/>
            <a:ext cx="5486400" cy="1618664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we store a word anywhere in memory?  </a:t>
            </a:r>
          </a:p>
          <a:p>
            <a:pPr marL="274320" lvl="1" indent="0">
              <a:buNone/>
            </a:pPr>
            <a:r>
              <a:rPr lang="en-US" sz="2000" dirty="0">
                <a:solidFill>
                  <a:schemeClr val="accent2"/>
                </a:solidFill>
              </a:rPr>
              <a:t>	</a:t>
            </a:r>
            <a:r>
              <a:rPr lang="en-US" sz="2000" b="1" dirty="0">
                <a:solidFill>
                  <a:schemeClr val="accent2"/>
                </a:solidFill>
              </a:rPr>
              <a:t>NO on most computers!</a:t>
            </a:r>
          </a:p>
          <a:p>
            <a:pPr lvl="1"/>
            <a:r>
              <a:rPr lang="en-US" sz="2000" dirty="0"/>
              <a:t>A word can only be stored at an address that's divisible by 4.</a:t>
            </a:r>
          </a:p>
          <a:p>
            <a:pPr marL="274320" lvl="1" indent="0">
              <a:buNone/>
            </a:pPr>
            <a:endParaRPr lang="en-US" sz="20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446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 View of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grpSp>
        <p:nvGrpSpPr>
          <p:cNvPr id="13" name="Group 42"/>
          <p:cNvGrpSpPr/>
          <p:nvPr/>
        </p:nvGrpSpPr>
        <p:grpSpPr>
          <a:xfrm>
            <a:off x="5943600" y="1307068"/>
            <a:ext cx="2690286" cy="4803577"/>
            <a:chOff x="5943600" y="1307068"/>
            <a:chExt cx="2690286" cy="4803577"/>
          </a:xfrm>
        </p:grpSpPr>
        <p:sp>
          <p:nvSpPr>
            <p:cNvPr id="5" name="Rectangle 4"/>
            <p:cNvSpPr/>
            <p:nvPr/>
          </p:nvSpPr>
          <p:spPr>
            <a:xfrm>
              <a:off x="7342456" y="26903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6" name="Rectangle 5"/>
            <p:cNvSpPr/>
            <p:nvPr/>
          </p:nvSpPr>
          <p:spPr>
            <a:xfrm>
              <a:off x="7344136" y="30592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00100101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7343951" y="34269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11100010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7342456" y="37958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0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10000100</a:t>
              </a:r>
              <a:endParaRPr lang="pl-PL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7342806" y="41635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01100001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7344486" y="45324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10001111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344301" y="4900136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00010010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342806" y="5269022"/>
              <a:ext cx="1289400" cy="307777"/>
            </a:xfrm>
            <a:prstGeom prst="rect">
              <a:avLst/>
            </a:prstGeom>
            <a:ln>
              <a:solidFill>
                <a:schemeClr val="tx2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10010100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cxnSp>
          <p:nvCxnSpPr>
            <p:cNvPr id="14" name="Straight Connector 13"/>
            <p:cNvCxnSpPr>
              <a:stCxn id="31" idx="0"/>
              <a:endCxn id="5" idx="1"/>
            </p:cNvCxnSpPr>
            <p:nvPr/>
          </p:nvCxnSpPr>
          <p:spPr>
            <a:xfrm>
              <a:off x="7342456" y="2434633"/>
              <a:ext cx="0" cy="40959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>
              <a:stCxn id="31" idx="3"/>
              <a:endCxn id="5" idx="3"/>
            </p:cNvCxnSpPr>
            <p:nvPr/>
          </p:nvCxnSpPr>
          <p:spPr>
            <a:xfrm>
              <a:off x="8628331" y="2225175"/>
              <a:ext cx="3525" cy="61905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>
              <a:stCxn id="12" idx="1"/>
              <a:endCxn id="34" idx="0"/>
            </p:cNvCxnSpPr>
            <p:nvPr/>
          </p:nvCxnSpPr>
          <p:spPr>
            <a:xfrm flipH="1">
              <a:off x="7342456" y="5422911"/>
              <a:ext cx="350" cy="604790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>
              <a:stCxn id="12" idx="3"/>
              <a:endCxn id="34" idx="3"/>
            </p:cNvCxnSpPr>
            <p:nvPr/>
          </p:nvCxnSpPr>
          <p:spPr>
            <a:xfrm flipH="1">
              <a:off x="8628331" y="5422911"/>
              <a:ext cx="3875" cy="395332"/>
            </a:xfrm>
            <a:prstGeom prst="line">
              <a:avLst/>
            </a:pr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Freeform 30"/>
            <p:cNvSpPr/>
            <p:nvPr/>
          </p:nvSpPr>
          <p:spPr>
            <a:xfrm>
              <a:off x="7342456" y="2221468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34" name="Freeform 33"/>
            <p:cNvSpPr/>
            <p:nvPr/>
          </p:nvSpPr>
          <p:spPr>
            <a:xfrm>
              <a:off x="7342456" y="5814536"/>
              <a:ext cx="1285875" cy="213783"/>
            </a:xfrm>
            <a:custGeom>
              <a:avLst/>
              <a:gdLst>
                <a:gd name="connsiteX0" fmla="*/ 0 w 1285875"/>
                <a:gd name="connsiteY0" fmla="*/ 365125 h 366183"/>
                <a:gd name="connsiteX1" fmla="*/ 428625 w 1285875"/>
                <a:gd name="connsiteY1" fmla="*/ 0 h 366183"/>
                <a:gd name="connsiteX2" fmla="*/ 885825 w 1285875"/>
                <a:gd name="connsiteY2" fmla="*/ 365125 h 366183"/>
                <a:gd name="connsiteX3" fmla="*/ 1285875 w 1285875"/>
                <a:gd name="connsiteY3" fmla="*/ 6350 h 3661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85875" h="366183">
                  <a:moveTo>
                    <a:pt x="0" y="365125"/>
                  </a:moveTo>
                  <a:cubicBezTo>
                    <a:pt x="140494" y="182562"/>
                    <a:pt x="280988" y="0"/>
                    <a:pt x="428625" y="0"/>
                  </a:cubicBezTo>
                  <a:cubicBezTo>
                    <a:pt x="576262" y="0"/>
                    <a:pt x="742950" y="364067"/>
                    <a:pt x="885825" y="365125"/>
                  </a:cubicBezTo>
                  <a:cubicBezTo>
                    <a:pt x="1028700" y="366183"/>
                    <a:pt x="1233488" y="58737"/>
                    <a:pt x="1285875" y="6350"/>
                  </a:cubicBezTo>
                </a:path>
              </a:pathLst>
            </a:custGeom>
            <a:ln>
              <a:solidFill>
                <a:schemeClr val="tx2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943600" y="5802868"/>
              <a:ext cx="12779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Low Address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5943600" y="2145268"/>
              <a:ext cx="1377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  <a:cs typeface="Consolas" panose="020B0609020204030204" pitchFamily="49" charset="0"/>
                </a:rPr>
                <a:t>High Address</a:t>
              </a:r>
            </a:p>
          </p:txBody>
        </p:sp>
        <p:sp>
          <p:nvSpPr>
            <p:cNvPr id="45" name="Rectangle 44"/>
            <p:cNvSpPr/>
            <p:nvPr/>
          </p:nvSpPr>
          <p:spPr>
            <a:xfrm>
              <a:off x="5943600" y="26903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0x20000007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6" name="Rectangle 45"/>
            <p:cNvSpPr/>
            <p:nvPr/>
          </p:nvSpPr>
          <p:spPr>
            <a:xfrm>
              <a:off x="5945280" y="30592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0x20000006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7" name="Rectangle 46"/>
            <p:cNvSpPr/>
            <p:nvPr/>
          </p:nvSpPr>
          <p:spPr>
            <a:xfrm>
              <a:off x="5945095" y="34269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0x20000005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5943600" y="37958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0x20000004</a:t>
              </a:r>
              <a:endParaRPr lang="pl-PL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49" name="Rectangle 48"/>
            <p:cNvSpPr/>
            <p:nvPr/>
          </p:nvSpPr>
          <p:spPr>
            <a:xfrm>
              <a:off x="5943950" y="41635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0x20000003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5945630" y="45324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0x20000002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1" name="Rectangle 50"/>
            <p:cNvSpPr/>
            <p:nvPr/>
          </p:nvSpPr>
          <p:spPr>
            <a:xfrm>
              <a:off x="5945445" y="4900136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solidFill>
                    <a:srgbClr val="C00000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0x20000001</a:t>
              </a:r>
              <a:endPara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5943950" y="5269022"/>
              <a:ext cx="1365600" cy="30777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 err="1">
                  <a:latin typeface="Consolas" panose="020B0609020204030204" pitchFamily="49" charset="0"/>
                  <a:cs typeface="Consolas" panose="020B0609020204030204" pitchFamily="49" charset="0"/>
                </a:rPr>
                <a:t>0x20000000</a:t>
              </a:r>
              <a:endParaRPr lang="pl-PL" dirty="0">
                <a:latin typeface="Consolas" panose="020B0609020204030204" pitchFamily="49" charset="0"/>
                <a:cs typeface="Consolas" panose="020B0609020204030204" pitchFamily="49" charset="0"/>
              </a:endParaRPr>
            </a:p>
          </p:txBody>
        </p:sp>
        <p:grpSp>
          <p:nvGrpSpPr>
            <p:cNvPr id="18" name="Group 63"/>
            <p:cNvGrpSpPr/>
            <p:nvPr/>
          </p:nvGrpSpPr>
          <p:grpSpPr>
            <a:xfrm>
              <a:off x="7327900" y="1307068"/>
              <a:ext cx="1295400" cy="794266"/>
              <a:chOff x="3124200" y="4191000"/>
              <a:chExt cx="1295400" cy="794266"/>
            </a:xfrm>
          </p:grpSpPr>
          <p:sp>
            <p:nvSpPr>
              <p:cNvPr id="53" name="Rectangle 52"/>
              <p:cNvSpPr/>
              <p:nvPr/>
            </p:nvSpPr>
            <p:spPr>
              <a:xfrm>
                <a:off x="3124200" y="4191000"/>
                <a:ext cx="1289400" cy="3077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/>
              </a:lnRef>
              <a:fillRef idx="1">
                <a:schemeClr val="lt1"/>
              </a:fillRef>
              <a:effectRef idx="0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dirty="0">
                    <a:latin typeface="Consolas" panose="020B0609020204030204" pitchFamily="49" charset="0"/>
                    <a:cs typeface="Consolas" panose="020B0609020204030204" pitchFamily="49" charset="0"/>
                  </a:rPr>
                  <a:t>8 bits</a:t>
                </a:r>
                <a:endParaRPr lang="pl-PL" dirty="0">
                  <a:latin typeface="Consolas" panose="020B0609020204030204" pitchFamily="49" charset="0"/>
                  <a:cs typeface="Consolas" panose="020B0609020204030204" pitchFamily="49" charset="0"/>
                </a:endParaRPr>
              </a:p>
            </p:txBody>
          </p:sp>
          <p:cxnSp>
            <p:nvCxnSpPr>
              <p:cNvPr id="55" name="Straight Connector 54"/>
              <p:cNvCxnSpPr>
                <a:stCxn id="53" idx="1"/>
              </p:cNvCxnSpPr>
              <p:nvPr/>
            </p:nvCxnSpPr>
            <p:spPr>
              <a:xfrm>
                <a:off x="3124200" y="4344889"/>
                <a:ext cx="0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>
                <a:stCxn id="53" idx="3"/>
              </p:cNvCxnSpPr>
              <p:nvPr/>
            </p:nvCxnSpPr>
            <p:spPr>
              <a:xfrm>
                <a:off x="4413600" y="4344889"/>
                <a:ext cx="1588" cy="640377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124200" y="4648200"/>
                <a:ext cx="1295400" cy="1588"/>
              </a:xfrm>
              <a:prstGeom prst="line">
                <a:avLst/>
              </a:prstGeom>
              <a:ln>
                <a:solidFill>
                  <a:schemeClr val="tx2">
                    <a:lumMod val="75000"/>
                  </a:schemeClr>
                </a:solidFill>
                <a:headEnd type="arrow" w="lg" len="med"/>
                <a:tailEnd type="arrow" w="lg" len="med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Rectangle 43"/>
          <p:cNvSpPr/>
          <p:nvPr/>
        </p:nvSpPr>
        <p:spPr>
          <a:xfrm>
            <a:off x="7270750" y="4518210"/>
            <a:ext cx="1447800" cy="685800"/>
          </a:xfrm>
          <a:prstGeom prst="rect">
            <a:avLst/>
          </a:prstGeom>
          <a:noFill/>
          <a:ln w="28575" cmpd="sng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43" name="Straight Connector 42"/>
          <p:cNvCxnSpPr/>
          <p:nvPr/>
        </p:nvCxnSpPr>
        <p:spPr>
          <a:xfrm flipH="1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rot="10800000" flipV="1">
            <a:off x="7086600" y="4442010"/>
            <a:ext cx="1828800" cy="838200"/>
          </a:xfrm>
          <a:prstGeom prst="line">
            <a:avLst/>
          </a:prstGeom>
          <a:ln w="38100" cmpd="sng">
            <a:solidFill>
              <a:srgbClr val="FF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2769481" y="4465346"/>
            <a:ext cx="2685177" cy="830997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We c</a:t>
            </a:r>
            <a:r>
              <a:rPr lang="en-US" sz="1600" b="1" dirty="0">
                <a:solidFill>
                  <a:schemeClr val="bg1"/>
                </a:solidFill>
              </a:rPr>
              <a:t>annot store a halfword at address 0x20000001.</a:t>
            </a:r>
          </a:p>
        </p:txBody>
      </p:sp>
      <p:sp>
        <p:nvSpPr>
          <p:cNvPr id="54" name="Content Placeholder 2"/>
          <p:cNvSpPr>
            <a:spLocks noGrp="1"/>
          </p:cNvSpPr>
          <p:nvPr>
            <p:ph sz="quarter" idx="1"/>
          </p:nvPr>
        </p:nvSpPr>
        <p:spPr>
          <a:xfrm>
            <a:off x="142043" y="1219200"/>
            <a:ext cx="5768301" cy="4937760"/>
          </a:xfrm>
        </p:spPr>
        <p:txBody>
          <a:bodyPr>
            <a:normAutofit/>
          </a:bodyPr>
          <a:lstStyle/>
          <a:p>
            <a:pPr lvl="1"/>
            <a:r>
              <a:rPr lang="en-US" sz="2000" dirty="0"/>
              <a:t>Can you store a halfword anywhere?  </a:t>
            </a:r>
            <a:r>
              <a:rPr lang="en-US" sz="2000" b="1" dirty="0">
                <a:solidFill>
                  <a:schemeClr val="accent2"/>
                </a:solidFill>
              </a:rPr>
              <a:t>NO.</a:t>
            </a:r>
          </a:p>
          <a:p>
            <a:pPr lvl="1"/>
            <a:r>
              <a:rPr lang="en-US" sz="2000" dirty="0"/>
              <a:t>A halfword can only be stored at an address that's divisible by 2.</a:t>
            </a:r>
          </a:p>
          <a:p>
            <a:pPr lvl="1"/>
            <a:r>
              <a:rPr lang="en-US" sz="2000" dirty="0"/>
              <a:t>Memory address of a halfword is the lowest address of its two bytes.</a:t>
            </a:r>
          </a:p>
          <a:p>
            <a:pPr lvl="1"/>
            <a:endParaRPr lang="en-US" sz="2000" dirty="0"/>
          </a:p>
          <a:p>
            <a:pPr lvl="1"/>
            <a:endParaRPr lang="en-US" sz="2000" b="1" dirty="0">
              <a:solidFill>
                <a:schemeClr val="accent2"/>
              </a:solidFill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290989" y="3025517"/>
            <a:ext cx="516366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ctr"/>
            <a:r>
              <a:rPr lang="en-US" sz="2100" dirty="0" err="1"/>
              <a:t>Halfword</a:t>
            </a:r>
            <a:r>
              <a:rPr lang="en-US" sz="2100" dirty="0"/>
              <a:t>-address mod 2 = 0</a:t>
            </a:r>
          </a:p>
        </p:txBody>
      </p:sp>
    </p:spTree>
    <p:extLst>
      <p:ext uri="{BB962C8B-B14F-4D97-AF65-F5344CB8AC3E}">
        <p14:creationId xmlns:p14="http://schemas.microsoft.com/office/powerpoint/2010/main" val="29637677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02301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Typically, Barrel shifters are implemented as a cascade of parallel 2-to-1 multiplexers. 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38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955595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610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01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643477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>
                          <a:solidFill>
                            <a:schemeClr val="tx1"/>
                          </a:solidFill>
                          <a:effectLst/>
                        </a:rPr>
                        <a:t>1</a:t>
                      </a:r>
                      <a:endParaRPr lang="en-US" sz="180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chemeClr val="tx1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chemeClr val="tx1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chemeClr val="tx1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00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700696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2954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10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Implementation of Barrel Shifter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/>
          </a:p>
        </p:txBody>
      </p:sp>
      <p:sp>
        <p:nvSpPr>
          <p:cNvPr id="4" name="Rectangle 3"/>
          <p:cNvSpPr/>
          <p:nvPr/>
        </p:nvSpPr>
        <p:spPr>
          <a:xfrm>
            <a:off x="235826" y="5117068"/>
            <a:ext cx="57912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Example four-bit Barrel shifter that performs </a:t>
            </a:r>
            <a:r>
              <a:rPr lang="en-US" b="1" dirty="0"/>
              <a:t>rotate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0145348"/>
              </p:ext>
            </p:extLst>
          </p:nvPr>
        </p:nvGraphicFramePr>
        <p:xfrm>
          <a:off x="6248400" y="2418965"/>
          <a:ext cx="2590800" cy="2045730"/>
        </p:xfrm>
        <a:graphic>
          <a:graphicData uri="http://schemas.openxmlformats.org/drawingml/2006/table">
            <a:tbl>
              <a:tblPr firstRow="1" firstCol="1" bandRow="1">
                <a:tableStyleId>{B301B821-A1FF-4177-AEE7-76D212191A09}</a:tableStyleId>
              </a:tblPr>
              <a:tblGrid>
                <a:gridCol w="4179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389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1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S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3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Y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0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endParaRPr lang="en-US" sz="1800" b="1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1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0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effectLst/>
                        </a:rPr>
                        <a:t>3</a:t>
                      </a:r>
                      <a:endParaRPr lang="en-US" sz="1800" dirty="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>
                          <a:effectLst/>
                        </a:rPr>
                        <a:t>D</a:t>
                      </a:r>
                      <a:r>
                        <a:rPr lang="en-US" sz="1800" baseline="-25000">
                          <a:effectLst/>
                        </a:rPr>
                        <a:t>2</a:t>
                      </a:r>
                      <a:endParaRPr lang="en-US" sz="1800"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914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b="1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1</a:t>
                      </a:r>
                      <a:endParaRPr lang="en-US" sz="1800" b="1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2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1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0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solidFill>
                            <a:srgbClr val="FF0000"/>
                          </a:solidFill>
                          <a:effectLst/>
                        </a:rPr>
                        <a:t>D</a:t>
                      </a:r>
                      <a:r>
                        <a:rPr lang="en-US" sz="1800" baseline="-25000" dirty="0" err="1">
                          <a:solidFill>
                            <a:srgbClr val="FF0000"/>
                          </a:solidFill>
                          <a:effectLst/>
                        </a:rPr>
                        <a:t>3</a:t>
                      </a:r>
                      <a:endParaRPr lang="en-US" sz="1800" dirty="0">
                        <a:solidFill>
                          <a:srgbClr val="FF0000"/>
                        </a:solidFill>
                        <a:effectLst/>
                        <a:latin typeface="Consolas" panose="020B0609020204030204" pitchFamily="49" charset="0"/>
                        <a:ea typeface="宋体"/>
                        <a:cs typeface="Consolas" panose="020B0609020204030204" pitchFamily="49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1371600"/>
            <a:ext cx="81534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Example: 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baseline="-25000" dirty="0" err="1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11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21" y="2179314"/>
            <a:ext cx="5611379" cy="2773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76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 Pseudo-instruction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>
                <a:latin typeface="Consolas" panose="020B0609020204030204" pitchFamily="49" charset="0"/>
              </a:rPr>
              <a:t>ADR</a:t>
            </a:r>
            <a:r>
              <a:rPr lang="en-US" dirty="0"/>
              <a:t>: loads a program-relative or register-relative address into a register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524000" y="3124200"/>
            <a:ext cx="5715000" cy="73866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start  MOV r0,#10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ADR r4,start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32-bit instruction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          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=&gt; </a:t>
            </a:r>
            <a:r>
              <a:rPr lang="en-US" dirty="0">
                <a:solidFill>
                  <a:srgbClr val="0041FF"/>
                </a:solidFill>
                <a:latin typeface="Consolas" panose="020B0609020204030204" pitchFamily="49" charset="0"/>
              </a:rPr>
              <a:t>SUB r4,pc,#0xc</a:t>
            </a:r>
          </a:p>
        </p:txBody>
      </p:sp>
    </p:spTree>
    <p:extLst>
      <p:ext uri="{BB962C8B-B14F-4D97-AF65-F5344CB8AC3E}">
        <p14:creationId xmlns:p14="http://schemas.microsoft.com/office/powerpoint/2010/main" val="36869485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24" y="3086370"/>
            <a:ext cx="8631751" cy="685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4306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Left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33400" y="1447800"/>
            <a:ext cx="3123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Left by 3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0985"/>
            <a:ext cx="9144000" cy="29232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08398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777" y="2940435"/>
            <a:ext cx="8644445" cy="97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10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64-bit Logic Shift Right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228600" y="1371600"/>
            <a:ext cx="32457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Logic Shift Right by 3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295526"/>
            <a:ext cx="9100256" cy="2581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123907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E58F7-DD2C-7131-891F-4C21E8AC6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341" y="-457200"/>
            <a:ext cx="8839201" cy="914400"/>
          </a:xfrm>
        </p:spPr>
        <p:txBody>
          <a:bodyPr>
            <a:normAutofit/>
          </a:bodyPr>
          <a:lstStyle/>
          <a:p>
            <a:r>
              <a:rPr lang="en-US" sz="1800" dirty="0"/>
              <a:t>ARM Register Conventions (APCS-Application Procedure Call Standard)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2A9D7B4-1C12-419A-88B5-D188777C0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953B4AB-BCAF-439D-6351-9E157BE57934}"/>
              </a:ext>
            </a:extLst>
          </p:cNvPr>
          <p:cNvGraphicFramePr>
            <a:graphicFrameLocks noGrp="1"/>
          </p:cNvGraphicFramePr>
          <p:nvPr/>
        </p:nvGraphicFramePr>
        <p:xfrm>
          <a:off x="152399" y="616234"/>
          <a:ext cx="8839201" cy="61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2134">
                  <a:extLst>
                    <a:ext uri="{9D8B030D-6E8A-4147-A177-3AD203B41FA5}">
                      <a16:colId xmlns:a16="http://schemas.microsoft.com/office/drawing/2014/main" val="200291306"/>
                    </a:ext>
                  </a:extLst>
                </a:gridCol>
                <a:gridCol w="846667">
                  <a:extLst>
                    <a:ext uri="{9D8B030D-6E8A-4147-A177-3AD203B41FA5}">
                      <a16:colId xmlns:a16="http://schemas.microsoft.com/office/drawing/2014/main" val="1765130036"/>
                    </a:ext>
                  </a:extLst>
                </a:gridCol>
                <a:gridCol w="3654778">
                  <a:extLst>
                    <a:ext uri="{9D8B030D-6E8A-4147-A177-3AD203B41FA5}">
                      <a16:colId xmlns:a16="http://schemas.microsoft.com/office/drawing/2014/main" val="87492144"/>
                    </a:ext>
                  </a:extLst>
                </a:gridCol>
                <a:gridCol w="3355622">
                  <a:extLst>
                    <a:ext uri="{9D8B030D-6E8A-4147-A177-3AD203B41FA5}">
                      <a16:colId xmlns:a16="http://schemas.microsoft.com/office/drawing/2014/main" val="314569210"/>
                    </a:ext>
                  </a:extLst>
                </a:gridCol>
              </a:tblGrid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Reg. </a:t>
                      </a:r>
                    </a:p>
                    <a:p>
                      <a:r>
                        <a:rPr lang="en-US" sz="1600" dirty="0"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APCS</a:t>
                      </a:r>
                    </a:p>
                    <a:p>
                      <a:r>
                        <a:rPr lang="en-US" sz="1600" dirty="0"/>
                        <a:t>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Role in Procedure Calls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Comments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1678385"/>
                  </a:ext>
                </a:extLst>
              </a:tr>
              <a:tr h="1258247">
                <a:tc>
                  <a:txBody>
                    <a:bodyPr/>
                    <a:lstStyle/>
                    <a:p>
                      <a:r>
                        <a:rPr lang="en-US" sz="1600" dirty="0"/>
                        <a:t>r0 - r3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a1 - a4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First 4 arguments into a procedure / Scratch pad / Return result(s) from a function (not 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Caller-saved registers - subprogram can use them as</a:t>
                      </a:r>
                    </a:p>
                    <a:p>
                      <a:r>
                        <a:rPr lang="en-US" sz="1600" dirty="0"/>
                        <a:t> scratch registers, but it must also save any needed values</a:t>
                      </a:r>
                    </a:p>
                    <a:p>
                      <a:r>
                        <a:rPr lang="en-US" sz="1600" dirty="0"/>
                        <a:t> before calling another subprogram.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1341079"/>
                  </a:ext>
                </a:extLst>
              </a:tr>
              <a:tr h="1492339">
                <a:tc>
                  <a:txBody>
                    <a:bodyPr/>
                    <a:lstStyle/>
                    <a:p>
                      <a:r>
                        <a:rPr lang="en-US" sz="1600" dirty="0"/>
                        <a:t>r4 - r8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v1 - v5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Register Variables (preserved across 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registers - it can rely on an subprogram it calls not to change them (so a subprogram wishing to use these registers must save them on entry and restore them before it exits)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1379333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r9 – r12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Details omitted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9102704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fp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Frame pointer (if used) / Register Variable (preserved across call)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Callee-saved register - pointer to bottom of call-frame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22358629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sp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Stack pointer - points to the top of the stack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525502"/>
                  </a:ext>
                </a:extLst>
              </a:tr>
              <a:tr h="555970">
                <a:tc>
                  <a:txBody>
                    <a:bodyPr/>
                    <a:lstStyle/>
                    <a:p>
                      <a:r>
                        <a:rPr lang="en-US" sz="1600" dirty="0"/>
                        <a:t>r14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lr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Link register - holds the return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Receives return address on BL call to procedure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203286"/>
                  </a:ext>
                </a:extLst>
              </a:tr>
              <a:tr h="356016">
                <a:tc>
                  <a:txBody>
                    <a:bodyPr/>
                    <a:lstStyle/>
                    <a:p>
                      <a:r>
                        <a:rPr lang="en-US" sz="1600" dirty="0"/>
                        <a:t>r15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Program 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1550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85420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3112</TotalTime>
  <Words>1384</Words>
  <Application>Microsoft Office PowerPoint</Application>
  <PresentationFormat>On-screen Show (4:3)</PresentationFormat>
  <Paragraphs>325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6" baseType="lpstr">
      <vt:lpstr>Bookman Old Style (Headings)</vt:lpstr>
      <vt:lpstr>Gill Sans Light</vt:lpstr>
      <vt:lpstr>Bookman Old Style</vt:lpstr>
      <vt:lpstr>Calibri</vt:lpstr>
      <vt:lpstr>Consolas</vt:lpstr>
      <vt:lpstr>Gill Sans MT</vt:lpstr>
      <vt:lpstr>Wingdings</vt:lpstr>
      <vt:lpstr>Wingdings 3</vt:lpstr>
      <vt:lpstr>Origin</vt:lpstr>
      <vt:lpstr>Zonghua Gu</vt:lpstr>
      <vt:lpstr>NZCV Flags in xPSR</vt:lpstr>
      <vt:lpstr>Example 1: Greatest Common Divider (GCD)</vt:lpstr>
      <vt:lpstr>GCD</vt:lpstr>
      <vt:lpstr>Logic View of Memory</vt:lpstr>
      <vt:lpstr>Logic View of Memory</vt:lpstr>
      <vt:lpstr>Implementation of Barrel Shifter</vt:lpstr>
      <vt:lpstr>Implementation of Barrel Shifter</vt:lpstr>
      <vt:lpstr>Implementation of Barrel Shifter</vt:lpstr>
      <vt:lpstr>Implementation of Barrel Shifter</vt:lpstr>
      <vt:lpstr>Implementation of Barrel Shifter</vt:lpstr>
      <vt:lpstr>ADR Pseudo-instruction</vt:lpstr>
      <vt:lpstr>64-bit Logic Shift Left</vt:lpstr>
      <vt:lpstr>64-bit Logic Shift Left</vt:lpstr>
      <vt:lpstr>64-bit Logic Shift Right</vt:lpstr>
      <vt:lpstr>64-bit Logic Shift Right</vt:lpstr>
      <vt:lpstr>ARM Register Conventions (APCS-Application Procedure Call Standard)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345</cp:revision>
  <dcterms:created xsi:type="dcterms:W3CDTF">2014-02-05T02:41:42Z</dcterms:created>
  <dcterms:modified xsi:type="dcterms:W3CDTF">2025-10-02T21:43:07Z</dcterms:modified>
</cp:coreProperties>
</file>