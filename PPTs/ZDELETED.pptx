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5"/>
  </p:notesMasterIdLst>
  <p:sldIdLst>
    <p:sldId id="256" r:id="rId3"/>
    <p:sldId id="300" r:id="rId4"/>
    <p:sldId id="344" r:id="rId5"/>
    <p:sldId id="383" r:id="rId6"/>
    <p:sldId id="381" r:id="rId7"/>
    <p:sldId id="335" r:id="rId8"/>
    <p:sldId id="813" r:id="rId9"/>
    <p:sldId id="475" r:id="rId10"/>
    <p:sldId id="473" r:id="rId11"/>
    <p:sldId id="306" r:id="rId12"/>
    <p:sldId id="322" r:id="rId13"/>
    <p:sldId id="323" r:id="rId14"/>
    <p:sldId id="325" r:id="rId15"/>
    <p:sldId id="324" r:id="rId16"/>
    <p:sldId id="525" r:id="rId17"/>
    <p:sldId id="261" r:id="rId18"/>
    <p:sldId id="264" r:id="rId19"/>
    <p:sldId id="262" r:id="rId20"/>
    <p:sldId id="265" r:id="rId21"/>
    <p:sldId id="379" r:id="rId22"/>
    <p:sldId id="320" r:id="rId23"/>
    <p:sldId id="319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B15ED0-6DB4-4108-82C9-64F0E8E52BFB}" v="16" dt="2025-10-10T11:27:54.4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6" autoAdjust="0"/>
    <p:restoredTop sz="93609"/>
  </p:normalViewPr>
  <p:slideViewPr>
    <p:cSldViewPr>
      <p:cViewPr varScale="1">
        <p:scale>
          <a:sx n="77" d="100"/>
          <a:sy n="77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custSel addSld delSld modSld">
      <pc:chgData name="Zonghua Gu" userId="9a7e1853e1951ef5" providerId="LiveId" clId="{CF1FAA12-072C-4ED5-BA76-0FFFAEFDB88A}" dt="2025-10-10T11:27:54.468" v="32"/>
      <pc:docMkLst>
        <pc:docMk/>
      </pc:docMkLst>
      <pc:sldChg chg="addSp modSp mod">
        <pc:chgData name="Zonghua Gu" userId="9a7e1853e1951ef5" providerId="LiveId" clId="{CF1FAA12-072C-4ED5-BA76-0FFFAEFDB88A}" dt="2025-09-16T21:27:48.835" v="8" actId="20577"/>
        <pc:sldMkLst>
          <pc:docMk/>
          <pc:sldMk cId="1227639730" sldId="256"/>
        </pc:sldMkLst>
        <pc:spChg chg="mod">
          <ac:chgData name="Zonghua Gu" userId="9a7e1853e1951ef5" providerId="LiveId" clId="{CF1FAA12-072C-4ED5-BA76-0FFFAEFDB88A}" dt="2025-09-16T21:27:44.448" v="3"/>
          <ac:spMkLst>
            <pc:docMk/>
            <pc:sldMk cId="1227639730" sldId="256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09-16T21:27:48.835" v="8" actId="20577"/>
          <ac:spMkLst>
            <pc:docMk/>
            <pc:sldMk cId="1227639730" sldId="256"/>
            <ac:spMk id="3" creationId="{00000000-0000-0000-0000-000000000000}"/>
          </ac:spMkLst>
        </pc:spChg>
        <pc:spChg chg="add mod">
          <ac:chgData name="Zonghua Gu" userId="9a7e1853e1951ef5" providerId="LiveId" clId="{CF1FAA12-072C-4ED5-BA76-0FFFAEFDB88A}" dt="2025-09-16T21:27:38.538" v="2" actId="1076"/>
          <ac:spMkLst>
            <pc:docMk/>
            <pc:sldMk cId="1227639730" sldId="256"/>
            <ac:spMk id="7" creationId="{04F69590-944C-2F0D-5FE5-A89C06E0D2BF}"/>
          </ac:spMkLst>
        </pc:spChg>
      </pc:sldChg>
      <pc:sldChg chg="add">
        <pc:chgData name="Zonghua Gu" userId="9a7e1853e1951ef5" providerId="LiveId" clId="{CF1FAA12-072C-4ED5-BA76-0FFFAEFDB88A}" dt="2025-09-21T23:03:14.599" v="18"/>
        <pc:sldMkLst>
          <pc:docMk/>
          <pc:sldMk cId="2714306100" sldId="261"/>
        </pc:sldMkLst>
      </pc:sldChg>
      <pc:sldChg chg="add">
        <pc:chgData name="Zonghua Gu" userId="9a7e1853e1951ef5" providerId="LiveId" clId="{CF1FAA12-072C-4ED5-BA76-0FFFAEFDB88A}" dt="2025-09-21T23:03:14.599" v="18"/>
        <pc:sldMkLst>
          <pc:docMk/>
          <pc:sldMk cId="99910597" sldId="262"/>
        </pc:sldMkLst>
      </pc:sldChg>
      <pc:sldChg chg="add">
        <pc:chgData name="Zonghua Gu" userId="9a7e1853e1951ef5" providerId="LiveId" clId="{CF1FAA12-072C-4ED5-BA76-0FFFAEFDB88A}" dt="2025-09-21T23:03:14.599" v="18"/>
        <pc:sldMkLst>
          <pc:docMk/>
          <pc:sldMk cId="1508398580" sldId="264"/>
        </pc:sldMkLst>
      </pc:sldChg>
      <pc:sldChg chg="add">
        <pc:chgData name="Zonghua Gu" userId="9a7e1853e1951ef5" providerId="LiveId" clId="{CF1FAA12-072C-4ED5-BA76-0FFFAEFDB88A}" dt="2025-09-21T23:03:14.599" v="18"/>
        <pc:sldMkLst>
          <pc:docMk/>
          <pc:sldMk cId="712390701" sldId="265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3420550765" sldId="272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2059043100" sldId="277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2290796456" sldId="279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3012842885" sldId="281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2511335096" sldId="282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3668909280" sldId="283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271435320" sldId="284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3704552365" sldId="285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3106604463" sldId="286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3646693943" sldId="287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2844324683" sldId="288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1884958220" sldId="289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29255324" sldId="291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1771709229" sldId="292"/>
        </pc:sldMkLst>
      </pc:sldChg>
      <pc:sldChg chg="modSp del mod">
        <pc:chgData name="Zonghua Gu" userId="9a7e1853e1951ef5" providerId="LiveId" clId="{CF1FAA12-072C-4ED5-BA76-0FFFAEFDB88A}" dt="2025-09-18T02:54:06.006" v="9" actId="47"/>
        <pc:sldMkLst>
          <pc:docMk/>
          <pc:sldMk cId="1337576135" sldId="293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1459654649" sldId="295"/>
        </pc:sldMkLst>
      </pc:sldChg>
      <pc:sldChg chg="add del">
        <pc:chgData name="Zonghua Gu" userId="9a7e1853e1951ef5" providerId="LiveId" clId="{CF1FAA12-072C-4ED5-BA76-0FFFAEFDB88A}" dt="2025-10-10T11:27:54.468" v="32"/>
        <pc:sldMkLst>
          <pc:docMk/>
          <pc:sldMk cId="203524775" sldId="300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2785807384" sldId="307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2644265921" sldId="312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1277304446" sldId="313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2099586659" sldId="314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430688265" sldId="315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2128225317" sldId="316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1703302262" sldId="317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2321944581" sldId="318"/>
        </pc:sldMkLst>
      </pc:sldChg>
      <pc:sldChg chg="add">
        <pc:chgData name="Zonghua Gu" userId="9a7e1853e1951ef5" providerId="LiveId" clId="{CF1FAA12-072C-4ED5-BA76-0FFFAEFDB88A}" dt="2025-10-05T19:51:37.123" v="23"/>
        <pc:sldMkLst>
          <pc:docMk/>
          <pc:sldMk cId="96042344" sldId="319"/>
        </pc:sldMkLst>
      </pc:sldChg>
      <pc:sldChg chg="add">
        <pc:chgData name="Zonghua Gu" userId="9a7e1853e1951ef5" providerId="LiveId" clId="{CF1FAA12-072C-4ED5-BA76-0FFFAEFDB88A}" dt="2025-10-05T19:51:37.123" v="23"/>
        <pc:sldMkLst>
          <pc:docMk/>
          <pc:sldMk cId="2289735267" sldId="320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3152283833" sldId="320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975851832" sldId="326"/>
        </pc:sldMkLst>
      </pc:sldChg>
      <pc:sldChg chg="new del">
        <pc:chgData name="Zonghua Gu" userId="9a7e1853e1951ef5" providerId="LiveId" clId="{CF1FAA12-072C-4ED5-BA76-0FFFAEFDB88A}" dt="2025-09-18T02:54:14.576" v="13" actId="47"/>
        <pc:sldMkLst>
          <pc:docMk/>
          <pc:sldMk cId="3087616913" sldId="326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342584573" sldId="328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2148212839" sldId="329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1380735846" sldId="330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1640407279" sldId="331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4134758979" sldId="332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45956393" sldId="333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1913135421" sldId="334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3816386607" sldId="335"/>
        </pc:sldMkLst>
      </pc:sldChg>
      <pc:sldChg chg="modSp add mod modNotes">
        <pc:chgData name="Zonghua Gu" userId="9a7e1853e1951ef5" providerId="LiveId" clId="{CF1FAA12-072C-4ED5-BA76-0FFFAEFDB88A}" dt="2025-10-10T11:25:43.471" v="29" actId="27636"/>
        <pc:sldMkLst>
          <pc:docMk/>
          <pc:sldMk cId="4015228595" sldId="335"/>
        </pc:sldMkLst>
        <pc:spChg chg="mod">
          <ac:chgData name="Zonghua Gu" userId="9a7e1853e1951ef5" providerId="LiveId" clId="{CF1FAA12-072C-4ED5-BA76-0FFFAEFDB88A}" dt="2025-10-10T11:25:43.471" v="29" actId="27636"/>
          <ac:spMkLst>
            <pc:docMk/>
            <pc:sldMk cId="4015228595" sldId="335"/>
            <ac:spMk id="16441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3525808290" sldId="336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1861246248" sldId="337"/>
        </pc:sldMkLst>
      </pc:sldChg>
      <pc:sldChg chg="del">
        <pc:chgData name="Zonghua Gu" userId="9a7e1853e1951ef5" providerId="LiveId" clId="{CF1FAA12-072C-4ED5-BA76-0FFFAEFDB88A}" dt="2025-09-18T02:54:06.006" v="9" actId="47"/>
        <pc:sldMkLst>
          <pc:docMk/>
          <pc:sldMk cId="2476710942" sldId="338"/>
        </pc:sldMkLst>
      </pc:sldChg>
      <pc:sldChg chg="del">
        <pc:chgData name="Zonghua Gu" userId="9a7e1853e1951ef5" providerId="LiveId" clId="{CF1FAA12-072C-4ED5-BA76-0FFFAEFDB88A}" dt="2025-09-18T02:54:09.106" v="10" actId="47"/>
        <pc:sldMkLst>
          <pc:docMk/>
          <pc:sldMk cId="4270472410" sldId="341"/>
        </pc:sldMkLst>
      </pc:sldChg>
      <pc:sldChg chg="del">
        <pc:chgData name="Zonghua Gu" userId="9a7e1853e1951ef5" providerId="LiveId" clId="{CF1FAA12-072C-4ED5-BA76-0FFFAEFDB88A}" dt="2025-09-18T02:54:09.106" v="10" actId="47"/>
        <pc:sldMkLst>
          <pc:docMk/>
          <pc:sldMk cId="3897190462" sldId="342"/>
        </pc:sldMkLst>
      </pc:sldChg>
      <pc:sldChg chg="del">
        <pc:chgData name="Zonghua Gu" userId="9a7e1853e1951ef5" providerId="LiveId" clId="{CF1FAA12-072C-4ED5-BA76-0FFFAEFDB88A}" dt="2025-09-18T02:54:09.106" v="10" actId="47"/>
        <pc:sldMkLst>
          <pc:docMk/>
          <pc:sldMk cId="3398840445" sldId="343"/>
        </pc:sldMkLst>
      </pc:sldChg>
      <pc:sldChg chg="del">
        <pc:chgData name="Zonghua Gu" userId="9a7e1853e1951ef5" providerId="LiveId" clId="{CF1FAA12-072C-4ED5-BA76-0FFFAEFDB88A}" dt="2025-09-18T02:54:09.106" v="10" actId="47"/>
        <pc:sldMkLst>
          <pc:docMk/>
          <pc:sldMk cId="1330855799" sldId="344"/>
        </pc:sldMkLst>
      </pc:sldChg>
      <pc:sldChg chg="add">
        <pc:chgData name="Zonghua Gu" userId="9a7e1853e1951ef5" providerId="LiveId" clId="{CF1FAA12-072C-4ED5-BA76-0FFFAEFDB88A}" dt="2025-10-10T11:25:43.432" v="28"/>
        <pc:sldMkLst>
          <pc:docMk/>
          <pc:sldMk cId="2051571543" sldId="344"/>
        </pc:sldMkLst>
      </pc:sldChg>
      <pc:sldChg chg="del">
        <pc:chgData name="Zonghua Gu" userId="9a7e1853e1951ef5" providerId="LiveId" clId="{CF1FAA12-072C-4ED5-BA76-0FFFAEFDB88A}" dt="2025-09-18T02:54:09.106" v="10" actId="47"/>
        <pc:sldMkLst>
          <pc:docMk/>
          <pc:sldMk cId="3251034726" sldId="345"/>
        </pc:sldMkLst>
      </pc:sldChg>
      <pc:sldChg chg="del">
        <pc:chgData name="Zonghua Gu" userId="9a7e1853e1951ef5" providerId="LiveId" clId="{CF1FAA12-072C-4ED5-BA76-0FFFAEFDB88A}" dt="2025-09-18T02:54:09.106" v="10" actId="47"/>
        <pc:sldMkLst>
          <pc:docMk/>
          <pc:sldMk cId="3132066556" sldId="346"/>
        </pc:sldMkLst>
      </pc:sldChg>
      <pc:sldChg chg="add">
        <pc:chgData name="Zonghua Gu" userId="9a7e1853e1951ef5" providerId="LiveId" clId="{CF1FAA12-072C-4ED5-BA76-0FFFAEFDB88A}" dt="2025-09-23T19:54:54.877" v="19"/>
        <pc:sldMkLst>
          <pc:docMk/>
          <pc:sldMk cId="397854206" sldId="379"/>
        </pc:sldMkLst>
      </pc:sldChg>
      <pc:sldChg chg="add">
        <pc:chgData name="Zonghua Gu" userId="9a7e1853e1951ef5" providerId="LiveId" clId="{CF1FAA12-072C-4ED5-BA76-0FFFAEFDB88A}" dt="2025-10-02T21:43:06.404" v="21"/>
        <pc:sldMkLst>
          <pc:docMk/>
          <pc:sldMk cId="2452138352" sldId="381"/>
        </pc:sldMkLst>
      </pc:sldChg>
      <pc:sldChg chg="add">
        <pc:chgData name="Zonghua Gu" userId="9a7e1853e1951ef5" providerId="LiveId" clId="{CF1FAA12-072C-4ED5-BA76-0FFFAEFDB88A}" dt="2025-10-02T23:51:49.400" v="22"/>
        <pc:sldMkLst>
          <pc:docMk/>
          <pc:sldMk cId="2623990252" sldId="383"/>
        </pc:sldMkLst>
      </pc:sldChg>
      <pc:sldChg chg="add del">
        <pc:chgData name="Zonghua Gu" userId="9a7e1853e1951ef5" providerId="LiveId" clId="{CF1FAA12-072C-4ED5-BA76-0FFFAEFDB88A}" dt="2025-09-18T02:55:09.669" v="16"/>
        <pc:sldMkLst>
          <pc:docMk/>
          <pc:sldMk cId="2963767799" sldId="473"/>
        </pc:sldMkLst>
      </pc:sldChg>
      <pc:sldChg chg="add">
        <pc:chgData name="Zonghua Gu" userId="9a7e1853e1951ef5" providerId="LiveId" clId="{CF1FAA12-072C-4ED5-BA76-0FFFAEFDB88A}" dt="2025-09-18T02:54:13.121" v="12"/>
        <pc:sldMkLst>
          <pc:docMk/>
          <pc:sldMk cId="2700446461" sldId="475"/>
        </pc:sldMkLst>
      </pc:sldChg>
      <pc:sldChg chg="add">
        <pc:chgData name="Zonghua Gu" userId="9a7e1853e1951ef5" providerId="LiveId" clId="{CF1FAA12-072C-4ED5-BA76-0FFFAEFDB88A}" dt="2025-09-18T21:31:24.471" v="17"/>
        <pc:sldMkLst>
          <pc:docMk/>
          <pc:sldMk cId="3686948551" sldId="525"/>
        </pc:sldMkLst>
      </pc:sldChg>
      <pc:sldChg chg="add del">
        <pc:chgData name="Zonghua Gu" userId="9a7e1853e1951ef5" providerId="LiveId" clId="{CF1FAA12-072C-4ED5-BA76-0FFFAEFDB88A}" dt="2025-10-10T11:25:42.244" v="27" actId="47"/>
        <pc:sldMkLst>
          <pc:docMk/>
          <pc:sldMk cId="4142840565" sldId="570"/>
        </pc:sldMkLst>
      </pc:sldChg>
      <pc:sldChg chg="add">
        <pc:chgData name="Zonghua Gu" userId="9a7e1853e1951ef5" providerId="LiveId" clId="{CF1FAA12-072C-4ED5-BA76-0FFFAEFDB88A}" dt="2025-09-26T22:04:43.298" v="20"/>
        <pc:sldMkLst>
          <pc:docMk/>
          <pc:sldMk cId="464193995" sldId="813"/>
        </pc:sldMkLst>
      </pc:sldChg>
      <pc:sldChg chg="new del">
        <pc:chgData name="Zonghua Gu" userId="9a7e1853e1951ef5" providerId="LiveId" clId="{CF1FAA12-072C-4ED5-BA76-0FFFAEFDB88A}" dt="2025-10-10T03:17:51.378" v="26" actId="47"/>
        <pc:sldMkLst>
          <pc:docMk/>
          <pc:sldMk cId="242439082" sldId="814"/>
        </pc:sldMkLst>
      </pc:sldChg>
      <pc:sldMasterChg chg="delSldLayout">
        <pc:chgData name="Zonghua Gu" userId="9a7e1853e1951ef5" providerId="LiveId" clId="{CF1FAA12-072C-4ED5-BA76-0FFFAEFDB88A}" dt="2025-10-10T11:25:42.244" v="27" actId="47"/>
        <pc:sldMasterMkLst>
          <pc:docMk/>
          <pc:sldMasterMk cId="0" sldId="2147483660"/>
        </pc:sldMasterMkLst>
        <pc:sldLayoutChg chg="del">
          <pc:chgData name="Zonghua Gu" userId="9a7e1853e1951ef5" providerId="LiveId" clId="{CF1FAA12-072C-4ED5-BA76-0FFFAEFDB88A}" dt="2025-10-10T11:25:42.244" v="27" actId="47"/>
          <pc:sldLayoutMkLst>
            <pc:docMk/>
            <pc:sldMasterMk cId="0" sldId="2147483660"/>
            <pc:sldLayoutMk cId="2809585536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CMP a, b computes a - b and sets flags without keeping the result. </a:t>
            </a:r>
          </a:p>
          <a:p>
            <a:r>
              <a:rPr lang="en-US" dirty="0"/>
              <a:t>For unsigned subtraction, borrow happens when a &lt; b.  ARM encodes “no borrow” (a ≥ b) as C=1, and “borrow” (a &lt; b) as C=0, while Z distinguishes equality. </a:t>
            </a:r>
          </a:p>
          <a:p>
            <a:pPr lvl="1"/>
            <a:r>
              <a:rPr lang="en-US" dirty="0"/>
              <a:t>HI (unsigned higher &gt;): the subtraction needs no borrow, so C=1, and it’s not equal, so Z=0. </a:t>
            </a:r>
          </a:p>
          <a:p>
            <a:pPr lvl="1"/>
            <a:r>
              <a:rPr lang="en-US" dirty="0"/>
              <a:t>HS/CS (higher or same/carry set ≥) : no borrow → C=1; equality allowed.</a:t>
            </a:r>
          </a:p>
          <a:p>
            <a:pPr lvl="1"/>
            <a:r>
              <a:rPr lang="en-US" dirty="0"/>
              <a:t>LO/CC (unsigned lower/carry clear &lt;): subtraction borrows → C=0. </a:t>
            </a:r>
          </a:p>
          <a:p>
            <a:pPr lvl="1"/>
            <a:r>
              <a:rPr lang="en-US" dirty="0"/>
              <a:t>LS (unsigned lower or same ≤): “lower or same” means either borrowed or equal → C=0 or Z=1. </a:t>
            </a:r>
          </a:p>
          <a:p>
            <a:r>
              <a:rPr lang="en-US" dirty="0"/>
              <a:t>For signed subtraction a - b, the sign bit N is correct if a ≥ b (no overflow, V = 0); the sign bit N is incorrect if a &lt; b (overflow, V = 1). </a:t>
            </a:r>
          </a:p>
          <a:p>
            <a:pPr lvl="1"/>
            <a:r>
              <a:rPr lang="en-US" dirty="0"/>
              <a:t>GE (signed greater or equal ≥): N == V. If there’s no overflow (V=0), non‑negative (N=0) means ≥; if there is overflow (V=1), N=1 (incorrect) also indicates the ≥ relation.</a:t>
            </a:r>
          </a:p>
          <a:p>
            <a:pPr lvl="1"/>
            <a:r>
              <a:rPr lang="en-US" dirty="0"/>
              <a:t>LT (signed less than &lt;): N != V. If there’s no overflow (V=0), negative (N=1) means &lt;; if there is overflow (V=1), N=0 (incorrect) also indicates the &lt; relation.</a:t>
            </a:r>
          </a:p>
          <a:p>
            <a:pPr lvl="1"/>
            <a:r>
              <a:rPr lang="en-US" dirty="0"/>
              <a:t>GT (signed greater than &gt;): N==V and Z=0. Strictly greater excludes equality, so combine GE with not equal.</a:t>
            </a:r>
          </a:p>
          <a:p>
            <a:pPr lvl="1"/>
            <a:r>
              <a:rPr lang="en-US" dirty="0"/>
              <a:t>LE (signed less or equal ≤): N != V or Z=1. Either strictly less, or equal.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71AD5F-E36F-46B9-A99B-7B025244359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2606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C is cleared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Times New Roman" pitchFamily="18" charset="0"/>
              </a:rPr>
              <a:t>upon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an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unsigned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 subtract if the answer is wrong</a:t>
            </a:r>
            <a:endParaRPr kumimoji="0" lang="en-US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450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https://eclecticlight.co/2021/06/23/code-in-arm-assembly-controlling-flow/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(Negative): Copies the most significant bit of the last result; 1 means the result’s sign bit is 1, which for two’s‑complement indicates a negative value in signed interpretation.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 (Zero): 1 if the result was exactly zero; otherwise 0.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(Carry): For addition, 1 means an unsigned carry out; for subtraction (a − b or CMP), 1 means “no borrow,” and 0 means a borrow occurred. For shifts/rotates, it holds the last bit shifted out.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oVerflow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1 when signed overflow occurred, i.e., the true signed result didn’t fit in the destination width (e.g., positive + positive → negative, or negative + negative → positive in 32‑bit two’s‑complement).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C=1 and Z=0 corresponds to “unsigned higher” (HI):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a CMP a, b (which computes a − b for flags), C=1 means the subtraction needed no borrow, so a ≥ b in unsigned arithmetic; Z=0 rules out equality, leaving a &gt; b. That composite condition is named HI.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646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2350" tIns="46174" rIns="92350" bIns="46174"/>
          <a:lstStyle/>
          <a:p>
            <a:endParaRPr lang="en-US" dirty="0"/>
          </a:p>
        </p:txBody>
      </p:sp>
      <p:sp>
        <p:nvSpPr>
          <p:cNvPr id="4710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863600"/>
            <a:ext cx="4403725" cy="3303588"/>
          </a:xfrm>
          <a:ln/>
        </p:spPr>
      </p:sp>
    </p:spTree>
    <p:extLst>
      <p:ext uri="{BB962C8B-B14F-4D97-AF65-F5344CB8AC3E}">
        <p14:creationId xmlns:p14="http://schemas.microsoft.com/office/powerpoint/2010/main" val="2424995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2AF1D-1787-4F45-8D94-E7435950448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58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66FEA0E-C2DF-4252-97AD-54F2B7E07EAC}" type="datetime1">
              <a:rPr lang="en-US" smtClean="0"/>
              <a:pPr eaLnBrk="1" latinLnBrk="0" hangingPunct="1"/>
              <a:t>10/10/2025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D88620-7329-4FC3-B65D-4EA691138F1B}" type="datetime1">
              <a:rPr lang="en-US" smtClean="0"/>
              <a:pPr eaLnBrk="1" latinLnBrk="0" hangingPunct="1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0E46F3A1-5653-427D-9F78-56077401431A}" type="datetime1">
              <a:rPr lang="en-US" smtClean="0"/>
              <a:pPr eaLnBrk="1" latinLnBrk="0" hangingPunct="1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67FC03-415A-45F0-B002-DF181377F7DC}" type="datetime1">
              <a:rPr lang="en-US" smtClean="0"/>
              <a:pPr eaLnBrk="1" latinLnBrk="0" hangingPunct="1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B6FC726-A0B4-4FC7-90F5-F17415A5C1A3}" type="datetime1">
              <a:rPr lang="en-US" smtClean="0"/>
              <a:pPr eaLnBrk="1" latinLnBrk="0" hangingPunct="1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217211-C3F9-4892-9CC3-C7105638567D}" type="datetime1">
              <a:rPr lang="en-US" smtClean="0"/>
              <a:pPr eaLnBrk="1" latinLnBrk="0" hangingPunct="1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A713E6A-6B26-4373-A75B-EF395DC64F9E}" type="datetime1">
              <a:rPr lang="en-US" smtClean="0"/>
              <a:pPr eaLnBrk="1" latinLnBrk="0" hangingPunct="1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7EB41EF-4260-415A-8DD6-FEDCC46E7EFC}" type="datetime1">
              <a:rPr lang="en-US" smtClean="0"/>
              <a:pPr eaLnBrk="1" latinLnBrk="0" hangingPunct="1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BDA80A0-06CC-4492-94A0-E8516751045E}" type="datetime1">
              <a:rPr lang="en-US" smtClean="0"/>
              <a:pPr eaLnBrk="1" latinLnBrk="0" hangingPunct="1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9EF9524-0CAA-4F98-BAC2-CE6B712F5E94}" type="datetime1">
              <a:rPr lang="en-US" smtClean="0"/>
              <a:pPr eaLnBrk="1" latinLnBrk="0" hangingPunct="1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20516D-6F89-4C89-8307-32A716E22875}" type="datetime1">
              <a:rPr lang="en-US" smtClean="0"/>
              <a:pPr eaLnBrk="1" latinLnBrk="0" hangingPunct="1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15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050"/>
            </a:lvl1pPr>
          </a:lstStyle>
          <a:p>
            <a:pPr eaLnBrk="1" latinLnBrk="0" hangingPunct="1"/>
            <a:fld id="{2E26774B-6488-4259-9342-6CBDB2BFD4E4}" type="datetime1">
              <a:rPr lang="en-US" smtClean="0"/>
              <a:pPr eaLnBrk="1" latinLnBrk="0" hangingPunct="1"/>
              <a:t>10/10/2025</a:t>
            </a:fld>
            <a:endParaRPr lang="en-US" sz="12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637512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0F52420-10F8-488E-969A-A9BE388BE9C4}" type="datetime1">
              <a:rPr lang="en-US" smtClean="0"/>
              <a:pPr eaLnBrk="1" latinLnBrk="0" hangingPunct="1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08204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24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96E96F24-58CF-47DA-907C-A9CD6353E425}" type="datetime1">
              <a:rPr lang="en-US" smtClean="0"/>
              <a:pPr eaLnBrk="1" latinLnBrk="0" hangingPunct="1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3101013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3AE4463-726A-4A35-9F46-98893432A3F9}" type="datetime1">
              <a:rPr lang="en-US" smtClean="0"/>
              <a:pPr eaLnBrk="1" latinLnBrk="0" hangingPunct="1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33728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1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F404D0-E306-4E90-90E3-E44D26246FFC}" type="datetime1">
              <a:rPr lang="en-US" smtClean="0"/>
              <a:pPr eaLnBrk="1" latinLnBrk="0" hangingPunct="1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412648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85DA14-76F0-4D93-83FB-7878C79A1986}" type="datetime1">
              <a:rPr lang="en-US" smtClean="0"/>
              <a:pPr eaLnBrk="1" latinLnBrk="0" hangingPunct="1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6417722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15E552D-49E1-496B-B79C-E100986B8B5F}" type="datetime1">
              <a:rPr lang="en-US" smtClean="0"/>
              <a:pPr eaLnBrk="1" latinLnBrk="0" hangingPunct="1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6705238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15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2"/>
            <a:ext cx="2514600" cy="4843463"/>
          </a:xfrm>
        </p:spPr>
        <p:txBody>
          <a:bodyPr/>
          <a:lstStyle>
            <a:lvl1pPr marL="0" indent="0">
              <a:lnSpc>
                <a:spcPts val="1650"/>
              </a:lnSpc>
              <a:spcAft>
                <a:spcPts val="750"/>
              </a:spcAft>
              <a:buNone/>
              <a:defRPr sz="1200">
                <a:solidFill>
                  <a:schemeClr val="tx2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EC72505-1551-4A98-97CD-F520B07184AD}" type="datetime1">
              <a:rPr lang="en-US" smtClean="0"/>
              <a:pPr eaLnBrk="1" latinLnBrk="0" hangingPunct="1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098133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15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450"/>
              </a:spcBef>
              <a:buNone/>
              <a:defRPr sz="24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05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218F47B-BA16-4F20-B5BA-73F598D94B51}" type="datetime1">
              <a:rPr lang="en-US" smtClean="0"/>
              <a:pPr eaLnBrk="1" latinLnBrk="0" hangingPunct="1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3625126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B2E7711-0BE3-4AFC-959B-CB5C31A7AE48}" type="datetime1">
              <a:rPr lang="en-US" smtClean="0"/>
              <a:pPr eaLnBrk="1" latinLnBrk="0" hangingPunct="1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51188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25AAB62-A572-4E37-B772-B4A75ADE0B18}" type="datetime1">
              <a:rPr lang="en-US" smtClean="0"/>
              <a:pPr eaLnBrk="1" latinLnBrk="0" hangingPunct="1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17260154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EA606C-8FDC-48DF-B809-A9223E8539C3}" type="datetime1">
              <a:rPr lang="en-US" smtClean="0"/>
              <a:pPr>
                <a:defRPr/>
              </a:pPr>
              <a:t>10/10/2025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083A4-9012-4F92-8AC9-739FC4D3B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4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25B5B4B-57EE-495D-8E74-A657CFD8BB6C}" type="datetime1">
              <a:rPr lang="en-US" smtClean="0"/>
              <a:pPr eaLnBrk="1" latinLnBrk="0" hangingPunct="1"/>
              <a:t>10/10/2025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4F3CB514-9CA6-4E48-9463-A430D31CFDE3}" type="datetime1">
              <a:rPr lang="en-US" smtClean="0"/>
              <a:pPr eaLnBrk="1" latinLnBrk="0" hangingPunct="1"/>
              <a:t>10/10/2025</a:t>
            </a:fld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05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3045698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5740" indent="-205740" algn="l" rtl="0" eaLnBrk="1" latinLnBrk="0" hangingPunct="1">
        <a:spcBef>
          <a:spcPts val="450"/>
        </a:spcBef>
        <a:buClr>
          <a:schemeClr val="accent1"/>
        </a:buClr>
        <a:buSzPct val="76000"/>
        <a:buFont typeface="Wingdings 3"/>
        <a:buChar char=""/>
        <a:defRPr kumimoji="0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205740" algn="l" rtl="0" eaLnBrk="1" latinLnBrk="0" hangingPunct="1">
        <a:spcBef>
          <a:spcPts val="375"/>
        </a:spcBef>
        <a:buClr>
          <a:schemeClr val="accent2"/>
        </a:buClr>
        <a:buSzPct val="76000"/>
        <a:buFont typeface="Wingdings 3"/>
        <a:buChar char=""/>
        <a:defRPr kumimoji="0" sz="1725" kern="1200">
          <a:solidFill>
            <a:schemeClr val="tx2"/>
          </a:solidFill>
          <a:latin typeface="+mn-lt"/>
          <a:ea typeface="+mn-ea"/>
          <a:cs typeface="+mn-cs"/>
        </a:defRPr>
      </a:lvl2pPr>
      <a:lvl3pPr marL="617220" indent="-171450" algn="l" rtl="0" eaLnBrk="1" latinLnBrk="0" hangingPunct="1">
        <a:spcBef>
          <a:spcPts val="375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17145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71450" algn="l" rtl="0" eaLnBrk="1" latinLnBrk="0" hangingPunct="1">
        <a:spcBef>
          <a:spcPts val="225"/>
        </a:spcBef>
        <a:buClr>
          <a:schemeClr val="accent2"/>
        </a:buClr>
        <a:buSzPct val="70000"/>
        <a:buFont typeface="Wingdings"/>
        <a:buChar char="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34440" indent="-137160" algn="l" rtl="0" eaLnBrk="1" latinLnBrk="0" hangingPunct="1">
        <a:spcBef>
          <a:spcPts val="225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-137160" algn="l" rtl="0" eaLnBrk="1" latinLnBrk="0" hangingPunct="1">
        <a:spcBef>
          <a:spcPts val="225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37160" algn="l" rtl="0" eaLnBrk="1" latinLnBrk="0" hangingPunct="1">
        <a:spcBef>
          <a:spcPts val="225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37160" algn="l" rtl="0" eaLnBrk="1" latinLnBrk="0" hangingPunct="1">
        <a:spcBef>
          <a:spcPts val="225"/>
        </a:spcBef>
        <a:buClr>
          <a:srgbClr val="9FB8CD"/>
        </a:buClr>
        <a:buSzPct val="75000"/>
        <a:buFont typeface="Wingdings 3"/>
        <a:buChar char=""/>
        <a:defRPr kumimoji="0" lang="en-US" sz="9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Zonghua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5175" y="1828800"/>
            <a:ext cx="58142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Arithmetic and Logic Instructions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69590-944C-2F0D-5FE5-A89C06E0D2BF}"/>
              </a:ext>
            </a:extLst>
          </p:cNvPr>
          <p:cNvSpPr txBox="1"/>
          <p:nvPr/>
        </p:nvSpPr>
        <p:spPr>
          <a:xfrm>
            <a:off x="709138" y="6355080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Signed Comparison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EA7C8D44-3667-46F6-9772-CC52308E2A7F}" type="slidenum">
              <a:rPr lang="en-US">
                <a:solidFill>
                  <a:srgbClr val="1F497D"/>
                </a:solidFill>
                <a:latin typeface="Gill Sans MT"/>
              </a:rPr>
              <a:pPr defTabSz="685800"/>
              <a:t>2</a:t>
            </a:fld>
            <a:endParaRPr lang="en-US" dirty="0">
              <a:solidFill>
                <a:srgbClr val="1F497D"/>
              </a:solidFill>
              <a:latin typeface="Gill Sans M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57301" y="2256399"/>
          <a:ext cx="6572251" cy="29794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5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6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N = 0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N = 1</a:t>
                      </a:r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543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0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No</a:t>
                      </a:r>
                      <a:r>
                        <a:rPr lang="en-US" sz="1400" baseline="0" dirty="0"/>
                        <a:t> overflow, implying the result is correct. 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400" baseline="0" dirty="0"/>
                        <a:t>The result is non-negative, 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400" baseline="0" dirty="0"/>
                        <a:t>Thus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– r1 ≥ 0</a:t>
                      </a:r>
                      <a:r>
                        <a:rPr lang="en-US" sz="1400" baseline="0" dirty="0"/>
                        <a:t>, i.e.,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≥ r1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No overflow, implying the result is correct.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The</a:t>
                      </a:r>
                      <a:r>
                        <a:rPr lang="en-US" sz="1400" baseline="0" dirty="0"/>
                        <a:t> result is</a:t>
                      </a:r>
                      <a:r>
                        <a:rPr lang="en-US" sz="1400" dirty="0"/>
                        <a:t> negative</a:t>
                      </a:r>
                      <a:r>
                        <a:rPr lang="en-US" sz="1400" baseline="0" dirty="0"/>
                        <a:t>.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400" baseline="0" dirty="0"/>
                        <a:t>Thus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– r1 &lt; 0</a:t>
                      </a:r>
                      <a:r>
                        <a:rPr lang="en-US" sz="1400" baseline="0" dirty="0"/>
                        <a:t>, i.e.,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&lt; r1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1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O</a:t>
                      </a:r>
                      <a:r>
                        <a:rPr lang="en-US" sz="1400" baseline="0" dirty="0"/>
                        <a:t>verflow occurs, implying the result is incorrect.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/>
                        <a:t>The result is mistakenly reported as non-negative and in fact it should be negative.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/>
                        <a:t>Thus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– r1 &lt; 0 </a:t>
                      </a:r>
                      <a:r>
                        <a:rPr lang="en-US" sz="1400" baseline="0" dirty="0"/>
                        <a:t>in reality, i.e.,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&lt; r1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O</a:t>
                      </a:r>
                      <a:r>
                        <a:rPr lang="en-US" sz="1400" baseline="0" dirty="0"/>
                        <a:t>verflow occurs, implying the result is incorrect.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/>
                        <a:t>The result is mistakenly reported as negative and in fact it should be non-negative.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400" baseline="0" dirty="0"/>
                        <a:t>Thus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– r1 ≥ 0 </a:t>
                      </a:r>
                      <a:r>
                        <a:rPr lang="en-US" sz="1400" baseline="0" dirty="0"/>
                        <a:t>in reality., i.e.  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≥ r1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43051" y="1771651"/>
            <a:ext cx="411394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 r0, r1</a:t>
            </a:r>
          </a:p>
          <a:p>
            <a:pPr defTabSz="685800"/>
            <a:r>
              <a:rPr lang="en-US" sz="1350" dirty="0">
                <a:solidFill>
                  <a:prstClr val="black"/>
                </a:solidFill>
                <a:latin typeface="Gill Sans MT"/>
              </a:rPr>
              <a:t>perform subtraction </a:t>
            </a:r>
            <a:r>
              <a:rPr lang="en-US" sz="1350" dirty="0">
                <a:solidFill>
                  <a:prstClr val="black"/>
                </a:solidFill>
                <a:latin typeface="Consolas" panose="020B0609020204030204" pitchFamily="49" charset="0"/>
              </a:rPr>
              <a:t>r0 – r1</a:t>
            </a:r>
            <a:r>
              <a:rPr lang="en-US" sz="1350" dirty="0">
                <a:solidFill>
                  <a:prstClr val="black"/>
                </a:solidFill>
                <a:latin typeface="Gill Sans MT"/>
              </a:rPr>
              <a:t>, without saving the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3050" y="5011520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Gill Sans MT"/>
              </a:rPr>
              <a:t>Conclusions:</a:t>
            </a:r>
          </a:p>
          <a:p>
            <a:pPr marL="214313" indent="-214313" defTabSz="685800">
              <a:buFont typeface="Arial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Gill Sans MT"/>
              </a:rPr>
              <a:t>If N == V, then it is signed greater or equal (GE).</a:t>
            </a:r>
          </a:p>
          <a:p>
            <a:pPr marL="214313" indent="-214313" defTabSz="685800">
              <a:buFont typeface="Arial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Gill Sans MT"/>
              </a:rPr>
              <a:t>Otherwise, it is signed less than (LT)</a:t>
            </a:r>
          </a:p>
        </p:txBody>
      </p:sp>
    </p:spTree>
    <p:extLst>
      <p:ext uri="{BB962C8B-B14F-4D97-AF65-F5344CB8AC3E}">
        <p14:creationId xmlns:p14="http://schemas.microsoft.com/office/powerpoint/2010/main" val="203524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Signed Comparison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57301" y="2256398"/>
          <a:ext cx="6572251" cy="2737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5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6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N = 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N = 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543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0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≥ r1</a:t>
                      </a:r>
                    </a:p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  <a:cs typeface="Times New Roman" pitchFamily="18" charset="0"/>
                        </a:rPr>
                        <a:t>CMP returns 1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&lt; r1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  <a:cs typeface="Times New Roman" pitchFamily="18" charset="0"/>
                        </a:rPr>
                        <a:t>CMP returns 0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96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1</a:t>
                      </a: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&lt; r1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  <a:cs typeface="Times New Roman" pitchFamily="18" charset="0"/>
                        </a:rPr>
                        <a:t>CMP returns 0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r0 ≥ r1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Consolas" panose="020B0609020204030204" pitchFamily="49" charset="0"/>
                          <a:cs typeface="Times New Roman" pitchFamily="18" charset="0"/>
                        </a:rPr>
                        <a:t>CMP returns 1</a:t>
                      </a:r>
                      <a:endParaRPr lang="en-US" sz="1400" dirty="0"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68580" marR="68580" marT="34290" marB="3429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43051" y="1771651"/>
            <a:ext cx="411394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 r0, r1</a:t>
            </a:r>
          </a:p>
          <a:p>
            <a:r>
              <a:rPr lang="en-US" sz="1350" dirty="0"/>
              <a:t>perform subtraction </a:t>
            </a:r>
            <a:r>
              <a:rPr lang="en-US" sz="1350" dirty="0">
                <a:latin typeface="Consolas" panose="020B0609020204030204" pitchFamily="49" charset="0"/>
              </a:rPr>
              <a:t>r0 – r1</a:t>
            </a:r>
            <a:r>
              <a:rPr lang="en-US" sz="1350" dirty="0"/>
              <a:t>, without saving the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3050" y="5011520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Conclusions:</a:t>
            </a:r>
          </a:p>
          <a:p>
            <a:pPr marL="214313" indent="-214313">
              <a:buFont typeface="Arial" pitchFamily="34" charset="0"/>
              <a:buChar char="•"/>
            </a:pPr>
            <a:r>
              <a:rPr lang="en-US" sz="1200" dirty="0"/>
              <a:t>If N == V, then it is signed greater or equal (GE).</a:t>
            </a:r>
          </a:p>
          <a:p>
            <a:pPr marL="214313" indent="-214313">
              <a:buFont typeface="Arial" pitchFamily="34" charset="0"/>
              <a:buChar char="•"/>
            </a:pPr>
            <a:r>
              <a:rPr lang="en-US" sz="1200" dirty="0"/>
              <a:t>Otherwise, it is signed less than (LT)</a:t>
            </a:r>
          </a:p>
        </p:txBody>
      </p:sp>
    </p:spTree>
    <p:extLst>
      <p:ext uri="{BB962C8B-B14F-4D97-AF65-F5344CB8AC3E}">
        <p14:creationId xmlns:p14="http://schemas.microsoft.com/office/powerpoint/2010/main" val="2051571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745" y="39747"/>
            <a:ext cx="8229600" cy="990600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Gill Sans MT"/>
                <a:cs typeface="Times New Roman" pitchFamily="18" charset="0"/>
              </a:rPr>
              <a:t>Summary of Carry and Overflow Flags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6C4D0-D1DD-434F-9E39-17578F101405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323586" name="Date Placeholder 3"/>
          <p:cNvSpPr txBox="1">
            <a:spLocks noGrp="1"/>
          </p:cNvSpPr>
          <p:nvPr/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23587" name="Slide Number Placeholder 5"/>
          <p:cNvSpPr txBox="1">
            <a:spLocks noGrp="1"/>
          </p:cNvSpPr>
          <p:nvPr/>
        </p:nvSpPr>
        <p:spPr bwMode="auto">
          <a:xfrm>
            <a:off x="6553200" y="5864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3D14BE-FE52-4332-969F-3696FB65ED39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609600" y="3370151"/>
            <a:ext cx="8083550" cy="2354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Carry flag C = 1 upon an </a:t>
            </a:r>
            <a:r>
              <a:rPr kumimoji="0" lang="en-US" b="1" i="0" u="sng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unsigned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 addition if the answer is wrong (true result &gt; 2</a:t>
            </a:r>
            <a:r>
              <a:rPr kumimoji="0" lang="en-US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-1)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</a:t>
            </a:r>
            <a:r>
              <a:rPr lang="en-US" b="0" dirty="0">
                <a:solidFill>
                  <a:prstClr val="black"/>
                </a:solidFill>
                <a:latin typeface="Gill Sans MT"/>
              </a:rPr>
              <a:t>C = 0 (Borrow flag = 1) 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</a:t>
            </a:r>
            <a:r>
              <a:rPr lang="en-US" b="0" dirty="0">
                <a:solidFill>
                  <a:prstClr val="black"/>
                </a:solidFill>
                <a:latin typeface="Gill Sans MT"/>
              </a:rPr>
              <a:t>an </a:t>
            </a:r>
            <a:r>
              <a:rPr lang="en-US" u="sng" dirty="0">
                <a:solidFill>
                  <a:srgbClr val="800000"/>
                </a:solidFill>
                <a:latin typeface="Gill Sans MT"/>
              </a:rPr>
              <a:t>unsigned</a:t>
            </a:r>
            <a:r>
              <a:rPr lang="en-US" b="0" dirty="0">
                <a:solidFill>
                  <a:prstClr val="black"/>
                </a:solidFill>
                <a:latin typeface="Gill Sans MT"/>
              </a:rPr>
              <a:t> subtraction 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</a:t>
            </a:r>
            <a:r>
              <a:rPr lang="en-US" b="0" dirty="0">
                <a:solidFill>
                  <a:prstClr val="black"/>
                </a:solidFill>
                <a:latin typeface="Gill Sans MT"/>
              </a:rPr>
              <a:t> (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true result &lt; 0)</a:t>
            </a:r>
            <a:endParaRPr lang="en-US" sz="700" b="0" dirty="0">
              <a:solidFill>
                <a:prstClr val="black"/>
              </a:solidFill>
              <a:latin typeface="Gill Sans MT"/>
            </a:endParaRP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Overflow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 flag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V =1 upon a </a:t>
            </a:r>
            <a:r>
              <a:rPr kumimoji="0" lang="en-US" b="1" i="0" u="sng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signed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 addition 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(true result &gt; 2</a:t>
            </a:r>
            <a:r>
              <a:rPr lang="en-US" b="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b="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 </a:t>
            </a:r>
            <a:r>
              <a:rPr lang="en-US" altLang="zh-CN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or true result &lt; -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2</a:t>
            </a:r>
            <a:r>
              <a:rPr lang="en-US" b="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b="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altLang="zh-CN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)</a:t>
            </a:r>
            <a:endParaRPr kumimoji="0" lang="en-US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cs typeface="Times New Roman" pitchFamily="18" charset="0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cs typeface="Times New Roman" pitchFamily="18" charset="0"/>
            </a:endParaRPr>
          </a:p>
        </p:txBody>
      </p:sp>
      <p:graphicFrame>
        <p:nvGraphicFramePr>
          <p:cNvPr id="39012" name="Group 100"/>
          <p:cNvGraphicFramePr>
            <a:graphicFrameLocks noGrp="1"/>
          </p:cNvGraphicFramePr>
          <p:nvPr/>
        </p:nvGraphicFramePr>
        <p:xfrm>
          <a:off x="1447800" y="1143000"/>
          <a:ext cx="5715000" cy="236220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85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9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0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Bit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Meaning after add or sub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negative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result is negative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Z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zero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result is zero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V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overflow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signed overflow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carry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unsigned overflow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3340970" y="5575300"/>
            <a:ext cx="1943100" cy="4000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350" b="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3271914" y="5336505"/>
            <a:ext cx="380232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500" b="0">
                <a:solidFill>
                  <a:prstClr val="black"/>
                </a:solidFill>
                <a:latin typeface="Calibri"/>
              </a:rPr>
              <a:t>31</a:t>
            </a: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4998320" y="5325789"/>
            <a:ext cx="282450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500" b="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0970" y="5575300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3092" y="5575022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65215" y="5574465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24956" y="5574464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78666" y="6009879"/>
            <a:ext cx="29418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CPSR (Current Program Status Register)</a:t>
            </a:r>
          </a:p>
        </p:txBody>
      </p:sp>
      <p:sp>
        <p:nvSpPr>
          <p:cNvPr id="16" name="Horizontal Scroll 15"/>
          <p:cNvSpPr/>
          <p:nvPr/>
        </p:nvSpPr>
        <p:spPr>
          <a:xfrm>
            <a:off x="76200" y="-23210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62399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3A519-DBC1-4403-2E8B-B6BADD69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NZCV Flags in </a:t>
            </a:r>
            <a:r>
              <a:rPr lang="en-US" dirty="0" err="1"/>
              <a:t>xPSR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2D03D-6F8E-1055-AD43-53C02477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71F98-40C3-8109-24BE-24A75ED061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910806"/>
          </a:xfrm>
        </p:spPr>
        <p:txBody>
          <a:bodyPr>
            <a:normAutofit fontScale="77500" lnSpcReduction="20000"/>
          </a:bodyPr>
          <a:lstStyle/>
          <a:p>
            <a:r>
              <a:rPr lang="en-US" sz="2800" b="1" dirty="0"/>
              <a:t>N</a:t>
            </a:r>
            <a:r>
              <a:rPr lang="en-US" sz="2800" dirty="0"/>
              <a:t> (negative) – set (1) when a signed result is negative, otherwise cleared (0).</a:t>
            </a:r>
          </a:p>
          <a:p>
            <a:r>
              <a:rPr lang="en-US" sz="2800" b="1" dirty="0"/>
              <a:t>Z</a:t>
            </a:r>
            <a:r>
              <a:rPr lang="en-US" sz="2800" dirty="0"/>
              <a:t> (zero) – set (1) when a result is 0, otherwise cleared (0).</a:t>
            </a:r>
          </a:p>
          <a:p>
            <a:r>
              <a:rPr lang="en-US" sz="2800" b="1" dirty="0"/>
              <a:t>C</a:t>
            </a:r>
            <a:r>
              <a:rPr lang="en-US" sz="2800" dirty="0"/>
              <a:t> (carry) – set (1) when an add-based operation produces an overflow, when a subtract-based operation doesn’t require a borrow; when shifting, holds the last bit that’s been shifted out; otherwise cleared (0).</a:t>
            </a:r>
          </a:p>
          <a:p>
            <a:r>
              <a:rPr lang="en-US" sz="2800" b="1" dirty="0"/>
              <a:t>V</a:t>
            </a:r>
            <a:r>
              <a:rPr lang="en-US" sz="2800" dirty="0"/>
              <a:t> (overflow) – set (1) when an add- or subtract-based operation generates a signed overflow, otherwise cleared (0).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168489-8B57-7C2E-A280-C2FCA5EA7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4016795"/>
            <a:ext cx="5940553" cy="2409224"/>
          </a:xfrm>
          <a:prstGeom prst="rect">
            <a:avLst/>
          </a:prstGeom>
        </p:spPr>
      </p:pic>
      <p:sp>
        <p:nvSpPr>
          <p:cNvPr id="5" name="Horizontal Scroll 15">
            <a:extLst>
              <a:ext uri="{FF2B5EF4-FFF2-40B4-BE49-F238E27FC236}">
                <a16:creationId xmlns:a16="http://schemas.microsoft.com/office/drawing/2014/main" id="{785D1948-1665-EC1C-519D-DEF2FD52EF22}"/>
              </a:ext>
            </a:extLst>
          </p:cNvPr>
          <p:cNvSpPr/>
          <p:nvPr/>
        </p:nvSpPr>
        <p:spPr>
          <a:xfrm>
            <a:off x="76200" y="-23210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452138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1" name="Rectangle 5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1: Greatest Common Divider (GCD)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1660922" y="5539979"/>
            <a:ext cx="1427559" cy="341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3487342" y="5539979"/>
            <a:ext cx="2169319" cy="341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660922" y="5539979"/>
            <a:ext cx="1427559" cy="341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3487342" y="5539979"/>
            <a:ext cx="2169319" cy="341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58" name="Slide Number Placeholder 5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>
                <a:solidFill>
                  <a:srgbClr val="1F497D"/>
                </a:solidFill>
                <a:latin typeface="Gill Sans MT"/>
              </a:rPr>
              <a:pPr/>
              <a:t>6</a:t>
            </a:fld>
            <a:endParaRPr lang="en-US">
              <a:solidFill>
                <a:srgbClr val="1F497D"/>
              </a:solidFill>
              <a:latin typeface="Gill Sans M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353699" y="3637264"/>
            <a:ext cx="3389752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suppose r0 = a and r1 = b</a:t>
            </a:r>
          </a:p>
          <a:p>
            <a:r>
              <a:rPr lang="en-US" sz="1200" b="1" dirty="0" err="1">
                <a:solidFill>
                  <a:srgbClr val="FF4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gcd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CMP r0, r1	      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 &gt; b?</a:t>
            </a:r>
          </a:p>
          <a:p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BEQ end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    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if a = b, done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 less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  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 &lt; b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SUB r0, r0, r1  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 = a – b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FF4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   </a:t>
            </a:r>
            <a:r>
              <a:rPr lang="en-US" sz="1200" b="1" dirty="0" err="1">
                <a:solidFill>
                  <a:srgbClr val="FF4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gcd</a:t>
            </a:r>
            <a:endParaRPr lang="en-US" sz="1200" b="1" dirty="0">
              <a:solidFill>
                <a:srgbClr val="FF4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less  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 r1, r1, r0  </a:t>
            </a:r>
            <a:r>
              <a:rPr lang="en-US" sz="1200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 = b – a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b="1" dirty="0">
                <a:solidFill>
                  <a:srgbClr val="FF4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   </a:t>
            </a:r>
            <a:r>
              <a:rPr lang="en-US" sz="1200" b="1" dirty="0" err="1">
                <a:solidFill>
                  <a:srgbClr val="FF4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gcd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</a:p>
        </p:txBody>
      </p:sp>
      <p:sp>
        <p:nvSpPr>
          <p:cNvPr id="62" name="Down Arrow 61"/>
          <p:cNvSpPr/>
          <p:nvPr/>
        </p:nvSpPr>
        <p:spPr>
          <a:xfrm>
            <a:off x="2000251" y="3371297"/>
            <a:ext cx="124628" cy="2163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  <a:latin typeface="Gill Sans M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283565" y="1698012"/>
            <a:ext cx="1287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Gill Sans MT"/>
              </a:rPr>
              <a:t>Euclid’s Algorithm</a:t>
            </a:r>
          </a:p>
        </p:txBody>
      </p:sp>
      <p:grpSp>
        <p:nvGrpSpPr>
          <p:cNvPr id="66" name="Group 65"/>
          <p:cNvGrpSpPr/>
          <p:nvPr/>
        </p:nvGrpSpPr>
        <p:grpSpPr>
          <a:xfrm>
            <a:off x="4686301" y="1714500"/>
            <a:ext cx="2679396" cy="830997"/>
            <a:chOff x="4461833" y="1619479"/>
            <a:chExt cx="3572527" cy="1107996"/>
          </a:xfrm>
        </p:grpSpPr>
        <p:sp>
          <p:nvSpPr>
            <p:cNvPr id="64" name="Right Arrow 63"/>
            <p:cNvSpPr/>
            <p:nvPr/>
          </p:nvSpPr>
          <p:spPr>
            <a:xfrm>
              <a:off x="4461833" y="2027104"/>
              <a:ext cx="716096" cy="20932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prstClr val="white"/>
                </a:solidFill>
                <a:latin typeface="Gill Sans MT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409282" y="1619479"/>
              <a:ext cx="2625078" cy="110799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gcd</a:t>
              </a:r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en-US" sz="120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CMP</a:t>
              </a:r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r0, r1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 SUBHI r0, r0, r1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 SUBLO r1, r1, r0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 </a:t>
              </a:r>
              <a:r>
                <a:rPr lang="en-US" sz="120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BNE</a:t>
              </a:r>
              <a:r>
                <a:rPr lang="en-US" sz="1200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200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gcd</a:t>
              </a:r>
              <a:endParaRPr lang="en-US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1353699" y="1959784"/>
            <a:ext cx="2958028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uint32_t a, b;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 (a != b ) {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 (a &gt; b) 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a = a – b; 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else 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b = b – a; </a:t>
            </a:r>
          </a:p>
          <a:p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Arrow: Curved Right 1">
            <a:extLst>
              <a:ext uri="{FF2B5EF4-FFF2-40B4-BE49-F238E27FC236}">
                <a16:creationId xmlns:a16="http://schemas.microsoft.com/office/drawing/2014/main" id="{63AD5224-522C-18FC-A5C0-4CAEE167F4A7}"/>
              </a:ext>
            </a:extLst>
          </p:cNvPr>
          <p:cNvSpPr/>
          <p:nvPr/>
        </p:nvSpPr>
        <p:spPr>
          <a:xfrm>
            <a:off x="1143001" y="4114800"/>
            <a:ext cx="210698" cy="1200151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3" name="Arrow: Curved Right 2">
            <a:extLst>
              <a:ext uri="{FF2B5EF4-FFF2-40B4-BE49-F238E27FC236}">
                <a16:creationId xmlns:a16="http://schemas.microsoft.com/office/drawing/2014/main" id="{D6951C95-8873-B916-2166-BF641EF82FD2}"/>
              </a:ext>
            </a:extLst>
          </p:cNvPr>
          <p:cNvSpPr/>
          <p:nvPr/>
        </p:nvSpPr>
        <p:spPr>
          <a:xfrm>
            <a:off x="1143000" y="4284417"/>
            <a:ext cx="210698" cy="630484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4" name="Arrow: Curved Right 3">
            <a:extLst>
              <a:ext uri="{FF2B5EF4-FFF2-40B4-BE49-F238E27FC236}">
                <a16:creationId xmlns:a16="http://schemas.microsoft.com/office/drawing/2014/main" id="{BF8ADD12-38AC-2F78-06EF-691CD8EC6539}"/>
              </a:ext>
            </a:extLst>
          </p:cNvPr>
          <p:cNvSpPr/>
          <p:nvPr/>
        </p:nvSpPr>
        <p:spPr>
          <a:xfrm flipV="1">
            <a:off x="1638717" y="3882854"/>
            <a:ext cx="262820" cy="86876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5" name="Arrow: Curved Right 4">
            <a:extLst>
              <a:ext uri="{FF2B5EF4-FFF2-40B4-BE49-F238E27FC236}">
                <a16:creationId xmlns:a16="http://schemas.microsoft.com/office/drawing/2014/main" id="{CC7A2AF8-E930-2C88-AA7D-100ACAD1C1CD}"/>
              </a:ext>
            </a:extLst>
          </p:cNvPr>
          <p:cNvSpPr/>
          <p:nvPr/>
        </p:nvSpPr>
        <p:spPr>
          <a:xfrm flipV="1">
            <a:off x="1625960" y="3874692"/>
            <a:ext cx="262820" cy="1203767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black"/>
              </a:solidFill>
              <a:latin typeface="Gill Sans MT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5A93BF7-A206-F2CA-CC13-D14DF785DD1A}"/>
              </a:ext>
            </a:extLst>
          </p:cNvPr>
          <p:cNvSpPr txBox="1">
            <a:spLocks/>
          </p:cNvSpPr>
          <p:nvPr/>
        </p:nvSpPr>
        <p:spPr bwMode="auto">
          <a:xfrm>
            <a:off x="4810052" y="2546908"/>
            <a:ext cx="3079900" cy="3395561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67859" tIns="33334" rIns="67859" bIns="33334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350" kern="0" dirty="0">
                <a:solidFill>
                  <a:prstClr val="black"/>
                </a:solidFill>
              </a:rPr>
              <a:t>CMP r0, r1 compares r0 and r1, setting Z=1 if r0 == r1, which is the termination condition when tested by BNE later.</a:t>
            </a:r>
          </a:p>
          <a:p>
            <a:pPr marL="0" indent="0">
              <a:buNone/>
            </a:pPr>
            <a:r>
              <a:rPr lang="en-US" sz="1350" kern="0" dirty="0">
                <a:solidFill>
                  <a:prstClr val="black"/>
                </a:solidFill>
              </a:rPr>
              <a:t>SUBHI r0, r0, r1 executes only if the previous compare set HI (unsigned “higher”), i.e., r0 &gt; r1 for unsigned </a:t>
            </a:r>
            <a:r>
              <a:rPr lang="en-US" sz="1350" kern="0" dirty="0" err="1">
                <a:solidFill>
                  <a:prstClr val="black"/>
                </a:solidFill>
              </a:rPr>
              <a:t>ints</a:t>
            </a:r>
            <a:r>
              <a:rPr lang="en-US" sz="1350" kern="0" dirty="0">
                <a:solidFill>
                  <a:prstClr val="black"/>
                </a:solidFill>
              </a:rPr>
              <a:t> r0 and r1. Flags C=1 and Z=0 (“no borrow” and “not equal”).</a:t>
            </a:r>
          </a:p>
          <a:p>
            <a:pPr marL="0" indent="0">
              <a:buNone/>
            </a:pPr>
            <a:r>
              <a:rPr lang="en-US" sz="1350" kern="0" dirty="0">
                <a:solidFill>
                  <a:prstClr val="black"/>
                </a:solidFill>
              </a:rPr>
              <a:t>SUBLO r1, r1, r0 executes only if the previous compare of unsigned </a:t>
            </a:r>
            <a:r>
              <a:rPr lang="en-US" sz="1350" kern="0" dirty="0" err="1">
                <a:solidFill>
                  <a:prstClr val="black"/>
                </a:solidFill>
              </a:rPr>
              <a:t>ints</a:t>
            </a:r>
            <a:r>
              <a:rPr lang="en-US" sz="1350" kern="0" dirty="0">
                <a:solidFill>
                  <a:prstClr val="black"/>
                </a:solidFill>
              </a:rPr>
              <a:t> set LO (unsigned “lower”), i.e., r0 &lt; r1 for unsigned </a:t>
            </a:r>
            <a:r>
              <a:rPr lang="en-US" sz="1350" kern="0" dirty="0" err="1">
                <a:solidFill>
                  <a:prstClr val="black"/>
                </a:solidFill>
              </a:rPr>
              <a:t>ints</a:t>
            </a:r>
            <a:r>
              <a:rPr lang="en-US" sz="1350" kern="0" dirty="0">
                <a:solidFill>
                  <a:prstClr val="black"/>
                </a:solidFill>
              </a:rPr>
              <a:t> r0 and r1. Flag C=0 (“borrow”).</a:t>
            </a:r>
          </a:p>
          <a:p>
            <a:pPr marL="0" indent="0">
              <a:buNone/>
            </a:pPr>
            <a:r>
              <a:rPr lang="en-US" sz="1350" kern="0" dirty="0">
                <a:solidFill>
                  <a:prstClr val="black"/>
                </a:solidFill>
              </a:rPr>
              <a:t>BNE </a:t>
            </a:r>
            <a:r>
              <a:rPr lang="en-US" sz="1350" kern="0" dirty="0" err="1">
                <a:solidFill>
                  <a:prstClr val="black"/>
                </a:solidFill>
              </a:rPr>
              <a:t>gcd</a:t>
            </a:r>
            <a:r>
              <a:rPr lang="en-US" sz="1350" kern="0" dirty="0">
                <a:solidFill>
                  <a:prstClr val="black"/>
                </a:solidFill>
              </a:rPr>
              <a:t> branches back to the label if Z=0 from the CMP, i.e., while r0 != r1; when they become equal, Z=1 and the loop falls through, leaving r0 == r1 == </a:t>
            </a:r>
            <a:r>
              <a:rPr lang="en-US" sz="1350" kern="0" dirty="0" err="1">
                <a:solidFill>
                  <a:prstClr val="black"/>
                </a:solidFill>
              </a:rPr>
              <a:t>gcd</a:t>
            </a:r>
            <a:r>
              <a:rPr lang="en-US" sz="1350" kern="0" dirty="0">
                <a:solidFill>
                  <a:prstClr val="black"/>
                </a:solidFill>
              </a:rPr>
              <a:t>(a, b).</a:t>
            </a:r>
            <a:endParaRPr lang="en-GB" sz="1350" kern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2285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3DE11-4A34-23E8-64C2-213C279CC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3F6058-B736-B29C-B402-F8D3E7E96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pic>
        <p:nvPicPr>
          <p:cNvPr id="6" name="Content Placeholder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92B2B7E-F38B-2628-EF2D-83C2D72E679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84" y="1771650"/>
            <a:ext cx="6582833" cy="3702844"/>
          </a:xfrm>
        </p:spPr>
      </p:pic>
    </p:spTree>
    <p:extLst>
      <p:ext uri="{BB962C8B-B14F-4D97-AF65-F5344CB8AC3E}">
        <p14:creationId xmlns:p14="http://schemas.microsoft.com/office/powerpoint/2010/main" val="464193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grpSp>
        <p:nvGrpSpPr>
          <p:cNvPr id="13" name="Group 42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18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Rectangle 43"/>
          <p:cNvSpPr/>
          <p:nvPr/>
        </p:nvSpPr>
        <p:spPr>
          <a:xfrm>
            <a:off x="7270750" y="3426936"/>
            <a:ext cx="1447800" cy="1427639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 flipH="1" flipV="1">
            <a:off x="7162800" y="3299012"/>
            <a:ext cx="1676400" cy="1653989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7162800" y="3299012"/>
            <a:ext cx="1676400" cy="1653988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544586" y="4270811"/>
            <a:ext cx="2728963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We cannot store a word at address 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0x20000002</a:t>
            </a:r>
            <a:r>
              <a:rPr lang="en-US" sz="1600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8348" y="3219187"/>
            <a:ext cx="41910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sz="2100" dirty="0"/>
              <a:t>Word-address mod 4 = 0</a:t>
            </a:r>
          </a:p>
        </p:txBody>
      </p:sp>
      <p:sp>
        <p:nvSpPr>
          <p:cNvPr id="57" name="Content Placeholder 2"/>
          <p:cNvSpPr>
            <a:spLocks noGrp="1"/>
          </p:cNvSpPr>
          <p:nvPr>
            <p:ph sz="quarter" idx="1"/>
          </p:nvPr>
        </p:nvSpPr>
        <p:spPr>
          <a:xfrm>
            <a:off x="452788" y="1214489"/>
            <a:ext cx="5486400" cy="1618664"/>
          </a:xfrm>
        </p:spPr>
        <p:txBody>
          <a:bodyPr>
            <a:normAutofit/>
          </a:bodyPr>
          <a:lstStyle/>
          <a:p>
            <a:pPr lvl="1"/>
            <a:r>
              <a:rPr lang="en-US" sz="2000" dirty="0"/>
              <a:t>Can we store a word anywhere in memory?  </a:t>
            </a:r>
          </a:p>
          <a:p>
            <a:pPr marL="274320" lvl="1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	</a:t>
            </a:r>
            <a:r>
              <a:rPr lang="en-US" sz="2000" b="1" dirty="0">
                <a:solidFill>
                  <a:schemeClr val="accent2"/>
                </a:solidFill>
              </a:rPr>
              <a:t>NO on most computers!</a:t>
            </a:r>
          </a:p>
          <a:p>
            <a:pPr lvl="1"/>
            <a:r>
              <a:rPr lang="en-US" sz="2000" dirty="0"/>
              <a:t>A word can only be stored at an address that's divisible by 4.</a:t>
            </a:r>
          </a:p>
          <a:p>
            <a:pPr marL="274320" lvl="1" indent="0">
              <a:buNone/>
            </a:pP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446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grpSp>
        <p:nvGrpSpPr>
          <p:cNvPr id="13" name="Group 42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18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Rectangle 43"/>
          <p:cNvSpPr/>
          <p:nvPr/>
        </p:nvSpPr>
        <p:spPr>
          <a:xfrm>
            <a:off x="7270750" y="4518210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 flipH="1" flipV="1">
            <a:off x="7086600" y="4442010"/>
            <a:ext cx="1828800" cy="838200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rot="10800000" flipV="1">
            <a:off x="7086600" y="4442010"/>
            <a:ext cx="1828800" cy="838200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769481" y="4465346"/>
            <a:ext cx="2685177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We c</a:t>
            </a:r>
            <a:r>
              <a:rPr lang="en-US" sz="1600" b="1" dirty="0">
                <a:solidFill>
                  <a:schemeClr val="bg1"/>
                </a:solidFill>
              </a:rPr>
              <a:t>annot store a halfword at address 0x20000001.</a:t>
            </a:r>
          </a:p>
        </p:txBody>
      </p:sp>
      <p:sp>
        <p:nvSpPr>
          <p:cNvPr id="54" name="Content Placeholder 2"/>
          <p:cNvSpPr>
            <a:spLocks noGrp="1"/>
          </p:cNvSpPr>
          <p:nvPr>
            <p:ph sz="quarter" idx="1"/>
          </p:nvPr>
        </p:nvSpPr>
        <p:spPr>
          <a:xfrm>
            <a:off x="142043" y="1219200"/>
            <a:ext cx="5768301" cy="4937760"/>
          </a:xfrm>
        </p:spPr>
        <p:txBody>
          <a:bodyPr>
            <a:normAutofit/>
          </a:bodyPr>
          <a:lstStyle/>
          <a:p>
            <a:pPr lvl="1"/>
            <a:r>
              <a:rPr lang="en-US" sz="2000" dirty="0"/>
              <a:t>Can you store a halfword anywhere?  </a:t>
            </a:r>
            <a:r>
              <a:rPr lang="en-US" sz="2000" b="1" dirty="0">
                <a:solidFill>
                  <a:schemeClr val="accent2"/>
                </a:solidFill>
              </a:rPr>
              <a:t>NO.</a:t>
            </a:r>
          </a:p>
          <a:p>
            <a:pPr lvl="1"/>
            <a:r>
              <a:rPr lang="en-US" sz="2000" dirty="0"/>
              <a:t>A halfword can only be stored at an address that's divisible by 2.</a:t>
            </a:r>
          </a:p>
          <a:p>
            <a:pPr lvl="1"/>
            <a:r>
              <a:rPr lang="en-US" sz="2000" dirty="0"/>
              <a:t>Memory address of a halfword is the lowest address of its two bytes.</a:t>
            </a:r>
          </a:p>
          <a:p>
            <a:pPr lvl="1"/>
            <a:endParaRPr lang="en-US" sz="2000" dirty="0"/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90989" y="3025517"/>
            <a:ext cx="516366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en-US" sz="2100" dirty="0" err="1"/>
              <a:t>Halfword</a:t>
            </a:r>
            <a:r>
              <a:rPr lang="en-US" sz="2100" dirty="0"/>
              <a:t>-address mod 2 = 0</a:t>
            </a:r>
          </a:p>
        </p:txBody>
      </p:sp>
    </p:spTree>
    <p:extLst>
      <p:ext uri="{BB962C8B-B14F-4D97-AF65-F5344CB8AC3E}">
        <p14:creationId xmlns:p14="http://schemas.microsoft.com/office/powerpoint/2010/main" val="2963767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Barrel Shifter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235826" y="5117068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four-bit Barrel shifter that performs </a:t>
            </a:r>
            <a:r>
              <a:rPr lang="en-US" b="1" dirty="0"/>
              <a:t>rotate right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23018"/>
              </p:ext>
            </p:extLst>
          </p:nvPr>
        </p:nvGraphicFramePr>
        <p:xfrm>
          <a:off x="6248400" y="2418965"/>
          <a:ext cx="2590800" cy="204573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41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1371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Typically, Barrel shifters are implemented as a cascade of parallel 2-to-1 multiplexers.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21" y="2179314"/>
            <a:ext cx="5611379" cy="27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38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Barrel Shifter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235826" y="5117068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four-bit Barrel shifter that performs </a:t>
            </a:r>
            <a:r>
              <a:rPr lang="en-US" b="1" dirty="0"/>
              <a:t>rotate 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Example: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955595"/>
              </p:ext>
            </p:extLst>
          </p:nvPr>
        </p:nvGraphicFramePr>
        <p:xfrm>
          <a:off x="6248400" y="2418965"/>
          <a:ext cx="2590800" cy="204573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41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180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21" y="2179314"/>
            <a:ext cx="5611379" cy="27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61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Barrel Shifter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235826" y="5117068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four-bit Barrel shifter that performs </a:t>
            </a:r>
            <a:r>
              <a:rPr lang="en-US" b="1" dirty="0"/>
              <a:t>rotate 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Example: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434776"/>
              </p:ext>
            </p:extLst>
          </p:nvPr>
        </p:nvGraphicFramePr>
        <p:xfrm>
          <a:off x="6248400" y="2418965"/>
          <a:ext cx="2590800" cy="204573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41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21" y="2179314"/>
            <a:ext cx="5611379" cy="27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00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Barrel Shifter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235826" y="5117068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four-bit Barrel shifter that performs </a:t>
            </a:r>
            <a:r>
              <a:rPr lang="en-US" b="1" dirty="0"/>
              <a:t>rotate right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700696"/>
              </p:ext>
            </p:extLst>
          </p:nvPr>
        </p:nvGraphicFramePr>
        <p:xfrm>
          <a:off x="6248400" y="2418965"/>
          <a:ext cx="2590800" cy="204573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41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12954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Example: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10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21" y="2179314"/>
            <a:ext cx="5611379" cy="27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597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Barrel Shifter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235826" y="5117068"/>
            <a:ext cx="5791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four-bit Barrel shifter that performs </a:t>
            </a:r>
            <a:r>
              <a:rPr lang="en-US" b="1" dirty="0"/>
              <a:t>rotate right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145348"/>
              </p:ext>
            </p:extLst>
          </p:nvPr>
        </p:nvGraphicFramePr>
        <p:xfrm>
          <a:off x="6248400" y="2418965"/>
          <a:ext cx="2590800" cy="204573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41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9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1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S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effectLst/>
                        </a:rPr>
                        <a:t>3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</a:t>
                      </a:r>
                      <a:r>
                        <a:rPr lang="en-US" sz="1800" baseline="-250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1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D</a:t>
                      </a:r>
                      <a:r>
                        <a:rPr lang="en-US" sz="1800" baseline="-25000" dirty="0" err="1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1371600"/>
            <a:ext cx="815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Example: 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aseline="-25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11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21" y="2179314"/>
            <a:ext cx="5611379" cy="27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597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ADR</a:t>
            </a:r>
            <a:r>
              <a:rPr lang="en-US" dirty="0"/>
              <a:t> Pseudo-instruction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ADR</a:t>
            </a:r>
            <a:r>
              <a:rPr lang="en-US" dirty="0"/>
              <a:t>: loads a program-relative or register-relative address into a register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3124200"/>
            <a:ext cx="5715000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start  MOV r0,#10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32-bit instruction</a:t>
            </a:r>
          </a:p>
          <a:p>
            <a:r>
              <a:rPr lang="en-US" dirty="0">
                <a:latin typeface="Consolas" panose="020B0609020204030204" pitchFamily="49" charset="0"/>
              </a:rPr>
              <a:t>       ADR r4,start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32-bit instruction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=&gt; 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SUB r4,pc,#0xc</a:t>
            </a:r>
          </a:p>
        </p:txBody>
      </p:sp>
    </p:spTree>
    <p:extLst>
      <p:ext uri="{BB962C8B-B14F-4D97-AF65-F5344CB8AC3E}">
        <p14:creationId xmlns:p14="http://schemas.microsoft.com/office/powerpoint/2010/main" val="3686948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 Shift Left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24" y="3086370"/>
            <a:ext cx="8631751" cy="68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06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 Shift Left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1447800"/>
            <a:ext cx="3123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of Logic Shift Left by 3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50985"/>
            <a:ext cx="9144000" cy="2923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8398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 Shift Right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77" y="2940435"/>
            <a:ext cx="8644445" cy="97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10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 Shift Right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0"/>
            <a:ext cx="3245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of Logic Shift Right by 3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95526"/>
            <a:ext cx="9100256" cy="2581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2390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E58F7-DD2C-7131-891F-4C21E8AC6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41" y="-457200"/>
            <a:ext cx="8839201" cy="914400"/>
          </a:xfrm>
        </p:spPr>
        <p:txBody>
          <a:bodyPr>
            <a:normAutofit/>
          </a:bodyPr>
          <a:lstStyle/>
          <a:p>
            <a:r>
              <a:rPr lang="en-US" sz="1800" dirty="0"/>
              <a:t>ARM Register Conventions (APCS-Application Procedure Call Standard)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A9D7B4-1C12-419A-88B5-D188777C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53B4AB-BCAF-439D-6351-9E157BE57934}"/>
              </a:ext>
            </a:extLst>
          </p:cNvPr>
          <p:cNvGraphicFramePr>
            <a:graphicFrameLocks noGrp="1"/>
          </p:cNvGraphicFramePr>
          <p:nvPr/>
        </p:nvGraphicFramePr>
        <p:xfrm>
          <a:off x="152399" y="616234"/>
          <a:ext cx="8839201" cy="61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134">
                  <a:extLst>
                    <a:ext uri="{9D8B030D-6E8A-4147-A177-3AD203B41FA5}">
                      <a16:colId xmlns:a16="http://schemas.microsoft.com/office/drawing/2014/main" val="200291306"/>
                    </a:ext>
                  </a:extLst>
                </a:gridCol>
                <a:gridCol w="846667">
                  <a:extLst>
                    <a:ext uri="{9D8B030D-6E8A-4147-A177-3AD203B41FA5}">
                      <a16:colId xmlns:a16="http://schemas.microsoft.com/office/drawing/2014/main" val="1765130036"/>
                    </a:ext>
                  </a:extLst>
                </a:gridCol>
                <a:gridCol w="3654778">
                  <a:extLst>
                    <a:ext uri="{9D8B030D-6E8A-4147-A177-3AD203B41FA5}">
                      <a16:colId xmlns:a16="http://schemas.microsoft.com/office/drawing/2014/main" val="87492144"/>
                    </a:ext>
                  </a:extLst>
                </a:gridCol>
                <a:gridCol w="3355622">
                  <a:extLst>
                    <a:ext uri="{9D8B030D-6E8A-4147-A177-3AD203B41FA5}">
                      <a16:colId xmlns:a16="http://schemas.microsoft.com/office/drawing/2014/main" val="314569210"/>
                    </a:ext>
                  </a:extLst>
                </a:gridCol>
              </a:tblGrid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Reg. </a:t>
                      </a:r>
                    </a:p>
                    <a:p>
                      <a:r>
                        <a:rPr lang="en-US" sz="1600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APCS</a:t>
                      </a:r>
                    </a:p>
                    <a:p>
                      <a:r>
                        <a:rPr lang="en-US" sz="1600" dirty="0"/>
                        <a:t>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Role in Procedure 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678385"/>
                  </a:ext>
                </a:extLst>
              </a:tr>
              <a:tr h="1258247">
                <a:tc>
                  <a:txBody>
                    <a:bodyPr/>
                    <a:lstStyle/>
                    <a:p>
                      <a:r>
                        <a:rPr lang="en-US" sz="1600" dirty="0"/>
                        <a:t>r0 -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a1 - 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First 4 arguments into a procedure / Scratch pad / Return result(s) from a function (not preserved across call)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Caller-saved registers - subprogram can use them as</a:t>
                      </a:r>
                    </a:p>
                    <a:p>
                      <a:r>
                        <a:rPr lang="en-US" sz="1600" dirty="0"/>
                        <a:t> scratch registers, but it must also save any needed values</a:t>
                      </a:r>
                    </a:p>
                    <a:p>
                      <a:r>
                        <a:rPr lang="en-US" sz="1600" dirty="0"/>
                        <a:t> before calling another subprogram.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341079"/>
                  </a:ext>
                </a:extLst>
              </a:tr>
              <a:tr h="1492339">
                <a:tc>
                  <a:txBody>
                    <a:bodyPr/>
                    <a:lstStyle/>
                    <a:p>
                      <a:r>
                        <a:rPr lang="en-US" sz="1600" dirty="0"/>
                        <a:t>r4 - 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v1 - 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Register Variables (preserved across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Callee-saved registers - it can rely on an subprogram it calls not to change them (so a subprogram wishing to use these registers must save them on entry and restore them before it exits)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379333"/>
                  </a:ext>
                </a:extLst>
              </a:tr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r9 – 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Details omitted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Details omitted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02704"/>
                  </a:ext>
                </a:extLst>
              </a:tr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fp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Frame pointer (if used) / Register Variable (preserved across call)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Callee-saved register - pointer to bottom of call-frame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358629"/>
                  </a:ext>
                </a:extLst>
              </a:tr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r13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Stack pointer - points to the top of the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25502"/>
                  </a:ext>
                </a:extLst>
              </a:tr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r14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lr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Link register - holds the return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Receives return address on BL call to procedure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203286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r15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Program 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550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54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Extra Arguments via Stack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428750" y="1828801"/>
            <a:ext cx="56007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>
                <a:latin typeface="Consolas" panose="020B0609020204030204" pitchFamily="49" charset="0"/>
              </a:rPr>
              <a:t>int32_t sum(int32_t a, int32_t b, int32_t c, int32_t d,</a:t>
            </a:r>
          </a:p>
          <a:p>
            <a:r>
              <a:rPr lang="en-US" sz="1350" b="1" dirty="0">
                <a:latin typeface="Consolas" panose="020B0609020204030204" pitchFamily="49" charset="0"/>
              </a:rPr>
              <a:t>            int32_t h, int32_t </a:t>
            </a:r>
            <a:r>
              <a:rPr lang="en-US" sz="1350" b="1" dirty="0" err="1">
                <a:latin typeface="Consolas" panose="020B0609020204030204" pitchFamily="49" charset="0"/>
              </a:rPr>
              <a:t>i</a:t>
            </a:r>
            <a:r>
              <a:rPr lang="en-US" sz="1350" b="1" dirty="0">
                <a:latin typeface="Consolas" panose="020B0609020204030204" pitchFamily="49" charset="0"/>
              </a:rPr>
              <a:t>, int32_t j, int32_t k);</a:t>
            </a:r>
          </a:p>
        </p:txBody>
      </p:sp>
      <p:sp>
        <p:nvSpPr>
          <p:cNvPr id="6" name="Rectangle 5"/>
          <p:cNvSpPr/>
          <p:nvPr/>
        </p:nvSpPr>
        <p:spPr>
          <a:xfrm>
            <a:off x="1428750" y="2324526"/>
            <a:ext cx="382905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>
                <a:solidFill>
                  <a:srgbClr val="FF0000"/>
                </a:solidFill>
                <a:latin typeface="Consolas" panose="020B0609020204030204" pitchFamily="49" charset="0"/>
              </a:rPr>
              <a:t>s = sum(1, 2, 3, 4, 5, 6, 7, 8);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" y="2597038"/>
            <a:ext cx="6094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Caller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79" y="2886716"/>
            <a:ext cx="2138727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  MOVS r0, #5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r1, #6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r2, #7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r3, #8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PUSH {r0, r1, r2, r3}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r0, #1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r1, #2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r2, #3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MOVS r3, #4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BL   sum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...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POP {r0, r1, r2, r3}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693177" y="2874037"/>
          <a:ext cx="2059115" cy="24917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6115">
                  <a:extLst>
                    <a:ext uri="{9D8B030D-6E8A-4147-A177-3AD203B41FA5}">
                      <a16:colId xmlns:a16="http://schemas.microsoft.com/office/drawing/2014/main" val="324715736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60307255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Old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 SP</a:t>
                      </a:r>
                      <a:endParaRPr lang="en-US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xxxxxxxx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&gt;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2289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SP+12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42493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SP+8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55452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nsolas" panose="020B0609020204030204" pitchFamily="49" charset="0"/>
                        </a:rPr>
                        <a:t>SP+4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151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44942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57124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6539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9913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92519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98320B7-1673-A249-985B-309333E06F0F}"/>
              </a:ext>
            </a:extLst>
          </p:cNvPr>
          <p:cNvSpPr txBox="1"/>
          <p:nvPr/>
        </p:nvSpPr>
        <p:spPr>
          <a:xfrm>
            <a:off x="3607577" y="2597038"/>
            <a:ext cx="11447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2897352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Extra Arguments via Stack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428750" y="1828801"/>
            <a:ext cx="56007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>
                <a:latin typeface="Consolas" panose="020B0609020204030204" pitchFamily="49" charset="0"/>
              </a:rPr>
              <a:t>int32_t sum(int32_t a, int32_t b, int32_t c, int32_t d,</a:t>
            </a:r>
          </a:p>
          <a:p>
            <a:r>
              <a:rPr lang="en-US" sz="1350" b="1" dirty="0">
                <a:latin typeface="Consolas" panose="020B0609020204030204" pitchFamily="49" charset="0"/>
              </a:rPr>
              <a:t>            int32_t h, int32_t </a:t>
            </a:r>
            <a:r>
              <a:rPr lang="en-US" sz="1350" b="1" dirty="0" err="1">
                <a:latin typeface="Consolas" panose="020B0609020204030204" pitchFamily="49" charset="0"/>
              </a:rPr>
              <a:t>i</a:t>
            </a:r>
            <a:r>
              <a:rPr lang="en-US" sz="1350" b="1" dirty="0">
                <a:latin typeface="Consolas" panose="020B0609020204030204" pitchFamily="49" charset="0"/>
              </a:rPr>
              <a:t>, int32_t j, int32_t k);</a:t>
            </a:r>
          </a:p>
        </p:txBody>
      </p:sp>
      <p:sp>
        <p:nvSpPr>
          <p:cNvPr id="6" name="Rectangle 5"/>
          <p:cNvSpPr/>
          <p:nvPr/>
        </p:nvSpPr>
        <p:spPr>
          <a:xfrm>
            <a:off x="1428750" y="2324526"/>
            <a:ext cx="382905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b="1" dirty="0">
                <a:solidFill>
                  <a:srgbClr val="FF0000"/>
                </a:solidFill>
                <a:latin typeface="Consolas" panose="020B0609020204030204" pitchFamily="49" charset="0"/>
              </a:rPr>
              <a:t>s = sum(1, 2, 3, 4, 5, 6, 7, 8);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6685" y="2625589"/>
            <a:ext cx="62388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Callee</a:t>
            </a:r>
            <a:endParaRPr lang="en-US" sz="1350" dirty="0"/>
          </a:p>
        </p:txBody>
      </p:sp>
      <p:sp>
        <p:nvSpPr>
          <p:cNvPr id="10" name="TextBox 9"/>
          <p:cNvSpPr txBox="1"/>
          <p:nvPr/>
        </p:nvSpPr>
        <p:spPr>
          <a:xfrm>
            <a:off x="3186684" y="2975172"/>
            <a:ext cx="4757166" cy="26776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3333FF"/>
                </a:solidFill>
                <a:latin typeface="Consolas" panose="020B0609020204030204" pitchFamily="49" charset="0"/>
              </a:rPr>
              <a:t>sum</a:t>
            </a:r>
            <a:r>
              <a:rPr lang="en-US" sz="1200" dirty="0">
                <a:latin typeface="Consolas" panose="020B0609020204030204" pitchFamily="49" charset="0"/>
              </a:rPr>
              <a:t> PROC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EXPORT sum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</a:t>
            </a:r>
            <a:r>
              <a:rPr lang="en-US" sz="1200" b="1" dirty="0">
                <a:solidFill>
                  <a:srgbClr val="3333FF"/>
                </a:solidFill>
                <a:latin typeface="Consolas" panose="020B0609020204030204" pitchFamily="49" charset="0"/>
              </a:rPr>
              <a:t>PUSH {r5, r6, </a:t>
            </a:r>
            <a:r>
              <a:rPr lang="en-US" sz="1200" b="1" dirty="0" err="1">
                <a:solidFill>
                  <a:srgbClr val="3333FF"/>
                </a:solidFill>
                <a:latin typeface="Consolas" panose="020B0609020204030204" pitchFamily="49" charset="0"/>
              </a:rPr>
              <a:t>lr</a:t>
            </a:r>
            <a:r>
              <a:rPr lang="en-US" sz="1200" b="1" dirty="0">
                <a:solidFill>
                  <a:srgbClr val="3333FF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ADD r0, r0, r1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a + b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ADD r0, r0, r2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c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  ADD r0, r0, r3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d</a:t>
            </a:r>
          </a:p>
          <a:p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LDRD r5,r6, [</a:t>
            </a:r>
            <a:r>
              <a:rPr 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sp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, #12]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r5=mem[sp+12],r6=mem[sp+16]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ADD r0, r0, r5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h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ADD r0, r0, r6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i</a:t>
            </a:r>
          </a:p>
          <a:p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LDRD r5,r6, [</a:t>
            </a:r>
            <a:r>
              <a:rPr 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sp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, #20]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r5=mem[sp+20],r6=mem[sp+24]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ADD r0, r0, r5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j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ADD r0, r0, r6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k</a:t>
            </a:r>
          </a:p>
          <a:p>
            <a:r>
              <a:rPr lang="en-US" sz="1200" b="1" dirty="0">
                <a:solidFill>
                  <a:srgbClr val="3333FF"/>
                </a:solidFill>
                <a:latin typeface="Consolas" panose="020B0609020204030204" pitchFamily="49" charset="0"/>
              </a:rPr>
              <a:t>  POP {r5, r6, pc}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ENDP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71550" y="2996768"/>
          <a:ext cx="2059115" cy="24917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6115">
                  <a:extLst>
                    <a:ext uri="{9D8B030D-6E8A-4147-A177-3AD203B41FA5}">
                      <a16:colId xmlns:a16="http://schemas.microsoft.com/office/drawing/2014/main" val="324715736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60307255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Old</a:t>
                      </a:r>
                      <a:r>
                        <a:rPr lang="en-US" sz="1400" baseline="0" dirty="0">
                          <a:latin typeface="Consolas" panose="020B0609020204030204" pitchFamily="49" charset="0"/>
                        </a:rPr>
                        <a:t> SP</a:t>
                      </a:r>
                      <a:endParaRPr lang="en-US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sz="1400" dirty="0" err="1">
                          <a:latin typeface="Consolas" panose="020B0609020204030204" pitchFamily="49" charset="0"/>
                        </a:rPr>
                        <a:t>xxxxxxxx</a:t>
                      </a:r>
                      <a:r>
                        <a:rPr lang="en-US" sz="1400" dirty="0">
                          <a:latin typeface="Consolas" panose="020B0609020204030204" pitchFamily="49" charset="0"/>
                        </a:rPr>
                        <a:t>&gt;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22892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SP+24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42493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SP+20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55452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nsolas" panose="020B0609020204030204" pitchFamily="49" charset="0"/>
                        </a:rPr>
                        <a:t>SP+16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1515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SP+12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0x00000005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44942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SP+8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solidFill>
                            <a:srgbClr val="3333FF"/>
                          </a:solidFill>
                          <a:latin typeface="Consolas" panose="020B0609020204030204" pitchFamily="49" charset="0"/>
                        </a:rPr>
                        <a:t>lr</a:t>
                      </a:r>
                      <a:endParaRPr lang="en-US" sz="1400" b="1" dirty="0">
                        <a:solidFill>
                          <a:srgbClr val="3333FF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57124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SP+4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3333FF"/>
                          </a:solidFill>
                          <a:latin typeface="Consolas" panose="020B0609020204030204" pitchFamily="49" charset="0"/>
                        </a:rPr>
                        <a:t>r6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6539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latin typeface="Consolas" panose="020B0609020204030204" pitchFamily="49" charset="0"/>
                        </a:rPr>
                        <a:t>SP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3333FF"/>
                          </a:solidFill>
                          <a:latin typeface="Consolas" panose="020B0609020204030204" pitchFamily="49" charset="0"/>
                        </a:rPr>
                        <a:t>r5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9913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endParaRPr lang="en-US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onsolas" panose="020B0609020204030204" pitchFamily="49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9251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F3E23F3-7B52-2544-AFFF-69221F0A193A}"/>
              </a:ext>
            </a:extLst>
          </p:cNvPr>
          <p:cNvSpPr txBox="1"/>
          <p:nvPr/>
        </p:nvSpPr>
        <p:spPr>
          <a:xfrm>
            <a:off x="1889380" y="2719769"/>
            <a:ext cx="114128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960423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3128</TotalTime>
  <Words>2568</Words>
  <Application>Microsoft Office PowerPoint</Application>
  <PresentationFormat>On-screen Show (4:3)</PresentationFormat>
  <Paragraphs>478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Bookman Old Style (Headings)</vt:lpstr>
      <vt:lpstr>Gill Sans Light</vt:lpstr>
      <vt:lpstr>Arial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1_Origin</vt:lpstr>
      <vt:lpstr>Zonghua Gu</vt:lpstr>
      <vt:lpstr>Signed Comparison</vt:lpstr>
      <vt:lpstr>Signed Comparison</vt:lpstr>
      <vt:lpstr>Summary of Carry and Overflow Flags</vt:lpstr>
      <vt:lpstr>NZCV Flags in xPSR</vt:lpstr>
      <vt:lpstr>Example 1: Greatest Common Divider (GCD)</vt:lpstr>
      <vt:lpstr>GCD</vt:lpstr>
      <vt:lpstr>Logic View of Memory</vt:lpstr>
      <vt:lpstr>Logic View of Memory</vt:lpstr>
      <vt:lpstr>Implementation of Barrel Shifter</vt:lpstr>
      <vt:lpstr>Implementation of Barrel Shifter</vt:lpstr>
      <vt:lpstr>Implementation of Barrel Shifter</vt:lpstr>
      <vt:lpstr>Implementation of Barrel Shifter</vt:lpstr>
      <vt:lpstr>Implementation of Barrel Shifter</vt:lpstr>
      <vt:lpstr>ADR Pseudo-instruction</vt:lpstr>
      <vt:lpstr>64-bit Logic Shift Left</vt:lpstr>
      <vt:lpstr>64-bit Logic Shift Left</vt:lpstr>
      <vt:lpstr>64-bit Logic Shift Right</vt:lpstr>
      <vt:lpstr>64-bit Logic Shift Right</vt:lpstr>
      <vt:lpstr>ARM Register Conventions (APCS-Application Procedure Call Standard)</vt:lpstr>
      <vt:lpstr>Passing Extra Arguments via Stack</vt:lpstr>
      <vt:lpstr>Passing Extra Arguments via Stack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345</cp:revision>
  <dcterms:created xsi:type="dcterms:W3CDTF">2014-02-05T02:41:42Z</dcterms:created>
  <dcterms:modified xsi:type="dcterms:W3CDTF">2025-10-10T11:27:57Z</dcterms:modified>
</cp:coreProperties>
</file>