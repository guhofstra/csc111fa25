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26"/>
  </p:notesMasterIdLst>
  <p:sldIdLst>
    <p:sldId id="256" r:id="rId3"/>
    <p:sldId id="352" r:id="rId4"/>
    <p:sldId id="300" r:id="rId5"/>
    <p:sldId id="344" r:id="rId6"/>
    <p:sldId id="383" r:id="rId7"/>
    <p:sldId id="381" r:id="rId8"/>
    <p:sldId id="335" r:id="rId9"/>
    <p:sldId id="813" r:id="rId10"/>
    <p:sldId id="475" r:id="rId11"/>
    <p:sldId id="473" r:id="rId12"/>
    <p:sldId id="306" r:id="rId13"/>
    <p:sldId id="322" r:id="rId14"/>
    <p:sldId id="323" r:id="rId15"/>
    <p:sldId id="325" r:id="rId16"/>
    <p:sldId id="324" r:id="rId17"/>
    <p:sldId id="525" r:id="rId18"/>
    <p:sldId id="261" r:id="rId19"/>
    <p:sldId id="264" r:id="rId20"/>
    <p:sldId id="262" r:id="rId21"/>
    <p:sldId id="265" r:id="rId22"/>
    <p:sldId id="379" r:id="rId23"/>
    <p:sldId id="320" r:id="rId24"/>
    <p:sldId id="319" r:id="rId2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B15ED0-6DB4-4108-82C9-64F0E8E52BFB}" v="17" dt="2025-10-21T20:14:50.8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1594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custSel addSld delSld modSld">
      <pc:chgData name="Zonghua Gu" userId="9a7e1853e1951ef5" providerId="LiveId" clId="{CF1FAA12-072C-4ED5-BA76-0FFFAEFDB88A}" dt="2025-10-21T20:14:50.830" v="33"/>
      <pc:docMkLst>
        <pc:docMk/>
      </pc:docMkLst>
      <pc:sldChg chg="add">
        <pc:chgData name="Zonghua Gu" userId="9a7e1853e1951ef5" providerId="LiveId" clId="{CF1FAA12-072C-4ED5-BA76-0FFFAEFDB88A}" dt="2025-09-21T23:03:14.599" v="18"/>
        <pc:sldMkLst>
          <pc:docMk/>
          <pc:sldMk cId="2714306100" sldId="261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99910597" sldId="262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1508398580" sldId="264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712390701" sldId="265"/>
        </pc:sldMkLst>
      </pc:sldChg>
      <pc:sldChg chg="add del">
        <pc:chgData name="Zonghua Gu" userId="9a7e1853e1951ef5" providerId="LiveId" clId="{CF1FAA12-072C-4ED5-BA76-0FFFAEFDB88A}" dt="2025-10-10T11:27:54.468" v="32"/>
        <pc:sldMkLst>
          <pc:docMk/>
          <pc:sldMk cId="203524775" sldId="300"/>
        </pc:sldMkLst>
      </pc:sldChg>
      <pc:sldChg chg="add">
        <pc:chgData name="Zonghua Gu" userId="9a7e1853e1951ef5" providerId="LiveId" clId="{CF1FAA12-072C-4ED5-BA76-0FFFAEFDB88A}" dt="2025-10-05T19:51:37.123" v="23"/>
        <pc:sldMkLst>
          <pc:docMk/>
          <pc:sldMk cId="96042344" sldId="319"/>
        </pc:sldMkLst>
      </pc:sldChg>
      <pc:sldChg chg="add">
        <pc:chgData name="Zonghua Gu" userId="9a7e1853e1951ef5" providerId="LiveId" clId="{CF1FAA12-072C-4ED5-BA76-0FFFAEFDB88A}" dt="2025-10-05T19:51:37.123" v="23"/>
        <pc:sldMkLst>
          <pc:docMk/>
          <pc:sldMk cId="2289735267" sldId="320"/>
        </pc:sldMkLst>
      </pc:sldChg>
      <pc:sldChg chg="modSp add mod modNotes">
        <pc:chgData name="Zonghua Gu" userId="9a7e1853e1951ef5" providerId="LiveId" clId="{CF1FAA12-072C-4ED5-BA76-0FFFAEFDB88A}" dt="2025-10-10T11:25:43.471" v="29" actId="27636"/>
        <pc:sldMkLst>
          <pc:docMk/>
          <pc:sldMk cId="4015228595" sldId="335"/>
        </pc:sldMkLst>
        <pc:spChg chg="mod">
          <ac:chgData name="Zonghua Gu" userId="9a7e1853e1951ef5" providerId="LiveId" clId="{CF1FAA12-072C-4ED5-BA76-0FFFAEFDB88A}" dt="2025-10-10T11:25:43.471" v="29" actId="27636"/>
          <ac:spMkLst>
            <pc:docMk/>
            <pc:sldMk cId="4015228595" sldId="335"/>
            <ac:spMk id="16441" creationId="{00000000-0000-0000-0000-000000000000}"/>
          </ac:spMkLst>
        </pc:spChg>
      </pc:sldChg>
      <pc:sldChg chg="add">
        <pc:chgData name="Zonghua Gu" userId="9a7e1853e1951ef5" providerId="LiveId" clId="{CF1FAA12-072C-4ED5-BA76-0FFFAEFDB88A}" dt="2025-10-10T11:25:43.432" v="28"/>
        <pc:sldMkLst>
          <pc:docMk/>
          <pc:sldMk cId="2051571543" sldId="344"/>
        </pc:sldMkLst>
      </pc:sldChg>
      <pc:sldChg chg="add">
        <pc:chgData name="Zonghua Gu" userId="9a7e1853e1951ef5" providerId="LiveId" clId="{CF1FAA12-072C-4ED5-BA76-0FFFAEFDB88A}" dt="2025-10-21T20:14:50.830" v="33"/>
        <pc:sldMkLst>
          <pc:docMk/>
          <pc:sldMk cId="2083494270" sldId="352"/>
        </pc:sldMkLst>
      </pc:sldChg>
      <pc:sldChg chg="add">
        <pc:chgData name="Zonghua Gu" userId="9a7e1853e1951ef5" providerId="LiveId" clId="{CF1FAA12-072C-4ED5-BA76-0FFFAEFDB88A}" dt="2025-09-23T19:54:54.877" v="19"/>
        <pc:sldMkLst>
          <pc:docMk/>
          <pc:sldMk cId="397854206" sldId="379"/>
        </pc:sldMkLst>
      </pc:sldChg>
      <pc:sldChg chg="add">
        <pc:chgData name="Zonghua Gu" userId="9a7e1853e1951ef5" providerId="LiveId" clId="{CF1FAA12-072C-4ED5-BA76-0FFFAEFDB88A}" dt="2025-10-02T21:43:06.404" v="21"/>
        <pc:sldMkLst>
          <pc:docMk/>
          <pc:sldMk cId="2452138352" sldId="381"/>
        </pc:sldMkLst>
      </pc:sldChg>
      <pc:sldChg chg="add">
        <pc:chgData name="Zonghua Gu" userId="9a7e1853e1951ef5" providerId="LiveId" clId="{CF1FAA12-072C-4ED5-BA76-0FFFAEFDB88A}" dt="2025-10-02T23:51:49.400" v="22"/>
        <pc:sldMkLst>
          <pc:docMk/>
          <pc:sldMk cId="2623990252" sldId="383"/>
        </pc:sldMkLst>
      </pc:sldChg>
      <pc:sldChg chg="add">
        <pc:chgData name="Zonghua Gu" userId="9a7e1853e1951ef5" providerId="LiveId" clId="{CF1FAA12-072C-4ED5-BA76-0FFFAEFDB88A}" dt="2025-09-26T22:04:43.298" v="20"/>
        <pc:sldMkLst>
          <pc:docMk/>
          <pc:sldMk cId="464193995" sldId="813"/>
        </pc:sldMkLst>
      </pc:sldChg>
      <pc:sldMasterChg chg="delSldLayout">
        <pc:chgData name="Zonghua Gu" userId="9a7e1853e1951ef5" providerId="LiveId" clId="{CF1FAA12-072C-4ED5-BA76-0FFFAEFDB88A}" dt="2025-10-10T11:25:42.244" v="27" actId="47"/>
        <pc:sldMasterMkLst>
          <pc:docMk/>
          <pc:sldMasterMk cId="0" sldId="2147483660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780" tIns="47890" rIns="95780" bIns="47890"/>
          <a:lstStyle/>
          <a:p>
            <a:pPr marL="0" lvl="2" defTabSz="924879">
              <a:defRPr/>
            </a:pPr>
            <a:r>
              <a:rPr lang="en-US" dirty="0"/>
              <a:t>Condition codes are simply a way of testing the ALU status flags. </a:t>
            </a:r>
          </a:p>
          <a:p>
            <a:pPr marL="0" lvl="2" defTabSz="924879">
              <a:defRPr/>
            </a:pPr>
            <a:r>
              <a:rPr lang="en-US" dirty="0"/>
              <a:t>Note AL is the default and does not need to be specified </a:t>
            </a:r>
            <a:endParaRPr lang="en-GB" dirty="0"/>
          </a:p>
          <a:p>
            <a:endParaRPr lang="en-US" dirty="0"/>
          </a:p>
        </p:txBody>
      </p:sp>
      <p:sp>
        <p:nvSpPr>
          <p:cNvPr id="4505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542877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CMP a, b computes a - b and sets flags without keeping the result. </a:t>
            </a:r>
          </a:p>
          <a:p>
            <a:r>
              <a:rPr lang="en-US" dirty="0"/>
              <a:t>For unsigned subtraction, borrow happens when a &lt; b.  ARM encodes “no borrow” (a ≥ b) as C=1, and “borrow” (a &lt; b) as C=0, while Z distinguishes equality. </a:t>
            </a:r>
          </a:p>
          <a:p>
            <a:pPr lvl="1"/>
            <a:r>
              <a:rPr lang="en-US" dirty="0"/>
              <a:t>HI (unsigned higher &gt;): the subtraction needs no borrow, so C=1, and it’s not equal, so Z=0. </a:t>
            </a:r>
          </a:p>
          <a:p>
            <a:pPr lvl="1"/>
            <a:r>
              <a:rPr lang="en-US" dirty="0"/>
              <a:t>HS/CS (higher or same/carry set ≥) : no borrow → C=1; equality allowed.</a:t>
            </a:r>
          </a:p>
          <a:p>
            <a:pPr lvl="1"/>
            <a:r>
              <a:rPr lang="en-US" dirty="0"/>
              <a:t>LO/CC (unsigned lower/carry clear &lt;): subtraction borrows → C=0. </a:t>
            </a:r>
          </a:p>
          <a:p>
            <a:pPr lvl="1"/>
            <a:r>
              <a:rPr lang="en-US" dirty="0"/>
              <a:t>LS (unsigned lower or same ≤): “lower or same” means either borrowed or equal → C=0 or Z=1. </a:t>
            </a:r>
          </a:p>
          <a:p>
            <a:r>
              <a:rPr lang="en-US" dirty="0"/>
              <a:t>For signed subtraction a - b, the sign bit N is correct if a ≥ b (no overflow, V = 0); the sign bit N is incorrect if a &lt; b (overflow, V = 1). </a:t>
            </a:r>
          </a:p>
          <a:p>
            <a:pPr lvl="1"/>
            <a:r>
              <a:rPr lang="en-US" dirty="0"/>
              <a:t>GE (signed greater or equal ≥): N == V. If there’s no overflow (V=0), non‑negative (N=0) means ≥; if there is overflow (V=1), N=1 (incorrect) also indicates the ≥ relation.</a:t>
            </a:r>
          </a:p>
          <a:p>
            <a:pPr lvl="1"/>
            <a:r>
              <a:rPr lang="en-US" dirty="0"/>
              <a:t>LT (signed less than &lt;): N != V. If there’s no overflow (V=0), negative (N=1) means &lt;; if there is overflow (V=1), N=0 (incorrect) also indicates the &lt; relation.</a:t>
            </a:r>
          </a:p>
          <a:p>
            <a:pPr lvl="1"/>
            <a:r>
              <a:rPr lang="en-US" dirty="0"/>
              <a:t>GT (signed greater than &gt;): N==V and Z=0. Strictly greater excludes equality, so combine GE with not equal.</a:t>
            </a:r>
          </a:p>
          <a:p>
            <a:pPr lvl="1"/>
            <a:r>
              <a:rPr lang="en-US" dirty="0"/>
              <a:t>LE (signed less or equal ≤): N != V or Z=1. Either strictly less, or equal.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71AD5F-E36F-46B9-A99B-7B025244359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26063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4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C is cleared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Times New Roman" pitchFamily="18" charset="0"/>
              </a:rPr>
              <a:t>upon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an </a:t>
            </a:r>
            <a:r>
              <a:rPr kumimoji="0" lang="en-US" sz="1200" b="1" i="0" u="sng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unsigned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 subtract if the answer is wrong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450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https://eclecticlight.co/2021/06/23/code-in-arm-assembly-controlling-flow/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 (Negative): Copies the most significant bit of the last result; 1 means the result’s sign bit is 1, which for two’s‑complement indicates a negative value in signed interpretation.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 (Zero): 1 if the result was exactly zero; otherwise 0.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 (Carry): For addition, 1 means an unsigned carry out; for subtraction (a − b or CMP), 1 means “no borrow,” and 0 means a borrow occurred. For shifts/rotates, it holds the last bit shifted out.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1 when signed overflow occurred, i.e., the true signed result didn’t fit in the destination width (e.g., positive + positive → negative, or negative + negative → positive in 32‑bit two’s‑complement).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C=1 and Z=0 corresponds to “unsigned higher” (HI):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a CMP a, b (which computes a − b for flags), C=1 means the subtraction needed no borrow, so a ≥ b in unsigned arithmetic; Z=0 rules out equality, leaving a &gt; b. That composite condition is named HI.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46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2350" tIns="46174" rIns="92350" bIns="46174"/>
          <a:lstStyle/>
          <a:p>
            <a:endParaRPr lang="en-US" dirty="0"/>
          </a:p>
        </p:txBody>
      </p:sp>
      <p:sp>
        <p:nvSpPr>
          <p:cNvPr id="47107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24249951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B2AF1D-1787-4F45-8D94-E7435950448C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582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10/21/2025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24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15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342900" indent="0" algn="ctr">
              <a:buNone/>
            </a:lvl2pPr>
            <a:lvl3pPr marL="685800" indent="0" algn="ctr">
              <a:buNone/>
            </a:lvl3pPr>
            <a:lvl4pPr marL="1028700" indent="0" algn="ctr">
              <a:buNone/>
            </a:lvl4pPr>
            <a:lvl5pPr marL="1371600" indent="0" algn="ctr">
              <a:buNone/>
            </a:lvl5pPr>
            <a:lvl6pPr marL="1714500" indent="0" algn="ctr">
              <a:buNone/>
            </a:lvl6pPr>
            <a:lvl7pPr marL="2057400" indent="0" algn="ctr">
              <a:buNone/>
            </a:lvl7pPr>
            <a:lvl8pPr marL="2400300" indent="0" algn="ctr">
              <a:buNone/>
            </a:lvl8pPr>
            <a:lvl9pPr marL="27432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050"/>
            </a:lvl1pPr>
          </a:lstStyle>
          <a:p>
            <a:pPr eaLnBrk="1" latinLnBrk="0" hangingPunct="1"/>
            <a:fld id="{2E26774B-6488-4259-9342-6CBDB2BFD4E4}" type="datetime1">
              <a:rPr lang="en-US" smtClean="0"/>
              <a:pPr eaLnBrk="1" latinLnBrk="0" hangingPunct="1"/>
              <a:t>10/21/2025</a:t>
            </a:fld>
            <a:endParaRPr lang="en-US" sz="12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2637512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0F52420-10F8-488E-969A-A9BE388BE9C4}" type="datetime1">
              <a:rPr lang="en-US" smtClean="0"/>
              <a:pPr eaLnBrk="1" latinLnBrk="0" hangingPunct="1"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17082043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24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96E96F24-58CF-47DA-907C-A9CD6353E425}" type="datetime1">
              <a:rPr lang="en-US" smtClean="0"/>
              <a:pPr eaLnBrk="1" latinLnBrk="0" hangingPunct="1"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31010134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3AE4463-726A-4A35-9F46-98893432A3F9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29337285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1800" b="1">
                <a:solidFill>
                  <a:schemeClr val="accent2"/>
                </a:solidFill>
              </a:defRPr>
            </a:lvl1pPr>
            <a:lvl2pPr>
              <a:buNone/>
              <a:defRPr sz="1500" b="1"/>
            </a:lvl2pPr>
            <a:lvl3pPr>
              <a:buNone/>
              <a:defRPr sz="1350" b="1"/>
            </a:lvl3pPr>
            <a:lvl4pPr>
              <a:buNone/>
              <a:defRPr sz="1200" b="1"/>
            </a:lvl4pPr>
            <a:lvl5pPr>
              <a:buNone/>
              <a:defRPr sz="12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1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1800" b="1">
                <a:solidFill>
                  <a:schemeClr val="accent2"/>
                </a:solidFill>
              </a:defRPr>
            </a:lvl1pPr>
            <a:lvl2pPr>
              <a:buNone/>
              <a:defRPr sz="1500" b="1"/>
            </a:lvl2pPr>
            <a:lvl3pPr>
              <a:buNone/>
              <a:defRPr sz="1350" b="1"/>
            </a:lvl3pPr>
            <a:lvl4pPr>
              <a:buNone/>
              <a:defRPr sz="1200" b="1"/>
            </a:lvl4pPr>
            <a:lvl5pPr>
              <a:buNone/>
              <a:defRPr sz="12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DF404D0-E306-4E90-90E3-E44D26246FFC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29412648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485DA14-76F0-4D93-83FB-7878C79A1986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6417722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15E552D-49E1-496B-B79C-E100986B8B5F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6705238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15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2"/>
            <a:ext cx="2514600" cy="4843463"/>
          </a:xfrm>
        </p:spPr>
        <p:txBody>
          <a:bodyPr/>
          <a:lstStyle>
            <a:lvl1pPr marL="0" indent="0">
              <a:lnSpc>
                <a:spcPts val="1650"/>
              </a:lnSpc>
              <a:spcAft>
                <a:spcPts val="750"/>
              </a:spcAft>
              <a:buNone/>
              <a:defRPr sz="1200">
                <a:solidFill>
                  <a:schemeClr val="tx2"/>
                </a:solidFill>
              </a:defRPr>
            </a:lvl1pPr>
            <a:lvl2pPr>
              <a:buNone/>
              <a:defRPr sz="900"/>
            </a:lvl2pPr>
            <a:lvl3pPr>
              <a:buNone/>
              <a:defRPr sz="750"/>
            </a:lvl3pPr>
            <a:lvl4pPr>
              <a:buNone/>
              <a:defRPr sz="675"/>
            </a:lvl4pPr>
            <a:lvl5pPr>
              <a:buNone/>
              <a:defRPr sz="675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EC72505-1551-4A98-97CD-F520B07184AD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25098133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15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450"/>
              </a:spcBef>
              <a:buNone/>
              <a:defRPr sz="24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050"/>
            </a:lvl1pPr>
            <a:lvl2pPr>
              <a:defRPr sz="900"/>
            </a:lvl2pPr>
            <a:lvl3pPr>
              <a:defRPr sz="750"/>
            </a:lvl3pPr>
            <a:lvl4pPr>
              <a:defRPr sz="675"/>
            </a:lvl4pPr>
            <a:lvl5pPr>
              <a:defRPr sz="675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218F47B-BA16-4F20-B5BA-73F598D94B51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36251260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B2E7711-0BE3-4AFC-959B-CB5C31A7AE48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37511884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25AAB62-A572-4E37-B772-B4A75ADE0B18}" type="datetime1">
              <a:rPr lang="en-US" smtClean="0"/>
              <a:pPr eaLnBrk="1" latinLnBrk="0" hangingPunct="1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17260154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981200"/>
            <a:ext cx="77724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4EA606C-8FDC-48DF-B809-A9223E8539C3}" type="datetime1">
              <a:rPr lang="en-US" smtClean="0"/>
              <a:pPr>
                <a:defRPr/>
              </a:pPr>
              <a:t>10/21/2025</a:t>
            </a:fld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3083A4-9012-4F92-8AC9-739FC4D3B10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044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10/21/2025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05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4F3CB514-9CA6-4E48-9463-A430D31CFDE3}" type="datetime1">
              <a:rPr lang="en-US" smtClean="0"/>
              <a:pPr eaLnBrk="1" latinLnBrk="0" hangingPunct="1"/>
              <a:t>10/21/2025</a:t>
            </a:fld>
            <a:endParaRPr lang="en-US" sz="105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05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05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05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2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3045698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2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05740" indent="-205740" algn="l" rtl="0" eaLnBrk="1" latinLnBrk="0" hangingPunct="1">
        <a:spcBef>
          <a:spcPts val="450"/>
        </a:spcBef>
        <a:buClr>
          <a:schemeClr val="accent1"/>
        </a:buClr>
        <a:buSzPct val="76000"/>
        <a:buFont typeface="Wingdings 3"/>
        <a:buChar char=""/>
        <a:defRPr kumimoji="0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205740" algn="l" rtl="0" eaLnBrk="1" latinLnBrk="0" hangingPunct="1">
        <a:spcBef>
          <a:spcPts val="375"/>
        </a:spcBef>
        <a:buClr>
          <a:schemeClr val="accent2"/>
        </a:buClr>
        <a:buSzPct val="76000"/>
        <a:buFont typeface="Wingdings 3"/>
        <a:buChar char=""/>
        <a:defRPr kumimoji="0" sz="1725" kern="1200">
          <a:solidFill>
            <a:schemeClr val="tx2"/>
          </a:solidFill>
          <a:latin typeface="+mn-lt"/>
          <a:ea typeface="+mn-ea"/>
          <a:cs typeface="+mn-cs"/>
        </a:defRPr>
      </a:lvl2pPr>
      <a:lvl3pPr marL="617220" indent="-171450" algn="l" rtl="0" eaLnBrk="1" latinLnBrk="0" hangingPunct="1">
        <a:spcBef>
          <a:spcPts val="375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indent="-171450" algn="l" rtl="0" eaLnBrk="1" latinLnBrk="0" hangingPunct="1">
        <a:spcBef>
          <a:spcPts val="3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indent="-171450" algn="l" rtl="0" eaLnBrk="1" latinLnBrk="0" hangingPunct="1">
        <a:spcBef>
          <a:spcPts val="225"/>
        </a:spcBef>
        <a:buClr>
          <a:schemeClr val="accent2"/>
        </a:buClr>
        <a:buSzPct val="70000"/>
        <a:buFont typeface="Wingdings"/>
        <a:buChar char=""/>
        <a:defRPr kumimoji="0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34440" indent="-137160" algn="l" rtl="0" eaLnBrk="1" latinLnBrk="0" hangingPunct="1">
        <a:spcBef>
          <a:spcPts val="225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371600" indent="-137160" algn="l" rtl="0" eaLnBrk="1" latinLnBrk="0" hangingPunct="1">
        <a:spcBef>
          <a:spcPts val="225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05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1508760" indent="-137160" algn="l" rtl="0" eaLnBrk="1" latinLnBrk="0" hangingPunct="1">
        <a:spcBef>
          <a:spcPts val="225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05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1645920" indent="-137160" algn="l" rtl="0" eaLnBrk="1" latinLnBrk="0" hangingPunct="1">
        <a:spcBef>
          <a:spcPts val="225"/>
        </a:spcBef>
        <a:buClr>
          <a:srgbClr val="9FB8CD"/>
        </a:buClr>
        <a:buSzPct val="75000"/>
        <a:buFont typeface="Wingdings 3"/>
        <a:buChar char=""/>
        <a:defRPr kumimoji="0" lang="en-US" sz="9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75" y="1828800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title"/>
          </p:nvPr>
        </p:nvSpPr>
        <p:spPr>
          <a:xfrm>
            <a:off x="1390649" y="152400"/>
            <a:ext cx="7296151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Summary:</a:t>
            </a:r>
            <a:br>
              <a:rPr lang="en-US" dirty="0"/>
            </a:br>
            <a:r>
              <a:rPr lang="en-US" dirty="0"/>
              <a:t>Condition Codes </a:t>
            </a:r>
          </a:p>
        </p:txBody>
      </p:sp>
      <p:sp>
        <p:nvSpPr>
          <p:cNvPr id="54" name="Slide Number Placeholder 5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390649" y="5765380"/>
            <a:ext cx="63588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2"/>
            <a:r>
              <a:rPr lang="en-US" sz="1400" i="1" dirty="0"/>
              <a:t>Note AL is the default and does not need to be specified </a:t>
            </a:r>
            <a:endParaRPr lang="en-GB" sz="1400" i="1" dirty="0"/>
          </a:p>
        </p:txBody>
      </p:sp>
      <p:grpSp>
        <p:nvGrpSpPr>
          <p:cNvPr id="4" name="Group 3"/>
          <p:cNvGrpSpPr/>
          <p:nvPr/>
        </p:nvGrpSpPr>
        <p:grpSpPr>
          <a:xfrm>
            <a:off x="1390650" y="1412356"/>
            <a:ext cx="6362700" cy="4241801"/>
            <a:chOff x="1423974" y="1779588"/>
            <a:chExt cx="6362700" cy="4241801"/>
          </a:xfrm>
        </p:grpSpPr>
        <p:sp>
          <p:nvSpPr>
            <p:cNvPr id="14342" name="Rectangle 5"/>
            <p:cNvSpPr>
              <a:spLocks noChangeArrowheads="1"/>
            </p:cNvSpPr>
            <p:nvPr/>
          </p:nvSpPr>
          <p:spPr bwMode="auto">
            <a:xfrm>
              <a:off x="2696971" y="23098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ot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43" name="Rectangle 6"/>
            <p:cNvSpPr>
              <a:spLocks noChangeArrowheads="1"/>
            </p:cNvSpPr>
            <p:nvPr/>
          </p:nvSpPr>
          <p:spPr bwMode="auto">
            <a:xfrm>
              <a:off x="2696971" y="25749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igher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44" name="Rectangle 7"/>
            <p:cNvSpPr>
              <a:spLocks noChangeArrowheads="1"/>
            </p:cNvSpPr>
            <p:nvPr/>
          </p:nvSpPr>
          <p:spPr bwMode="auto">
            <a:xfrm>
              <a:off x="2696971" y="28400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LO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5" name="Rectangle 8"/>
            <p:cNvSpPr>
              <a:spLocks noChangeArrowheads="1"/>
            </p:cNvSpPr>
            <p:nvPr/>
          </p:nvSpPr>
          <p:spPr bwMode="auto">
            <a:xfrm>
              <a:off x="2696971" y="31051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(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Negative)</a:t>
              </a:r>
            </a:p>
          </p:txBody>
        </p:sp>
        <p:sp>
          <p:nvSpPr>
            <p:cNvPr id="14346" name="Rectangle 9"/>
            <p:cNvSpPr>
              <a:spLocks noChangeArrowheads="1"/>
            </p:cNvSpPr>
            <p:nvPr/>
          </p:nvSpPr>
          <p:spPr bwMode="auto">
            <a:xfrm>
              <a:off x="2696971" y="20447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ual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7" name="Rectangle 10"/>
            <p:cNvSpPr>
              <a:spLocks noChangeArrowheads="1"/>
            </p:cNvSpPr>
            <p:nvPr/>
          </p:nvSpPr>
          <p:spPr bwMode="auto">
            <a:xfrm>
              <a:off x="2696971" y="36353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et</a:t>
              </a:r>
            </a:p>
          </p:txBody>
        </p:sp>
        <p:sp>
          <p:nvSpPr>
            <p:cNvPr id="14348" name="Rectangle 11"/>
            <p:cNvSpPr>
              <a:spLocks noChangeArrowheads="1"/>
            </p:cNvSpPr>
            <p:nvPr/>
          </p:nvSpPr>
          <p:spPr bwMode="auto">
            <a:xfrm>
              <a:off x="2696971" y="390048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leared</a:t>
              </a:r>
            </a:p>
          </p:txBody>
        </p:sp>
        <p:sp>
          <p:nvSpPr>
            <p:cNvPr id="14349" name="Rectangle 12"/>
            <p:cNvSpPr>
              <a:spLocks noChangeArrowheads="1"/>
            </p:cNvSpPr>
            <p:nvPr/>
          </p:nvSpPr>
          <p:spPr bwMode="auto">
            <a:xfrm>
              <a:off x="2696971" y="41656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gher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0" name="Rectangle 13"/>
            <p:cNvSpPr>
              <a:spLocks noChangeArrowheads="1"/>
            </p:cNvSpPr>
            <p:nvPr/>
          </p:nvSpPr>
          <p:spPr bwMode="auto">
            <a:xfrm>
              <a:off x="2696971" y="44307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ower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51" name="Rectangle 14"/>
            <p:cNvSpPr>
              <a:spLocks noChangeArrowheads="1"/>
            </p:cNvSpPr>
            <p:nvPr/>
          </p:nvSpPr>
          <p:spPr bwMode="auto">
            <a:xfrm>
              <a:off x="2696971" y="33702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(Positive or Zero)</a:t>
              </a:r>
            </a:p>
          </p:txBody>
        </p:sp>
        <p:sp>
          <p:nvSpPr>
            <p:cNvPr id="14352" name="Rectangle 15"/>
            <p:cNvSpPr>
              <a:spLocks noChangeArrowheads="1"/>
            </p:cNvSpPr>
            <p:nvPr/>
          </p:nvSpPr>
          <p:spPr bwMode="auto">
            <a:xfrm>
              <a:off x="2696971" y="49609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3" name="Rectangle 16"/>
            <p:cNvSpPr>
              <a:spLocks noChangeArrowheads="1"/>
            </p:cNvSpPr>
            <p:nvPr/>
          </p:nvSpPr>
          <p:spPr bwMode="auto">
            <a:xfrm>
              <a:off x="2696971" y="52260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4" name="Rectangle 17"/>
            <p:cNvSpPr>
              <a:spLocks noChangeArrowheads="1"/>
            </p:cNvSpPr>
            <p:nvPr/>
          </p:nvSpPr>
          <p:spPr bwMode="auto">
            <a:xfrm>
              <a:off x="2696971" y="54911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than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5" name="Rectangle 18"/>
            <p:cNvSpPr>
              <a:spLocks noChangeArrowheads="1"/>
            </p:cNvSpPr>
            <p:nvPr/>
          </p:nvSpPr>
          <p:spPr bwMode="auto">
            <a:xfrm>
              <a:off x="2696971" y="57562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ways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6" name="Rectangle 19"/>
            <p:cNvSpPr>
              <a:spLocks noChangeArrowheads="1"/>
            </p:cNvSpPr>
            <p:nvPr/>
          </p:nvSpPr>
          <p:spPr bwMode="auto">
            <a:xfrm>
              <a:off x="2696971" y="46958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7" name="Rectangle 20"/>
            <p:cNvSpPr>
              <a:spLocks noChangeArrowheads="1"/>
            </p:cNvSpPr>
            <p:nvPr/>
          </p:nvSpPr>
          <p:spPr bwMode="auto">
            <a:xfrm>
              <a:off x="1423974" y="20447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</a:p>
          </p:txBody>
        </p:sp>
        <p:sp>
          <p:nvSpPr>
            <p:cNvPr id="14358" name="Rectangle 21"/>
            <p:cNvSpPr>
              <a:spLocks noChangeArrowheads="1"/>
            </p:cNvSpPr>
            <p:nvPr/>
          </p:nvSpPr>
          <p:spPr bwMode="auto">
            <a:xfrm>
              <a:off x="1423974" y="23098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NE</a:t>
              </a:r>
            </a:p>
          </p:txBody>
        </p:sp>
        <p:sp>
          <p:nvSpPr>
            <p:cNvPr id="14359" name="Rectangle 22"/>
            <p:cNvSpPr>
              <a:spLocks noChangeArrowheads="1"/>
            </p:cNvSpPr>
            <p:nvPr/>
          </p:nvSpPr>
          <p:spPr bwMode="auto">
            <a:xfrm>
              <a:off x="1423974" y="25749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CS/HS</a:t>
              </a:r>
            </a:p>
          </p:txBody>
        </p:sp>
        <p:sp>
          <p:nvSpPr>
            <p:cNvPr id="14360" name="Rectangle 23"/>
            <p:cNvSpPr>
              <a:spLocks noChangeArrowheads="1"/>
            </p:cNvSpPr>
            <p:nvPr/>
          </p:nvSpPr>
          <p:spPr bwMode="auto">
            <a:xfrm>
              <a:off x="1423974" y="28400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CC/LO</a:t>
              </a:r>
            </a:p>
          </p:txBody>
        </p:sp>
        <p:sp>
          <p:nvSpPr>
            <p:cNvPr id="14361" name="Rectangle 24"/>
            <p:cNvSpPr>
              <a:spLocks noChangeArrowheads="1"/>
            </p:cNvSpPr>
            <p:nvPr/>
          </p:nvSpPr>
          <p:spPr bwMode="auto">
            <a:xfrm>
              <a:off x="1423974" y="33702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</a:p>
          </p:txBody>
        </p:sp>
        <p:sp>
          <p:nvSpPr>
            <p:cNvPr id="14362" name="Rectangle 25"/>
            <p:cNvSpPr>
              <a:spLocks noChangeArrowheads="1"/>
            </p:cNvSpPr>
            <p:nvPr/>
          </p:nvSpPr>
          <p:spPr bwMode="auto">
            <a:xfrm>
              <a:off x="1423974" y="36353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VS</a:t>
              </a:r>
            </a:p>
          </p:txBody>
        </p:sp>
        <p:sp>
          <p:nvSpPr>
            <p:cNvPr id="14363" name="Rectangle 26"/>
            <p:cNvSpPr>
              <a:spLocks noChangeArrowheads="1"/>
            </p:cNvSpPr>
            <p:nvPr/>
          </p:nvSpPr>
          <p:spPr bwMode="auto">
            <a:xfrm>
              <a:off x="1423974" y="41656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</a:p>
          </p:txBody>
        </p:sp>
        <p:sp>
          <p:nvSpPr>
            <p:cNvPr id="14364" name="Rectangle 27"/>
            <p:cNvSpPr>
              <a:spLocks noChangeArrowheads="1"/>
            </p:cNvSpPr>
            <p:nvPr/>
          </p:nvSpPr>
          <p:spPr bwMode="auto">
            <a:xfrm>
              <a:off x="1423974" y="44307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LS</a:t>
              </a:r>
            </a:p>
          </p:txBody>
        </p:sp>
        <p:sp>
          <p:nvSpPr>
            <p:cNvPr id="14365" name="Rectangle 28"/>
            <p:cNvSpPr>
              <a:spLocks noChangeArrowheads="1"/>
            </p:cNvSpPr>
            <p:nvPr/>
          </p:nvSpPr>
          <p:spPr bwMode="auto">
            <a:xfrm>
              <a:off x="1423974" y="46958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GE</a:t>
              </a:r>
            </a:p>
          </p:txBody>
        </p:sp>
        <p:sp>
          <p:nvSpPr>
            <p:cNvPr id="14366" name="Rectangle 29"/>
            <p:cNvSpPr>
              <a:spLocks noChangeArrowheads="1"/>
            </p:cNvSpPr>
            <p:nvPr/>
          </p:nvSpPr>
          <p:spPr bwMode="auto">
            <a:xfrm>
              <a:off x="1423974" y="49609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LT</a:t>
              </a:r>
            </a:p>
          </p:txBody>
        </p:sp>
        <p:sp>
          <p:nvSpPr>
            <p:cNvPr id="14367" name="Rectangle 30"/>
            <p:cNvSpPr>
              <a:spLocks noChangeArrowheads="1"/>
            </p:cNvSpPr>
            <p:nvPr/>
          </p:nvSpPr>
          <p:spPr bwMode="auto">
            <a:xfrm>
              <a:off x="1423974" y="52260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GT</a:t>
              </a:r>
            </a:p>
          </p:txBody>
        </p:sp>
        <p:sp>
          <p:nvSpPr>
            <p:cNvPr id="14368" name="Rectangle 31"/>
            <p:cNvSpPr>
              <a:spLocks noChangeArrowheads="1"/>
            </p:cNvSpPr>
            <p:nvPr/>
          </p:nvSpPr>
          <p:spPr bwMode="auto">
            <a:xfrm>
              <a:off x="1423974" y="54911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LE</a:t>
              </a:r>
            </a:p>
          </p:txBody>
        </p:sp>
        <p:sp>
          <p:nvSpPr>
            <p:cNvPr id="14369" name="Rectangle 32"/>
            <p:cNvSpPr>
              <a:spLocks noChangeArrowheads="1"/>
            </p:cNvSpPr>
            <p:nvPr/>
          </p:nvSpPr>
          <p:spPr bwMode="auto">
            <a:xfrm>
              <a:off x="1423974" y="57562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</a:p>
          </p:txBody>
        </p:sp>
        <p:sp>
          <p:nvSpPr>
            <p:cNvPr id="14370" name="Rectangle 33"/>
            <p:cNvSpPr>
              <a:spLocks noChangeArrowheads="1"/>
            </p:cNvSpPr>
            <p:nvPr/>
          </p:nvSpPr>
          <p:spPr bwMode="auto">
            <a:xfrm>
              <a:off x="1423974" y="31051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</a:p>
          </p:txBody>
        </p:sp>
        <p:sp>
          <p:nvSpPr>
            <p:cNvPr id="14371" name="Rectangle 34"/>
            <p:cNvSpPr>
              <a:spLocks noChangeArrowheads="1"/>
            </p:cNvSpPr>
            <p:nvPr/>
          </p:nvSpPr>
          <p:spPr bwMode="auto">
            <a:xfrm>
              <a:off x="1423974" y="390048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VC</a:t>
              </a:r>
            </a:p>
          </p:txBody>
        </p:sp>
        <p:sp>
          <p:nvSpPr>
            <p:cNvPr id="14372" name="Rectangle 35"/>
            <p:cNvSpPr>
              <a:spLocks noChangeArrowheads="1"/>
            </p:cNvSpPr>
            <p:nvPr/>
          </p:nvSpPr>
          <p:spPr bwMode="auto">
            <a:xfrm>
              <a:off x="1423974" y="1779588"/>
              <a:ext cx="1272997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Suffix</a:t>
              </a:r>
            </a:p>
          </p:txBody>
        </p:sp>
        <p:sp>
          <p:nvSpPr>
            <p:cNvPr id="14373" name="Rectangle 36"/>
            <p:cNvSpPr>
              <a:spLocks noChangeArrowheads="1"/>
            </p:cNvSpPr>
            <p:nvPr/>
          </p:nvSpPr>
          <p:spPr bwMode="auto">
            <a:xfrm>
              <a:off x="2696971" y="1779588"/>
              <a:ext cx="3435035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Description</a:t>
              </a:r>
            </a:p>
          </p:txBody>
        </p:sp>
        <p:sp>
          <p:nvSpPr>
            <p:cNvPr id="14374" name="Rectangle 37"/>
            <p:cNvSpPr>
              <a:spLocks noChangeArrowheads="1"/>
            </p:cNvSpPr>
            <p:nvPr/>
          </p:nvSpPr>
          <p:spPr bwMode="auto">
            <a:xfrm>
              <a:off x="6132006" y="23098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</a:t>
              </a:r>
            </a:p>
          </p:txBody>
        </p:sp>
        <p:sp>
          <p:nvSpPr>
            <p:cNvPr id="14375" name="Rectangle 38"/>
            <p:cNvSpPr>
              <a:spLocks noChangeArrowheads="1"/>
            </p:cNvSpPr>
            <p:nvPr/>
          </p:nvSpPr>
          <p:spPr bwMode="auto">
            <a:xfrm>
              <a:off x="6132006" y="25749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</a:t>
              </a:r>
            </a:p>
          </p:txBody>
        </p:sp>
        <p:sp>
          <p:nvSpPr>
            <p:cNvPr id="14376" name="Rectangle 39"/>
            <p:cNvSpPr>
              <a:spLocks noChangeArrowheads="1"/>
            </p:cNvSpPr>
            <p:nvPr/>
          </p:nvSpPr>
          <p:spPr bwMode="auto">
            <a:xfrm>
              <a:off x="6132006" y="28400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</a:t>
              </a:r>
            </a:p>
          </p:txBody>
        </p:sp>
        <p:sp>
          <p:nvSpPr>
            <p:cNvPr id="14377" name="Rectangle 40"/>
            <p:cNvSpPr>
              <a:spLocks noChangeArrowheads="1"/>
            </p:cNvSpPr>
            <p:nvPr/>
          </p:nvSpPr>
          <p:spPr bwMode="auto">
            <a:xfrm>
              <a:off x="6132006" y="20447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</a:t>
              </a:r>
            </a:p>
          </p:txBody>
        </p:sp>
        <p:sp>
          <p:nvSpPr>
            <p:cNvPr id="14378" name="Rectangle 41"/>
            <p:cNvSpPr>
              <a:spLocks noChangeArrowheads="1"/>
            </p:cNvSpPr>
            <p:nvPr/>
          </p:nvSpPr>
          <p:spPr bwMode="auto">
            <a:xfrm>
              <a:off x="6132006" y="1779588"/>
              <a:ext cx="1654668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Flags tested</a:t>
              </a:r>
            </a:p>
          </p:txBody>
        </p:sp>
        <p:sp>
          <p:nvSpPr>
            <p:cNvPr id="14379" name="Rectangle 42"/>
            <p:cNvSpPr>
              <a:spLocks noChangeArrowheads="1"/>
            </p:cNvSpPr>
            <p:nvPr/>
          </p:nvSpPr>
          <p:spPr bwMode="auto">
            <a:xfrm>
              <a:off x="6132006" y="31051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N=1</a:t>
              </a:r>
            </a:p>
          </p:txBody>
        </p:sp>
        <p:sp>
          <p:nvSpPr>
            <p:cNvPr id="14380" name="Rectangle 43"/>
            <p:cNvSpPr>
              <a:spLocks noChangeArrowheads="1"/>
            </p:cNvSpPr>
            <p:nvPr/>
          </p:nvSpPr>
          <p:spPr bwMode="auto">
            <a:xfrm>
              <a:off x="6132006" y="33702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N=0</a:t>
              </a:r>
            </a:p>
          </p:txBody>
        </p:sp>
        <p:sp>
          <p:nvSpPr>
            <p:cNvPr id="14381" name="Rectangle 44"/>
            <p:cNvSpPr>
              <a:spLocks noChangeArrowheads="1"/>
            </p:cNvSpPr>
            <p:nvPr/>
          </p:nvSpPr>
          <p:spPr bwMode="auto">
            <a:xfrm>
              <a:off x="6132006" y="36353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V=1</a:t>
              </a:r>
            </a:p>
          </p:txBody>
        </p:sp>
        <p:sp>
          <p:nvSpPr>
            <p:cNvPr id="14382" name="Rectangle 45"/>
            <p:cNvSpPr>
              <a:spLocks noChangeArrowheads="1"/>
            </p:cNvSpPr>
            <p:nvPr/>
          </p:nvSpPr>
          <p:spPr bwMode="auto">
            <a:xfrm>
              <a:off x="6132006" y="390048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V=0</a:t>
              </a:r>
            </a:p>
          </p:txBody>
        </p:sp>
        <p:sp>
          <p:nvSpPr>
            <p:cNvPr id="14383" name="Rectangle 46"/>
            <p:cNvSpPr>
              <a:spLocks noChangeArrowheads="1"/>
            </p:cNvSpPr>
            <p:nvPr/>
          </p:nvSpPr>
          <p:spPr bwMode="auto">
            <a:xfrm>
              <a:off x="6132006" y="41656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 &amp; Z=0</a:t>
              </a:r>
            </a:p>
          </p:txBody>
        </p:sp>
        <p:sp>
          <p:nvSpPr>
            <p:cNvPr id="14384" name="Rectangle 47"/>
            <p:cNvSpPr>
              <a:spLocks noChangeArrowheads="1"/>
            </p:cNvSpPr>
            <p:nvPr/>
          </p:nvSpPr>
          <p:spPr bwMode="auto">
            <a:xfrm>
              <a:off x="6132006" y="44307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 or Z=1</a:t>
              </a:r>
            </a:p>
          </p:txBody>
        </p:sp>
        <p:sp>
          <p:nvSpPr>
            <p:cNvPr id="14385" name="Rectangle 48"/>
            <p:cNvSpPr>
              <a:spLocks noChangeArrowheads="1"/>
            </p:cNvSpPr>
            <p:nvPr/>
          </p:nvSpPr>
          <p:spPr bwMode="auto">
            <a:xfrm>
              <a:off x="6132006" y="46958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N=V</a:t>
              </a:r>
            </a:p>
          </p:txBody>
        </p:sp>
        <p:sp>
          <p:nvSpPr>
            <p:cNvPr id="14386" name="Rectangle 49"/>
            <p:cNvSpPr>
              <a:spLocks noChangeArrowheads="1"/>
            </p:cNvSpPr>
            <p:nvPr/>
          </p:nvSpPr>
          <p:spPr bwMode="auto">
            <a:xfrm>
              <a:off x="6132006" y="49609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N!=V</a:t>
              </a:r>
            </a:p>
          </p:txBody>
        </p:sp>
        <p:sp>
          <p:nvSpPr>
            <p:cNvPr id="14387" name="Rectangle 50"/>
            <p:cNvSpPr>
              <a:spLocks noChangeArrowheads="1"/>
            </p:cNvSpPr>
            <p:nvPr/>
          </p:nvSpPr>
          <p:spPr bwMode="auto">
            <a:xfrm>
              <a:off x="6132006" y="52260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 &amp; N=V</a:t>
              </a:r>
            </a:p>
          </p:txBody>
        </p:sp>
        <p:sp>
          <p:nvSpPr>
            <p:cNvPr id="14388" name="Rectangle 51"/>
            <p:cNvSpPr>
              <a:spLocks noChangeArrowheads="1"/>
            </p:cNvSpPr>
            <p:nvPr/>
          </p:nvSpPr>
          <p:spPr bwMode="auto">
            <a:xfrm>
              <a:off x="6132006" y="54911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 or N!=V</a:t>
              </a:r>
            </a:p>
          </p:txBody>
        </p:sp>
        <p:sp>
          <p:nvSpPr>
            <p:cNvPr id="14389" name="Rectangle 52"/>
            <p:cNvSpPr>
              <a:spLocks noChangeArrowheads="1"/>
            </p:cNvSpPr>
            <p:nvPr/>
          </p:nvSpPr>
          <p:spPr bwMode="auto">
            <a:xfrm>
              <a:off x="6132006" y="57562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GB" sz="1800" b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" name="Horizontal Scroll 15">
            <a:extLst>
              <a:ext uri="{FF2B5EF4-FFF2-40B4-BE49-F238E27FC236}">
                <a16:creationId xmlns:a16="http://schemas.microsoft.com/office/drawing/2014/main" id="{4ACAA33B-8833-6998-194D-3EC418B6F321}"/>
              </a:ext>
            </a:extLst>
          </p:cNvPr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083494270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Signed Comparison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/>
            <a:fld id="{EA7C8D44-3667-46F6-9772-CC52308E2A7F}" type="slidenum">
              <a:rPr lang="en-US">
                <a:solidFill>
                  <a:srgbClr val="1F497D"/>
                </a:solidFill>
                <a:latin typeface="Gill Sans MT"/>
              </a:rPr>
              <a:pPr defTabSz="685800"/>
              <a:t>3</a:t>
            </a:fld>
            <a:endParaRPr lang="en-US" dirty="0">
              <a:solidFill>
                <a:srgbClr val="1F497D"/>
              </a:solidFill>
              <a:latin typeface="Gill Sans MT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57301" y="2256399"/>
          <a:ext cx="6572251" cy="29794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685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0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863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endParaRPr 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34290" marB="34290" anchor="ctr" anchorCtr="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N = 0</a:t>
                      </a:r>
                    </a:p>
                  </a:txBody>
                  <a:tcPr marL="68580" marR="68580" marT="34290" marB="34290" anchor="ctr" anchorCtr="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N = 1</a:t>
                      </a:r>
                    </a:p>
                  </a:txBody>
                  <a:tcPr marL="68580" marR="68580" marT="34290" marB="34290" anchor="ctr" anchorCtr="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543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 = 0</a:t>
                      </a:r>
                    </a:p>
                  </a:txBody>
                  <a:tcPr marL="68580" marR="68580" marT="34290" marB="34290" anchor="ctr" anchorCtr="1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No</a:t>
                      </a:r>
                      <a:r>
                        <a:rPr lang="en-US" sz="1400" baseline="0" dirty="0"/>
                        <a:t> overflow, implying the result is correct. </a:t>
                      </a:r>
                    </a:p>
                    <a:p>
                      <a:pPr marL="285750" indent="-285750">
                        <a:buFont typeface="Arial" pitchFamily="34" charset="0"/>
                        <a:buChar char="•"/>
                      </a:pPr>
                      <a:r>
                        <a:rPr lang="en-US" sz="1400" baseline="0" dirty="0"/>
                        <a:t>The result is non-negative, </a:t>
                      </a:r>
                    </a:p>
                    <a:p>
                      <a:pPr marL="285750" indent="-285750">
                        <a:buFont typeface="Arial" pitchFamily="34" charset="0"/>
                        <a:buChar char="•"/>
                      </a:pPr>
                      <a:r>
                        <a:rPr lang="en-US" sz="1400" baseline="0" dirty="0"/>
                        <a:t>Thus 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– r1 ≥ 0</a:t>
                      </a:r>
                      <a:r>
                        <a:rPr lang="en-US" sz="1400" baseline="0" dirty="0"/>
                        <a:t>, i.e., 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≥ r1</a:t>
                      </a:r>
                      <a:endParaRPr lang="en-US" sz="1400" dirty="0">
                        <a:latin typeface="Consolas" panose="020B0609020204030204" pitchFamily="49" charset="0"/>
                        <a:cs typeface="Times New Roman" pitchFamily="18" charset="0"/>
                      </a:endParaRPr>
                    </a:p>
                  </a:txBody>
                  <a:tcPr marL="68580" marR="68580" marT="34290" marB="34290" anchor="ctr" anchorCtr="1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No overflow, implying the result is correct.</a:t>
                      </a:r>
                    </a:p>
                    <a:p>
                      <a:pPr marL="285750" indent="-285750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The</a:t>
                      </a:r>
                      <a:r>
                        <a:rPr lang="en-US" sz="1400" baseline="0" dirty="0"/>
                        <a:t> result is</a:t>
                      </a:r>
                      <a:r>
                        <a:rPr lang="en-US" sz="1400" dirty="0"/>
                        <a:t> negative</a:t>
                      </a:r>
                      <a:r>
                        <a:rPr lang="en-US" sz="1400" baseline="0" dirty="0"/>
                        <a:t>.</a:t>
                      </a:r>
                    </a:p>
                    <a:p>
                      <a:pPr marL="285750" indent="-285750">
                        <a:buFont typeface="Arial" pitchFamily="34" charset="0"/>
                        <a:buChar char="•"/>
                      </a:pPr>
                      <a:r>
                        <a:rPr lang="en-US" sz="1400" baseline="0" dirty="0"/>
                        <a:t>Thus 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– r1 &lt; 0</a:t>
                      </a:r>
                      <a:r>
                        <a:rPr lang="en-US" sz="1400" baseline="0" dirty="0"/>
                        <a:t>, i.e., 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&lt; r1</a:t>
                      </a:r>
                      <a:endParaRPr lang="en-US" sz="1400" dirty="0">
                        <a:latin typeface="Consolas" panose="020B0609020204030204" pitchFamily="49" charset="0"/>
                        <a:cs typeface="Times New Roman" pitchFamily="18" charset="0"/>
                      </a:endParaRPr>
                    </a:p>
                  </a:txBody>
                  <a:tcPr marL="68580" marR="68580" marT="34290" marB="34290" anchor="ctr" anchorCtr="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 = 1</a:t>
                      </a:r>
                    </a:p>
                  </a:txBody>
                  <a:tcPr marL="68580" marR="68580" marT="34290" marB="34290" anchor="ctr" anchorCtr="1"/>
                </a:tc>
                <a:tc>
                  <a:txBody>
                    <a:bodyPr/>
                    <a:lstStyle/>
                    <a:p>
                      <a:pPr marL="285750" marR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400" dirty="0"/>
                        <a:t>O</a:t>
                      </a:r>
                      <a:r>
                        <a:rPr lang="en-US" sz="1400" baseline="0" dirty="0"/>
                        <a:t>verflow occurs, implying the result is incorrect. </a:t>
                      </a:r>
                    </a:p>
                    <a:p>
                      <a:pPr marL="285750" marR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400" baseline="0" dirty="0"/>
                        <a:t>The result is mistakenly reported as non-negative and in fact it should be negative. </a:t>
                      </a:r>
                    </a:p>
                    <a:p>
                      <a:pPr marL="285750" marR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400" baseline="0" dirty="0"/>
                        <a:t>Thus 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– r1 &lt; 0 </a:t>
                      </a:r>
                      <a:r>
                        <a:rPr lang="en-US" sz="1400" baseline="0" dirty="0"/>
                        <a:t>in reality, i.e., 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&lt; r1</a:t>
                      </a:r>
                      <a:endParaRPr lang="en-US" sz="1400" dirty="0">
                        <a:latin typeface="Consolas" panose="020B0609020204030204" pitchFamily="49" charset="0"/>
                        <a:cs typeface="Times New Roman" pitchFamily="18" charset="0"/>
                      </a:endParaRPr>
                    </a:p>
                  </a:txBody>
                  <a:tcPr marL="68580" marR="68580" marT="34290" marB="34290" anchor="ctr" anchorCtr="1"/>
                </a:tc>
                <a:tc>
                  <a:txBody>
                    <a:bodyPr/>
                    <a:lstStyle/>
                    <a:p>
                      <a:pPr marL="285750" marR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400" dirty="0"/>
                        <a:t>O</a:t>
                      </a:r>
                      <a:r>
                        <a:rPr lang="en-US" sz="1400" baseline="0" dirty="0"/>
                        <a:t>verflow occurs, implying the result is incorrect. </a:t>
                      </a:r>
                    </a:p>
                    <a:p>
                      <a:pPr marL="285750" marR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400" baseline="0" dirty="0"/>
                        <a:t>The result is mistakenly reported as negative and in fact it should be non-negative. </a:t>
                      </a:r>
                    </a:p>
                    <a:p>
                      <a:pPr marL="285750" marR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400" baseline="0" dirty="0"/>
                        <a:t>Thus 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– r1 ≥ 0 </a:t>
                      </a:r>
                      <a:r>
                        <a:rPr lang="en-US" sz="1400" baseline="0" dirty="0"/>
                        <a:t>in reality., i.e.  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≥ r1</a:t>
                      </a:r>
                      <a:endParaRPr lang="en-US" sz="1400" dirty="0">
                        <a:latin typeface="Consolas" panose="020B0609020204030204" pitchFamily="49" charset="0"/>
                        <a:cs typeface="Times New Roman" pitchFamily="18" charset="0"/>
                      </a:endParaRPr>
                    </a:p>
                  </a:txBody>
                  <a:tcPr marL="68580" marR="68580" marT="34290" marB="34290" anchor="ctr" anchorCtr="1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543051" y="1771651"/>
            <a:ext cx="4113947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135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r0, r1</a:t>
            </a:r>
          </a:p>
          <a:p>
            <a:pPr defTabSz="685800"/>
            <a:r>
              <a:rPr lang="en-US" sz="1350" dirty="0">
                <a:solidFill>
                  <a:prstClr val="black"/>
                </a:solidFill>
                <a:latin typeface="Gill Sans MT"/>
              </a:rPr>
              <a:t>perform subtraction </a:t>
            </a:r>
            <a:r>
              <a:rPr lang="en-US" sz="1350" dirty="0">
                <a:solidFill>
                  <a:prstClr val="black"/>
                </a:solidFill>
                <a:latin typeface="Consolas" panose="020B0609020204030204" pitchFamily="49" charset="0"/>
              </a:rPr>
              <a:t>r0 – r1</a:t>
            </a:r>
            <a:r>
              <a:rPr lang="en-US" sz="1350" dirty="0">
                <a:solidFill>
                  <a:prstClr val="black"/>
                </a:solidFill>
                <a:latin typeface="Gill Sans MT"/>
              </a:rPr>
              <a:t>, without saving the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3050" y="5011520"/>
            <a:ext cx="48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sz="1200" dirty="0">
                <a:solidFill>
                  <a:prstClr val="black"/>
                </a:solidFill>
                <a:latin typeface="Gill Sans MT"/>
              </a:rPr>
              <a:t>Conclusions:</a:t>
            </a:r>
          </a:p>
          <a:p>
            <a:pPr marL="214313" indent="-214313" defTabSz="685800">
              <a:buFont typeface="Arial" pitchFamily="34" charset="0"/>
              <a:buChar char="•"/>
            </a:pPr>
            <a:r>
              <a:rPr lang="en-US" sz="1200" dirty="0">
                <a:solidFill>
                  <a:prstClr val="black"/>
                </a:solidFill>
                <a:latin typeface="Gill Sans MT"/>
              </a:rPr>
              <a:t>If N == V, then it is signed greater or equal (GE).</a:t>
            </a:r>
          </a:p>
          <a:p>
            <a:pPr marL="214313" indent="-214313" defTabSz="685800">
              <a:buFont typeface="Arial" pitchFamily="34" charset="0"/>
              <a:buChar char="•"/>
            </a:pPr>
            <a:r>
              <a:rPr lang="en-US" sz="1200" dirty="0">
                <a:solidFill>
                  <a:prstClr val="black"/>
                </a:solidFill>
                <a:latin typeface="Gill Sans MT"/>
              </a:rPr>
              <a:t>Otherwise, it is signed less than (LT)</a:t>
            </a:r>
          </a:p>
        </p:txBody>
      </p:sp>
    </p:spTree>
    <p:extLst>
      <p:ext uri="{BB962C8B-B14F-4D97-AF65-F5344CB8AC3E}">
        <p14:creationId xmlns:p14="http://schemas.microsoft.com/office/powerpoint/2010/main" val="2035247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Signed Comparison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57301" y="2256398"/>
          <a:ext cx="6572251" cy="2737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685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0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863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endParaRPr 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N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N = 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543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 = 0</a:t>
                      </a:r>
                    </a:p>
                  </a:txBody>
                  <a:tcPr marL="68580" marR="68580" marT="34290" marB="34290" anchor="ctr" anchorCtr="1"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itchFamily="34" charset="0"/>
                        <a:buNone/>
                      </a:pP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≥ r1</a:t>
                      </a:r>
                    </a:p>
                    <a:p>
                      <a:pPr marL="0" indent="0" algn="ctr">
                        <a:buFont typeface="Arial" pitchFamily="34" charset="0"/>
                        <a:buNone/>
                      </a:pPr>
                      <a:r>
                        <a:rPr lang="en-US" sz="1400" baseline="0" dirty="0">
                          <a:latin typeface="Consolas" panose="020B0609020204030204" pitchFamily="49" charset="0"/>
                          <a:cs typeface="Times New Roman" pitchFamily="18" charset="0"/>
                        </a:rPr>
                        <a:t>CMP returns 1</a:t>
                      </a:r>
                      <a:endParaRPr lang="en-US" sz="1400" dirty="0">
                        <a:latin typeface="Consolas" panose="020B0609020204030204" pitchFamily="49" charset="0"/>
                        <a:cs typeface="Times New Roman" pitchFamily="18" charset="0"/>
                      </a:endParaRPr>
                    </a:p>
                  </a:txBody>
                  <a:tcPr marL="68580" marR="68580" marT="34290" marB="34290" anchor="ctr" anchorCtr="1"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itchFamily="34" charset="0"/>
                        <a:buNone/>
                      </a:pP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&lt; r1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400" baseline="0" dirty="0">
                          <a:latin typeface="Consolas" panose="020B0609020204030204" pitchFamily="49" charset="0"/>
                          <a:cs typeface="Times New Roman" pitchFamily="18" charset="0"/>
                        </a:rPr>
                        <a:t>CMP returns 0</a:t>
                      </a:r>
                      <a:endParaRPr lang="en-US" sz="1400" dirty="0">
                        <a:latin typeface="Consolas" panose="020B0609020204030204" pitchFamily="49" charset="0"/>
                        <a:cs typeface="Times New Roman" pitchFamily="18" charset="0"/>
                      </a:endParaRPr>
                    </a:p>
                  </a:txBody>
                  <a:tcPr marL="68580" marR="68580" marT="34290" marB="34290" anchor="ctr" anchorCtr="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966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 = 1</a:t>
                      </a:r>
                    </a:p>
                  </a:txBody>
                  <a:tcPr marL="68580" marR="68580" marT="34290" marB="34290" anchor="ctr" anchorCtr="1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&lt; r1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400" baseline="0" dirty="0">
                          <a:latin typeface="Consolas" panose="020B0609020204030204" pitchFamily="49" charset="0"/>
                          <a:cs typeface="Times New Roman" pitchFamily="18" charset="0"/>
                        </a:rPr>
                        <a:t>CMP returns 0</a:t>
                      </a:r>
                      <a:endParaRPr lang="en-US" sz="1400" dirty="0">
                        <a:latin typeface="Consolas" panose="020B0609020204030204" pitchFamily="49" charset="0"/>
                        <a:cs typeface="Times New Roman" pitchFamily="18" charset="0"/>
                      </a:endParaRPr>
                    </a:p>
                  </a:txBody>
                  <a:tcPr marL="68580" marR="68580" marT="34290" marB="34290" anchor="ctr" anchorCtr="1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r0 ≥ r1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400" baseline="0" dirty="0">
                          <a:latin typeface="Consolas" panose="020B0609020204030204" pitchFamily="49" charset="0"/>
                          <a:cs typeface="Times New Roman" pitchFamily="18" charset="0"/>
                        </a:rPr>
                        <a:t>CMP returns 1</a:t>
                      </a:r>
                      <a:endParaRPr lang="en-US" sz="1400" dirty="0">
                        <a:latin typeface="Consolas" panose="020B0609020204030204" pitchFamily="49" charset="0"/>
                        <a:cs typeface="Times New Roman" pitchFamily="18" charset="0"/>
                      </a:endParaRPr>
                    </a:p>
                  </a:txBody>
                  <a:tcPr marL="68580" marR="68580" marT="34290" marB="34290" anchor="ctr" anchorCtr="1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543051" y="1771651"/>
            <a:ext cx="4113947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r0, r1</a:t>
            </a:r>
          </a:p>
          <a:p>
            <a:r>
              <a:rPr lang="en-US" sz="1350" dirty="0"/>
              <a:t>perform subtraction </a:t>
            </a:r>
            <a:r>
              <a:rPr lang="en-US" sz="1350" dirty="0">
                <a:latin typeface="Consolas" panose="020B0609020204030204" pitchFamily="49" charset="0"/>
              </a:rPr>
              <a:t>r0 – r1</a:t>
            </a:r>
            <a:r>
              <a:rPr lang="en-US" sz="1350" dirty="0"/>
              <a:t>, without saving the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3050" y="5011520"/>
            <a:ext cx="48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Conclusions:</a:t>
            </a:r>
          </a:p>
          <a:p>
            <a:pPr marL="214313" indent="-214313">
              <a:buFont typeface="Arial" pitchFamily="34" charset="0"/>
              <a:buChar char="•"/>
            </a:pPr>
            <a:r>
              <a:rPr lang="en-US" sz="1200" dirty="0"/>
              <a:t>If N == V, then it is signed greater or equal (GE).</a:t>
            </a:r>
          </a:p>
          <a:p>
            <a:pPr marL="214313" indent="-214313">
              <a:buFont typeface="Arial" pitchFamily="34" charset="0"/>
              <a:buChar char="•"/>
            </a:pPr>
            <a:r>
              <a:rPr lang="en-US" sz="1200" dirty="0"/>
              <a:t>Otherwise, it is signed less than (LT)</a:t>
            </a:r>
          </a:p>
        </p:txBody>
      </p:sp>
    </p:spTree>
    <p:extLst>
      <p:ext uri="{BB962C8B-B14F-4D97-AF65-F5344CB8AC3E}">
        <p14:creationId xmlns:p14="http://schemas.microsoft.com/office/powerpoint/2010/main" val="2051571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024745" y="39747"/>
            <a:ext cx="82296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sz="3600" dirty="0">
                <a:solidFill>
                  <a:srgbClr val="FF0000"/>
                </a:solidFill>
                <a:latin typeface="Gill Sans MT"/>
                <a:cs typeface="Times New Roman" pitchFamily="18" charset="0"/>
              </a:rPr>
              <a:t>Summary of Carry and Overflow Flags</a:t>
            </a:r>
            <a:endParaRPr lang="en-US" sz="3600" dirty="0">
              <a:solidFill>
                <a:srgbClr val="FF0000"/>
              </a:solidFill>
            </a:endParaRPr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56C4D0-D1DD-434F-9E39-17578F101405}" type="slidenum"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  <p:sp>
        <p:nvSpPr>
          <p:cNvPr id="323586" name="Date Placeholder 3"/>
          <p:cNvSpPr txBox="1">
            <a:spLocks noGrp="1"/>
          </p:cNvSpPr>
          <p:nvPr/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6553200" y="5864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3D14BE-FE52-4332-969F-3696FB65ED39}" type="slidenum"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609600" y="3370151"/>
            <a:ext cx="8083550" cy="23544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Carry flag C = 1 upon an </a:t>
            </a:r>
            <a:r>
              <a:rPr kumimoji="0" lang="en-US" b="1" i="0" u="sng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unsigned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kumimoji="0" lang="en-US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n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-1)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u="sng" dirty="0">
                <a:solidFill>
                  <a:srgbClr val="800000"/>
                </a:solidFill>
                <a:latin typeface="Gill Sans MT"/>
              </a:rPr>
              <a:t>unsigned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700" b="0" dirty="0">
              <a:solidFill>
                <a:prstClr val="black"/>
              </a:solidFill>
              <a:latin typeface="Gill Sans MT"/>
            </a:endParaRPr>
          </a:p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Overflow</a:t>
            </a:r>
            <a:r>
              <a:rPr kumimoji="0" lang="en-US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 flag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V =1 upon a </a:t>
            </a:r>
            <a:r>
              <a:rPr kumimoji="0" lang="en-US" b="1" i="0" u="sng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signed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 addition 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(true result &gt; 2</a:t>
            </a:r>
            <a:r>
              <a:rPr lang="en-US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  <a:endParaRPr kumimoji="0" lang="en-US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cs typeface="Times New Roman" pitchFamily="18" charset="0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39012" name="Group 100"/>
          <p:cNvGraphicFramePr>
            <a:graphicFrameLocks noGrp="1"/>
          </p:cNvGraphicFramePr>
          <p:nvPr/>
        </p:nvGraphicFramePr>
        <p:xfrm>
          <a:off x="1447800" y="1143000"/>
          <a:ext cx="5715000" cy="2362201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585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96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3075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Bit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Name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Meaning after add or sub</a:t>
                      </a:r>
                      <a:endParaRPr kumimoji="0" lang="en-US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N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negative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result is negative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3075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Z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zero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result is zero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V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overflow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signed overflow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3075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C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carry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unsigned overflow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Rectangle 20"/>
          <p:cNvSpPr>
            <a:spLocks noChangeArrowheads="1"/>
          </p:cNvSpPr>
          <p:nvPr/>
        </p:nvSpPr>
        <p:spPr bwMode="auto">
          <a:xfrm>
            <a:off x="3340970" y="557530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endParaRPr lang="en-US" sz="135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3271914" y="5336505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500" b="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19" name="Text Box 22"/>
          <p:cNvSpPr txBox="1">
            <a:spLocks noChangeArrowheads="1"/>
          </p:cNvSpPr>
          <p:nvPr/>
        </p:nvSpPr>
        <p:spPr bwMode="auto">
          <a:xfrm>
            <a:off x="4998320" y="5325789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500" b="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0970" y="557530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03092" y="557502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65215" y="557446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24956" y="557446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78666" y="6009879"/>
            <a:ext cx="2941896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6" name="Horizontal Scroll 15"/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623990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A519-DBC1-4403-2E8B-B6BADD69B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NZCV Flags in </a:t>
            </a:r>
            <a:r>
              <a:rPr lang="en-US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2D03D-6F8E-1055-AD43-53C024771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71F98-40C3-8109-24BE-24A75ED061C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910806"/>
          </a:xfrm>
        </p:spPr>
        <p:txBody>
          <a:bodyPr>
            <a:normAutofit fontScale="77500" lnSpcReduction="20000"/>
          </a:bodyPr>
          <a:lstStyle/>
          <a:p>
            <a:r>
              <a:rPr lang="en-US" sz="2800" b="1" dirty="0"/>
              <a:t>N</a:t>
            </a:r>
            <a:r>
              <a:rPr lang="en-US" sz="2800" dirty="0"/>
              <a:t> (negative) – set (1) when a signed result is negative, otherwise cleared (0).</a:t>
            </a:r>
          </a:p>
          <a:p>
            <a:r>
              <a:rPr lang="en-US" sz="2800" b="1" dirty="0"/>
              <a:t>Z</a:t>
            </a:r>
            <a:r>
              <a:rPr lang="en-US" sz="2800" dirty="0"/>
              <a:t> (zero) – set (1) when a result is 0, otherwise cleared (0).</a:t>
            </a:r>
          </a:p>
          <a:p>
            <a:r>
              <a:rPr lang="en-US" sz="2800" b="1" dirty="0"/>
              <a:t>C</a:t>
            </a:r>
            <a:r>
              <a:rPr lang="en-US" sz="2800" dirty="0"/>
              <a:t> (carry) – set (1) when an add-based operation produces an overflow, when a subtract-based operation doesn’t require a borrow; when shifting, holds the last bit that’s been shifted out; otherwise cleared (0).</a:t>
            </a:r>
          </a:p>
          <a:p>
            <a:r>
              <a:rPr lang="en-US" sz="2800" b="1" dirty="0"/>
              <a:t>V</a:t>
            </a:r>
            <a:r>
              <a:rPr lang="en-US" sz="2800" dirty="0"/>
              <a:t> (overflow) – set (1) when an add- or subtract-based operation generates a signed overflow, otherwise cleared (0).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168489-8B57-7C2E-A280-C2FCA5EA7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4016795"/>
            <a:ext cx="5940553" cy="2409224"/>
          </a:xfrm>
          <a:prstGeom prst="rect">
            <a:avLst/>
          </a:prstGeom>
        </p:spPr>
      </p:pic>
      <p:sp>
        <p:nvSpPr>
          <p:cNvPr id="5" name="Horizontal Scroll 15">
            <a:extLst>
              <a:ext uri="{FF2B5EF4-FFF2-40B4-BE49-F238E27FC236}">
                <a16:creationId xmlns:a16="http://schemas.microsoft.com/office/drawing/2014/main" id="{785D1948-1665-EC1C-519D-DEF2FD52EF22}"/>
              </a:ext>
            </a:extLst>
          </p:cNvPr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452138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1" name="Rectangle 57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1: Greatest Common Divider (GCD)</a:t>
            </a:r>
          </a:p>
        </p:txBody>
      </p:sp>
      <p:sp>
        <p:nvSpPr>
          <p:cNvPr id="16387" name="Rectangle 3"/>
          <p:cNvSpPr>
            <a:spLocks noChangeArrowheads="1"/>
          </p:cNvSpPr>
          <p:nvPr/>
        </p:nvSpPr>
        <p:spPr bwMode="auto">
          <a:xfrm>
            <a:off x="1660922" y="5539979"/>
            <a:ext cx="142755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88" name="Rectangle 4"/>
          <p:cNvSpPr>
            <a:spLocks noChangeArrowheads="1"/>
          </p:cNvSpPr>
          <p:nvPr/>
        </p:nvSpPr>
        <p:spPr bwMode="auto">
          <a:xfrm>
            <a:off x="3487342" y="5539979"/>
            <a:ext cx="216931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89" name="Rectangle 5"/>
          <p:cNvSpPr>
            <a:spLocks noChangeArrowheads="1"/>
          </p:cNvSpPr>
          <p:nvPr/>
        </p:nvSpPr>
        <p:spPr bwMode="auto">
          <a:xfrm>
            <a:off x="1660922" y="5539979"/>
            <a:ext cx="142755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90" name="Rectangle 6"/>
          <p:cNvSpPr>
            <a:spLocks noChangeArrowheads="1"/>
          </p:cNvSpPr>
          <p:nvPr/>
        </p:nvSpPr>
        <p:spPr bwMode="auto">
          <a:xfrm>
            <a:off x="3487342" y="5539979"/>
            <a:ext cx="216931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58" name="Slide Number Placeholder 5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>
                <a:solidFill>
                  <a:srgbClr val="1F497D"/>
                </a:solidFill>
                <a:latin typeface="Gill Sans MT"/>
              </a:rPr>
              <a:pPr/>
              <a:t>7</a:t>
            </a:fld>
            <a:endParaRPr lang="en-US">
              <a:solidFill>
                <a:srgbClr val="1F497D"/>
              </a:solidFill>
              <a:latin typeface="Gill Sans MT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353699" y="3637264"/>
            <a:ext cx="3389752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suppose r0 = a and r1 = b</a:t>
            </a:r>
          </a:p>
          <a:p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CMP r0, r1	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&gt; b?</a:t>
            </a:r>
          </a:p>
          <a:p>
            <a:r>
              <a:rPr lang="en-US" sz="1200" b="1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BEQ end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if a = b, done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BLO less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&lt; b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SUB r0, r0, r1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= a – b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   </a:t>
            </a:r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endParaRPr lang="en-US" sz="1200" b="1" dirty="0">
              <a:solidFill>
                <a:srgbClr val="FF40F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less  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 r1, r1, r0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 = b – a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   </a:t>
            </a:r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2000251" y="3371297"/>
            <a:ext cx="124628" cy="21636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white"/>
              </a:solidFill>
              <a:latin typeface="Gill Sans MT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283565" y="1698012"/>
            <a:ext cx="12872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Gill Sans MT"/>
              </a:rPr>
              <a:t>Euclid’s Algorithm</a:t>
            </a:r>
          </a:p>
        </p:txBody>
      </p:sp>
      <p:grpSp>
        <p:nvGrpSpPr>
          <p:cNvPr id="66" name="Group 65"/>
          <p:cNvGrpSpPr/>
          <p:nvPr/>
        </p:nvGrpSpPr>
        <p:grpSpPr>
          <a:xfrm>
            <a:off x="4686301" y="1714500"/>
            <a:ext cx="2679396" cy="830997"/>
            <a:chOff x="4461833" y="1619479"/>
            <a:chExt cx="3572527" cy="1107996"/>
          </a:xfrm>
        </p:grpSpPr>
        <p:sp>
          <p:nvSpPr>
            <p:cNvPr id="64" name="Right Arrow 63"/>
            <p:cNvSpPr/>
            <p:nvPr/>
          </p:nvSpPr>
          <p:spPr>
            <a:xfrm>
              <a:off x="4461833" y="2027104"/>
              <a:ext cx="716096" cy="209321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prstClr val="white"/>
                </a:solidFill>
                <a:latin typeface="Gill Sans MT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409282" y="1619479"/>
              <a:ext cx="2625078" cy="110799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gcd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CMP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r0, r1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SUBHI r0, r0, r1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SUBLO r1, r1, r0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BNE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gcd</a:t>
              </a:r>
              <a:endPara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1353699" y="1959784"/>
            <a:ext cx="2958028" cy="13849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uint32_t a, b;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 (a != b ) {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if (a &gt; b)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a = a – b;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else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b = b – a;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Arrow: Curved Right 1">
            <a:extLst>
              <a:ext uri="{FF2B5EF4-FFF2-40B4-BE49-F238E27FC236}">
                <a16:creationId xmlns:a16="http://schemas.microsoft.com/office/drawing/2014/main" id="{63AD5224-522C-18FC-A5C0-4CAEE167F4A7}"/>
              </a:ext>
            </a:extLst>
          </p:cNvPr>
          <p:cNvSpPr/>
          <p:nvPr/>
        </p:nvSpPr>
        <p:spPr>
          <a:xfrm>
            <a:off x="1143001" y="4114800"/>
            <a:ext cx="210698" cy="120015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3" name="Arrow: Curved Right 2">
            <a:extLst>
              <a:ext uri="{FF2B5EF4-FFF2-40B4-BE49-F238E27FC236}">
                <a16:creationId xmlns:a16="http://schemas.microsoft.com/office/drawing/2014/main" id="{D6951C95-8873-B916-2166-BF641EF82FD2}"/>
              </a:ext>
            </a:extLst>
          </p:cNvPr>
          <p:cNvSpPr/>
          <p:nvPr/>
        </p:nvSpPr>
        <p:spPr>
          <a:xfrm>
            <a:off x="1143000" y="4284417"/>
            <a:ext cx="210698" cy="630484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4" name="Arrow: Curved Right 3">
            <a:extLst>
              <a:ext uri="{FF2B5EF4-FFF2-40B4-BE49-F238E27FC236}">
                <a16:creationId xmlns:a16="http://schemas.microsoft.com/office/drawing/2014/main" id="{BF8ADD12-38AC-2F78-06EF-691CD8EC6539}"/>
              </a:ext>
            </a:extLst>
          </p:cNvPr>
          <p:cNvSpPr/>
          <p:nvPr/>
        </p:nvSpPr>
        <p:spPr>
          <a:xfrm flipV="1">
            <a:off x="1638717" y="3882854"/>
            <a:ext cx="262820" cy="86876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CC7A2AF8-E930-2C88-AA7D-100ACAD1C1CD}"/>
              </a:ext>
            </a:extLst>
          </p:cNvPr>
          <p:cNvSpPr/>
          <p:nvPr/>
        </p:nvSpPr>
        <p:spPr>
          <a:xfrm flipV="1">
            <a:off x="1625960" y="3874692"/>
            <a:ext cx="262820" cy="1203767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05A93BF7-A206-F2CA-CC13-D14DF785DD1A}"/>
              </a:ext>
            </a:extLst>
          </p:cNvPr>
          <p:cNvSpPr txBox="1">
            <a:spLocks/>
          </p:cNvSpPr>
          <p:nvPr/>
        </p:nvSpPr>
        <p:spPr bwMode="auto">
          <a:xfrm>
            <a:off x="4810052" y="2546908"/>
            <a:ext cx="3079900" cy="3395561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67859" tIns="33334" rIns="67859" bIns="33334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CMP r0, r1 compares r0 and r1, setting Z=1 if r0 == r1, which is the termination condition when tested by BNE later.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SUBHI r0, r0, r1 executes only if the previous compare set HI (unsigned “higher”), i.e., r0 &gt; r1 for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r0 and r1. Flags C=1 and Z=0 (“no borrow” and “not equal”).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SUBLO r1, r1, r0 executes only if the previous compare of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set LO (unsigned “lower”), i.e., r0 &lt; r1 for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r0 and r1. Flag C=0 (“borrow”).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BNE </a:t>
            </a:r>
            <a:r>
              <a:rPr lang="en-US" sz="1350" kern="0" dirty="0" err="1">
                <a:solidFill>
                  <a:prstClr val="black"/>
                </a:solidFill>
              </a:rPr>
              <a:t>gcd</a:t>
            </a:r>
            <a:r>
              <a:rPr lang="en-US" sz="1350" kern="0" dirty="0">
                <a:solidFill>
                  <a:prstClr val="black"/>
                </a:solidFill>
              </a:rPr>
              <a:t> branches back to the label if Z=0 from the CMP, i.e., while r0 != r1; when they become equal, Z=1 and the loop falls through, leaving r0 == r1 == </a:t>
            </a:r>
            <a:r>
              <a:rPr lang="en-US" sz="1350" kern="0" dirty="0" err="1">
                <a:solidFill>
                  <a:prstClr val="black"/>
                </a:solidFill>
              </a:rPr>
              <a:t>gcd</a:t>
            </a:r>
            <a:r>
              <a:rPr lang="en-US" sz="1350" kern="0" dirty="0">
                <a:solidFill>
                  <a:prstClr val="black"/>
                </a:solidFill>
              </a:rPr>
              <a:t>(a, b).</a:t>
            </a:r>
            <a:endParaRPr lang="en-GB" sz="1350" kern="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2285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3DE11-4A34-23E8-64C2-213C279CC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GCD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3F6058-B736-B29C-B402-F8D3E7E96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pic>
        <p:nvPicPr>
          <p:cNvPr id="6" name="Content Placeholder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92B2B7E-F38B-2628-EF2D-83C2D72E679F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84" y="1771650"/>
            <a:ext cx="6582833" cy="3702844"/>
          </a:xfrm>
        </p:spPr>
      </p:pic>
    </p:spTree>
    <p:extLst>
      <p:ext uri="{BB962C8B-B14F-4D97-AF65-F5344CB8AC3E}">
        <p14:creationId xmlns:p14="http://schemas.microsoft.com/office/powerpoint/2010/main" val="464193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3426936"/>
            <a:ext cx="1447800" cy="1427639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 flipH="1" flipV="1">
            <a:off x="7162800" y="3299012"/>
            <a:ext cx="1676400" cy="1653989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7162800" y="3299012"/>
            <a:ext cx="1676400" cy="1653988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544586" y="4270811"/>
            <a:ext cx="2728963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We cannot store a word at address 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0x20000002</a:t>
            </a:r>
            <a:r>
              <a:rPr lang="en-US" sz="1600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8" y="3219187"/>
            <a:ext cx="4191000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100" dirty="0"/>
              <a:t>Word-address mod 4 = 0</a:t>
            </a:r>
          </a:p>
        </p:txBody>
      </p:sp>
      <p:sp>
        <p:nvSpPr>
          <p:cNvPr id="57" name="Content Placeholder 2"/>
          <p:cNvSpPr>
            <a:spLocks noGrp="1"/>
          </p:cNvSpPr>
          <p:nvPr>
            <p:ph sz="quarter" idx="1"/>
          </p:nvPr>
        </p:nvSpPr>
        <p:spPr>
          <a:xfrm>
            <a:off x="452788" y="1214489"/>
            <a:ext cx="5486400" cy="1618664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Can we store a word anywhere in memory?  </a:t>
            </a:r>
          </a:p>
          <a:p>
            <a:pPr marL="274320" lvl="1" indent="0">
              <a:buNone/>
            </a:pPr>
            <a:r>
              <a:rPr lang="en-US" sz="2000" dirty="0">
                <a:solidFill>
                  <a:schemeClr val="accent2"/>
                </a:solidFill>
              </a:rPr>
              <a:t>	</a:t>
            </a:r>
            <a:r>
              <a:rPr lang="en-US" sz="2000" b="1" dirty="0">
                <a:solidFill>
                  <a:schemeClr val="accent2"/>
                </a:solidFill>
              </a:rPr>
              <a:t>NO on most computers!</a:t>
            </a:r>
          </a:p>
          <a:p>
            <a:pPr lvl="1"/>
            <a:r>
              <a:rPr lang="en-US" sz="2000" dirty="0"/>
              <a:t>A word can only be stored at an address that's divisible by 4.</a:t>
            </a:r>
          </a:p>
          <a:p>
            <a:pPr marL="274320" lvl="1" indent="0">
              <a:buNone/>
            </a:pPr>
            <a:endParaRPr lang="en-US" sz="20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446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4518210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 flipH="1" flipV="1">
            <a:off x="7086600" y="4442010"/>
            <a:ext cx="1828800" cy="838200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rot="10800000" flipV="1">
            <a:off x="7086600" y="4442010"/>
            <a:ext cx="1828800" cy="838200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769481" y="4465346"/>
            <a:ext cx="2685177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We c</a:t>
            </a:r>
            <a:r>
              <a:rPr lang="en-US" sz="1600" b="1" dirty="0">
                <a:solidFill>
                  <a:schemeClr val="bg1"/>
                </a:solidFill>
              </a:rPr>
              <a:t>annot store a halfword at address 0x20000001.</a:t>
            </a:r>
          </a:p>
        </p:txBody>
      </p:sp>
      <p:sp>
        <p:nvSpPr>
          <p:cNvPr id="54" name="Content Placeholder 2"/>
          <p:cNvSpPr>
            <a:spLocks noGrp="1"/>
          </p:cNvSpPr>
          <p:nvPr>
            <p:ph sz="quarter" idx="1"/>
          </p:nvPr>
        </p:nvSpPr>
        <p:spPr>
          <a:xfrm>
            <a:off x="142043" y="1219200"/>
            <a:ext cx="5768301" cy="4937760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Can you store a halfword anywhere?  </a:t>
            </a:r>
            <a:r>
              <a:rPr lang="en-US" sz="2000" b="1" dirty="0">
                <a:solidFill>
                  <a:schemeClr val="accent2"/>
                </a:solidFill>
              </a:rPr>
              <a:t>NO.</a:t>
            </a:r>
          </a:p>
          <a:p>
            <a:pPr lvl="1"/>
            <a:r>
              <a:rPr lang="en-US" sz="2000" dirty="0"/>
              <a:t>A halfword can only be stored at an address that's divisible by 2.</a:t>
            </a:r>
          </a:p>
          <a:p>
            <a:pPr lvl="1"/>
            <a:r>
              <a:rPr lang="en-US" sz="2000" dirty="0"/>
              <a:t>Memory address of a halfword is the lowest address of its two bytes.</a:t>
            </a:r>
          </a:p>
          <a:p>
            <a:pPr lvl="1"/>
            <a:endParaRPr lang="en-US" sz="2000" dirty="0"/>
          </a:p>
          <a:p>
            <a:pPr lvl="1"/>
            <a:endParaRPr lang="en-US" sz="2000" b="1" dirty="0">
              <a:solidFill>
                <a:schemeClr val="accent2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90989" y="3025517"/>
            <a:ext cx="516366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100" dirty="0" err="1"/>
              <a:t>Halfword</a:t>
            </a:r>
            <a:r>
              <a:rPr lang="en-US" sz="2100" dirty="0"/>
              <a:t>-address mod 2 = 0</a:t>
            </a:r>
          </a:p>
        </p:txBody>
      </p:sp>
    </p:spTree>
    <p:extLst>
      <p:ext uri="{BB962C8B-B14F-4D97-AF65-F5344CB8AC3E}">
        <p14:creationId xmlns:p14="http://schemas.microsoft.com/office/powerpoint/2010/main" val="2963767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023018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Typically, Barrel shifters are implemented as a cascade of parallel 2-to-1 multiplexers.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8384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955595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61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434776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US" sz="180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00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700696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12954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10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97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145348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11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976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ADR</a:t>
            </a:r>
            <a:r>
              <a:rPr lang="en-US" dirty="0"/>
              <a:t> Pseudo-instruction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ADR</a:t>
            </a:r>
            <a:r>
              <a:rPr lang="en-US" dirty="0"/>
              <a:t>: loads a program-relative or register-relative address into a register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0" y="3124200"/>
            <a:ext cx="5715000" cy="7386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start  MOV r0,#10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32-bit instruction</a:t>
            </a:r>
          </a:p>
          <a:p>
            <a:r>
              <a:rPr lang="en-US" dirty="0">
                <a:latin typeface="Consolas" panose="020B0609020204030204" pitchFamily="49" charset="0"/>
              </a:rPr>
              <a:t>       ADR r4,start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32-bit instruction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=&gt; 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SUB r4,pc,#0xc</a:t>
            </a:r>
          </a:p>
        </p:txBody>
      </p:sp>
    </p:spTree>
    <p:extLst>
      <p:ext uri="{BB962C8B-B14F-4D97-AF65-F5344CB8AC3E}">
        <p14:creationId xmlns:p14="http://schemas.microsoft.com/office/powerpoint/2010/main" val="3686948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Left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24" y="3086370"/>
            <a:ext cx="8631751" cy="68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306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Left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3400" y="1447800"/>
            <a:ext cx="3123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Logic Shift Left by 3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50985"/>
            <a:ext cx="9144000" cy="29232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08398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Right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777" y="2940435"/>
            <a:ext cx="8644445" cy="97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10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Right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0"/>
            <a:ext cx="3245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Logic Shift Right by 3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95526"/>
            <a:ext cx="9100256" cy="2581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2390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E58F7-DD2C-7131-891F-4C21E8AC6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41" y="-457200"/>
            <a:ext cx="8839201" cy="914400"/>
          </a:xfrm>
        </p:spPr>
        <p:txBody>
          <a:bodyPr>
            <a:normAutofit/>
          </a:bodyPr>
          <a:lstStyle/>
          <a:p>
            <a:r>
              <a:rPr lang="en-US" sz="1800" dirty="0"/>
              <a:t>ARM Register Conventions (APCS-Application Procedure Call Standard)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A9D7B4-1C12-419A-88B5-D188777C0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953B4AB-BCAF-439D-6351-9E157BE57934}"/>
              </a:ext>
            </a:extLst>
          </p:cNvPr>
          <p:cNvGraphicFramePr>
            <a:graphicFrameLocks noGrp="1"/>
          </p:cNvGraphicFramePr>
          <p:nvPr/>
        </p:nvGraphicFramePr>
        <p:xfrm>
          <a:off x="152399" y="616234"/>
          <a:ext cx="8839201" cy="61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134">
                  <a:extLst>
                    <a:ext uri="{9D8B030D-6E8A-4147-A177-3AD203B41FA5}">
                      <a16:colId xmlns:a16="http://schemas.microsoft.com/office/drawing/2014/main" val="200291306"/>
                    </a:ext>
                  </a:extLst>
                </a:gridCol>
                <a:gridCol w="846667">
                  <a:extLst>
                    <a:ext uri="{9D8B030D-6E8A-4147-A177-3AD203B41FA5}">
                      <a16:colId xmlns:a16="http://schemas.microsoft.com/office/drawing/2014/main" val="1765130036"/>
                    </a:ext>
                  </a:extLst>
                </a:gridCol>
                <a:gridCol w="3654778">
                  <a:extLst>
                    <a:ext uri="{9D8B030D-6E8A-4147-A177-3AD203B41FA5}">
                      <a16:colId xmlns:a16="http://schemas.microsoft.com/office/drawing/2014/main" val="87492144"/>
                    </a:ext>
                  </a:extLst>
                </a:gridCol>
                <a:gridCol w="3355622">
                  <a:extLst>
                    <a:ext uri="{9D8B030D-6E8A-4147-A177-3AD203B41FA5}">
                      <a16:colId xmlns:a16="http://schemas.microsoft.com/office/drawing/2014/main" val="314569210"/>
                    </a:ext>
                  </a:extLst>
                </a:gridCol>
              </a:tblGrid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Reg. </a:t>
                      </a:r>
                    </a:p>
                    <a:p>
                      <a:r>
                        <a:rPr lang="en-US" sz="1600" dirty="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APCS</a:t>
                      </a:r>
                    </a:p>
                    <a:p>
                      <a:r>
                        <a:rPr lang="en-US" sz="1600" dirty="0"/>
                        <a:t>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Role in Procedure Calls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Comments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678385"/>
                  </a:ext>
                </a:extLst>
              </a:tr>
              <a:tr h="1258247">
                <a:tc>
                  <a:txBody>
                    <a:bodyPr/>
                    <a:lstStyle/>
                    <a:p>
                      <a:r>
                        <a:rPr lang="en-US" sz="1600" dirty="0"/>
                        <a:t>r0 - 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a1 - 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First 4 arguments into a procedure / Scratch pad / Return result(s) from a function (not preserved across call)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Caller-saved registers - subprogram can use them as</a:t>
                      </a:r>
                    </a:p>
                    <a:p>
                      <a:r>
                        <a:rPr lang="en-US" sz="1600" dirty="0"/>
                        <a:t> scratch registers, but it must also save any needed values</a:t>
                      </a:r>
                    </a:p>
                    <a:p>
                      <a:r>
                        <a:rPr lang="en-US" sz="1600" dirty="0"/>
                        <a:t> before calling another subprogram.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1341079"/>
                  </a:ext>
                </a:extLst>
              </a:tr>
              <a:tr h="1492339">
                <a:tc>
                  <a:txBody>
                    <a:bodyPr/>
                    <a:lstStyle/>
                    <a:p>
                      <a:r>
                        <a:rPr lang="en-US" sz="1600" dirty="0"/>
                        <a:t>r4 - 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v1 - 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Register Variables (preserved across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Callee-saved registers - it can rely on an subprogram it calls not to change them (so a subprogram wishing to use these registers must save them on entry and restore them before it exits)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379333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r9 – r12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Details omitted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Details omitted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9102704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fp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Frame pointer (if used) / Register Variable (preserved across call)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Callee-saved register - pointer to bottom of call-frame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2358629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sp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Stack pointer - points to the top of the 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25502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lr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Link register - holds the 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Receives return address on BL call to procedure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4203286"/>
                  </a:ext>
                </a:extLst>
              </a:tr>
              <a:tr h="356016">
                <a:tc>
                  <a:txBody>
                    <a:bodyPr/>
                    <a:lstStyle/>
                    <a:p>
                      <a:r>
                        <a:rPr lang="en-US" sz="1600" dirty="0"/>
                        <a:t>r15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Program 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550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542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Extra Arguments via Stack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428750" y="1828801"/>
            <a:ext cx="560070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50" b="1" dirty="0">
                <a:latin typeface="Consolas" panose="020B0609020204030204" pitchFamily="49" charset="0"/>
              </a:rPr>
              <a:t>int32_t sum(int32_t a, int32_t b, int32_t c, int32_t d,</a:t>
            </a:r>
          </a:p>
          <a:p>
            <a:r>
              <a:rPr lang="en-US" sz="1350" b="1" dirty="0">
                <a:latin typeface="Consolas" panose="020B0609020204030204" pitchFamily="49" charset="0"/>
              </a:rPr>
              <a:t>            int32_t h, int32_t </a:t>
            </a:r>
            <a:r>
              <a:rPr lang="en-US" sz="1350" b="1" dirty="0" err="1">
                <a:latin typeface="Consolas" panose="020B0609020204030204" pitchFamily="49" charset="0"/>
              </a:rPr>
              <a:t>i</a:t>
            </a:r>
            <a:r>
              <a:rPr lang="en-US" sz="1350" b="1" dirty="0">
                <a:latin typeface="Consolas" panose="020B0609020204030204" pitchFamily="49" charset="0"/>
              </a:rPr>
              <a:t>, int32_t j, int32_t k);</a:t>
            </a:r>
          </a:p>
        </p:txBody>
      </p:sp>
      <p:sp>
        <p:nvSpPr>
          <p:cNvPr id="6" name="Rectangle 5"/>
          <p:cNvSpPr/>
          <p:nvPr/>
        </p:nvSpPr>
        <p:spPr>
          <a:xfrm>
            <a:off x="1428750" y="2324526"/>
            <a:ext cx="3829050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50" b="1" dirty="0">
                <a:solidFill>
                  <a:srgbClr val="FF0000"/>
                </a:solidFill>
                <a:latin typeface="Consolas" panose="020B0609020204030204" pitchFamily="49" charset="0"/>
              </a:rPr>
              <a:t>s = sum(1, 2, 3, 4, 5, 6, 7, 8);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" y="2597038"/>
            <a:ext cx="6094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Caller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79" y="2886716"/>
            <a:ext cx="2138727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  MOVS r0, #5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r1, #6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r2, #7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r3, #8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PUSH {r0, r1, r2, r3}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r0, #1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r1, #2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r2, #3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r3, #4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BL   sum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...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POP {r0, r1, r2, r3}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93177" y="2874037"/>
          <a:ext cx="2059115" cy="24917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6115">
                  <a:extLst>
                    <a:ext uri="{9D8B030D-6E8A-4147-A177-3AD203B41FA5}">
                      <a16:colId xmlns:a16="http://schemas.microsoft.com/office/drawing/2014/main" val="324715736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60307255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Old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 SP</a:t>
                      </a:r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1400" dirty="0" err="1">
                          <a:latin typeface="Consolas" panose="020B0609020204030204" pitchFamily="49" charset="0"/>
                        </a:rPr>
                        <a:t>xxxxxxxx</a:t>
                      </a:r>
                      <a:r>
                        <a:rPr lang="en-US" sz="1400" dirty="0"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5228926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SP+12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0x00000008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42493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SP+8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0x00000007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554528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Consolas" panose="020B0609020204030204" pitchFamily="49" charset="0"/>
                        </a:rPr>
                        <a:t>SP+4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0x00000006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15153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0x00000005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44942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15712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265397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09913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192519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98320B7-1673-A249-985B-309333E06F0F}"/>
              </a:ext>
            </a:extLst>
          </p:cNvPr>
          <p:cNvSpPr txBox="1"/>
          <p:nvPr/>
        </p:nvSpPr>
        <p:spPr>
          <a:xfrm>
            <a:off x="3607577" y="2597038"/>
            <a:ext cx="114471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Stack</a:t>
            </a:r>
          </a:p>
        </p:txBody>
      </p:sp>
    </p:spTree>
    <p:extLst>
      <p:ext uri="{BB962C8B-B14F-4D97-AF65-F5344CB8AC3E}">
        <p14:creationId xmlns:p14="http://schemas.microsoft.com/office/powerpoint/2010/main" val="22897352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Extra Arguments via Stack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428750" y="1828801"/>
            <a:ext cx="560070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50" b="1" dirty="0">
                <a:latin typeface="Consolas" panose="020B0609020204030204" pitchFamily="49" charset="0"/>
              </a:rPr>
              <a:t>int32_t sum(int32_t a, int32_t b, int32_t c, int32_t d,</a:t>
            </a:r>
          </a:p>
          <a:p>
            <a:r>
              <a:rPr lang="en-US" sz="1350" b="1" dirty="0">
                <a:latin typeface="Consolas" panose="020B0609020204030204" pitchFamily="49" charset="0"/>
              </a:rPr>
              <a:t>            int32_t h, int32_t </a:t>
            </a:r>
            <a:r>
              <a:rPr lang="en-US" sz="1350" b="1" dirty="0" err="1">
                <a:latin typeface="Consolas" panose="020B0609020204030204" pitchFamily="49" charset="0"/>
              </a:rPr>
              <a:t>i</a:t>
            </a:r>
            <a:r>
              <a:rPr lang="en-US" sz="1350" b="1" dirty="0">
                <a:latin typeface="Consolas" panose="020B0609020204030204" pitchFamily="49" charset="0"/>
              </a:rPr>
              <a:t>, int32_t j, int32_t k);</a:t>
            </a:r>
          </a:p>
        </p:txBody>
      </p:sp>
      <p:sp>
        <p:nvSpPr>
          <p:cNvPr id="6" name="Rectangle 5"/>
          <p:cNvSpPr/>
          <p:nvPr/>
        </p:nvSpPr>
        <p:spPr>
          <a:xfrm>
            <a:off x="1428750" y="2324526"/>
            <a:ext cx="3829050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50" b="1" dirty="0">
                <a:solidFill>
                  <a:srgbClr val="FF0000"/>
                </a:solidFill>
                <a:latin typeface="Consolas" panose="020B0609020204030204" pitchFamily="49" charset="0"/>
              </a:rPr>
              <a:t>s = sum(1, 2, 3, 4, 5, 6, 7, 8);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6685" y="2625589"/>
            <a:ext cx="62388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Callee</a:t>
            </a:r>
            <a:endParaRPr lang="en-US" sz="1350" dirty="0"/>
          </a:p>
        </p:txBody>
      </p:sp>
      <p:sp>
        <p:nvSpPr>
          <p:cNvPr id="10" name="TextBox 9"/>
          <p:cNvSpPr txBox="1"/>
          <p:nvPr/>
        </p:nvSpPr>
        <p:spPr>
          <a:xfrm>
            <a:off x="3186684" y="2975172"/>
            <a:ext cx="4757166" cy="267765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3333FF"/>
                </a:solidFill>
                <a:latin typeface="Consolas" panose="020B0609020204030204" pitchFamily="49" charset="0"/>
              </a:rPr>
              <a:t>sum</a:t>
            </a:r>
            <a:r>
              <a:rPr lang="en-US" sz="1200" dirty="0">
                <a:latin typeface="Consolas" panose="020B0609020204030204" pitchFamily="49" charset="0"/>
              </a:rPr>
              <a:t> PROC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EXPORT sum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1" dirty="0">
                <a:solidFill>
                  <a:srgbClr val="3333FF"/>
                </a:solidFill>
                <a:latin typeface="Consolas" panose="020B0609020204030204" pitchFamily="49" charset="0"/>
              </a:rPr>
              <a:t>PUSH {r5, r6, </a:t>
            </a:r>
            <a:r>
              <a:rPr lang="en-US" sz="1200" b="1" dirty="0" err="1">
                <a:solidFill>
                  <a:srgbClr val="3333FF"/>
                </a:solidFill>
                <a:latin typeface="Consolas" panose="020B0609020204030204" pitchFamily="49" charset="0"/>
              </a:rPr>
              <a:t>lr</a:t>
            </a:r>
            <a:r>
              <a:rPr lang="en-US" sz="1200" b="1" dirty="0">
                <a:solidFill>
                  <a:srgbClr val="3333FF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r1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a + b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r2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c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  ADD r0, r0, r3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d</a:t>
            </a:r>
          </a:p>
          <a:p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LDRD r5,r6, [</a:t>
            </a:r>
            <a:r>
              <a:rPr lang="en-US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sp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, #12]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r5=mem[sp+12],r6=mem[sp+16]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r5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h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r6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i</a:t>
            </a:r>
          </a:p>
          <a:p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LDRD r5,r6, [</a:t>
            </a:r>
            <a:r>
              <a:rPr lang="en-US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sp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, #20]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r5=mem[sp+20],r6=mem[sp+24]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r5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j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r6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k</a:t>
            </a:r>
          </a:p>
          <a:p>
            <a:r>
              <a:rPr lang="en-US" sz="1200" b="1" dirty="0">
                <a:solidFill>
                  <a:srgbClr val="3333FF"/>
                </a:solidFill>
                <a:latin typeface="Consolas" panose="020B0609020204030204" pitchFamily="49" charset="0"/>
              </a:rPr>
              <a:t>  POP {r5, r6, pc}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ENDP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71550" y="2996768"/>
          <a:ext cx="2059115" cy="24917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6115">
                  <a:extLst>
                    <a:ext uri="{9D8B030D-6E8A-4147-A177-3AD203B41FA5}">
                      <a16:colId xmlns:a16="http://schemas.microsoft.com/office/drawing/2014/main" val="324715736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60307255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Old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 SP</a:t>
                      </a:r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1400" dirty="0" err="1">
                          <a:latin typeface="Consolas" panose="020B0609020204030204" pitchFamily="49" charset="0"/>
                        </a:rPr>
                        <a:t>xxxxxxxx</a:t>
                      </a:r>
                      <a:r>
                        <a:rPr lang="en-US" sz="1400" dirty="0"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5228926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SP+24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0x00000008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42493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SP+20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0x00000007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554528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Consolas" panose="020B0609020204030204" pitchFamily="49" charset="0"/>
                        </a:rPr>
                        <a:t>SP+16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0x00000006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15153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SP+12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0x00000005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44942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SP+8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 err="1">
                          <a:solidFill>
                            <a:srgbClr val="3333FF"/>
                          </a:solidFill>
                          <a:latin typeface="Consolas" panose="020B0609020204030204" pitchFamily="49" charset="0"/>
                        </a:rPr>
                        <a:t>lr</a:t>
                      </a:r>
                      <a:endParaRPr lang="en-US" sz="1400" b="1" dirty="0">
                        <a:solidFill>
                          <a:srgbClr val="3333FF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15712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SP+4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3333FF"/>
                          </a:solidFill>
                          <a:latin typeface="Consolas" panose="020B0609020204030204" pitchFamily="49" charset="0"/>
                        </a:rPr>
                        <a:t>r6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265397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3333FF"/>
                          </a:solidFill>
                          <a:latin typeface="Consolas" panose="020B0609020204030204" pitchFamily="49" charset="0"/>
                        </a:rPr>
                        <a:t>r5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09913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192519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0F3E23F3-7B52-2544-AFFF-69221F0A193A}"/>
              </a:ext>
            </a:extLst>
          </p:cNvPr>
          <p:cNvSpPr txBox="1"/>
          <p:nvPr/>
        </p:nvSpPr>
        <p:spPr>
          <a:xfrm>
            <a:off x="1889380" y="2719769"/>
            <a:ext cx="114128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Stack</a:t>
            </a:r>
          </a:p>
        </p:txBody>
      </p:sp>
    </p:spTree>
    <p:extLst>
      <p:ext uri="{BB962C8B-B14F-4D97-AF65-F5344CB8AC3E}">
        <p14:creationId xmlns:p14="http://schemas.microsoft.com/office/powerpoint/2010/main" val="9604234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3128</TotalTime>
  <Words>2738</Words>
  <Application>Microsoft Office PowerPoint</Application>
  <PresentationFormat>On-screen Show (4:3)</PresentationFormat>
  <Paragraphs>531</Paragraphs>
  <Slides>23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4" baseType="lpstr">
      <vt:lpstr>Bookman Old Style (Headings)</vt:lpstr>
      <vt:lpstr>Gill Sans Light</vt:lpstr>
      <vt:lpstr>Arial</vt:lpstr>
      <vt:lpstr>Bookman Old Style</vt:lpstr>
      <vt:lpstr>Calibri</vt:lpstr>
      <vt:lpstr>Consolas</vt:lpstr>
      <vt:lpstr>Gill Sans MT</vt:lpstr>
      <vt:lpstr>Wingdings</vt:lpstr>
      <vt:lpstr>Wingdings 3</vt:lpstr>
      <vt:lpstr>Origin</vt:lpstr>
      <vt:lpstr>1_Origin</vt:lpstr>
      <vt:lpstr>Zonghua Gu</vt:lpstr>
      <vt:lpstr>Summary: Condition Codes </vt:lpstr>
      <vt:lpstr>Signed Comparison</vt:lpstr>
      <vt:lpstr>Signed Comparison</vt:lpstr>
      <vt:lpstr>Summary of Carry and Overflow Flags</vt:lpstr>
      <vt:lpstr>NZCV Flags in xPSR</vt:lpstr>
      <vt:lpstr>Example 1: Greatest Common Divider (GCD)</vt:lpstr>
      <vt:lpstr>GCD</vt:lpstr>
      <vt:lpstr>Logic View of Memory</vt:lpstr>
      <vt:lpstr>Logic View of Memory</vt:lpstr>
      <vt:lpstr>Implementation of Barrel Shifter</vt:lpstr>
      <vt:lpstr>Implementation of Barrel Shifter</vt:lpstr>
      <vt:lpstr>Implementation of Barrel Shifter</vt:lpstr>
      <vt:lpstr>Implementation of Barrel Shifter</vt:lpstr>
      <vt:lpstr>Implementation of Barrel Shifter</vt:lpstr>
      <vt:lpstr>ADR Pseudo-instruction</vt:lpstr>
      <vt:lpstr>64-bit Logic Shift Left</vt:lpstr>
      <vt:lpstr>64-bit Logic Shift Left</vt:lpstr>
      <vt:lpstr>64-bit Logic Shift Right</vt:lpstr>
      <vt:lpstr>64-bit Logic Shift Right</vt:lpstr>
      <vt:lpstr>ARM Register Conventions (APCS-Application Procedure Call Standard)</vt:lpstr>
      <vt:lpstr>Passing Extra Arguments via Stack</vt:lpstr>
      <vt:lpstr>Passing Extra Arguments via Stack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345</cp:revision>
  <dcterms:created xsi:type="dcterms:W3CDTF">2014-02-05T02:41:42Z</dcterms:created>
  <dcterms:modified xsi:type="dcterms:W3CDTF">2025-10-21T20:14:51Z</dcterms:modified>
</cp:coreProperties>
</file>