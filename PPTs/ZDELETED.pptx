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335" r:id="rId3"/>
    <p:sldId id="813" r:id="rId4"/>
    <p:sldId id="475" r:id="rId5"/>
    <p:sldId id="473" r:id="rId6"/>
    <p:sldId id="306" r:id="rId7"/>
    <p:sldId id="322" r:id="rId8"/>
    <p:sldId id="323" r:id="rId9"/>
    <p:sldId id="325" r:id="rId10"/>
    <p:sldId id="324" r:id="rId11"/>
    <p:sldId id="525" r:id="rId12"/>
    <p:sldId id="261" r:id="rId13"/>
    <p:sldId id="264" r:id="rId14"/>
    <p:sldId id="262" r:id="rId15"/>
    <p:sldId id="265" r:id="rId16"/>
    <p:sldId id="379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B15ED0-6DB4-4108-82C9-64F0E8E52BFB}" v="8" dt="2025-09-26T22:04:43.3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addSld delSld modSld">
      <pc:chgData name="Zonghua Gu" userId="9a7e1853e1951ef5" providerId="LiveId" clId="{CF1FAA12-072C-4ED5-BA76-0FFFAEFDB88A}" dt="2025-09-26T22:04:43.298" v="20"/>
      <pc:docMkLst>
        <pc:docMk/>
      </pc:docMkLst>
      <pc:sldChg chg="addSp modSp mod">
        <pc:chgData name="Zonghua Gu" userId="9a7e1853e1951ef5" providerId="LiveId" clId="{CF1FAA12-072C-4ED5-BA76-0FFFAEFDB88A}" dt="2025-09-16T21:27:48.835" v="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6T21:27:44.448" v="3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2714306100" sldId="261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99910597" sldId="262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1508398580" sldId="264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712390701" sldId="26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8T02:54:06.006" v="9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975851832" sldId="326"/>
        </pc:sldMkLst>
      </pc:sldChg>
      <pc:sldChg chg="new del">
        <pc:chgData name="Zonghua Gu" userId="9a7e1853e1951ef5" providerId="LiveId" clId="{CF1FAA12-072C-4ED5-BA76-0FFFAEFDB88A}" dt="2025-09-18T02:54:14.576" v="13" actId="47"/>
        <pc:sldMkLst>
          <pc:docMk/>
          <pc:sldMk cId="3087616913" sldId="32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816386607" sldId="335"/>
        </pc:sldMkLst>
      </pc:sldChg>
      <pc:sldChg chg="add">
        <pc:chgData name="Zonghua Gu" userId="9a7e1853e1951ef5" providerId="LiveId" clId="{CF1FAA12-072C-4ED5-BA76-0FFFAEFDB88A}" dt="2025-09-26T22:04:43.298" v="20"/>
        <pc:sldMkLst>
          <pc:docMk/>
          <pc:sldMk cId="4015228595" sldId="33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132066556" sldId="346"/>
        </pc:sldMkLst>
      </pc:sldChg>
      <pc:sldChg chg="add">
        <pc:chgData name="Zonghua Gu" userId="9a7e1853e1951ef5" providerId="LiveId" clId="{CF1FAA12-072C-4ED5-BA76-0FFFAEFDB88A}" dt="2025-09-23T19:54:54.877" v="19"/>
        <pc:sldMkLst>
          <pc:docMk/>
          <pc:sldMk cId="397854206" sldId="379"/>
        </pc:sldMkLst>
      </pc:sldChg>
      <pc:sldChg chg="add del">
        <pc:chgData name="Zonghua Gu" userId="9a7e1853e1951ef5" providerId="LiveId" clId="{CF1FAA12-072C-4ED5-BA76-0FFFAEFDB88A}" dt="2025-09-18T02:55:09.669" v="16"/>
        <pc:sldMkLst>
          <pc:docMk/>
          <pc:sldMk cId="2963767799" sldId="473"/>
        </pc:sldMkLst>
      </pc:sldChg>
      <pc:sldChg chg="add">
        <pc:chgData name="Zonghua Gu" userId="9a7e1853e1951ef5" providerId="LiveId" clId="{CF1FAA12-072C-4ED5-BA76-0FFFAEFDB88A}" dt="2025-09-18T02:54:13.121" v="12"/>
        <pc:sldMkLst>
          <pc:docMk/>
          <pc:sldMk cId="2700446461" sldId="475"/>
        </pc:sldMkLst>
      </pc:sldChg>
      <pc:sldChg chg="add">
        <pc:chgData name="Zonghua Gu" userId="9a7e1853e1951ef5" providerId="LiveId" clId="{CF1FAA12-072C-4ED5-BA76-0FFFAEFDB88A}" dt="2025-09-18T21:31:24.471" v="17"/>
        <pc:sldMkLst>
          <pc:docMk/>
          <pc:sldMk cId="3686948551" sldId="525"/>
        </pc:sldMkLst>
      </pc:sldChg>
      <pc:sldChg chg="add">
        <pc:chgData name="Zonghua Gu" userId="9a7e1853e1951ef5" providerId="LiveId" clId="{CF1FAA12-072C-4ED5-BA76-0FFFAEFDB88A}" dt="2025-09-26T22:04:43.298" v="20"/>
        <pc:sldMkLst>
          <pc:docMk/>
          <pc:sldMk cId="464193995" sldId="8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2350" tIns="46174" rIns="92350" bIns="46174"/>
          <a:lstStyle/>
          <a:p>
            <a:endParaRPr lang="en-US" dirty="0"/>
          </a:p>
        </p:txBody>
      </p:sp>
      <p:sp>
        <p:nvSpPr>
          <p:cNvPr id="471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46100" y="863600"/>
            <a:ext cx="5870575" cy="3303588"/>
          </a:xfrm>
          <a:ln/>
        </p:spPr>
      </p:sp>
    </p:spTree>
    <p:extLst>
      <p:ext uri="{BB962C8B-B14F-4D97-AF65-F5344CB8AC3E}">
        <p14:creationId xmlns:p14="http://schemas.microsoft.com/office/powerpoint/2010/main" val="2424995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9/26/2025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9/26/2025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9/26/2025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9/26/2025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75" y="1828800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1" name="Rectangle 57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1: Greatest Common Divider (GCD)</a:t>
            </a:r>
          </a:p>
        </p:txBody>
      </p:sp>
      <p:sp>
        <p:nvSpPr>
          <p:cNvPr id="16387" name="Rectangle 3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9" name="Rectangle 5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90" name="Rectangle 6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8" name="Slide Number Placeholder 5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>
                <a:solidFill>
                  <a:srgbClr val="1F497D"/>
                </a:solidFill>
                <a:latin typeface="Gill Sans MT"/>
              </a:rPr>
              <a:pPr/>
              <a:t>2</a:t>
            </a:fld>
            <a:endParaRPr lang="en-US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53699" y="3637264"/>
            <a:ext cx="338975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suppose r0 = a and r1 = b</a:t>
            </a:r>
          </a:p>
          <a:p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CMP r0, r1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&gt; b?</a:t>
            </a:r>
          </a:p>
          <a:p>
            <a:r>
              <a:rPr lang="en-US" sz="1200" b="1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BEQ end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if a = b, done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BLO less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&lt;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SUB r0, r0, r1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= a –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endParaRPr lang="en-US" sz="1200" b="1" dirty="0">
              <a:solidFill>
                <a:srgbClr val="FF4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 r1, r1, r0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 = b – a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2000251" y="3371297"/>
            <a:ext cx="124628" cy="21636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white"/>
              </a:solidFill>
              <a:latin typeface="Gill Sans MT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83565" y="1698012"/>
            <a:ext cx="1287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Gill Sans MT"/>
              </a:rPr>
              <a:t>Euclid’s Algorithm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686301" y="1714500"/>
            <a:ext cx="2679396" cy="830997"/>
            <a:chOff x="4461833" y="1619479"/>
            <a:chExt cx="3572527" cy="1107996"/>
          </a:xfrm>
        </p:grpSpPr>
        <p:sp>
          <p:nvSpPr>
            <p:cNvPr id="64" name="Right Arrow 63"/>
            <p:cNvSpPr/>
            <p:nvPr/>
          </p:nvSpPr>
          <p:spPr>
            <a:xfrm>
              <a:off x="4461833" y="2027104"/>
              <a:ext cx="716096" cy="20932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prstClr val="white"/>
                </a:solidFill>
                <a:latin typeface="Gill Sans MT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409282" y="1619479"/>
              <a:ext cx="2625078" cy="110799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CMP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SUBHI r0,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SUBLO r1, r1, r0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BNE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endPara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1353699" y="1959784"/>
            <a:ext cx="2958028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a, b;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(a != b ) {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(a &gt; b)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a = a – b;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else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b = b – a;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Arrow: Curved Right 1">
            <a:extLst>
              <a:ext uri="{FF2B5EF4-FFF2-40B4-BE49-F238E27FC236}">
                <a16:creationId xmlns:a16="http://schemas.microsoft.com/office/drawing/2014/main" id="{63AD5224-522C-18FC-A5C0-4CAEE167F4A7}"/>
              </a:ext>
            </a:extLst>
          </p:cNvPr>
          <p:cNvSpPr/>
          <p:nvPr/>
        </p:nvSpPr>
        <p:spPr>
          <a:xfrm>
            <a:off x="1143001" y="4114800"/>
            <a:ext cx="210698" cy="120015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3" name="Arrow: Curved Right 2">
            <a:extLst>
              <a:ext uri="{FF2B5EF4-FFF2-40B4-BE49-F238E27FC236}">
                <a16:creationId xmlns:a16="http://schemas.microsoft.com/office/drawing/2014/main" id="{D6951C95-8873-B916-2166-BF641EF82FD2}"/>
              </a:ext>
            </a:extLst>
          </p:cNvPr>
          <p:cNvSpPr/>
          <p:nvPr/>
        </p:nvSpPr>
        <p:spPr>
          <a:xfrm>
            <a:off x="1143000" y="4284417"/>
            <a:ext cx="210698" cy="630484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4" name="Arrow: Curved Right 3">
            <a:extLst>
              <a:ext uri="{FF2B5EF4-FFF2-40B4-BE49-F238E27FC236}">
                <a16:creationId xmlns:a16="http://schemas.microsoft.com/office/drawing/2014/main" id="{BF8ADD12-38AC-2F78-06EF-691CD8EC6539}"/>
              </a:ext>
            </a:extLst>
          </p:cNvPr>
          <p:cNvSpPr/>
          <p:nvPr/>
        </p:nvSpPr>
        <p:spPr>
          <a:xfrm flipV="1">
            <a:off x="1638717" y="3882854"/>
            <a:ext cx="262820" cy="86876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CC7A2AF8-E930-2C88-AA7D-100ACAD1C1CD}"/>
              </a:ext>
            </a:extLst>
          </p:cNvPr>
          <p:cNvSpPr/>
          <p:nvPr/>
        </p:nvSpPr>
        <p:spPr>
          <a:xfrm flipV="1">
            <a:off x="1625960" y="3874692"/>
            <a:ext cx="262820" cy="120376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05A93BF7-A206-F2CA-CC13-D14DF785DD1A}"/>
              </a:ext>
            </a:extLst>
          </p:cNvPr>
          <p:cNvSpPr txBox="1">
            <a:spLocks/>
          </p:cNvSpPr>
          <p:nvPr/>
        </p:nvSpPr>
        <p:spPr bwMode="auto">
          <a:xfrm>
            <a:off x="4810052" y="2546908"/>
            <a:ext cx="3079900" cy="339556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67859" tIns="33334" rIns="67859" bIns="33334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CMP r0, r1 compares r0 and r1, setting Z=1 if r0 == r1, which is the termination condition when tested by BNE later.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SUBHI r0, r0, r1 executes only if the previous compare set HI (unsigned “higher”), i.e., r0 &gt;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Flags C=1 and Z=0 (“no borrow” and “not equal”).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SUBLO r1, r1, r0 executes only if the previous compare of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set LO (unsigned “lower”), i.e., r0 &lt;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 C=0 (“borrow”).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BNE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 branches back to the label if Z=0 from the CMP, i.e., while r0 != r1; when they become equal, Z=1 and the loop falls through, leaving r0 == r1 ==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(a, b).</a:t>
            </a:r>
            <a:endParaRPr lang="en-GB" sz="135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2285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DE11-4A34-23E8-64C2-213C279C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F6058-B736-B29C-B402-F8D3E7E96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pic>
        <p:nvPicPr>
          <p:cNvPr id="6" name="Content Placeholder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92B2B7E-F38B-2628-EF2D-83C2D72E679F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84" y="1771650"/>
            <a:ext cx="6582833" cy="3702844"/>
          </a:xfrm>
        </p:spPr>
      </p:pic>
    </p:spTree>
    <p:extLst>
      <p:ext uri="{BB962C8B-B14F-4D97-AF65-F5344CB8AC3E}">
        <p14:creationId xmlns:p14="http://schemas.microsoft.com/office/powerpoint/2010/main" val="464193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3426936"/>
            <a:ext cx="1447800" cy="1427639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 flipH="1" flipV="1">
            <a:off x="7162800" y="3299012"/>
            <a:ext cx="1676400" cy="1653989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7162800" y="3299012"/>
            <a:ext cx="1676400" cy="1653988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544586" y="4270811"/>
            <a:ext cx="2728963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We cannot store a word at address 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" y="3219187"/>
            <a:ext cx="419100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/>
              <a:t>Word-address mod 4 = 0</a:t>
            </a:r>
          </a:p>
        </p:txBody>
      </p:sp>
      <p:sp>
        <p:nvSpPr>
          <p:cNvPr id="57" name="Content Placeholder 2"/>
          <p:cNvSpPr>
            <a:spLocks noGrp="1"/>
          </p:cNvSpPr>
          <p:nvPr>
            <p:ph sz="quarter" idx="1"/>
          </p:nvPr>
        </p:nvSpPr>
        <p:spPr>
          <a:xfrm>
            <a:off x="452788" y="1214489"/>
            <a:ext cx="5486400" cy="1618664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we store a word anywhere in memory?  </a:t>
            </a:r>
          </a:p>
          <a:p>
            <a:pPr marL="274320" lvl="1" indent="0">
              <a:buNone/>
            </a:pPr>
            <a:r>
              <a:rPr lang="en-US" sz="2000" dirty="0">
                <a:solidFill>
                  <a:schemeClr val="accent2"/>
                </a:solidFill>
              </a:rPr>
              <a:t>	</a:t>
            </a:r>
            <a:r>
              <a:rPr lang="en-US" sz="2000" b="1" dirty="0">
                <a:solidFill>
                  <a:schemeClr val="accent2"/>
                </a:solidFill>
              </a:rPr>
              <a:t>NO on most computers!</a:t>
            </a:r>
          </a:p>
          <a:p>
            <a:pPr lvl="1"/>
            <a:r>
              <a:rPr lang="en-US" sz="2000" dirty="0"/>
              <a:t>A word can only be stored at an address that's divisible by 4.</a:t>
            </a:r>
          </a:p>
          <a:p>
            <a:pPr marL="274320" lvl="1" indent="0">
              <a:buNone/>
            </a:pPr>
            <a:endParaRPr lang="en-US" sz="20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446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51821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 flipH="1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10800000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769481" y="4465346"/>
            <a:ext cx="2685177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We c</a:t>
            </a:r>
            <a:r>
              <a:rPr lang="en-US" sz="1600" b="1" dirty="0">
                <a:solidFill>
                  <a:schemeClr val="bg1"/>
                </a:solidFill>
              </a:rPr>
              <a:t>annot store a halfword at address 0x20000001.</a:t>
            </a:r>
          </a:p>
        </p:txBody>
      </p:sp>
      <p:sp>
        <p:nvSpPr>
          <p:cNvPr id="54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you store a halfword anywhere?  </a:t>
            </a:r>
            <a:r>
              <a:rPr lang="en-US" sz="2000" b="1" dirty="0">
                <a:solidFill>
                  <a:schemeClr val="accent2"/>
                </a:solidFill>
              </a:rPr>
              <a:t>NO.</a:t>
            </a:r>
          </a:p>
          <a:p>
            <a:pPr lvl="1"/>
            <a:r>
              <a:rPr lang="en-US" sz="2000" dirty="0"/>
              <a:t>A halfword can only be stored at an address that's divisible by 2.</a:t>
            </a:r>
          </a:p>
          <a:p>
            <a:pPr lvl="1"/>
            <a:r>
              <a:rPr lang="en-US" sz="2000" dirty="0"/>
              <a:t>Memory address of a halfword is the lowest address of its two bytes.</a:t>
            </a: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0989" y="3025517"/>
            <a:ext cx="516366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 err="1"/>
              <a:t>Halfword</a:t>
            </a:r>
            <a:r>
              <a:rPr lang="en-US" sz="2100" dirty="0"/>
              <a:t>-address mod 2 = 0</a:t>
            </a:r>
          </a:p>
        </p:txBody>
      </p:sp>
    </p:spTree>
    <p:extLst>
      <p:ext uri="{BB962C8B-B14F-4D97-AF65-F5344CB8AC3E}">
        <p14:creationId xmlns:p14="http://schemas.microsoft.com/office/powerpoint/2010/main" val="2963767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2301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Typically, Barrel shifters are implemented as a cascade of parallel 2-to-1 multiplexers.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38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955595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6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43477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00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70069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2954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14534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11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: loads a program-relative or register-relative address into a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124200"/>
            <a:ext cx="5715000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  MOV r0,#10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ADR r4,start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SUB r4,pc,#0xc</a:t>
            </a:r>
          </a:p>
        </p:txBody>
      </p:sp>
    </p:spTree>
    <p:extLst>
      <p:ext uri="{BB962C8B-B14F-4D97-AF65-F5344CB8AC3E}">
        <p14:creationId xmlns:p14="http://schemas.microsoft.com/office/powerpoint/2010/main" val="3686948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4" y="3086370"/>
            <a:ext cx="8631751" cy="68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306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3400" y="1447800"/>
            <a:ext cx="3123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Left by 3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0985"/>
            <a:ext cx="9144000" cy="2923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8398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77" y="2940435"/>
            <a:ext cx="8644445" cy="9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0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0"/>
            <a:ext cx="3245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Right by 3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95526"/>
            <a:ext cx="9100256" cy="2581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2390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E58F7-DD2C-7131-891F-4C21E8AC6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41" y="-457200"/>
            <a:ext cx="8839201" cy="914400"/>
          </a:xfrm>
        </p:spPr>
        <p:txBody>
          <a:bodyPr>
            <a:normAutofit/>
          </a:bodyPr>
          <a:lstStyle/>
          <a:p>
            <a:r>
              <a:rPr lang="en-US" sz="1800" dirty="0"/>
              <a:t>ARM Register Conventions (APCS-Application Procedure Call Standard)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A9D7B4-1C12-419A-88B5-D188777C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53B4AB-BCAF-439D-6351-9E157BE57934}"/>
              </a:ext>
            </a:extLst>
          </p:cNvPr>
          <p:cNvGraphicFramePr>
            <a:graphicFrameLocks noGrp="1"/>
          </p:cNvGraphicFramePr>
          <p:nvPr/>
        </p:nvGraphicFramePr>
        <p:xfrm>
          <a:off x="152399" y="616234"/>
          <a:ext cx="8839201" cy="61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134">
                  <a:extLst>
                    <a:ext uri="{9D8B030D-6E8A-4147-A177-3AD203B41FA5}">
                      <a16:colId xmlns:a16="http://schemas.microsoft.com/office/drawing/2014/main" val="200291306"/>
                    </a:ext>
                  </a:extLst>
                </a:gridCol>
                <a:gridCol w="846667">
                  <a:extLst>
                    <a:ext uri="{9D8B030D-6E8A-4147-A177-3AD203B41FA5}">
                      <a16:colId xmlns:a16="http://schemas.microsoft.com/office/drawing/2014/main" val="1765130036"/>
                    </a:ext>
                  </a:extLst>
                </a:gridCol>
                <a:gridCol w="3654778">
                  <a:extLst>
                    <a:ext uri="{9D8B030D-6E8A-4147-A177-3AD203B41FA5}">
                      <a16:colId xmlns:a16="http://schemas.microsoft.com/office/drawing/2014/main" val="87492144"/>
                    </a:ext>
                  </a:extLst>
                </a:gridCol>
                <a:gridCol w="3355622">
                  <a:extLst>
                    <a:ext uri="{9D8B030D-6E8A-4147-A177-3AD203B41FA5}">
                      <a16:colId xmlns:a16="http://schemas.microsoft.com/office/drawing/2014/main" val="314569210"/>
                    </a:ext>
                  </a:extLst>
                </a:gridCol>
              </a:tblGrid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Reg. </a:t>
                      </a:r>
                    </a:p>
                    <a:p>
                      <a:r>
                        <a:rPr lang="en-US" sz="1600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APCS</a:t>
                      </a:r>
                    </a:p>
                    <a:p>
                      <a:r>
                        <a:rPr lang="en-US" sz="1600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Role in Procedure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78385"/>
                  </a:ext>
                </a:extLst>
              </a:tr>
              <a:tr h="1258247">
                <a:tc>
                  <a:txBody>
                    <a:bodyPr/>
                    <a:lstStyle/>
                    <a:p>
                      <a:r>
                        <a:rPr lang="en-US" sz="1600" dirty="0"/>
                        <a:t>r0 - 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a1 - 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First 4 arguments into a procedure / Scratch pad / Return result(s) from a function (not 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Caller-saved registers - subprogram can use them as</a:t>
                      </a:r>
                    </a:p>
                    <a:p>
                      <a:r>
                        <a:rPr lang="en-US" sz="1600" dirty="0"/>
                        <a:t> scratch registers, but it must also save any needed values</a:t>
                      </a:r>
                    </a:p>
                    <a:p>
                      <a:r>
                        <a:rPr lang="en-US" sz="1600" dirty="0"/>
                        <a:t> before calling another subprogram.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341079"/>
                  </a:ext>
                </a:extLst>
              </a:tr>
              <a:tr h="1492339">
                <a:tc>
                  <a:txBody>
                    <a:bodyPr/>
                    <a:lstStyle/>
                    <a:p>
                      <a:r>
                        <a:rPr lang="en-US" sz="1600" dirty="0"/>
                        <a:t>r4 - 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v1 - 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Register Variables (preserved across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registers - it can rely on an subprogram it calls not to change them (so a subprogram wishing to use these registers must save them on entry and restore them before it exits)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379333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r9 – 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102704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fp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Frame pointer (if used) / Register Variable (preserved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 - pointer to bottom of call-frame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358629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Stack pointer - points to the top of the 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25502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Link register - holds the 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Receives return address on BL call to procedure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203286"/>
                  </a:ext>
                </a:extLst>
              </a:tr>
              <a:tr h="356016">
                <a:tc>
                  <a:txBody>
                    <a:bodyPr/>
                    <a:lstStyle/>
                    <a:p>
                      <a:r>
                        <a:rPr lang="en-US" sz="1600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Program 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550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542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3112</TotalTime>
  <Words>1040</Words>
  <Application>Microsoft Office PowerPoint</Application>
  <PresentationFormat>On-screen Show (4:3)</PresentationFormat>
  <Paragraphs>310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Zonghua Gu</vt:lpstr>
      <vt:lpstr>Example 1: Greatest Common Divider (GCD)</vt:lpstr>
      <vt:lpstr>GCD</vt:lpstr>
      <vt:lpstr>Logic View of Memory</vt:lpstr>
      <vt:lpstr>Logic View of Memory</vt:lpstr>
      <vt:lpstr>Implementation of Barrel Shifter</vt:lpstr>
      <vt:lpstr>Implementation of Barrel Shifter</vt:lpstr>
      <vt:lpstr>Implementation of Barrel Shifter</vt:lpstr>
      <vt:lpstr>Implementation of Barrel Shifter</vt:lpstr>
      <vt:lpstr>Implementation of Barrel Shifter</vt:lpstr>
      <vt:lpstr>ADR Pseudo-instruction</vt:lpstr>
      <vt:lpstr>64-bit Logic Shift Left</vt:lpstr>
      <vt:lpstr>64-bit Logic Shift Left</vt:lpstr>
      <vt:lpstr>64-bit Logic Shift Right</vt:lpstr>
      <vt:lpstr>64-bit Logic Shift Right</vt:lpstr>
      <vt:lpstr>ARM Register Conventions (APCS-Application Procedure Call Standard)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dcterms:created xsi:type="dcterms:W3CDTF">2014-02-05T02:41:42Z</dcterms:created>
  <dcterms:modified xsi:type="dcterms:W3CDTF">2025-09-26T22:04:44Z</dcterms:modified>
</cp:coreProperties>
</file>