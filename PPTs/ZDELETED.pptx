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6" r:id="rId2"/>
    <p:sldId id="383" r:id="rId3"/>
    <p:sldId id="381" r:id="rId4"/>
    <p:sldId id="335" r:id="rId5"/>
    <p:sldId id="813" r:id="rId6"/>
    <p:sldId id="475" r:id="rId7"/>
    <p:sldId id="473" r:id="rId8"/>
    <p:sldId id="306" r:id="rId9"/>
    <p:sldId id="322" r:id="rId10"/>
    <p:sldId id="323" r:id="rId11"/>
    <p:sldId id="325" r:id="rId12"/>
    <p:sldId id="324" r:id="rId13"/>
    <p:sldId id="525" r:id="rId14"/>
    <p:sldId id="261" r:id="rId15"/>
    <p:sldId id="264" r:id="rId16"/>
    <p:sldId id="262" r:id="rId17"/>
    <p:sldId id="265" r:id="rId18"/>
    <p:sldId id="379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B15ED0-6DB4-4108-82C9-64F0E8E52BFB}" v="10" dt="2025-10-02T23:51:49.4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6" autoAdjust="0"/>
    <p:restoredTop sz="93609"/>
  </p:normalViewPr>
  <p:slideViewPr>
    <p:cSldViewPr>
      <p:cViewPr varScale="1">
        <p:scale>
          <a:sx n="77" d="100"/>
          <a:sy n="77" d="100"/>
        </p:scale>
        <p:origin x="1594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custSel addSld delSld modSld">
      <pc:chgData name="Zonghua Gu" userId="9a7e1853e1951ef5" providerId="LiveId" clId="{CF1FAA12-072C-4ED5-BA76-0FFFAEFDB88A}" dt="2025-10-02T23:51:49.400" v="22"/>
      <pc:docMkLst>
        <pc:docMk/>
      </pc:docMkLst>
      <pc:sldChg chg="addSp modSp mod">
        <pc:chgData name="Zonghua Gu" userId="9a7e1853e1951ef5" providerId="LiveId" clId="{CF1FAA12-072C-4ED5-BA76-0FFFAEFDB88A}" dt="2025-09-16T21:27:48.835" v="8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09-16T21:27:44.448" v="3"/>
          <ac:spMkLst>
            <pc:docMk/>
            <pc:sldMk cId="1227639730" sldId="25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16T21:27:48.835" v="8" actId="20577"/>
          <ac:spMkLst>
            <pc:docMk/>
            <pc:sldMk cId="1227639730" sldId="256"/>
            <ac:spMk id="3" creationId="{00000000-0000-0000-0000-000000000000}"/>
          </ac:spMkLst>
        </pc:spChg>
        <pc:spChg chg="add mod">
          <ac:chgData name="Zonghua Gu" userId="9a7e1853e1951ef5" providerId="LiveId" clId="{CF1FAA12-072C-4ED5-BA76-0FFFAEFDB88A}" dt="2025-09-16T21:27:38.538" v="2" actId="1076"/>
          <ac:spMkLst>
            <pc:docMk/>
            <pc:sldMk cId="1227639730" sldId="256"/>
            <ac:spMk id="7" creationId="{04F69590-944C-2F0D-5FE5-A89C06E0D2BF}"/>
          </ac:spMkLst>
        </pc:spChg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2714306100" sldId="261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99910597" sldId="262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1508398580" sldId="264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712390701" sldId="26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420550765" sldId="27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059043100" sldId="27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290796456" sldId="279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012842885" sldId="281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511335096" sldId="28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668909280" sldId="28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71435320" sldId="284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704552365" sldId="28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106604463" sldId="28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646693943" sldId="28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844324683" sldId="288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884958220" sldId="289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9255324" sldId="291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771709229" sldId="292"/>
        </pc:sldMkLst>
      </pc:sldChg>
      <pc:sldChg chg="modSp del mod">
        <pc:chgData name="Zonghua Gu" userId="9a7e1853e1951ef5" providerId="LiveId" clId="{CF1FAA12-072C-4ED5-BA76-0FFFAEFDB88A}" dt="2025-09-18T02:54:06.006" v="9" actId="47"/>
        <pc:sldMkLst>
          <pc:docMk/>
          <pc:sldMk cId="1337576135" sldId="29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459654649" sldId="29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785807384" sldId="30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644265921" sldId="31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277304446" sldId="31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099586659" sldId="314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430688265" sldId="31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128225317" sldId="31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703302262" sldId="31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321944581" sldId="318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152283833" sldId="320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975851832" sldId="326"/>
        </pc:sldMkLst>
      </pc:sldChg>
      <pc:sldChg chg="new del">
        <pc:chgData name="Zonghua Gu" userId="9a7e1853e1951ef5" providerId="LiveId" clId="{CF1FAA12-072C-4ED5-BA76-0FFFAEFDB88A}" dt="2025-09-18T02:54:14.576" v="13" actId="47"/>
        <pc:sldMkLst>
          <pc:docMk/>
          <pc:sldMk cId="3087616913" sldId="32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42584573" sldId="328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148212839" sldId="329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380735846" sldId="330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640407279" sldId="331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4134758979" sldId="33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45956393" sldId="33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913135421" sldId="334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816386607" sldId="335"/>
        </pc:sldMkLst>
      </pc:sldChg>
      <pc:sldChg chg="add modNotes">
        <pc:chgData name="Zonghua Gu" userId="9a7e1853e1951ef5" providerId="LiveId" clId="{CF1FAA12-072C-4ED5-BA76-0FFFAEFDB88A}" dt="2025-10-02T21:43:06.404" v="21"/>
        <pc:sldMkLst>
          <pc:docMk/>
          <pc:sldMk cId="4015228595" sldId="33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525808290" sldId="33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861246248" sldId="33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476710942" sldId="338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4270472410" sldId="341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897190462" sldId="342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398840445" sldId="343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1330855799" sldId="344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251034726" sldId="345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132066556" sldId="346"/>
        </pc:sldMkLst>
      </pc:sldChg>
      <pc:sldChg chg="add">
        <pc:chgData name="Zonghua Gu" userId="9a7e1853e1951ef5" providerId="LiveId" clId="{CF1FAA12-072C-4ED5-BA76-0FFFAEFDB88A}" dt="2025-09-23T19:54:54.877" v="19"/>
        <pc:sldMkLst>
          <pc:docMk/>
          <pc:sldMk cId="397854206" sldId="379"/>
        </pc:sldMkLst>
      </pc:sldChg>
      <pc:sldChg chg="add">
        <pc:chgData name="Zonghua Gu" userId="9a7e1853e1951ef5" providerId="LiveId" clId="{CF1FAA12-072C-4ED5-BA76-0FFFAEFDB88A}" dt="2025-10-02T21:43:06.404" v="21"/>
        <pc:sldMkLst>
          <pc:docMk/>
          <pc:sldMk cId="2452138352" sldId="381"/>
        </pc:sldMkLst>
      </pc:sldChg>
      <pc:sldChg chg="add">
        <pc:chgData name="Zonghua Gu" userId="9a7e1853e1951ef5" providerId="LiveId" clId="{CF1FAA12-072C-4ED5-BA76-0FFFAEFDB88A}" dt="2025-10-02T23:51:49.400" v="22"/>
        <pc:sldMkLst>
          <pc:docMk/>
          <pc:sldMk cId="2623990252" sldId="383"/>
        </pc:sldMkLst>
      </pc:sldChg>
      <pc:sldChg chg="add del">
        <pc:chgData name="Zonghua Gu" userId="9a7e1853e1951ef5" providerId="LiveId" clId="{CF1FAA12-072C-4ED5-BA76-0FFFAEFDB88A}" dt="2025-09-18T02:55:09.669" v="16"/>
        <pc:sldMkLst>
          <pc:docMk/>
          <pc:sldMk cId="2963767799" sldId="473"/>
        </pc:sldMkLst>
      </pc:sldChg>
      <pc:sldChg chg="add">
        <pc:chgData name="Zonghua Gu" userId="9a7e1853e1951ef5" providerId="LiveId" clId="{CF1FAA12-072C-4ED5-BA76-0FFFAEFDB88A}" dt="2025-09-18T02:54:13.121" v="12"/>
        <pc:sldMkLst>
          <pc:docMk/>
          <pc:sldMk cId="2700446461" sldId="475"/>
        </pc:sldMkLst>
      </pc:sldChg>
      <pc:sldChg chg="add">
        <pc:chgData name="Zonghua Gu" userId="9a7e1853e1951ef5" providerId="LiveId" clId="{CF1FAA12-072C-4ED5-BA76-0FFFAEFDB88A}" dt="2025-09-18T21:31:24.471" v="17"/>
        <pc:sldMkLst>
          <pc:docMk/>
          <pc:sldMk cId="3686948551" sldId="525"/>
        </pc:sldMkLst>
      </pc:sldChg>
      <pc:sldChg chg="add">
        <pc:chgData name="Zonghua Gu" userId="9a7e1853e1951ef5" providerId="LiveId" clId="{CF1FAA12-072C-4ED5-BA76-0FFFAEFDB88A}" dt="2025-09-26T22:04:43.298" v="20"/>
        <pc:sldMkLst>
          <pc:docMk/>
          <pc:sldMk cId="464193995" sldId="81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4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C is cleared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ea typeface="+mn-ea"/>
                <a:cs typeface="Times New Roman" pitchFamily="18" charset="0"/>
              </a:rPr>
              <a:t>upon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an </a:t>
            </a:r>
            <a:r>
              <a:rPr kumimoji="0" lang="en-US" sz="1200" b="1" i="0" u="sng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unsigned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 subtract if the answer is wrong</a:t>
            </a:r>
            <a:endParaRPr kumimoji="0" lang="en-US" sz="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450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https://eclecticlight.co/2021/06/23/code-in-arm-assembly-controlling-flow/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 (Negative): Copies the most significant bit of the last result; 1 means the result’s sign bit is 1, which for two’s‑complement indicates a negative value in signed interpretation.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 (Zero): 1 if the result was exactly zero; otherwise 0.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 (Carry): For addition, 1 means an unsigned carry out; for subtraction (a − b or CMP), 1 means “no borrow,” and 0 means a borrow occurred. For shifts/rotates, it holds the last bit shifted out.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1 when signed overflow occurred, i.e., the true signed result didn’t fit in the destination width (e.g., positive + positive → negative, or negative + negative → positive in 32‑bit two’s‑complement).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C=1 and Z=0 corresponds to “unsigned higher” (HI):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a CMP a, b (which computes a − b for flags), C=1 means the subtraction needed no borrow, so a ≥ b in unsigned arithmetic; Z=0 rules out equality, leaving a &gt; b. That composite condition is named HI.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6462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2350" tIns="46174" rIns="92350" bIns="46174"/>
          <a:lstStyle/>
          <a:p>
            <a:endParaRPr lang="en-US" dirty="0"/>
          </a:p>
        </p:txBody>
      </p:sp>
      <p:sp>
        <p:nvSpPr>
          <p:cNvPr id="47107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79525" y="863600"/>
            <a:ext cx="4403725" cy="3303588"/>
          </a:xfrm>
          <a:ln/>
        </p:spPr>
      </p:sp>
    </p:spTree>
    <p:extLst>
      <p:ext uri="{BB962C8B-B14F-4D97-AF65-F5344CB8AC3E}">
        <p14:creationId xmlns:p14="http://schemas.microsoft.com/office/powerpoint/2010/main" val="2424995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10/2/2025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10/2/2025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Zonghua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75" y="1828800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024745" y="39747"/>
            <a:ext cx="8229600" cy="990600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sz="3600" dirty="0">
                <a:solidFill>
                  <a:srgbClr val="FF0000"/>
                </a:solidFill>
                <a:latin typeface="Gill Sans MT"/>
                <a:cs typeface="Times New Roman" pitchFamily="18" charset="0"/>
              </a:rPr>
              <a:t>Summary of Carry and Overflow Flags</a:t>
            </a:r>
            <a:endParaRPr lang="en-US" sz="3600" dirty="0">
              <a:solidFill>
                <a:srgbClr val="FF0000"/>
              </a:solidFill>
            </a:endParaRPr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56C4D0-D1DD-434F-9E39-17578F101405}" type="slidenum"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  <p:sp>
        <p:nvSpPr>
          <p:cNvPr id="323586" name="Date Placeholder 3"/>
          <p:cNvSpPr txBox="1">
            <a:spLocks noGrp="1"/>
          </p:cNvSpPr>
          <p:nvPr/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6553200" y="5864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3D14BE-FE52-4332-969F-3696FB65ED39}" type="slidenum"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609600" y="3370151"/>
            <a:ext cx="8083550" cy="23544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Carry flag C = 1 upon an </a:t>
            </a:r>
            <a:r>
              <a:rPr kumimoji="0" lang="en-US" b="1" i="0" u="sng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unsigned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kumimoji="0" lang="en-US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n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-1)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b="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b="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u="sng" dirty="0">
                <a:solidFill>
                  <a:srgbClr val="800000"/>
                </a:solidFill>
                <a:latin typeface="Gill Sans MT"/>
              </a:rPr>
              <a:t>unsigned</a:t>
            </a:r>
            <a:r>
              <a:rPr lang="en-US" b="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b="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700" b="0" dirty="0">
              <a:solidFill>
                <a:prstClr val="black"/>
              </a:solidFill>
              <a:latin typeface="Gill Sans MT"/>
            </a:endParaRPr>
          </a:p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Overflow</a:t>
            </a:r>
            <a:r>
              <a:rPr kumimoji="0" lang="en-US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 flag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V =1 upon a </a:t>
            </a:r>
            <a:r>
              <a:rPr kumimoji="0" lang="en-US" b="1" i="0" u="sng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signed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 addition 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(true result &gt; 2</a:t>
            </a:r>
            <a:r>
              <a:rPr lang="en-US" b="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b="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b="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b="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  <a:endParaRPr kumimoji="0" lang="en-US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/>
              <a:cs typeface="Times New Roman" pitchFamily="18" charset="0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39012" name="Group 100"/>
          <p:cNvGraphicFramePr>
            <a:graphicFrameLocks noGrp="1"/>
          </p:cNvGraphicFramePr>
          <p:nvPr/>
        </p:nvGraphicFramePr>
        <p:xfrm>
          <a:off x="1447800" y="1143000"/>
          <a:ext cx="5715000" cy="2362201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585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96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3075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Bit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Name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Meaning after add or sub</a:t>
                      </a:r>
                      <a:endParaRPr kumimoji="0" lang="en-US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N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negative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result is negative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3075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Z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zero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result is zero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V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overflow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signed overflow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3075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C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carry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unsigned overflow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Rectangle 20"/>
          <p:cNvSpPr>
            <a:spLocks noChangeArrowheads="1"/>
          </p:cNvSpPr>
          <p:nvPr/>
        </p:nvSpPr>
        <p:spPr bwMode="auto">
          <a:xfrm>
            <a:off x="3340970" y="557530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endParaRPr lang="en-US" sz="135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8" name="Text Box 21"/>
          <p:cNvSpPr txBox="1">
            <a:spLocks noChangeArrowheads="1"/>
          </p:cNvSpPr>
          <p:nvPr/>
        </p:nvSpPr>
        <p:spPr bwMode="auto">
          <a:xfrm>
            <a:off x="3271914" y="5336505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500" b="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19" name="Text Box 22"/>
          <p:cNvSpPr txBox="1">
            <a:spLocks noChangeArrowheads="1"/>
          </p:cNvSpPr>
          <p:nvPr/>
        </p:nvSpPr>
        <p:spPr bwMode="auto">
          <a:xfrm>
            <a:off x="4998320" y="5325789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500" b="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0970" y="557530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03092" y="557502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65215" y="557446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24956" y="557446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78666" y="6009879"/>
            <a:ext cx="2941896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6" name="Horizontal Scroll 15"/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2623990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3A519-DBC1-4403-2E8B-B6BADD69B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NZCV Flags in </a:t>
            </a:r>
            <a:r>
              <a:rPr lang="en-US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2D03D-6F8E-1055-AD43-53C024771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71F98-40C3-8109-24BE-24A75ED061C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910806"/>
          </a:xfrm>
        </p:spPr>
        <p:txBody>
          <a:bodyPr>
            <a:normAutofit fontScale="77500" lnSpcReduction="20000"/>
          </a:bodyPr>
          <a:lstStyle/>
          <a:p>
            <a:r>
              <a:rPr lang="en-US" sz="2800" b="1" dirty="0"/>
              <a:t>N</a:t>
            </a:r>
            <a:r>
              <a:rPr lang="en-US" sz="2800" dirty="0"/>
              <a:t> (negative) – set (1) when a signed result is negative, otherwise cleared (0).</a:t>
            </a:r>
          </a:p>
          <a:p>
            <a:r>
              <a:rPr lang="en-US" sz="2800" b="1" dirty="0"/>
              <a:t>Z</a:t>
            </a:r>
            <a:r>
              <a:rPr lang="en-US" sz="2800" dirty="0"/>
              <a:t> (zero) – set (1) when a result is 0, otherwise cleared (0).</a:t>
            </a:r>
          </a:p>
          <a:p>
            <a:r>
              <a:rPr lang="en-US" sz="2800" b="1" dirty="0"/>
              <a:t>C</a:t>
            </a:r>
            <a:r>
              <a:rPr lang="en-US" sz="2800" dirty="0"/>
              <a:t> (carry) – set (1) when an add-based operation produces an overflow, when a subtract-based operation doesn’t require a borrow; when shifting, holds the last bit that’s been shifted out; otherwise cleared (0).</a:t>
            </a:r>
          </a:p>
          <a:p>
            <a:r>
              <a:rPr lang="en-US" sz="2800" b="1" dirty="0"/>
              <a:t>V</a:t>
            </a:r>
            <a:r>
              <a:rPr lang="en-US" sz="2800" dirty="0"/>
              <a:t> (overflow) – set (1) when an add- or subtract-based operation generates a signed overflow, otherwise cleared (0).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168489-8B57-7C2E-A280-C2FCA5EA7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4016795"/>
            <a:ext cx="5940553" cy="2409224"/>
          </a:xfrm>
          <a:prstGeom prst="rect">
            <a:avLst/>
          </a:prstGeom>
        </p:spPr>
      </p:pic>
      <p:sp>
        <p:nvSpPr>
          <p:cNvPr id="5" name="Horizontal Scroll 15">
            <a:extLst>
              <a:ext uri="{FF2B5EF4-FFF2-40B4-BE49-F238E27FC236}">
                <a16:creationId xmlns:a16="http://schemas.microsoft.com/office/drawing/2014/main" id="{785D1948-1665-EC1C-519D-DEF2FD52EF22}"/>
              </a:ext>
            </a:extLst>
          </p:cNvPr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2452138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41" name="Rectangle 57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1: Greatest Common Divider (GCD)</a:t>
            </a:r>
          </a:p>
        </p:txBody>
      </p:sp>
      <p:sp>
        <p:nvSpPr>
          <p:cNvPr id="16387" name="Rectangle 3"/>
          <p:cNvSpPr>
            <a:spLocks noChangeArrowheads="1"/>
          </p:cNvSpPr>
          <p:nvPr/>
        </p:nvSpPr>
        <p:spPr bwMode="auto">
          <a:xfrm>
            <a:off x="1660922" y="5539979"/>
            <a:ext cx="142755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88" name="Rectangle 4"/>
          <p:cNvSpPr>
            <a:spLocks noChangeArrowheads="1"/>
          </p:cNvSpPr>
          <p:nvPr/>
        </p:nvSpPr>
        <p:spPr bwMode="auto">
          <a:xfrm>
            <a:off x="3487342" y="5539979"/>
            <a:ext cx="216931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89" name="Rectangle 5"/>
          <p:cNvSpPr>
            <a:spLocks noChangeArrowheads="1"/>
          </p:cNvSpPr>
          <p:nvPr/>
        </p:nvSpPr>
        <p:spPr bwMode="auto">
          <a:xfrm>
            <a:off x="1660922" y="5539979"/>
            <a:ext cx="142755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90" name="Rectangle 6"/>
          <p:cNvSpPr>
            <a:spLocks noChangeArrowheads="1"/>
          </p:cNvSpPr>
          <p:nvPr/>
        </p:nvSpPr>
        <p:spPr bwMode="auto">
          <a:xfrm>
            <a:off x="3487342" y="5539979"/>
            <a:ext cx="216931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58" name="Slide Number Placeholder 5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>
                <a:solidFill>
                  <a:srgbClr val="1F497D"/>
                </a:solidFill>
                <a:latin typeface="Gill Sans MT"/>
              </a:rPr>
              <a:pPr/>
              <a:t>4</a:t>
            </a:fld>
            <a:endParaRPr lang="en-US">
              <a:solidFill>
                <a:srgbClr val="1F497D"/>
              </a:solidFill>
              <a:latin typeface="Gill Sans MT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353699" y="3637264"/>
            <a:ext cx="3389752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suppose r0 = a and r1 = b</a:t>
            </a:r>
          </a:p>
          <a:p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CMP r0, r1	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&gt; b?</a:t>
            </a:r>
          </a:p>
          <a:p>
            <a:r>
              <a:rPr lang="en-US" sz="1200" b="1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BEQ end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if a = b, done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BLO less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&lt; b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SUB r0, r0, r1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= a – b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   </a:t>
            </a:r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endParaRPr lang="en-US" sz="1200" b="1" dirty="0">
              <a:solidFill>
                <a:srgbClr val="FF40F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less  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 r1, r1, r0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 = b – a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   </a:t>
            </a:r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2000251" y="3371297"/>
            <a:ext cx="124628" cy="21636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white"/>
              </a:solidFill>
              <a:latin typeface="Gill Sans MT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283565" y="1698012"/>
            <a:ext cx="12872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Gill Sans MT"/>
              </a:rPr>
              <a:t>Euclid’s Algorithm</a:t>
            </a:r>
          </a:p>
        </p:txBody>
      </p:sp>
      <p:grpSp>
        <p:nvGrpSpPr>
          <p:cNvPr id="66" name="Group 65"/>
          <p:cNvGrpSpPr/>
          <p:nvPr/>
        </p:nvGrpSpPr>
        <p:grpSpPr>
          <a:xfrm>
            <a:off x="4686301" y="1714500"/>
            <a:ext cx="2679396" cy="830997"/>
            <a:chOff x="4461833" y="1619479"/>
            <a:chExt cx="3572527" cy="1107996"/>
          </a:xfrm>
        </p:grpSpPr>
        <p:sp>
          <p:nvSpPr>
            <p:cNvPr id="64" name="Right Arrow 63"/>
            <p:cNvSpPr/>
            <p:nvPr/>
          </p:nvSpPr>
          <p:spPr>
            <a:xfrm>
              <a:off x="4461833" y="2027104"/>
              <a:ext cx="716096" cy="209321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prstClr val="white"/>
                </a:solidFill>
                <a:latin typeface="Gill Sans MT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5409282" y="1619479"/>
              <a:ext cx="2625078" cy="110799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gcd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CMP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r0, r1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SUBHI r0, r0, r1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SUBLO r1, r1, r0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BNE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gcd</a:t>
              </a:r>
              <a:endPara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1353699" y="1959784"/>
            <a:ext cx="2958028" cy="13849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uint32_t a, b;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 (a != b ) {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if (a &gt; b)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a = a – b;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else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b = b – a;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" name="Arrow: Curved Right 1">
            <a:extLst>
              <a:ext uri="{FF2B5EF4-FFF2-40B4-BE49-F238E27FC236}">
                <a16:creationId xmlns:a16="http://schemas.microsoft.com/office/drawing/2014/main" id="{63AD5224-522C-18FC-A5C0-4CAEE167F4A7}"/>
              </a:ext>
            </a:extLst>
          </p:cNvPr>
          <p:cNvSpPr/>
          <p:nvPr/>
        </p:nvSpPr>
        <p:spPr>
          <a:xfrm>
            <a:off x="1143001" y="4114800"/>
            <a:ext cx="210698" cy="120015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3" name="Arrow: Curved Right 2">
            <a:extLst>
              <a:ext uri="{FF2B5EF4-FFF2-40B4-BE49-F238E27FC236}">
                <a16:creationId xmlns:a16="http://schemas.microsoft.com/office/drawing/2014/main" id="{D6951C95-8873-B916-2166-BF641EF82FD2}"/>
              </a:ext>
            </a:extLst>
          </p:cNvPr>
          <p:cNvSpPr/>
          <p:nvPr/>
        </p:nvSpPr>
        <p:spPr>
          <a:xfrm>
            <a:off x="1143000" y="4284417"/>
            <a:ext cx="210698" cy="630484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4" name="Arrow: Curved Right 3">
            <a:extLst>
              <a:ext uri="{FF2B5EF4-FFF2-40B4-BE49-F238E27FC236}">
                <a16:creationId xmlns:a16="http://schemas.microsoft.com/office/drawing/2014/main" id="{BF8ADD12-38AC-2F78-06EF-691CD8EC6539}"/>
              </a:ext>
            </a:extLst>
          </p:cNvPr>
          <p:cNvSpPr/>
          <p:nvPr/>
        </p:nvSpPr>
        <p:spPr>
          <a:xfrm flipV="1">
            <a:off x="1638717" y="3882854"/>
            <a:ext cx="262820" cy="86876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CC7A2AF8-E930-2C88-AA7D-100ACAD1C1CD}"/>
              </a:ext>
            </a:extLst>
          </p:cNvPr>
          <p:cNvSpPr/>
          <p:nvPr/>
        </p:nvSpPr>
        <p:spPr>
          <a:xfrm flipV="1">
            <a:off x="1625960" y="3874692"/>
            <a:ext cx="262820" cy="1203767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05A93BF7-A206-F2CA-CC13-D14DF785DD1A}"/>
              </a:ext>
            </a:extLst>
          </p:cNvPr>
          <p:cNvSpPr txBox="1">
            <a:spLocks/>
          </p:cNvSpPr>
          <p:nvPr/>
        </p:nvSpPr>
        <p:spPr bwMode="auto">
          <a:xfrm>
            <a:off x="4810052" y="2546908"/>
            <a:ext cx="3079900" cy="3395561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67859" tIns="33334" rIns="67859" bIns="33334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CMP r0, r1 compares r0 and r1, setting Z=1 if r0 == r1, which is the termination condition when tested by BNE later.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SUBHI r0, r0, r1 executes only if the previous compare set HI (unsigned “higher”), i.e., r0 &gt; r1 for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r0 and r1. Flags C=1 and Z=0 (“no borrow” and “not equal”).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SUBLO r1, r1, r0 executes only if the previous compare of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set LO (unsigned “lower”), i.e., r0 &lt; r1 for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r0 and r1. Flag C=0 (“borrow”).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BNE </a:t>
            </a:r>
            <a:r>
              <a:rPr lang="en-US" sz="1350" kern="0" dirty="0" err="1">
                <a:solidFill>
                  <a:prstClr val="black"/>
                </a:solidFill>
              </a:rPr>
              <a:t>gcd</a:t>
            </a:r>
            <a:r>
              <a:rPr lang="en-US" sz="1350" kern="0" dirty="0">
                <a:solidFill>
                  <a:prstClr val="black"/>
                </a:solidFill>
              </a:rPr>
              <a:t> branches back to the label if Z=0 from the CMP, i.e., while r0 != r1; when they become equal, Z=1 and the loop falls through, leaving r0 == r1 == </a:t>
            </a:r>
            <a:r>
              <a:rPr lang="en-US" sz="1350" kern="0" dirty="0" err="1">
                <a:solidFill>
                  <a:prstClr val="black"/>
                </a:solidFill>
              </a:rPr>
              <a:t>gcd</a:t>
            </a:r>
            <a:r>
              <a:rPr lang="en-US" sz="1350" kern="0" dirty="0">
                <a:solidFill>
                  <a:prstClr val="black"/>
                </a:solidFill>
              </a:rPr>
              <a:t>(a, b).</a:t>
            </a:r>
            <a:endParaRPr lang="en-GB" sz="1350" kern="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52285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3DE11-4A34-23E8-64C2-213C279CC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GCD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3F6058-B736-B29C-B402-F8D3E7E96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pic>
        <p:nvPicPr>
          <p:cNvPr id="6" name="Content Placeholder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92B2B7E-F38B-2628-EF2D-83C2D72E679F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84" y="1771650"/>
            <a:ext cx="6582833" cy="3702844"/>
          </a:xfrm>
        </p:spPr>
      </p:pic>
    </p:spTree>
    <p:extLst>
      <p:ext uri="{BB962C8B-B14F-4D97-AF65-F5344CB8AC3E}">
        <p14:creationId xmlns:p14="http://schemas.microsoft.com/office/powerpoint/2010/main" val="464193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grpSp>
        <p:nvGrpSpPr>
          <p:cNvPr id="1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8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3426936"/>
            <a:ext cx="1447800" cy="1427639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 flipH="1" flipV="1">
            <a:off x="7162800" y="3299012"/>
            <a:ext cx="1676400" cy="1653989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7162800" y="3299012"/>
            <a:ext cx="1676400" cy="1653988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544586" y="4270811"/>
            <a:ext cx="2728963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We cannot store a word at address 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0x20000002</a:t>
            </a:r>
            <a:r>
              <a:rPr lang="en-US" sz="1600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8348" y="3219187"/>
            <a:ext cx="4191000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100" dirty="0"/>
              <a:t>Word-address mod 4 = 0</a:t>
            </a:r>
          </a:p>
        </p:txBody>
      </p:sp>
      <p:sp>
        <p:nvSpPr>
          <p:cNvPr id="57" name="Content Placeholder 2"/>
          <p:cNvSpPr>
            <a:spLocks noGrp="1"/>
          </p:cNvSpPr>
          <p:nvPr>
            <p:ph sz="quarter" idx="1"/>
          </p:nvPr>
        </p:nvSpPr>
        <p:spPr>
          <a:xfrm>
            <a:off x="452788" y="1214489"/>
            <a:ext cx="5486400" cy="1618664"/>
          </a:xfrm>
        </p:spPr>
        <p:txBody>
          <a:bodyPr>
            <a:normAutofit/>
          </a:bodyPr>
          <a:lstStyle/>
          <a:p>
            <a:pPr lvl="1"/>
            <a:r>
              <a:rPr lang="en-US" sz="2000" dirty="0"/>
              <a:t>Can we store a word anywhere in memory?  </a:t>
            </a:r>
          </a:p>
          <a:p>
            <a:pPr marL="274320" lvl="1" indent="0">
              <a:buNone/>
            </a:pPr>
            <a:r>
              <a:rPr lang="en-US" sz="2000" dirty="0">
                <a:solidFill>
                  <a:schemeClr val="accent2"/>
                </a:solidFill>
              </a:rPr>
              <a:t>	</a:t>
            </a:r>
            <a:r>
              <a:rPr lang="en-US" sz="2000" b="1" dirty="0">
                <a:solidFill>
                  <a:schemeClr val="accent2"/>
                </a:solidFill>
              </a:rPr>
              <a:t>NO on most computers!</a:t>
            </a:r>
          </a:p>
          <a:p>
            <a:pPr lvl="1"/>
            <a:r>
              <a:rPr lang="en-US" sz="2000" dirty="0"/>
              <a:t>A word can only be stored at an address that's divisible by 4.</a:t>
            </a:r>
          </a:p>
          <a:p>
            <a:pPr marL="274320" lvl="1" indent="0">
              <a:buNone/>
            </a:pPr>
            <a:endParaRPr lang="en-US" sz="20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4464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grpSp>
        <p:nvGrpSpPr>
          <p:cNvPr id="1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8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4518210"/>
            <a:ext cx="1447800" cy="6858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 flipH="1" flipV="1">
            <a:off x="7086600" y="4442010"/>
            <a:ext cx="1828800" cy="838200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rot="10800000" flipV="1">
            <a:off x="7086600" y="4442010"/>
            <a:ext cx="1828800" cy="838200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769481" y="4465346"/>
            <a:ext cx="2685177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We c</a:t>
            </a:r>
            <a:r>
              <a:rPr lang="en-US" sz="1600" b="1" dirty="0">
                <a:solidFill>
                  <a:schemeClr val="bg1"/>
                </a:solidFill>
              </a:rPr>
              <a:t>annot store a halfword at address 0x20000001.</a:t>
            </a:r>
          </a:p>
        </p:txBody>
      </p:sp>
      <p:sp>
        <p:nvSpPr>
          <p:cNvPr id="54" name="Content Placeholder 2"/>
          <p:cNvSpPr>
            <a:spLocks noGrp="1"/>
          </p:cNvSpPr>
          <p:nvPr>
            <p:ph sz="quarter" idx="1"/>
          </p:nvPr>
        </p:nvSpPr>
        <p:spPr>
          <a:xfrm>
            <a:off x="142043" y="1219200"/>
            <a:ext cx="5768301" cy="4937760"/>
          </a:xfrm>
        </p:spPr>
        <p:txBody>
          <a:bodyPr>
            <a:normAutofit/>
          </a:bodyPr>
          <a:lstStyle/>
          <a:p>
            <a:pPr lvl="1"/>
            <a:r>
              <a:rPr lang="en-US" sz="2000" dirty="0"/>
              <a:t>Can you store a halfword anywhere?  </a:t>
            </a:r>
            <a:r>
              <a:rPr lang="en-US" sz="2000" b="1" dirty="0">
                <a:solidFill>
                  <a:schemeClr val="accent2"/>
                </a:solidFill>
              </a:rPr>
              <a:t>NO.</a:t>
            </a:r>
          </a:p>
          <a:p>
            <a:pPr lvl="1"/>
            <a:r>
              <a:rPr lang="en-US" sz="2000" dirty="0"/>
              <a:t>A halfword can only be stored at an address that's divisible by 2.</a:t>
            </a:r>
          </a:p>
          <a:p>
            <a:pPr lvl="1"/>
            <a:r>
              <a:rPr lang="en-US" sz="2000" dirty="0"/>
              <a:t>Memory address of a halfword is the lowest address of its two bytes.</a:t>
            </a:r>
          </a:p>
          <a:p>
            <a:pPr lvl="1"/>
            <a:endParaRPr lang="en-US" sz="2000" dirty="0"/>
          </a:p>
          <a:p>
            <a:pPr lvl="1"/>
            <a:endParaRPr lang="en-US" sz="2000" b="1" dirty="0">
              <a:solidFill>
                <a:schemeClr val="accent2"/>
              </a:solidFill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90989" y="3025517"/>
            <a:ext cx="5163669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100" dirty="0" err="1"/>
              <a:t>Halfword</a:t>
            </a:r>
            <a:r>
              <a:rPr lang="en-US" sz="2100" dirty="0"/>
              <a:t>-address mod 2 = 0</a:t>
            </a:r>
          </a:p>
        </p:txBody>
      </p:sp>
    </p:spTree>
    <p:extLst>
      <p:ext uri="{BB962C8B-B14F-4D97-AF65-F5344CB8AC3E}">
        <p14:creationId xmlns:p14="http://schemas.microsoft.com/office/powerpoint/2010/main" val="2963767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023018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Typically, Barrel shifters are implemented as a cascade of parallel 2-to-1 multiplexers.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8384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955595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61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6434776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US" sz="180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00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700696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12954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10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597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145348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11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597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ADR</a:t>
            </a:r>
            <a:r>
              <a:rPr lang="en-US" dirty="0"/>
              <a:t> Pseudo-instruction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ADR</a:t>
            </a:r>
            <a:r>
              <a:rPr lang="en-US" dirty="0"/>
              <a:t>: loads a program-relative or register-relative address into a register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4000" y="3124200"/>
            <a:ext cx="5715000" cy="7386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start  MOV r0,#10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32-bit instruction</a:t>
            </a:r>
          </a:p>
          <a:p>
            <a:r>
              <a:rPr lang="en-US" dirty="0">
                <a:latin typeface="Consolas" panose="020B0609020204030204" pitchFamily="49" charset="0"/>
              </a:rPr>
              <a:t>       ADR r4,start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32-bit instruction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=&gt; </a:t>
            </a:r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</a:rPr>
              <a:t>SUB r4,pc,#0xc</a:t>
            </a:r>
          </a:p>
        </p:txBody>
      </p:sp>
    </p:spTree>
    <p:extLst>
      <p:ext uri="{BB962C8B-B14F-4D97-AF65-F5344CB8AC3E}">
        <p14:creationId xmlns:p14="http://schemas.microsoft.com/office/powerpoint/2010/main" val="36869485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Left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24" y="3086370"/>
            <a:ext cx="8631751" cy="685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306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Left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3400" y="1447800"/>
            <a:ext cx="3123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Logic Shift Left by 3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50985"/>
            <a:ext cx="9144000" cy="29232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083985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Right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777" y="2940435"/>
            <a:ext cx="8644445" cy="97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10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Right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0"/>
            <a:ext cx="3245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Logic Shift Right by 3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95526"/>
            <a:ext cx="9100256" cy="2581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123907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E58F7-DD2C-7131-891F-4C21E8AC6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341" y="-457200"/>
            <a:ext cx="8839201" cy="914400"/>
          </a:xfrm>
        </p:spPr>
        <p:txBody>
          <a:bodyPr>
            <a:normAutofit/>
          </a:bodyPr>
          <a:lstStyle/>
          <a:p>
            <a:r>
              <a:rPr lang="en-US" sz="1800" dirty="0"/>
              <a:t>ARM Register Conventions (APCS-Application Procedure Call Standard)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A9D7B4-1C12-419A-88B5-D188777C0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953B4AB-BCAF-439D-6351-9E157BE57934}"/>
              </a:ext>
            </a:extLst>
          </p:cNvPr>
          <p:cNvGraphicFramePr>
            <a:graphicFrameLocks noGrp="1"/>
          </p:cNvGraphicFramePr>
          <p:nvPr/>
        </p:nvGraphicFramePr>
        <p:xfrm>
          <a:off x="152399" y="616234"/>
          <a:ext cx="8839201" cy="61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134">
                  <a:extLst>
                    <a:ext uri="{9D8B030D-6E8A-4147-A177-3AD203B41FA5}">
                      <a16:colId xmlns:a16="http://schemas.microsoft.com/office/drawing/2014/main" val="200291306"/>
                    </a:ext>
                  </a:extLst>
                </a:gridCol>
                <a:gridCol w="846667">
                  <a:extLst>
                    <a:ext uri="{9D8B030D-6E8A-4147-A177-3AD203B41FA5}">
                      <a16:colId xmlns:a16="http://schemas.microsoft.com/office/drawing/2014/main" val="1765130036"/>
                    </a:ext>
                  </a:extLst>
                </a:gridCol>
                <a:gridCol w="3654778">
                  <a:extLst>
                    <a:ext uri="{9D8B030D-6E8A-4147-A177-3AD203B41FA5}">
                      <a16:colId xmlns:a16="http://schemas.microsoft.com/office/drawing/2014/main" val="87492144"/>
                    </a:ext>
                  </a:extLst>
                </a:gridCol>
                <a:gridCol w="3355622">
                  <a:extLst>
                    <a:ext uri="{9D8B030D-6E8A-4147-A177-3AD203B41FA5}">
                      <a16:colId xmlns:a16="http://schemas.microsoft.com/office/drawing/2014/main" val="314569210"/>
                    </a:ext>
                  </a:extLst>
                </a:gridCol>
              </a:tblGrid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Reg. </a:t>
                      </a:r>
                    </a:p>
                    <a:p>
                      <a:r>
                        <a:rPr lang="en-US" sz="1600" dirty="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APCS</a:t>
                      </a:r>
                    </a:p>
                    <a:p>
                      <a:r>
                        <a:rPr lang="en-US" sz="1600" dirty="0"/>
                        <a:t>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Role in Procedure Calls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Comments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678385"/>
                  </a:ext>
                </a:extLst>
              </a:tr>
              <a:tr h="1258247">
                <a:tc>
                  <a:txBody>
                    <a:bodyPr/>
                    <a:lstStyle/>
                    <a:p>
                      <a:r>
                        <a:rPr lang="en-US" sz="1600" dirty="0"/>
                        <a:t>r0 - 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a1 - 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First 4 arguments into a procedure / Scratch pad / Return result(s) from a function (not preserved across call)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Caller-saved registers - subprogram can use them as</a:t>
                      </a:r>
                    </a:p>
                    <a:p>
                      <a:r>
                        <a:rPr lang="en-US" sz="1600" dirty="0"/>
                        <a:t> scratch registers, but it must also save any needed values</a:t>
                      </a:r>
                    </a:p>
                    <a:p>
                      <a:r>
                        <a:rPr lang="en-US" sz="1600" dirty="0"/>
                        <a:t> before calling another subprogram.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1341079"/>
                  </a:ext>
                </a:extLst>
              </a:tr>
              <a:tr h="1492339">
                <a:tc>
                  <a:txBody>
                    <a:bodyPr/>
                    <a:lstStyle/>
                    <a:p>
                      <a:r>
                        <a:rPr lang="en-US" sz="1600" dirty="0"/>
                        <a:t>r4 - r8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v1 - 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Register Variables (preserved across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Callee-saved registers - it can rely on an subprogram it calls not to change them (so a subprogram wishing to use these registers must save them on entry and restore them before it exits)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1379333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r9 – r12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Details omitted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Details omitted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9102704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fp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Frame pointer (if used) / Register Variable (preserved across call)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Callee-saved register - pointer to bottom of call-frame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2358629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sp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Stack pointer - points to the top of the 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525502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lr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Link register - holds the 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Receives return address on BL call to procedure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4203286"/>
                  </a:ext>
                </a:extLst>
              </a:tr>
              <a:tr h="356016">
                <a:tc>
                  <a:txBody>
                    <a:bodyPr/>
                    <a:lstStyle/>
                    <a:p>
                      <a:r>
                        <a:rPr lang="en-US" sz="1600" dirty="0"/>
                        <a:t>r15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Program 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550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542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3112</TotalTime>
  <Words>1515</Words>
  <Application>Microsoft Office PowerPoint</Application>
  <PresentationFormat>On-screen Show (4:3)</PresentationFormat>
  <Paragraphs>356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8" baseType="lpstr">
      <vt:lpstr>Bookman Old Style (Headings)</vt:lpstr>
      <vt:lpstr>Gill Sans Light</vt:lpstr>
      <vt:lpstr>Arial</vt:lpstr>
      <vt:lpstr>Bookman Old Style</vt:lpstr>
      <vt:lpstr>Calibri</vt:lpstr>
      <vt:lpstr>Consolas</vt:lpstr>
      <vt:lpstr>Gill Sans MT</vt:lpstr>
      <vt:lpstr>Wingdings</vt:lpstr>
      <vt:lpstr>Wingdings 3</vt:lpstr>
      <vt:lpstr>Origin</vt:lpstr>
      <vt:lpstr>Zonghua Gu</vt:lpstr>
      <vt:lpstr>Summary of Carry and Overflow Flags</vt:lpstr>
      <vt:lpstr>NZCV Flags in xPSR</vt:lpstr>
      <vt:lpstr>Example 1: Greatest Common Divider (GCD)</vt:lpstr>
      <vt:lpstr>GCD</vt:lpstr>
      <vt:lpstr>Logic View of Memory</vt:lpstr>
      <vt:lpstr>Logic View of Memory</vt:lpstr>
      <vt:lpstr>Implementation of Barrel Shifter</vt:lpstr>
      <vt:lpstr>Implementation of Barrel Shifter</vt:lpstr>
      <vt:lpstr>Implementation of Barrel Shifter</vt:lpstr>
      <vt:lpstr>Implementation of Barrel Shifter</vt:lpstr>
      <vt:lpstr>Implementation of Barrel Shifter</vt:lpstr>
      <vt:lpstr>ADR Pseudo-instruction</vt:lpstr>
      <vt:lpstr>64-bit Logic Shift Left</vt:lpstr>
      <vt:lpstr>64-bit Logic Shift Left</vt:lpstr>
      <vt:lpstr>64-bit Logic Shift Right</vt:lpstr>
      <vt:lpstr>64-bit Logic Shift Right</vt:lpstr>
      <vt:lpstr>ARM Register Conventions (APCS-Application Procedure Call Standard)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345</cp:revision>
  <dcterms:created xsi:type="dcterms:W3CDTF">2014-02-05T02:41:42Z</dcterms:created>
  <dcterms:modified xsi:type="dcterms:W3CDTF">2025-10-02T23:51:55Z</dcterms:modified>
</cp:coreProperties>
</file>