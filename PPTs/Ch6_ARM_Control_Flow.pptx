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5"/>
  </p:notesMasterIdLst>
  <p:sldIdLst>
    <p:sldId id="355" r:id="rId2"/>
    <p:sldId id="269" r:id="rId3"/>
    <p:sldId id="303" r:id="rId4"/>
    <p:sldId id="343" r:id="rId5"/>
    <p:sldId id="553" r:id="rId6"/>
    <p:sldId id="348" r:id="rId7"/>
    <p:sldId id="275" r:id="rId8"/>
    <p:sldId id="285" r:id="rId9"/>
    <p:sldId id="356" r:id="rId10"/>
    <p:sldId id="554" r:id="rId11"/>
    <p:sldId id="277" r:id="rId12"/>
    <p:sldId id="349" r:id="rId13"/>
    <p:sldId id="299" r:id="rId14"/>
    <p:sldId id="353" r:id="rId15"/>
    <p:sldId id="292" r:id="rId16"/>
    <p:sldId id="300" r:id="rId17"/>
    <p:sldId id="344" r:id="rId18"/>
    <p:sldId id="565" r:id="rId19"/>
    <p:sldId id="564" r:id="rId20"/>
    <p:sldId id="297" r:id="rId21"/>
    <p:sldId id="298" r:id="rId22"/>
    <p:sldId id="321" r:id="rId23"/>
    <p:sldId id="325" r:id="rId24"/>
    <p:sldId id="558" r:id="rId25"/>
    <p:sldId id="559" r:id="rId26"/>
    <p:sldId id="560" r:id="rId27"/>
    <p:sldId id="561" r:id="rId28"/>
    <p:sldId id="562" r:id="rId29"/>
    <p:sldId id="563" r:id="rId30"/>
    <p:sldId id="304" r:id="rId31"/>
    <p:sldId id="331" r:id="rId32"/>
    <p:sldId id="556" r:id="rId33"/>
    <p:sldId id="566" r:id="rId34"/>
    <p:sldId id="336" r:id="rId35"/>
    <p:sldId id="313" r:id="rId36"/>
    <p:sldId id="346" r:id="rId37"/>
    <p:sldId id="557" r:id="rId38"/>
    <p:sldId id="334" r:id="rId39"/>
    <p:sldId id="317" r:id="rId40"/>
    <p:sldId id="352" r:id="rId41"/>
    <p:sldId id="350" r:id="rId42"/>
    <p:sldId id="351" r:id="rId43"/>
    <p:sldId id="555" r:id="rId44"/>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EA3FE3A-749A-4FFC-9B73-CF8E41208FC4}" v="119" dt="2025-10-05T00:34:28.08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9085" autoAdjust="0"/>
  </p:normalViewPr>
  <p:slideViewPr>
    <p:cSldViewPr>
      <p:cViewPr varScale="1">
        <p:scale>
          <a:sx n="65" d="100"/>
          <a:sy n="65" d="100"/>
        </p:scale>
        <p:origin x="878" y="48"/>
      </p:cViewPr>
      <p:guideLst>
        <p:guide orient="horz" pos="2160"/>
        <p:guide pos="3840"/>
      </p:guideLst>
    </p:cSldViewPr>
  </p:slideViewPr>
  <p:notesTextViewPr>
    <p:cViewPr>
      <p:scale>
        <a:sx n="1" d="1"/>
        <a:sy n="1" d="1"/>
      </p:scale>
      <p:origin x="0" y="0"/>
    </p:cViewPr>
  </p:notesTextViewPr>
  <p:sorterViewPr>
    <p:cViewPr>
      <p:scale>
        <a:sx n="200" d="100"/>
        <a:sy n="200" d="100"/>
      </p:scale>
      <p:origin x="0" y="-434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sldOrd">
      <pc:chgData name="Zonghua Gu" userId="9a7e1853e1951ef5" providerId="LiveId" clId="{CF1FAA12-072C-4ED5-BA76-0FFFAEFDB88A}" dt="2025-10-05T01:29:33.757" v="1844" actId="20577"/>
      <pc:docMkLst>
        <pc:docMk/>
      </pc:docMkLst>
      <pc:sldChg chg="addSp delSp modSp del mod">
        <pc:chgData name="Zonghua Gu" userId="9a7e1853e1951ef5" providerId="LiveId" clId="{CF1FAA12-072C-4ED5-BA76-0FFFAEFDB88A}" dt="2025-10-02T21:17:35.809" v="3" actId="47"/>
        <pc:sldMkLst>
          <pc:docMk/>
          <pc:sldMk cId="1683281344" sldId="256"/>
        </pc:sldMkLst>
      </pc:sldChg>
      <pc:sldChg chg="modSp mod">
        <pc:chgData name="Zonghua Gu" userId="9a7e1853e1951ef5" providerId="LiveId" clId="{CF1FAA12-072C-4ED5-BA76-0FFFAEFDB88A}" dt="2025-10-02T21:19:03.671" v="14" actId="1076"/>
        <pc:sldMkLst>
          <pc:docMk/>
          <pc:sldMk cId="166800616" sldId="269"/>
        </pc:sldMkLst>
        <pc:spChg chg="mod">
          <ac:chgData name="Zonghua Gu" userId="9a7e1853e1951ef5" providerId="LiveId" clId="{CF1FAA12-072C-4ED5-BA76-0FFFAEFDB88A}" dt="2025-10-02T21:19:03.671" v="14" actId="1076"/>
          <ac:spMkLst>
            <pc:docMk/>
            <pc:sldMk cId="166800616" sldId="269"/>
            <ac:spMk id="12" creationId="{00000000-0000-0000-0000-000000000000}"/>
          </ac:spMkLst>
        </pc:spChg>
        <pc:spChg chg="mod">
          <ac:chgData name="Zonghua Gu" userId="9a7e1853e1951ef5" providerId="LiveId" clId="{CF1FAA12-072C-4ED5-BA76-0FFFAEFDB88A}" dt="2025-10-02T21:19:03.671" v="14" actId="1076"/>
          <ac:spMkLst>
            <pc:docMk/>
            <pc:sldMk cId="166800616" sldId="269"/>
            <ac:spMk id="15" creationId="{00000000-0000-0000-0000-000000000000}"/>
          </ac:spMkLst>
        </pc:spChg>
        <pc:spChg chg="mod">
          <ac:chgData name="Zonghua Gu" userId="9a7e1853e1951ef5" providerId="LiveId" clId="{CF1FAA12-072C-4ED5-BA76-0FFFAEFDB88A}" dt="2025-10-02T21:19:03.671" v="14" actId="1076"/>
          <ac:spMkLst>
            <pc:docMk/>
            <pc:sldMk cId="166800616" sldId="269"/>
            <ac:spMk id="18" creationId="{00000000-0000-0000-0000-000000000000}"/>
          </ac:spMkLst>
        </pc:spChg>
        <pc:spChg chg="mod">
          <ac:chgData name="Zonghua Gu" userId="9a7e1853e1951ef5" providerId="LiveId" clId="{CF1FAA12-072C-4ED5-BA76-0FFFAEFDB88A}" dt="2025-10-02T21:18:45.174" v="12" actId="404"/>
          <ac:spMkLst>
            <pc:docMk/>
            <pc:sldMk cId="166800616" sldId="269"/>
            <ac:spMk id="787459" creationId="{00000000-0000-0000-0000-000000000000}"/>
          </ac:spMkLst>
        </pc:spChg>
        <pc:grpChg chg="mod">
          <ac:chgData name="Zonghua Gu" userId="9a7e1853e1951ef5" providerId="LiveId" clId="{CF1FAA12-072C-4ED5-BA76-0FFFAEFDB88A}" dt="2025-10-02T21:19:03.671" v="14" actId="1076"/>
          <ac:grpSpMkLst>
            <pc:docMk/>
            <pc:sldMk cId="166800616" sldId="269"/>
            <ac:grpSpMk id="13" creationId="{B362000C-983C-524D-87C2-3EDCAF4543B1}"/>
          </ac:grpSpMkLst>
        </pc:grpChg>
        <pc:grpChg chg="mod">
          <ac:chgData name="Zonghua Gu" userId="9a7e1853e1951ef5" providerId="LiveId" clId="{CF1FAA12-072C-4ED5-BA76-0FFFAEFDB88A}" dt="2025-10-02T21:19:03.671" v="14" actId="1076"/>
          <ac:grpSpMkLst>
            <pc:docMk/>
            <pc:sldMk cId="166800616" sldId="269"/>
            <ac:grpSpMk id="16" creationId="{B2548B9B-63B4-EE41-BB16-A644D9AF1BF9}"/>
          </ac:grpSpMkLst>
        </pc:grpChg>
        <pc:picChg chg="mod">
          <ac:chgData name="Zonghua Gu" userId="9a7e1853e1951ef5" providerId="LiveId" clId="{CF1FAA12-072C-4ED5-BA76-0FFFAEFDB88A}" dt="2025-10-02T21:19:03.671" v="14" actId="1076"/>
          <ac:picMkLst>
            <pc:docMk/>
            <pc:sldMk cId="166800616" sldId="269"/>
            <ac:picMk id="11" creationId="{00000000-0000-0000-0000-000000000000}"/>
          </ac:picMkLst>
        </pc:picChg>
        <pc:picChg chg="mod">
          <ac:chgData name="Zonghua Gu" userId="9a7e1853e1951ef5" providerId="LiveId" clId="{CF1FAA12-072C-4ED5-BA76-0FFFAEFDB88A}" dt="2025-10-02T21:19:03.671" v="14" actId="1076"/>
          <ac:picMkLst>
            <pc:docMk/>
            <pc:sldMk cId="166800616" sldId="269"/>
            <ac:picMk id="14" creationId="{00000000-0000-0000-0000-000000000000}"/>
          </ac:picMkLst>
        </pc:picChg>
        <pc:picChg chg="mod">
          <ac:chgData name="Zonghua Gu" userId="9a7e1853e1951ef5" providerId="LiveId" clId="{CF1FAA12-072C-4ED5-BA76-0FFFAEFDB88A}" dt="2025-10-02T21:19:03.671" v="14" actId="1076"/>
          <ac:picMkLst>
            <pc:docMk/>
            <pc:sldMk cId="166800616" sldId="269"/>
            <ac:picMk id="17" creationId="{00000000-0000-0000-0000-000000000000}"/>
          </ac:picMkLst>
        </pc:picChg>
      </pc:sldChg>
      <pc:sldChg chg="modSp mod modNotesTx">
        <pc:chgData name="Zonghua Gu" userId="9a7e1853e1951ef5" providerId="LiveId" clId="{CF1FAA12-072C-4ED5-BA76-0FFFAEFDB88A}" dt="2025-10-05T00:15:47.639" v="1678" actId="20577"/>
        <pc:sldMkLst>
          <pc:docMk/>
          <pc:sldMk cId="2502343479" sldId="275"/>
        </pc:sldMkLst>
        <pc:spChg chg="mod">
          <ac:chgData name="Zonghua Gu" userId="9a7e1853e1951ef5" providerId="LiveId" clId="{CF1FAA12-072C-4ED5-BA76-0FFFAEFDB88A}" dt="2025-10-05T00:15:47.639" v="1678" actId="20577"/>
          <ac:spMkLst>
            <pc:docMk/>
            <pc:sldMk cId="2502343479" sldId="275"/>
            <ac:spMk id="5" creationId="{00000000-0000-0000-0000-000000000000}"/>
          </ac:spMkLst>
        </pc:spChg>
      </pc:sldChg>
      <pc:sldChg chg="del">
        <pc:chgData name="Zonghua Gu" userId="9a7e1853e1951ef5" providerId="LiveId" clId="{CF1FAA12-072C-4ED5-BA76-0FFFAEFDB88A}" dt="2025-10-02T21:32:56.562" v="368" actId="47"/>
        <pc:sldMkLst>
          <pc:docMk/>
          <pc:sldMk cId="3146583954" sldId="282"/>
        </pc:sldMkLst>
      </pc:sldChg>
      <pc:sldChg chg="del">
        <pc:chgData name="Zonghua Gu" userId="9a7e1853e1951ef5" providerId="LiveId" clId="{CF1FAA12-072C-4ED5-BA76-0FFFAEFDB88A}" dt="2025-10-02T21:38:05.585" v="432" actId="47"/>
        <pc:sldMkLst>
          <pc:docMk/>
          <pc:sldMk cId="3856419856" sldId="284"/>
        </pc:sldMkLst>
      </pc:sldChg>
      <pc:sldChg chg="addSp delSp modSp mod">
        <pc:chgData name="Zonghua Gu" userId="9a7e1853e1951ef5" providerId="LiveId" clId="{CF1FAA12-072C-4ED5-BA76-0FFFAEFDB88A}" dt="2025-10-05T00:17:43.858" v="1698" actId="20577"/>
        <pc:sldMkLst>
          <pc:docMk/>
          <pc:sldMk cId="3410570449" sldId="285"/>
        </pc:sldMkLst>
        <pc:spChg chg="del">
          <ac:chgData name="Zonghua Gu" userId="9a7e1853e1951ef5" providerId="LiveId" clId="{CF1FAA12-072C-4ED5-BA76-0FFFAEFDB88A}" dt="2025-10-05T00:17:20.812" v="1685" actId="478"/>
          <ac:spMkLst>
            <pc:docMk/>
            <pc:sldMk cId="3410570449" sldId="285"/>
            <ac:spMk id="4" creationId="{54BB17C6-B669-1841-8CA4-0A66B23D05E5}"/>
          </ac:spMkLst>
        </pc:spChg>
        <pc:spChg chg="mod">
          <ac:chgData name="Zonghua Gu" userId="9a7e1853e1951ef5" providerId="LiveId" clId="{CF1FAA12-072C-4ED5-BA76-0FFFAEFDB88A}" dt="2025-10-05T00:17:43.858" v="1698" actId="20577"/>
          <ac:spMkLst>
            <pc:docMk/>
            <pc:sldMk cId="3410570449" sldId="285"/>
            <ac:spMk id="5" creationId="{00000000-0000-0000-0000-000000000000}"/>
          </ac:spMkLst>
        </pc:spChg>
        <pc:spChg chg="add mod">
          <ac:chgData name="Zonghua Gu" userId="9a7e1853e1951ef5" providerId="LiveId" clId="{CF1FAA12-072C-4ED5-BA76-0FFFAEFDB88A}" dt="2025-10-02T21:34:53.613" v="385" actId="1076"/>
          <ac:spMkLst>
            <pc:docMk/>
            <pc:sldMk cId="3410570449" sldId="285"/>
            <ac:spMk id="8" creationId="{070E943D-54D2-737B-8F17-C236B0E07369}"/>
          </ac:spMkLst>
        </pc:spChg>
      </pc:sldChg>
      <pc:sldChg chg="modSp modAnim">
        <pc:chgData name="Zonghua Gu" userId="9a7e1853e1951ef5" providerId="LiveId" clId="{CF1FAA12-072C-4ED5-BA76-0FFFAEFDB88A}" dt="2025-10-05T00:04:52.314" v="1587" actId="20577"/>
        <pc:sldMkLst>
          <pc:docMk/>
          <pc:sldMk cId="2319237102" sldId="297"/>
        </pc:sldMkLst>
        <pc:spChg chg="mod">
          <ac:chgData name="Zonghua Gu" userId="9a7e1853e1951ef5" providerId="LiveId" clId="{CF1FAA12-072C-4ED5-BA76-0FFFAEFDB88A}" dt="2025-10-05T00:04:52.314" v="1587" actId="20577"/>
          <ac:spMkLst>
            <pc:docMk/>
            <pc:sldMk cId="2319237102" sldId="297"/>
            <ac:spMk id="6" creationId="{00000000-0000-0000-0000-000000000000}"/>
          </ac:spMkLst>
        </pc:spChg>
      </pc:sldChg>
      <pc:sldChg chg="modSp mod">
        <pc:chgData name="Zonghua Gu" userId="9a7e1853e1951ef5" providerId="LiveId" clId="{CF1FAA12-072C-4ED5-BA76-0FFFAEFDB88A}" dt="2025-10-05T00:03:17.447" v="1581" actId="6549"/>
        <pc:sldMkLst>
          <pc:docMk/>
          <pc:sldMk cId="2121641431" sldId="298"/>
        </pc:sldMkLst>
        <pc:spChg chg="mod">
          <ac:chgData name="Zonghua Gu" userId="9a7e1853e1951ef5" providerId="LiveId" clId="{CF1FAA12-072C-4ED5-BA76-0FFFAEFDB88A}" dt="2025-10-05T00:03:15.171" v="1579" actId="6549"/>
          <ac:spMkLst>
            <pc:docMk/>
            <pc:sldMk cId="2121641431" sldId="298"/>
            <ac:spMk id="10" creationId="{00000000-0000-0000-0000-000000000000}"/>
          </ac:spMkLst>
        </pc:spChg>
        <pc:spChg chg="mod">
          <ac:chgData name="Zonghua Gu" userId="9a7e1853e1951ef5" providerId="LiveId" clId="{CF1FAA12-072C-4ED5-BA76-0FFFAEFDB88A}" dt="2025-10-05T00:03:17.447" v="1581" actId="6549"/>
          <ac:spMkLst>
            <pc:docMk/>
            <pc:sldMk cId="2121641431" sldId="298"/>
            <ac:spMk id="11" creationId="{00000000-0000-0000-0000-000000000000}"/>
          </ac:spMkLst>
        </pc:spChg>
        <pc:spChg chg="mod">
          <ac:chgData name="Zonghua Gu" userId="9a7e1853e1951ef5" providerId="LiveId" clId="{CF1FAA12-072C-4ED5-BA76-0FFFAEFDB88A}" dt="2025-10-05T00:02:15.214" v="1577" actId="20577"/>
          <ac:spMkLst>
            <pc:docMk/>
            <pc:sldMk cId="2121641431" sldId="298"/>
            <ac:spMk id="119811" creationId="{00000000-0000-0000-0000-000000000000}"/>
          </ac:spMkLst>
        </pc:spChg>
        <pc:spChg chg="mod">
          <ac:chgData name="Zonghua Gu" userId="9a7e1853e1951ef5" providerId="LiveId" clId="{CF1FAA12-072C-4ED5-BA76-0FFFAEFDB88A}" dt="2025-10-05T00:01:43.881" v="1554" actId="20577"/>
          <ac:spMkLst>
            <pc:docMk/>
            <pc:sldMk cId="2121641431" sldId="298"/>
            <ac:spMk id="119812" creationId="{00000000-0000-0000-0000-000000000000}"/>
          </ac:spMkLst>
        </pc:spChg>
      </pc:sldChg>
      <pc:sldChg chg="addSp delSp modSp mod">
        <pc:chgData name="Zonghua Gu" userId="9a7e1853e1951ef5" providerId="LiveId" clId="{CF1FAA12-072C-4ED5-BA76-0FFFAEFDB88A}" dt="2025-10-05T00:11:01.630" v="1627" actId="22"/>
        <pc:sldMkLst>
          <pc:docMk/>
          <pc:sldMk cId="203524775" sldId="300"/>
        </pc:sldMkLst>
        <pc:spChg chg="mod">
          <ac:chgData name="Zonghua Gu" userId="9a7e1853e1951ef5" providerId="LiveId" clId="{CF1FAA12-072C-4ED5-BA76-0FFFAEFDB88A}" dt="2025-10-05T00:09:55.545" v="1622" actId="20577"/>
          <ac:spMkLst>
            <pc:docMk/>
            <pc:sldMk cId="203524775" sldId="300"/>
            <ac:spMk id="2" creationId="{00000000-0000-0000-0000-000000000000}"/>
          </ac:spMkLst>
        </pc:spChg>
        <pc:spChg chg="add del">
          <ac:chgData name="Zonghua Gu" userId="9a7e1853e1951ef5" providerId="LiveId" clId="{CF1FAA12-072C-4ED5-BA76-0FFFAEFDB88A}" dt="2025-10-05T00:11:01.630" v="1627" actId="22"/>
          <ac:spMkLst>
            <pc:docMk/>
            <pc:sldMk cId="203524775" sldId="300"/>
            <ac:spMk id="8" creationId="{C157248D-C69D-B226-ECDB-A19B8672B71C}"/>
          </ac:spMkLst>
        </pc:spChg>
      </pc:sldChg>
      <pc:sldChg chg="del">
        <pc:chgData name="Zonghua Gu" userId="9a7e1853e1951ef5" providerId="LiveId" clId="{CF1FAA12-072C-4ED5-BA76-0FFFAEFDB88A}" dt="2025-10-02T21:50:18.173" v="549" actId="47"/>
        <pc:sldMkLst>
          <pc:docMk/>
          <pc:sldMk cId="2550961529" sldId="301"/>
        </pc:sldMkLst>
      </pc:sldChg>
      <pc:sldChg chg="del">
        <pc:chgData name="Zonghua Gu" userId="9a7e1853e1951ef5" providerId="LiveId" clId="{CF1FAA12-072C-4ED5-BA76-0FFFAEFDB88A}" dt="2025-10-04T23:12:28.273" v="943" actId="2696"/>
        <pc:sldMkLst>
          <pc:docMk/>
          <pc:sldMk cId="1735132193" sldId="303"/>
        </pc:sldMkLst>
      </pc:sldChg>
      <pc:sldChg chg="addSp modSp add ord">
        <pc:chgData name="Zonghua Gu" userId="9a7e1853e1951ef5" providerId="LiveId" clId="{CF1FAA12-072C-4ED5-BA76-0FFFAEFDB88A}" dt="2025-10-04T23:13:07.876" v="949"/>
        <pc:sldMkLst>
          <pc:docMk/>
          <pc:sldMk cId="1774725071" sldId="303"/>
        </pc:sldMkLst>
        <pc:spChg chg="add mod">
          <ac:chgData name="Zonghua Gu" userId="9a7e1853e1951ef5" providerId="LiveId" clId="{CF1FAA12-072C-4ED5-BA76-0FFFAEFDB88A}" dt="2025-10-04T23:13:07.876" v="949"/>
          <ac:spMkLst>
            <pc:docMk/>
            <pc:sldMk cId="1774725071" sldId="303"/>
            <ac:spMk id="2" creationId="{83E562FA-F0A6-5842-2638-B80BBF6217CC}"/>
          </ac:spMkLst>
        </pc:spChg>
      </pc:sldChg>
      <pc:sldChg chg="addSp delSp modSp mod">
        <pc:chgData name="Zonghua Gu" userId="9a7e1853e1951ef5" providerId="LiveId" clId="{CF1FAA12-072C-4ED5-BA76-0FFFAEFDB88A}" dt="2025-10-04T22:51:25.315" v="682" actId="20577"/>
        <pc:sldMkLst>
          <pc:docMk/>
          <pc:sldMk cId="207599578" sldId="317"/>
        </pc:sldMkLst>
        <pc:spChg chg="mod">
          <ac:chgData name="Zonghua Gu" userId="9a7e1853e1951ef5" providerId="LiveId" clId="{CF1FAA12-072C-4ED5-BA76-0FFFAEFDB88A}" dt="2025-10-04T22:51:25.315" v="682" actId="20577"/>
          <ac:spMkLst>
            <pc:docMk/>
            <pc:sldMk cId="207599578" sldId="317"/>
            <ac:spMk id="4" creationId="{00000000-0000-0000-0000-000000000000}"/>
          </ac:spMkLst>
        </pc:spChg>
        <pc:spChg chg="mod">
          <ac:chgData name="Zonghua Gu" userId="9a7e1853e1951ef5" providerId="LiveId" clId="{CF1FAA12-072C-4ED5-BA76-0FFFAEFDB88A}" dt="2025-10-04T22:48:53.653" v="665" actId="1076"/>
          <ac:spMkLst>
            <pc:docMk/>
            <pc:sldMk cId="207599578" sldId="317"/>
            <ac:spMk id="5" creationId="{00000000-0000-0000-0000-000000000000}"/>
          </ac:spMkLst>
        </pc:spChg>
        <pc:spChg chg="mod">
          <ac:chgData name="Zonghua Gu" userId="9a7e1853e1951ef5" providerId="LiveId" clId="{CF1FAA12-072C-4ED5-BA76-0FFFAEFDB88A}" dt="2025-10-04T22:48:53.653" v="665" actId="1076"/>
          <ac:spMkLst>
            <pc:docMk/>
            <pc:sldMk cId="207599578" sldId="317"/>
            <ac:spMk id="6" creationId="{00000000-0000-0000-0000-000000000000}"/>
          </ac:spMkLst>
        </pc:spChg>
        <pc:spChg chg="mod">
          <ac:chgData name="Zonghua Gu" userId="9a7e1853e1951ef5" providerId="LiveId" clId="{CF1FAA12-072C-4ED5-BA76-0FFFAEFDB88A}" dt="2025-10-04T22:48:53.653" v="665" actId="1076"/>
          <ac:spMkLst>
            <pc:docMk/>
            <pc:sldMk cId="207599578" sldId="317"/>
            <ac:spMk id="7" creationId="{00000000-0000-0000-0000-000000000000}"/>
          </ac:spMkLst>
        </pc:spChg>
        <pc:spChg chg="mod">
          <ac:chgData name="Zonghua Gu" userId="9a7e1853e1951ef5" providerId="LiveId" clId="{CF1FAA12-072C-4ED5-BA76-0FFFAEFDB88A}" dt="2025-10-04T22:48:53.653" v="665" actId="1076"/>
          <ac:spMkLst>
            <pc:docMk/>
            <pc:sldMk cId="207599578" sldId="317"/>
            <ac:spMk id="8" creationId="{00000000-0000-0000-0000-000000000000}"/>
          </ac:spMkLst>
        </pc:spChg>
        <pc:spChg chg="del mod">
          <ac:chgData name="Zonghua Gu" userId="9a7e1853e1951ef5" providerId="LiveId" clId="{CF1FAA12-072C-4ED5-BA76-0FFFAEFDB88A}" dt="2025-10-04T22:44:11.037" v="598" actId="478"/>
          <ac:spMkLst>
            <pc:docMk/>
            <pc:sldMk cId="207599578" sldId="317"/>
            <ac:spMk id="9" creationId="{00000000-0000-0000-0000-000000000000}"/>
          </ac:spMkLst>
        </pc:spChg>
        <pc:spChg chg="add">
          <ac:chgData name="Zonghua Gu" userId="9a7e1853e1951ef5" providerId="LiveId" clId="{CF1FAA12-072C-4ED5-BA76-0FFFAEFDB88A}" dt="2025-10-04T22:42:28.598" v="575"/>
          <ac:spMkLst>
            <pc:docMk/>
            <pc:sldMk cId="207599578" sldId="317"/>
            <ac:spMk id="10" creationId="{CB261C30-33C9-71C0-5CB5-ED0D5B18721D}"/>
          </ac:spMkLst>
        </pc:spChg>
        <pc:spChg chg="add mod">
          <ac:chgData name="Zonghua Gu" userId="9a7e1853e1951ef5" providerId="LiveId" clId="{CF1FAA12-072C-4ED5-BA76-0FFFAEFDB88A}" dt="2025-10-04T22:51:22.502" v="681" actId="1076"/>
          <ac:spMkLst>
            <pc:docMk/>
            <pc:sldMk cId="207599578" sldId="317"/>
            <ac:spMk id="11" creationId="{5068A1AF-722F-F81B-ABAF-811986421AAA}"/>
          </ac:spMkLst>
        </pc:spChg>
      </pc:sldChg>
      <pc:sldChg chg="modSp del mod">
        <pc:chgData name="Zonghua Gu" userId="9a7e1853e1951ef5" providerId="LiveId" clId="{CF1FAA12-072C-4ED5-BA76-0FFFAEFDB88A}" dt="2025-10-04T22:51:27.702" v="683" actId="47"/>
        <pc:sldMkLst>
          <pc:docMk/>
          <pc:sldMk cId="2069787402" sldId="318"/>
        </pc:sldMkLst>
        <pc:spChg chg="mod">
          <ac:chgData name="Zonghua Gu" userId="9a7e1853e1951ef5" providerId="LiveId" clId="{CF1FAA12-072C-4ED5-BA76-0FFFAEFDB88A}" dt="2025-10-04T22:50:36.836" v="666" actId="6549"/>
          <ac:spMkLst>
            <pc:docMk/>
            <pc:sldMk cId="2069787402" sldId="318"/>
            <ac:spMk id="4" creationId="{00000000-0000-0000-0000-000000000000}"/>
          </ac:spMkLst>
        </pc:spChg>
      </pc:sldChg>
      <pc:sldChg chg="addSp delSp modSp mod">
        <pc:chgData name="Zonghua Gu" userId="9a7e1853e1951ef5" providerId="LiveId" clId="{CF1FAA12-072C-4ED5-BA76-0FFFAEFDB88A}" dt="2025-10-04T23:53:42.231" v="1505" actId="1076"/>
        <pc:sldMkLst>
          <pc:docMk/>
          <pc:sldMk cId="956433268" sldId="321"/>
        </pc:sldMkLst>
        <pc:spChg chg="mod">
          <ac:chgData name="Zonghua Gu" userId="9a7e1853e1951ef5" providerId="LiveId" clId="{CF1FAA12-072C-4ED5-BA76-0FFFAEFDB88A}" dt="2025-10-04T23:47:56.762" v="1422" actId="1076"/>
          <ac:spMkLst>
            <pc:docMk/>
            <pc:sldMk cId="956433268" sldId="321"/>
            <ac:spMk id="3" creationId="{00000000-0000-0000-0000-000000000000}"/>
          </ac:spMkLst>
        </pc:spChg>
        <pc:spChg chg="del mod">
          <ac:chgData name="Zonghua Gu" userId="9a7e1853e1951ef5" providerId="LiveId" clId="{CF1FAA12-072C-4ED5-BA76-0FFFAEFDB88A}" dt="2025-10-04T23:51:12.369" v="1473" actId="478"/>
          <ac:spMkLst>
            <pc:docMk/>
            <pc:sldMk cId="956433268" sldId="321"/>
            <ac:spMk id="6" creationId="{00000000-0000-0000-0000-000000000000}"/>
          </ac:spMkLst>
        </pc:spChg>
        <pc:spChg chg="del">
          <ac:chgData name="Zonghua Gu" userId="9a7e1853e1951ef5" providerId="LiveId" clId="{CF1FAA12-072C-4ED5-BA76-0FFFAEFDB88A}" dt="2025-10-04T23:49:48.363" v="1447" actId="478"/>
          <ac:spMkLst>
            <pc:docMk/>
            <pc:sldMk cId="956433268" sldId="321"/>
            <ac:spMk id="7" creationId="{00000000-0000-0000-0000-000000000000}"/>
          </ac:spMkLst>
        </pc:spChg>
        <pc:graphicFrameChg chg="add mod modGraphic">
          <ac:chgData name="Zonghua Gu" userId="9a7e1853e1951ef5" providerId="LiveId" clId="{CF1FAA12-072C-4ED5-BA76-0FFFAEFDB88A}" dt="2025-10-04T23:53:01.744" v="1486"/>
          <ac:graphicFrameMkLst>
            <pc:docMk/>
            <pc:sldMk cId="956433268" sldId="321"/>
            <ac:graphicFrameMk id="4" creationId="{8989EC59-E611-F201-0209-F4496711ACCE}"/>
          </ac:graphicFrameMkLst>
        </pc:graphicFrameChg>
        <pc:graphicFrameChg chg="del mod">
          <ac:chgData name="Zonghua Gu" userId="9a7e1853e1951ef5" providerId="LiveId" clId="{CF1FAA12-072C-4ED5-BA76-0FFFAEFDB88A}" dt="2025-10-04T23:51:11.427" v="1472" actId="478"/>
          <ac:graphicFrameMkLst>
            <pc:docMk/>
            <pc:sldMk cId="956433268" sldId="321"/>
            <ac:graphicFrameMk id="5" creationId="{00000000-0000-0000-0000-000000000000}"/>
          </ac:graphicFrameMkLst>
        </pc:graphicFrameChg>
        <pc:graphicFrameChg chg="add mod">
          <ac:chgData name="Zonghua Gu" userId="9a7e1853e1951ef5" providerId="LiveId" clId="{CF1FAA12-072C-4ED5-BA76-0FFFAEFDB88A}" dt="2025-10-04T23:53:42.231" v="1505" actId="1076"/>
          <ac:graphicFrameMkLst>
            <pc:docMk/>
            <pc:sldMk cId="956433268" sldId="321"/>
            <ac:graphicFrameMk id="8" creationId="{00000000-0000-0000-0000-000000000000}"/>
          </ac:graphicFrameMkLst>
        </pc:graphicFrameChg>
        <pc:picChg chg="del">
          <ac:chgData name="Zonghua Gu" userId="9a7e1853e1951ef5" providerId="LiveId" clId="{CF1FAA12-072C-4ED5-BA76-0FFFAEFDB88A}" dt="2025-10-04T23:47:50.666" v="1419" actId="478"/>
          <ac:picMkLst>
            <pc:docMk/>
            <pc:sldMk cId="956433268" sldId="321"/>
            <ac:picMk id="1025" creationId="{00000000-0000-0000-0000-000000000000}"/>
          </ac:picMkLst>
        </pc:picChg>
      </pc:sldChg>
      <pc:sldChg chg="del">
        <pc:chgData name="Zonghua Gu" userId="9a7e1853e1951ef5" providerId="LiveId" clId="{CF1FAA12-072C-4ED5-BA76-0FFFAEFDB88A}" dt="2025-10-04T23:52:16.480" v="1474" actId="47"/>
        <pc:sldMkLst>
          <pc:docMk/>
          <pc:sldMk cId="2653589447" sldId="322"/>
        </pc:sldMkLst>
      </pc:sldChg>
      <pc:sldChg chg="delSp modSp del mod">
        <pc:chgData name="Zonghua Gu" userId="9a7e1853e1951ef5" providerId="LiveId" clId="{CF1FAA12-072C-4ED5-BA76-0FFFAEFDB88A}" dt="2025-10-04T23:53:43.631" v="1506" actId="47"/>
        <pc:sldMkLst>
          <pc:docMk/>
          <pc:sldMk cId="2667703659" sldId="323"/>
        </pc:sldMkLst>
        <pc:spChg chg="del mod">
          <ac:chgData name="Zonghua Gu" userId="9a7e1853e1951ef5" providerId="LiveId" clId="{CF1FAA12-072C-4ED5-BA76-0FFFAEFDB88A}" dt="2025-10-04T23:53:31.278" v="1502"/>
          <ac:spMkLst>
            <pc:docMk/>
            <pc:sldMk cId="2667703659" sldId="323"/>
            <ac:spMk id="5" creationId="{00000000-0000-0000-0000-000000000000}"/>
          </ac:spMkLst>
        </pc:spChg>
        <pc:graphicFrameChg chg="del modGraphic">
          <ac:chgData name="Zonghua Gu" userId="9a7e1853e1951ef5" providerId="LiveId" clId="{CF1FAA12-072C-4ED5-BA76-0FFFAEFDB88A}" dt="2025-10-04T23:53:35.333" v="1503" actId="21"/>
          <ac:graphicFrameMkLst>
            <pc:docMk/>
            <pc:sldMk cId="2667703659" sldId="323"/>
            <ac:graphicFrameMk id="6" creationId="{00000000-0000-0000-0000-000000000000}"/>
          </ac:graphicFrameMkLst>
        </pc:graphicFrameChg>
      </pc:sldChg>
      <pc:sldChg chg="modSp del mod">
        <pc:chgData name="Zonghua Gu" userId="9a7e1853e1951ef5" providerId="LiveId" clId="{CF1FAA12-072C-4ED5-BA76-0FFFAEFDB88A}" dt="2025-10-04T23:11:48.981" v="927" actId="47"/>
        <pc:sldMkLst>
          <pc:docMk/>
          <pc:sldMk cId="2924045303" sldId="324"/>
        </pc:sldMkLst>
        <pc:graphicFrameChg chg="mod modGraphic">
          <ac:chgData name="Zonghua Gu" userId="9a7e1853e1951ef5" providerId="LiveId" clId="{CF1FAA12-072C-4ED5-BA76-0FFFAEFDB88A}" dt="2025-10-04T23:05:14.420" v="822" actId="113"/>
          <ac:graphicFrameMkLst>
            <pc:docMk/>
            <pc:sldMk cId="2924045303" sldId="324"/>
            <ac:graphicFrameMk id="4" creationId="{00000000-0000-0000-0000-000000000000}"/>
          </ac:graphicFrameMkLst>
        </pc:graphicFrameChg>
      </pc:sldChg>
      <pc:sldChg chg="addSp delSp modSp mod">
        <pc:chgData name="Zonghua Gu" userId="9a7e1853e1951ef5" providerId="LiveId" clId="{CF1FAA12-072C-4ED5-BA76-0FFFAEFDB88A}" dt="2025-10-05T00:25:07.966" v="1720" actId="21"/>
        <pc:sldMkLst>
          <pc:docMk/>
          <pc:sldMk cId="2331627715" sldId="325"/>
        </pc:sldMkLst>
        <pc:spChg chg="del mod">
          <ac:chgData name="Zonghua Gu" userId="9a7e1853e1951ef5" providerId="LiveId" clId="{CF1FAA12-072C-4ED5-BA76-0FFFAEFDB88A}" dt="2025-10-04T23:55:04.641" v="1531" actId="478"/>
          <ac:spMkLst>
            <pc:docMk/>
            <pc:sldMk cId="2331627715" sldId="325"/>
            <ac:spMk id="7" creationId="{00000000-0000-0000-0000-000000000000}"/>
          </ac:spMkLst>
        </pc:spChg>
        <pc:spChg chg="add del mod">
          <ac:chgData name="Zonghua Gu" userId="9a7e1853e1951ef5" providerId="LiveId" clId="{CF1FAA12-072C-4ED5-BA76-0FFFAEFDB88A}" dt="2025-10-05T00:25:07.966" v="1720" actId="21"/>
          <ac:spMkLst>
            <pc:docMk/>
            <pc:sldMk cId="2331627715" sldId="325"/>
            <ac:spMk id="8" creationId="{D4C8010B-66ED-E4E8-3E62-8FD325A0C7AC}"/>
          </ac:spMkLst>
        </pc:spChg>
        <pc:graphicFrameChg chg="add mod modGraphic">
          <ac:chgData name="Zonghua Gu" userId="9a7e1853e1951ef5" providerId="LiveId" clId="{CF1FAA12-072C-4ED5-BA76-0FFFAEFDB88A}" dt="2025-10-04T23:55:31.008" v="1539" actId="20577"/>
          <ac:graphicFrameMkLst>
            <pc:docMk/>
            <pc:sldMk cId="2331627715" sldId="325"/>
            <ac:graphicFrameMk id="4" creationId="{7F82155A-10D1-2BC7-1D07-F345C9BE816C}"/>
          </ac:graphicFrameMkLst>
        </pc:graphicFrameChg>
        <pc:graphicFrameChg chg="del mod">
          <ac:chgData name="Zonghua Gu" userId="9a7e1853e1951ef5" providerId="LiveId" clId="{CF1FAA12-072C-4ED5-BA76-0FFFAEFDB88A}" dt="2025-10-04T23:55:04.641" v="1531" actId="478"/>
          <ac:graphicFrameMkLst>
            <pc:docMk/>
            <pc:sldMk cId="2331627715" sldId="325"/>
            <ac:graphicFrameMk id="5" creationId="{00000000-0000-0000-0000-000000000000}"/>
          </ac:graphicFrameMkLst>
        </pc:graphicFrameChg>
        <pc:graphicFrameChg chg="add del mod">
          <ac:chgData name="Zonghua Gu" userId="9a7e1853e1951ef5" providerId="LiveId" clId="{CF1FAA12-072C-4ED5-BA76-0FFFAEFDB88A}" dt="2025-10-04T23:59:34.393" v="1541" actId="478"/>
          <ac:graphicFrameMkLst>
            <pc:docMk/>
            <pc:sldMk cId="2331627715" sldId="325"/>
            <ac:graphicFrameMk id="6" creationId="{5C1A98F4-E75D-D24C-B12F-A9E0A130E197}"/>
          </ac:graphicFrameMkLst>
        </pc:graphicFrameChg>
        <pc:picChg chg="del">
          <ac:chgData name="Zonghua Gu" userId="9a7e1853e1951ef5" providerId="LiveId" clId="{CF1FAA12-072C-4ED5-BA76-0FFFAEFDB88A}" dt="2025-10-04T23:54:27.966" v="1515" actId="478"/>
          <ac:picMkLst>
            <pc:docMk/>
            <pc:sldMk cId="2331627715" sldId="325"/>
            <ac:picMk id="5121" creationId="{00000000-0000-0000-0000-000000000000}"/>
          </ac:picMkLst>
        </pc:picChg>
      </pc:sldChg>
      <pc:sldChg chg="del">
        <pc:chgData name="Zonghua Gu" userId="9a7e1853e1951ef5" providerId="LiveId" clId="{CF1FAA12-072C-4ED5-BA76-0FFFAEFDB88A}" dt="2025-10-04T23:46:47.712" v="1418" actId="47"/>
        <pc:sldMkLst>
          <pc:docMk/>
          <pc:sldMk cId="3293036044" sldId="326"/>
        </pc:sldMkLst>
      </pc:sldChg>
      <pc:sldChg chg="del">
        <pc:chgData name="Zonghua Gu" userId="9a7e1853e1951ef5" providerId="LiveId" clId="{CF1FAA12-072C-4ED5-BA76-0FFFAEFDB88A}" dt="2025-10-04T23:46:47.712" v="1418" actId="47"/>
        <pc:sldMkLst>
          <pc:docMk/>
          <pc:sldMk cId="2322116273" sldId="327"/>
        </pc:sldMkLst>
      </pc:sldChg>
      <pc:sldChg chg="del">
        <pc:chgData name="Zonghua Gu" userId="9a7e1853e1951ef5" providerId="LiveId" clId="{CF1FAA12-072C-4ED5-BA76-0FFFAEFDB88A}" dt="2025-10-04T22:52:36.140" v="687" actId="47"/>
        <pc:sldMkLst>
          <pc:docMk/>
          <pc:sldMk cId="3102424687" sldId="332"/>
        </pc:sldMkLst>
      </pc:sldChg>
      <pc:sldChg chg="addSp delSp modSp mod">
        <pc:chgData name="Zonghua Gu" userId="9a7e1853e1951ef5" providerId="LiveId" clId="{CF1FAA12-072C-4ED5-BA76-0FFFAEFDB88A}" dt="2025-10-05T01:29:33.757" v="1844" actId="20577"/>
        <pc:sldMkLst>
          <pc:docMk/>
          <pc:sldMk cId="4291846176" sldId="334"/>
        </pc:sldMkLst>
        <pc:spChg chg="mod">
          <ac:chgData name="Zonghua Gu" userId="9a7e1853e1951ef5" providerId="LiveId" clId="{CF1FAA12-072C-4ED5-BA76-0FFFAEFDB88A}" dt="2025-10-04T23:16:31.291" v="971" actId="20577"/>
          <ac:spMkLst>
            <pc:docMk/>
            <pc:sldMk cId="4291846176" sldId="334"/>
            <ac:spMk id="2" creationId="{00000000-0000-0000-0000-000000000000}"/>
          </ac:spMkLst>
        </pc:spChg>
        <pc:graphicFrameChg chg="mod modGraphic">
          <ac:chgData name="Zonghua Gu" userId="9a7e1853e1951ef5" providerId="LiveId" clId="{CF1FAA12-072C-4ED5-BA76-0FFFAEFDB88A}" dt="2025-10-05T01:29:33.757" v="1844" actId="20577"/>
          <ac:graphicFrameMkLst>
            <pc:docMk/>
            <pc:sldMk cId="4291846176" sldId="334"/>
            <ac:graphicFrameMk id="5" creationId="{00000000-0000-0000-0000-000000000000}"/>
          </ac:graphicFrameMkLst>
        </pc:graphicFrameChg>
        <pc:picChg chg="add del mod">
          <ac:chgData name="Zonghua Gu" userId="9a7e1853e1951ef5" providerId="LiveId" clId="{CF1FAA12-072C-4ED5-BA76-0FFFAEFDB88A}" dt="2025-10-04T23:38:06.549" v="1365" actId="478"/>
          <ac:picMkLst>
            <pc:docMk/>
            <pc:sldMk cId="4291846176" sldId="334"/>
            <ac:picMk id="6" creationId="{08620A06-E876-C8C4-DD43-1733DECBED6E}"/>
          </ac:picMkLst>
        </pc:picChg>
      </pc:sldChg>
      <pc:sldChg chg="del">
        <pc:chgData name="Zonghua Gu" userId="9a7e1853e1951ef5" providerId="LiveId" clId="{CF1FAA12-072C-4ED5-BA76-0FFFAEFDB88A}" dt="2025-10-04T22:54:58.432" v="688" actId="47"/>
        <pc:sldMkLst>
          <pc:docMk/>
          <pc:sldMk cId="4015228595" sldId="335"/>
        </pc:sldMkLst>
      </pc:sldChg>
      <pc:sldChg chg="addSp delSp modSp mod">
        <pc:chgData name="Zonghua Gu" userId="9a7e1853e1951ef5" providerId="LiveId" clId="{CF1FAA12-072C-4ED5-BA76-0FFFAEFDB88A}" dt="2025-10-04T23:44:24.376" v="1410" actId="113"/>
        <pc:sldMkLst>
          <pc:docMk/>
          <pc:sldMk cId="1520596659" sldId="336"/>
        </pc:sldMkLst>
        <pc:spChg chg="mod">
          <ac:chgData name="Zonghua Gu" userId="9a7e1853e1951ef5" providerId="LiveId" clId="{CF1FAA12-072C-4ED5-BA76-0FFFAEFDB88A}" dt="2025-10-04T23:12:07.546" v="942" actId="20577"/>
          <ac:spMkLst>
            <pc:docMk/>
            <pc:sldMk cId="1520596659" sldId="336"/>
            <ac:spMk id="2" creationId="{00000000-0000-0000-0000-000000000000}"/>
          </ac:spMkLst>
        </pc:spChg>
        <pc:spChg chg="add mod">
          <ac:chgData name="Zonghua Gu" userId="9a7e1853e1951ef5" providerId="LiveId" clId="{CF1FAA12-072C-4ED5-BA76-0FFFAEFDB88A}" dt="2025-10-04T23:03:32.414" v="790" actId="1076"/>
          <ac:spMkLst>
            <pc:docMk/>
            <pc:sldMk cId="1520596659" sldId="336"/>
            <ac:spMk id="4" creationId="{3F602F0E-B127-6CB2-8064-C83E858D3911}"/>
          </ac:spMkLst>
        </pc:spChg>
        <pc:spChg chg="del mod">
          <ac:chgData name="Zonghua Gu" userId="9a7e1853e1951ef5" providerId="LiveId" clId="{CF1FAA12-072C-4ED5-BA76-0FFFAEFDB88A}" dt="2025-10-04T23:00:24.051" v="731" actId="478"/>
          <ac:spMkLst>
            <pc:docMk/>
            <pc:sldMk cId="1520596659" sldId="336"/>
            <ac:spMk id="5" creationId="{00000000-0000-0000-0000-000000000000}"/>
          </ac:spMkLst>
        </pc:spChg>
        <pc:spChg chg="del">
          <ac:chgData name="Zonghua Gu" userId="9a7e1853e1951ef5" providerId="LiveId" clId="{CF1FAA12-072C-4ED5-BA76-0FFFAEFDB88A}" dt="2025-10-04T23:00:21.670" v="730" actId="478"/>
          <ac:spMkLst>
            <pc:docMk/>
            <pc:sldMk cId="1520596659" sldId="336"/>
            <ac:spMk id="6" creationId="{00000000-0000-0000-0000-000000000000}"/>
          </ac:spMkLst>
        </pc:spChg>
        <pc:spChg chg="del mod">
          <ac:chgData name="Zonghua Gu" userId="9a7e1853e1951ef5" providerId="LiveId" clId="{CF1FAA12-072C-4ED5-BA76-0FFFAEFDB88A}" dt="2025-10-04T23:00:25.570" v="732" actId="478"/>
          <ac:spMkLst>
            <pc:docMk/>
            <pc:sldMk cId="1520596659" sldId="336"/>
            <ac:spMk id="7" creationId="{00000000-0000-0000-0000-000000000000}"/>
          </ac:spMkLst>
        </pc:spChg>
        <pc:graphicFrameChg chg="add mod modGraphic">
          <ac:chgData name="Zonghua Gu" userId="9a7e1853e1951ef5" providerId="LiveId" clId="{CF1FAA12-072C-4ED5-BA76-0FFFAEFDB88A}" dt="2025-10-04T23:44:24.376" v="1410" actId="113"/>
          <ac:graphicFrameMkLst>
            <pc:docMk/>
            <pc:sldMk cId="1520596659" sldId="336"/>
            <ac:graphicFrameMk id="8" creationId="{98FE3E34-A027-7F17-4DDF-8969E43EBD67}"/>
          </ac:graphicFrameMkLst>
        </pc:graphicFrameChg>
      </pc:sldChg>
      <pc:sldChg chg="del">
        <pc:chgData name="Zonghua Gu" userId="9a7e1853e1951ef5" providerId="LiveId" clId="{CF1FAA12-072C-4ED5-BA76-0FFFAEFDB88A}" dt="2025-10-04T23:09:16.253" v="891" actId="47"/>
        <pc:sldMkLst>
          <pc:docMk/>
          <pc:sldMk cId="1090868990" sldId="339"/>
        </pc:sldMkLst>
      </pc:sldChg>
      <pc:sldChg chg="modSp del mod">
        <pc:chgData name="Zonghua Gu" userId="9a7e1853e1951ef5" providerId="LiveId" clId="{CF1FAA12-072C-4ED5-BA76-0FFFAEFDB88A}" dt="2025-10-04T23:09:45.383" v="894" actId="47"/>
        <pc:sldMkLst>
          <pc:docMk/>
          <pc:sldMk cId="1809958305" sldId="340"/>
        </pc:sldMkLst>
        <pc:spChg chg="mod">
          <ac:chgData name="Zonghua Gu" userId="9a7e1853e1951ef5" providerId="LiveId" clId="{CF1FAA12-072C-4ED5-BA76-0FFFAEFDB88A}" dt="2025-10-04T23:05:19.094" v="824" actId="113"/>
          <ac:spMkLst>
            <pc:docMk/>
            <pc:sldMk cId="1809958305" sldId="340"/>
            <ac:spMk id="7" creationId="{00000000-0000-0000-0000-000000000000}"/>
          </ac:spMkLst>
        </pc:spChg>
      </pc:sldChg>
      <pc:sldChg chg="addSp modSp mod">
        <pc:chgData name="Zonghua Gu" userId="9a7e1853e1951ef5" providerId="LiveId" clId="{CF1FAA12-072C-4ED5-BA76-0FFFAEFDB88A}" dt="2025-10-04T23:13:05.398" v="948" actId="1076"/>
        <pc:sldMkLst>
          <pc:docMk/>
          <pc:sldMk cId="1197208543" sldId="343"/>
        </pc:sldMkLst>
        <pc:spChg chg="mod">
          <ac:chgData name="Zonghua Gu" userId="9a7e1853e1951ef5" providerId="LiveId" clId="{CF1FAA12-072C-4ED5-BA76-0FFFAEFDB88A}" dt="2025-10-02T21:44:42.735" v="525" actId="20577"/>
          <ac:spMkLst>
            <pc:docMk/>
            <pc:sldMk cId="1197208543" sldId="343"/>
            <ac:spMk id="2" creationId="{00000000-0000-0000-0000-000000000000}"/>
          </ac:spMkLst>
        </pc:spChg>
        <pc:spChg chg="add mod">
          <ac:chgData name="Zonghua Gu" userId="9a7e1853e1951ef5" providerId="LiveId" clId="{CF1FAA12-072C-4ED5-BA76-0FFFAEFDB88A}" dt="2025-10-04T23:13:05.398" v="948" actId="1076"/>
          <ac:spMkLst>
            <pc:docMk/>
            <pc:sldMk cId="1197208543" sldId="343"/>
            <ac:spMk id="43" creationId="{A364F533-400C-D612-5898-222CAE8624CB}"/>
          </ac:spMkLst>
        </pc:spChg>
        <pc:picChg chg="add mod">
          <ac:chgData name="Zonghua Gu" userId="9a7e1853e1951ef5" providerId="LiveId" clId="{CF1FAA12-072C-4ED5-BA76-0FFFAEFDB88A}" dt="2025-10-02T21:46:21.871" v="539" actId="1076"/>
          <ac:picMkLst>
            <pc:docMk/>
            <pc:sldMk cId="1197208543" sldId="343"/>
            <ac:picMk id="45" creationId="{F4610FDE-7BE3-AC86-5E3F-50D53906FDD5}"/>
          </ac:picMkLst>
        </pc:picChg>
      </pc:sldChg>
      <pc:sldChg chg="modSp mod">
        <pc:chgData name="Zonghua Gu" userId="9a7e1853e1951ef5" providerId="LiveId" clId="{CF1FAA12-072C-4ED5-BA76-0FFFAEFDB88A}" dt="2025-10-05T00:09:58.860" v="1623"/>
        <pc:sldMkLst>
          <pc:docMk/>
          <pc:sldMk cId="2051571543" sldId="344"/>
        </pc:sldMkLst>
        <pc:spChg chg="mod">
          <ac:chgData name="Zonghua Gu" userId="9a7e1853e1951ef5" providerId="LiveId" clId="{CF1FAA12-072C-4ED5-BA76-0FFFAEFDB88A}" dt="2025-10-05T00:09:58.860" v="1623"/>
          <ac:spMkLst>
            <pc:docMk/>
            <pc:sldMk cId="2051571543" sldId="344"/>
            <ac:spMk id="2" creationId="{00000000-0000-0000-0000-000000000000}"/>
          </ac:spMkLst>
        </pc:spChg>
        <pc:graphicFrameChg chg="mod modGraphic">
          <ac:chgData name="Zonghua Gu" userId="9a7e1853e1951ef5" providerId="LiveId" clId="{CF1FAA12-072C-4ED5-BA76-0FFFAEFDB88A}" dt="2025-10-05T00:08:34.198" v="1615" actId="20577"/>
          <ac:graphicFrameMkLst>
            <pc:docMk/>
            <pc:sldMk cId="2051571543" sldId="344"/>
            <ac:graphicFrameMk id="5" creationId="{00000000-0000-0000-0000-000000000000}"/>
          </ac:graphicFrameMkLst>
        </pc:graphicFrameChg>
      </pc:sldChg>
      <pc:sldChg chg="del">
        <pc:chgData name="Zonghua Gu" userId="9a7e1853e1951ef5" providerId="LiveId" clId="{CF1FAA12-072C-4ED5-BA76-0FFFAEFDB88A}" dt="2025-10-05T00:08:38.851" v="1616" actId="47"/>
        <pc:sldMkLst>
          <pc:docMk/>
          <pc:sldMk cId="548132547" sldId="345"/>
        </pc:sldMkLst>
      </pc:sldChg>
      <pc:sldChg chg="modSp mod">
        <pc:chgData name="Zonghua Gu" userId="9a7e1853e1951ef5" providerId="LiveId" clId="{CF1FAA12-072C-4ED5-BA76-0FFFAEFDB88A}" dt="2025-10-04T23:13:39.541" v="952" actId="20577"/>
        <pc:sldMkLst>
          <pc:docMk/>
          <pc:sldMk cId="2237900729" sldId="346"/>
        </pc:sldMkLst>
        <pc:spChg chg="mod">
          <ac:chgData name="Zonghua Gu" userId="9a7e1853e1951ef5" providerId="LiveId" clId="{CF1FAA12-072C-4ED5-BA76-0FFFAEFDB88A}" dt="2025-10-04T23:13:39.541" v="952" actId="20577"/>
          <ac:spMkLst>
            <pc:docMk/>
            <pc:sldMk cId="2237900729" sldId="346"/>
            <ac:spMk id="2" creationId="{00000000-0000-0000-0000-000000000000}"/>
          </ac:spMkLst>
        </pc:spChg>
      </pc:sldChg>
      <pc:sldChg chg="del">
        <pc:chgData name="Zonghua Gu" userId="9a7e1853e1951ef5" providerId="LiveId" clId="{CF1FAA12-072C-4ED5-BA76-0FFFAEFDB88A}" dt="2025-10-02T21:18:53.161" v="13" actId="47"/>
        <pc:sldMkLst>
          <pc:docMk/>
          <pc:sldMk cId="3183429436" sldId="347"/>
        </pc:sldMkLst>
      </pc:sldChg>
      <pc:sldChg chg="modSp mod modAnim">
        <pc:chgData name="Zonghua Gu" userId="9a7e1853e1951ef5" providerId="LiveId" clId="{CF1FAA12-072C-4ED5-BA76-0FFFAEFDB88A}" dt="2025-10-05T00:15:26.346" v="1668" actId="1076"/>
        <pc:sldMkLst>
          <pc:docMk/>
          <pc:sldMk cId="1680559388" sldId="348"/>
        </pc:sldMkLst>
        <pc:spChg chg="mod">
          <ac:chgData name="Zonghua Gu" userId="9a7e1853e1951ef5" providerId="LiveId" clId="{CF1FAA12-072C-4ED5-BA76-0FFFAEFDB88A}" dt="2025-10-02T21:26:17.336" v="213" actId="6549"/>
          <ac:spMkLst>
            <pc:docMk/>
            <pc:sldMk cId="1680559388" sldId="348"/>
            <ac:spMk id="4" creationId="{00000000-0000-0000-0000-000000000000}"/>
          </ac:spMkLst>
        </pc:spChg>
        <pc:graphicFrameChg chg="mod modGraphic">
          <ac:chgData name="Zonghua Gu" userId="9a7e1853e1951ef5" providerId="LiveId" clId="{CF1FAA12-072C-4ED5-BA76-0FFFAEFDB88A}" dt="2025-10-05T00:15:26.346" v="1668" actId="1076"/>
          <ac:graphicFrameMkLst>
            <pc:docMk/>
            <pc:sldMk cId="1680559388" sldId="348"/>
            <ac:graphicFrameMk id="5" creationId="{00000000-0000-0000-0000-000000000000}"/>
          </ac:graphicFrameMkLst>
        </pc:graphicFrameChg>
      </pc:sldChg>
      <pc:sldChg chg="del">
        <pc:chgData name="Zonghua Gu" userId="9a7e1853e1951ef5" providerId="LiveId" clId="{CF1FAA12-072C-4ED5-BA76-0FFFAEFDB88A}" dt="2025-10-02T21:50:07.187" v="548" actId="47"/>
        <pc:sldMkLst>
          <pc:docMk/>
          <pc:sldMk cId="3358866911" sldId="354"/>
        </pc:sldMkLst>
      </pc:sldChg>
      <pc:sldChg chg="modSp add mod">
        <pc:chgData name="Zonghua Gu" userId="9a7e1853e1951ef5" providerId="LiveId" clId="{CF1FAA12-072C-4ED5-BA76-0FFFAEFDB88A}" dt="2025-10-05T00:34:28.089" v="1836"/>
        <pc:sldMkLst>
          <pc:docMk/>
          <pc:sldMk cId="3103871726" sldId="355"/>
        </pc:sldMkLst>
        <pc:spChg chg="mod">
          <ac:chgData name="Zonghua Gu" userId="9a7e1853e1951ef5" providerId="LiveId" clId="{CF1FAA12-072C-4ED5-BA76-0FFFAEFDB88A}" dt="2025-10-02T21:17:45.416" v="4" actId="1076"/>
          <ac:spMkLst>
            <pc:docMk/>
            <pc:sldMk cId="3103871726" sldId="355"/>
            <ac:spMk id="5" creationId="{00000000-0000-0000-0000-000000000000}"/>
          </ac:spMkLst>
        </pc:spChg>
        <pc:spChg chg="mod">
          <ac:chgData name="Zonghua Gu" userId="9a7e1853e1951ef5" providerId="LiveId" clId="{CF1FAA12-072C-4ED5-BA76-0FFFAEFDB88A}" dt="2025-10-05T00:34:28.089" v="1836"/>
          <ac:spMkLst>
            <pc:docMk/>
            <pc:sldMk cId="3103871726" sldId="355"/>
            <ac:spMk id="6" creationId="{00000000-0000-0000-0000-000000000000}"/>
          </ac:spMkLst>
        </pc:spChg>
      </pc:sldChg>
      <pc:sldChg chg="modSp add mod">
        <pc:chgData name="Zonghua Gu" userId="9a7e1853e1951ef5" providerId="LiveId" clId="{CF1FAA12-072C-4ED5-BA76-0FFFAEFDB88A}" dt="2025-10-02T21:37:55.645" v="431" actId="14100"/>
        <pc:sldMkLst>
          <pc:docMk/>
          <pc:sldMk cId="3037248441" sldId="356"/>
        </pc:sldMkLst>
        <pc:spChg chg="mod">
          <ac:chgData name="Zonghua Gu" userId="9a7e1853e1951ef5" providerId="LiveId" clId="{CF1FAA12-072C-4ED5-BA76-0FFFAEFDB88A}" dt="2025-10-02T21:37:55.645" v="431" actId="14100"/>
          <ac:spMkLst>
            <pc:docMk/>
            <pc:sldMk cId="3037248441" sldId="356"/>
            <ac:spMk id="4" creationId="{00000000-0000-0000-0000-000000000000}"/>
          </ac:spMkLst>
        </pc:spChg>
        <pc:graphicFrameChg chg="mod">
          <ac:chgData name="Zonghua Gu" userId="9a7e1853e1951ef5" providerId="LiveId" clId="{CF1FAA12-072C-4ED5-BA76-0FFFAEFDB88A}" dt="2025-10-02T21:37:53.665" v="430" actId="1076"/>
          <ac:graphicFrameMkLst>
            <pc:docMk/>
            <pc:sldMk cId="3037248441" sldId="356"/>
            <ac:graphicFrameMk id="5" creationId="{8DCF8158-0829-196C-D9FE-1C770A94B4C4}"/>
          </ac:graphicFrameMkLst>
        </pc:graphicFrameChg>
        <pc:graphicFrameChg chg="mod">
          <ac:chgData name="Zonghua Gu" userId="9a7e1853e1951ef5" providerId="LiveId" clId="{CF1FAA12-072C-4ED5-BA76-0FFFAEFDB88A}" dt="2025-10-02T21:37:53.665" v="430" actId="1076"/>
          <ac:graphicFrameMkLst>
            <pc:docMk/>
            <pc:sldMk cId="3037248441" sldId="356"/>
            <ac:graphicFrameMk id="6" creationId="{03FCCA32-130C-6803-E182-E05ADA9ECB49}"/>
          </ac:graphicFrameMkLst>
        </pc:graphicFrameChg>
      </pc:sldChg>
      <pc:sldChg chg="modSp add del mod ord">
        <pc:chgData name="Zonghua Gu" userId="9a7e1853e1951ef5" providerId="LiveId" clId="{CF1FAA12-072C-4ED5-BA76-0FFFAEFDB88A}" dt="2025-10-05T00:11:06.237" v="1628" actId="47"/>
        <pc:sldMkLst>
          <pc:docMk/>
          <pc:sldMk cId="4245009867" sldId="357"/>
        </pc:sldMkLst>
        <pc:spChg chg="mod">
          <ac:chgData name="Zonghua Gu" userId="9a7e1853e1951ef5" providerId="LiveId" clId="{CF1FAA12-072C-4ED5-BA76-0FFFAEFDB88A}" dt="2025-10-05T00:10:57.761" v="1625" actId="27636"/>
          <ac:spMkLst>
            <pc:docMk/>
            <pc:sldMk cId="4245009867" sldId="357"/>
            <ac:spMk id="4" creationId="{5422A2C6-7F24-FA4F-9F2C-00B81D4ABBD8}"/>
          </ac:spMkLst>
        </pc:spChg>
      </pc:sldChg>
      <pc:sldChg chg="addSp delSp modSp add mod">
        <pc:chgData name="Zonghua Gu" userId="9a7e1853e1951ef5" providerId="LiveId" clId="{CF1FAA12-072C-4ED5-BA76-0FFFAEFDB88A}" dt="2025-10-05T00:14:24.749" v="1667" actId="20577"/>
        <pc:sldMkLst>
          <pc:docMk/>
          <pc:sldMk cId="1202265337" sldId="553"/>
        </pc:sldMkLst>
        <pc:spChg chg="mod">
          <ac:chgData name="Zonghua Gu" userId="9a7e1853e1951ef5" providerId="LiveId" clId="{CF1FAA12-072C-4ED5-BA76-0FFFAEFDB88A}" dt="2025-10-02T21:44:33.758" v="513" actId="1076"/>
          <ac:spMkLst>
            <pc:docMk/>
            <pc:sldMk cId="1202265337" sldId="553"/>
            <ac:spMk id="3" creationId="{4DF73044-40F3-F2D2-4520-3537F47168BE}"/>
          </ac:spMkLst>
        </pc:spChg>
        <pc:spChg chg="mod">
          <ac:chgData name="Zonghua Gu" userId="9a7e1853e1951ef5" providerId="LiveId" clId="{CF1FAA12-072C-4ED5-BA76-0FFFAEFDB88A}" dt="2025-10-05T00:14:24.749" v="1667" actId="20577"/>
          <ac:spMkLst>
            <pc:docMk/>
            <pc:sldMk cId="1202265337" sldId="553"/>
            <ac:spMk id="38914" creationId="{00000000-0000-0000-0000-000000000000}"/>
          </ac:spMkLst>
        </pc:spChg>
        <pc:spChg chg="mod">
          <ac:chgData name="Zonghua Gu" userId="9a7e1853e1951ef5" providerId="LiveId" clId="{CF1FAA12-072C-4ED5-BA76-0FFFAEFDB88A}" dt="2025-10-05T00:13:53.638" v="1634" actId="108"/>
          <ac:spMkLst>
            <pc:docMk/>
            <pc:sldMk cId="1202265337" sldId="553"/>
            <ac:spMk id="38917" creationId="{00000000-0000-0000-0000-000000000000}"/>
          </ac:spMkLst>
        </pc:spChg>
        <pc:graphicFrameChg chg="mod modGraphic">
          <ac:chgData name="Zonghua Gu" userId="9a7e1853e1951ef5" providerId="LiveId" clId="{CF1FAA12-072C-4ED5-BA76-0FFFAEFDB88A}" dt="2025-10-02T21:45:12.577" v="532" actId="14100"/>
          <ac:graphicFrameMkLst>
            <pc:docMk/>
            <pc:sldMk cId="1202265337" sldId="553"/>
            <ac:graphicFrameMk id="2" creationId="{00000000-0000-0000-0000-000000000000}"/>
          </ac:graphicFrameMkLst>
        </pc:graphicFrameChg>
        <pc:picChg chg="add del mod">
          <ac:chgData name="Zonghua Gu" userId="9a7e1853e1951ef5" providerId="LiveId" clId="{CF1FAA12-072C-4ED5-BA76-0FFFAEFDB88A}" dt="2025-10-05T00:13:43.120" v="1632" actId="478"/>
          <ac:picMkLst>
            <pc:docMk/>
            <pc:sldMk cId="1202265337" sldId="553"/>
            <ac:picMk id="7" creationId="{8A676353-4E6C-120B-F242-465EDA1FB0C3}"/>
          </ac:picMkLst>
        </pc:picChg>
      </pc:sldChg>
      <pc:sldChg chg="addSp delSp modSp add mod">
        <pc:chgData name="Zonghua Gu" userId="9a7e1853e1951ef5" providerId="LiveId" clId="{CF1FAA12-072C-4ED5-BA76-0FFFAEFDB88A}" dt="2025-10-05T00:26:23.379" v="1742" actId="478"/>
        <pc:sldMkLst>
          <pc:docMk/>
          <pc:sldMk cId="2974562210" sldId="554"/>
        </pc:sldMkLst>
        <pc:spChg chg="mod">
          <ac:chgData name="Zonghua Gu" userId="9a7e1853e1951ef5" providerId="LiveId" clId="{CF1FAA12-072C-4ED5-BA76-0FFFAEFDB88A}" dt="2025-10-02T21:41:48.763" v="511" actId="20577"/>
          <ac:spMkLst>
            <pc:docMk/>
            <pc:sldMk cId="2974562210" sldId="554"/>
            <ac:spMk id="2" creationId="{EA2B27C1-1F30-01B4-EDA5-AA372A7564E3}"/>
          </ac:spMkLst>
        </pc:spChg>
        <pc:spChg chg="mod">
          <ac:chgData name="Zonghua Gu" userId="9a7e1853e1951ef5" providerId="LiveId" clId="{CF1FAA12-072C-4ED5-BA76-0FFFAEFDB88A}" dt="2025-10-02T21:41:34.067" v="509" actId="20577"/>
          <ac:spMkLst>
            <pc:docMk/>
            <pc:sldMk cId="2974562210" sldId="554"/>
            <ac:spMk id="4" creationId="{0994813A-6090-94C3-BB20-0506E22F6AC2}"/>
          </ac:spMkLst>
        </pc:spChg>
        <pc:spChg chg="mod">
          <ac:chgData name="Zonghua Gu" userId="9a7e1853e1951ef5" providerId="LiveId" clId="{CF1FAA12-072C-4ED5-BA76-0FFFAEFDB88A}" dt="2025-10-05T00:26:20.569" v="1741" actId="20577"/>
          <ac:spMkLst>
            <pc:docMk/>
            <pc:sldMk cId="2974562210" sldId="554"/>
            <ac:spMk id="6" creationId="{E5FFFCF9-37E2-4F46-BF73-3BA72A325AB2}"/>
          </ac:spMkLst>
        </pc:spChg>
        <pc:spChg chg="add del mod">
          <ac:chgData name="Zonghua Gu" userId="9a7e1853e1951ef5" providerId="LiveId" clId="{CF1FAA12-072C-4ED5-BA76-0FFFAEFDB88A}" dt="2025-10-05T00:26:23.379" v="1742" actId="478"/>
          <ac:spMkLst>
            <pc:docMk/>
            <pc:sldMk cId="2974562210" sldId="554"/>
            <ac:spMk id="8" creationId="{D4C8010B-66ED-E4E8-3E62-8FD325A0C7AC}"/>
          </ac:spMkLst>
        </pc:spChg>
        <pc:graphicFrameChg chg="add mod modGraphic">
          <ac:chgData name="Zonghua Gu" userId="9a7e1853e1951ef5" providerId="LiveId" clId="{CF1FAA12-072C-4ED5-BA76-0FFFAEFDB88A}" dt="2025-10-02T21:41:46.567" v="510" actId="1076"/>
          <ac:graphicFrameMkLst>
            <pc:docMk/>
            <pc:sldMk cId="2974562210" sldId="554"/>
            <ac:graphicFrameMk id="7" creationId="{92162710-0645-EA84-2B5C-000E62B73A45}"/>
          </ac:graphicFrameMkLst>
        </pc:graphicFrameChg>
      </pc:sldChg>
      <pc:sldChg chg="modSp new">
        <pc:chgData name="Zonghua Gu" userId="9a7e1853e1951ef5" providerId="LiveId" clId="{CF1FAA12-072C-4ED5-BA76-0FFFAEFDB88A}" dt="2025-10-04T22:52:02.871" v="686"/>
        <pc:sldMkLst>
          <pc:docMk/>
          <pc:sldMk cId="981300981" sldId="555"/>
        </pc:sldMkLst>
        <pc:spChg chg="mod">
          <ac:chgData name="Zonghua Gu" userId="9a7e1853e1951ef5" providerId="LiveId" clId="{CF1FAA12-072C-4ED5-BA76-0FFFAEFDB88A}" dt="2025-10-04T22:52:02.871" v="686"/>
          <ac:spMkLst>
            <pc:docMk/>
            <pc:sldMk cId="981300981" sldId="555"/>
            <ac:spMk id="2" creationId="{0C878535-4966-806D-563F-E30D5DC6011F}"/>
          </ac:spMkLst>
        </pc:spChg>
        <pc:spChg chg="mod">
          <ac:chgData name="Zonghua Gu" userId="9a7e1853e1951ef5" providerId="LiveId" clId="{CF1FAA12-072C-4ED5-BA76-0FFFAEFDB88A}" dt="2025-10-04T22:51:57.665" v="685"/>
          <ac:spMkLst>
            <pc:docMk/>
            <pc:sldMk cId="981300981" sldId="555"/>
            <ac:spMk id="4" creationId="{54CC50AA-36EF-23F3-1FFB-A84D8ABC47C2}"/>
          </ac:spMkLst>
        </pc:spChg>
      </pc:sldChg>
      <pc:sldChg chg="addSp delSp modSp new mod">
        <pc:chgData name="Zonghua Gu" userId="9a7e1853e1951ef5" providerId="LiveId" clId="{CF1FAA12-072C-4ED5-BA76-0FFFAEFDB88A}" dt="2025-10-05T00:29:27.077" v="1750" actId="478"/>
        <pc:sldMkLst>
          <pc:docMk/>
          <pc:sldMk cId="2308205790" sldId="556"/>
        </pc:sldMkLst>
        <pc:spChg chg="mod">
          <ac:chgData name="Zonghua Gu" userId="9a7e1853e1951ef5" providerId="LiveId" clId="{CF1FAA12-072C-4ED5-BA76-0FFFAEFDB88A}" dt="2025-10-04T23:11:32.266" v="926" actId="20577"/>
          <ac:spMkLst>
            <pc:docMk/>
            <pc:sldMk cId="2308205790" sldId="556"/>
            <ac:spMk id="2" creationId="{C5FCF265-DA75-5412-44AA-C22BFCDE0014}"/>
          </ac:spMkLst>
        </pc:spChg>
        <pc:spChg chg="del">
          <ac:chgData name="Zonghua Gu" userId="9a7e1853e1951ef5" providerId="LiveId" clId="{CF1FAA12-072C-4ED5-BA76-0FFFAEFDB88A}" dt="2025-10-04T23:05:58.620" v="827" actId="478"/>
          <ac:spMkLst>
            <pc:docMk/>
            <pc:sldMk cId="2308205790" sldId="556"/>
            <ac:spMk id="4" creationId="{7DC4843F-E0C4-1D90-CEA7-BFB0AE37D2BB}"/>
          </ac:spMkLst>
        </pc:spChg>
        <pc:spChg chg="add mod">
          <ac:chgData name="Zonghua Gu" userId="9a7e1853e1951ef5" providerId="LiveId" clId="{CF1FAA12-072C-4ED5-BA76-0FFFAEFDB88A}" dt="2025-10-04T23:11:17.448" v="910" actId="1076"/>
          <ac:spMkLst>
            <pc:docMk/>
            <pc:sldMk cId="2308205790" sldId="556"/>
            <ac:spMk id="6" creationId="{1AA5C05D-7D53-25EE-9C42-8BF9E5E46050}"/>
          </ac:spMkLst>
        </pc:spChg>
        <pc:spChg chg="add mod">
          <ac:chgData name="Zonghua Gu" userId="9a7e1853e1951ef5" providerId="LiveId" clId="{CF1FAA12-072C-4ED5-BA76-0FFFAEFDB88A}" dt="2025-10-04T23:11:17.448" v="910" actId="1076"/>
          <ac:spMkLst>
            <pc:docMk/>
            <pc:sldMk cId="2308205790" sldId="556"/>
            <ac:spMk id="7" creationId="{FFE81B0B-1A4B-FC5A-8958-6FFC88C75779}"/>
          </ac:spMkLst>
        </pc:spChg>
        <pc:spChg chg="add mod">
          <ac:chgData name="Zonghua Gu" userId="9a7e1853e1951ef5" providerId="LiveId" clId="{CF1FAA12-072C-4ED5-BA76-0FFFAEFDB88A}" dt="2025-10-05T00:28:35.203" v="1743"/>
          <ac:spMkLst>
            <pc:docMk/>
            <pc:sldMk cId="2308205790" sldId="556"/>
            <ac:spMk id="8" creationId="{A45A8398-36E5-8D0B-889F-347A4D38B516}"/>
          </ac:spMkLst>
        </pc:spChg>
        <pc:spChg chg="add del mod">
          <ac:chgData name="Zonghua Gu" userId="9a7e1853e1951ef5" providerId="LiveId" clId="{CF1FAA12-072C-4ED5-BA76-0FFFAEFDB88A}" dt="2025-10-05T00:29:27.077" v="1750" actId="478"/>
          <ac:spMkLst>
            <pc:docMk/>
            <pc:sldMk cId="2308205790" sldId="556"/>
            <ac:spMk id="9" creationId="{C90C902F-33C0-D2B9-2ECD-1F690138A78A}"/>
          </ac:spMkLst>
        </pc:spChg>
        <pc:graphicFrameChg chg="add mod modGraphic">
          <ac:chgData name="Zonghua Gu" userId="9a7e1853e1951ef5" providerId="LiveId" clId="{CF1FAA12-072C-4ED5-BA76-0FFFAEFDB88A}" dt="2025-10-04T23:44:07.942" v="1405" actId="113"/>
          <ac:graphicFrameMkLst>
            <pc:docMk/>
            <pc:sldMk cId="2308205790" sldId="556"/>
            <ac:graphicFrameMk id="5" creationId="{36D3B1D8-F1BE-7C4B-D0AC-4EDEA5327C9E}"/>
          </ac:graphicFrameMkLst>
        </pc:graphicFrameChg>
      </pc:sldChg>
      <pc:sldChg chg="modSp add mod ord">
        <pc:chgData name="Zonghua Gu" userId="9a7e1853e1951ef5" providerId="LiveId" clId="{CF1FAA12-072C-4ED5-BA76-0FFFAEFDB88A}" dt="2025-10-05T01:29:26.681" v="1841" actId="20577"/>
        <pc:sldMkLst>
          <pc:docMk/>
          <pc:sldMk cId="3109016009" sldId="557"/>
        </pc:sldMkLst>
        <pc:spChg chg="mod">
          <ac:chgData name="Zonghua Gu" userId="9a7e1853e1951ef5" providerId="LiveId" clId="{CF1FAA12-072C-4ED5-BA76-0FFFAEFDB88A}" dt="2025-10-04T23:16:21.782" v="961" actId="20577"/>
          <ac:spMkLst>
            <pc:docMk/>
            <pc:sldMk cId="3109016009" sldId="557"/>
            <ac:spMk id="2" creationId="{69504EBD-B88F-9F62-0BFB-92E3BC08A27F}"/>
          </ac:spMkLst>
        </pc:spChg>
        <pc:graphicFrameChg chg="mod modGraphic">
          <ac:chgData name="Zonghua Gu" userId="9a7e1853e1951ef5" providerId="LiveId" clId="{CF1FAA12-072C-4ED5-BA76-0FFFAEFDB88A}" dt="2025-10-05T01:29:26.681" v="1841" actId="20577"/>
          <ac:graphicFrameMkLst>
            <pc:docMk/>
            <pc:sldMk cId="3109016009" sldId="557"/>
            <ac:graphicFrameMk id="5" creationId="{3AA2C914-9DD9-E383-780A-21A36B511DD8}"/>
          </ac:graphicFrameMkLst>
        </pc:graphicFrameChg>
      </pc:sldChg>
      <pc:sldChg chg="addSp delSp modSp add mod">
        <pc:chgData name="Zonghua Gu" userId="9a7e1853e1951ef5" providerId="LiveId" clId="{CF1FAA12-072C-4ED5-BA76-0FFFAEFDB88A}" dt="2025-10-04T23:46:41.562" v="1417" actId="478"/>
        <pc:sldMkLst>
          <pc:docMk/>
          <pc:sldMk cId="372089210" sldId="558"/>
        </pc:sldMkLst>
        <pc:spChg chg="mod">
          <ac:chgData name="Zonghua Gu" userId="9a7e1853e1951ef5" providerId="LiveId" clId="{CF1FAA12-072C-4ED5-BA76-0FFFAEFDB88A}" dt="2025-10-04T23:41:06.074" v="1374"/>
          <ac:spMkLst>
            <pc:docMk/>
            <pc:sldMk cId="372089210" sldId="558"/>
            <ac:spMk id="7" creationId="{00000000-0000-0000-0000-000000000000}"/>
          </ac:spMkLst>
        </pc:spChg>
        <pc:spChg chg="mod">
          <ac:chgData name="Zonghua Gu" userId="9a7e1853e1951ef5" providerId="LiveId" clId="{CF1FAA12-072C-4ED5-BA76-0FFFAEFDB88A}" dt="2025-10-04T23:40:19.327" v="1371" actId="1076"/>
          <ac:spMkLst>
            <pc:docMk/>
            <pc:sldMk cId="372089210" sldId="558"/>
            <ac:spMk id="9" creationId="{00000000-0000-0000-0000-000000000000}"/>
          </ac:spMkLst>
        </pc:spChg>
        <pc:graphicFrameChg chg="mod">
          <ac:chgData name="Zonghua Gu" userId="9a7e1853e1951ef5" providerId="LiveId" clId="{CF1FAA12-072C-4ED5-BA76-0FFFAEFDB88A}" dt="2025-10-04T23:40:19.327" v="1371" actId="1076"/>
          <ac:graphicFrameMkLst>
            <pc:docMk/>
            <pc:sldMk cId="372089210" sldId="558"/>
            <ac:graphicFrameMk id="5" creationId="{00000000-0000-0000-0000-000000000000}"/>
          </ac:graphicFrameMkLst>
        </pc:graphicFrameChg>
        <pc:graphicFrameChg chg="mod">
          <ac:chgData name="Zonghua Gu" userId="9a7e1853e1951ef5" providerId="LiveId" clId="{CF1FAA12-072C-4ED5-BA76-0FFFAEFDB88A}" dt="2025-10-04T23:40:19.327" v="1371" actId="1076"/>
          <ac:graphicFrameMkLst>
            <pc:docMk/>
            <pc:sldMk cId="372089210" sldId="558"/>
            <ac:graphicFrameMk id="6" creationId="{CC22D971-1F5A-1D46-A09B-973DA00758B0}"/>
          </ac:graphicFrameMkLst>
        </pc:graphicFrameChg>
        <pc:picChg chg="add del mod">
          <ac:chgData name="Zonghua Gu" userId="9a7e1853e1951ef5" providerId="LiveId" clId="{CF1FAA12-072C-4ED5-BA76-0FFFAEFDB88A}" dt="2025-10-04T23:46:41.562" v="1417" actId="478"/>
          <ac:picMkLst>
            <pc:docMk/>
            <pc:sldMk cId="372089210" sldId="558"/>
            <ac:picMk id="8" creationId="{2323A742-3AB8-134E-DA82-48F690B318D2}"/>
          </ac:picMkLst>
        </pc:picChg>
      </pc:sldChg>
      <pc:sldChg chg="addSp delSp modSp add mod">
        <pc:chgData name="Zonghua Gu" userId="9a7e1853e1951ef5" providerId="LiveId" clId="{CF1FAA12-072C-4ED5-BA76-0FFFAEFDB88A}" dt="2025-10-04T23:45:43.194" v="1414" actId="478"/>
        <pc:sldMkLst>
          <pc:docMk/>
          <pc:sldMk cId="3207256139" sldId="559"/>
        </pc:sldMkLst>
        <pc:spChg chg="mod">
          <ac:chgData name="Zonghua Gu" userId="9a7e1853e1951ef5" providerId="LiveId" clId="{CF1FAA12-072C-4ED5-BA76-0FFFAEFDB88A}" dt="2025-10-04T23:41:17.517" v="1376" actId="20577"/>
          <ac:spMkLst>
            <pc:docMk/>
            <pc:sldMk cId="3207256139" sldId="559"/>
            <ac:spMk id="7" creationId="{00000000-0000-0000-0000-000000000000}"/>
          </ac:spMkLst>
        </pc:spChg>
        <pc:spChg chg="mod">
          <ac:chgData name="Zonghua Gu" userId="9a7e1853e1951ef5" providerId="LiveId" clId="{CF1FAA12-072C-4ED5-BA76-0FFFAEFDB88A}" dt="2025-10-04T23:40:34.107" v="1373" actId="1076"/>
          <ac:spMkLst>
            <pc:docMk/>
            <pc:sldMk cId="3207256139" sldId="559"/>
            <ac:spMk id="9" creationId="{00000000-0000-0000-0000-000000000000}"/>
          </ac:spMkLst>
        </pc:spChg>
        <pc:graphicFrameChg chg="mod">
          <ac:chgData name="Zonghua Gu" userId="9a7e1853e1951ef5" providerId="LiveId" clId="{CF1FAA12-072C-4ED5-BA76-0FFFAEFDB88A}" dt="2025-10-04T23:40:34.107" v="1373" actId="1076"/>
          <ac:graphicFrameMkLst>
            <pc:docMk/>
            <pc:sldMk cId="3207256139" sldId="559"/>
            <ac:graphicFrameMk id="4" creationId="{5A85722B-8C7E-4849-80BC-2DED8CDF9515}"/>
          </ac:graphicFrameMkLst>
        </pc:graphicFrameChg>
        <pc:graphicFrameChg chg="mod">
          <ac:chgData name="Zonghua Gu" userId="9a7e1853e1951ef5" providerId="LiveId" clId="{CF1FAA12-072C-4ED5-BA76-0FFFAEFDB88A}" dt="2025-10-04T23:40:34.107" v="1373" actId="1076"/>
          <ac:graphicFrameMkLst>
            <pc:docMk/>
            <pc:sldMk cId="3207256139" sldId="559"/>
            <ac:graphicFrameMk id="5" creationId="{00000000-0000-0000-0000-000000000000}"/>
          </ac:graphicFrameMkLst>
        </pc:graphicFrameChg>
        <pc:picChg chg="add del mod">
          <ac:chgData name="Zonghua Gu" userId="9a7e1853e1951ef5" providerId="LiveId" clId="{CF1FAA12-072C-4ED5-BA76-0FFFAEFDB88A}" dt="2025-10-04T23:45:43.194" v="1414" actId="478"/>
          <ac:picMkLst>
            <pc:docMk/>
            <pc:sldMk cId="3207256139" sldId="559"/>
            <ac:picMk id="8" creationId="{056F84AC-C79F-273E-B933-FA56555CCBD6}"/>
          </ac:picMkLst>
        </pc:picChg>
      </pc:sldChg>
      <pc:sldChg chg="modSp add">
        <pc:chgData name="Zonghua Gu" userId="9a7e1853e1951ef5" providerId="LiveId" clId="{CF1FAA12-072C-4ED5-BA76-0FFFAEFDB88A}" dt="2025-10-04T23:41:06.074" v="1374"/>
        <pc:sldMkLst>
          <pc:docMk/>
          <pc:sldMk cId="2498011978" sldId="560"/>
        </pc:sldMkLst>
        <pc:spChg chg="mod">
          <ac:chgData name="Zonghua Gu" userId="9a7e1853e1951ef5" providerId="LiveId" clId="{CF1FAA12-072C-4ED5-BA76-0FFFAEFDB88A}" dt="2025-10-04T23:41:06.074" v="1374"/>
          <ac:spMkLst>
            <pc:docMk/>
            <pc:sldMk cId="2498011978" sldId="560"/>
            <ac:spMk id="7" creationId="{A464CC59-3D0C-A490-2CDE-EC4627D26E12}"/>
          </ac:spMkLst>
        </pc:spChg>
      </pc:sldChg>
      <pc:sldChg chg="add">
        <pc:chgData name="Zonghua Gu" userId="9a7e1853e1951ef5" providerId="LiveId" clId="{CF1FAA12-072C-4ED5-BA76-0FFFAEFDB88A}" dt="2025-10-04T23:39:52.237" v="1369"/>
        <pc:sldMkLst>
          <pc:docMk/>
          <pc:sldMk cId="620600135" sldId="561"/>
        </pc:sldMkLst>
      </pc:sldChg>
      <pc:sldChg chg="modSp add mod">
        <pc:chgData name="Zonghua Gu" userId="9a7e1853e1951ef5" providerId="LiveId" clId="{CF1FAA12-072C-4ED5-BA76-0FFFAEFDB88A}" dt="2025-10-04T23:44:53.173" v="1411" actId="1076"/>
        <pc:sldMkLst>
          <pc:docMk/>
          <pc:sldMk cId="3754840163" sldId="562"/>
        </pc:sldMkLst>
        <pc:spChg chg="mod">
          <ac:chgData name="Zonghua Gu" userId="9a7e1853e1951ef5" providerId="LiveId" clId="{CF1FAA12-072C-4ED5-BA76-0FFFAEFDB88A}" dt="2025-10-04T23:44:53.173" v="1411" actId="1076"/>
          <ac:spMkLst>
            <pc:docMk/>
            <pc:sldMk cId="3754840163" sldId="562"/>
            <ac:spMk id="7" creationId="{4C1592DD-F03B-6E7A-3471-FB08A36F2965}"/>
          </ac:spMkLst>
        </pc:spChg>
        <pc:spChg chg="mod">
          <ac:chgData name="Zonghua Gu" userId="9a7e1853e1951ef5" providerId="LiveId" clId="{CF1FAA12-072C-4ED5-BA76-0FFFAEFDB88A}" dt="2025-10-04T23:44:53.173" v="1411" actId="1076"/>
          <ac:spMkLst>
            <pc:docMk/>
            <pc:sldMk cId="3754840163" sldId="562"/>
            <ac:spMk id="9" creationId="{A03229C5-4093-D4A1-3845-BC38F36FF253}"/>
          </ac:spMkLst>
        </pc:spChg>
        <pc:graphicFrameChg chg="mod">
          <ac:chgData name="Zonghua Gu" userId="9a7e1853e1951ef5" providerId="LiveId" clId="{CF1FAA12-072C-4ED5-BA76-0FFFAEFDB88A}" dt="2025-10-04T23:44:53.173" v="1411" actId="1076"/>
          <ac:graphicFrameMkLst>
            <pc:docMk/>
            <pc:sldMk cId="3754840163" sldId="562"/>
            <ac:graphicFrameMk id="4" creationId="{65448C97-B3F4-3495-8E46-D23B540F2A4B}"/>
          </ac:graphicFrameMkLst>
        </pc:graphicFrameChg>
        <pc:graphicFrameChg chg="mod">
          <ac:chgData name="Zonghua Gu" userId="9a7e1853e1951ef5" providerId="LiveId" clId="{CF1FAA12-072C-4ED5-BA76-0FFFAEFDB88A}" dt="2025-10-04T23:44:53.173" v="1411" actId="1076"/>
          <ac:graphicFrameMkLst>
            <pc:docMk/>
            <pc:sldMk cId="3754840163" sldId="562"/>
            <ac:graphicFrameMk id="5" creationId="{6F2D648B-3ED5-0E4F-A7ED-98BE3DF04FA3}"/>
          </ac:graphicFrameMkLst>
        </pc:graphicFrameChg>
      </pc:sldChg>
      <pc:sldChg chg="modSp add">
        <pc:chgData name="Zonghua Gu" userId="9a7e1853e1951ef5" providerId="LiveId" clId="{CF1FAA12-072C-4ED5-BA76-0FFFAEFDB88A}" dt="2025-10-04T23:41:06.074" v="1374"/>
        <pc:sldMkLst>
          <pc:docMk/>
          <pc:sldMk cId="2168830255" sldId="563"/>
        </pc:sldMkLst>
        <pc:spChg chg="mod">
          <ac:chgData name="Zonghua Gu" userId="9a7e1853e1951ef5" providerId="LiveId" clId="{CF1FAA12-072C-4ED5-BA76-0FFFAEFDB88A}" dt="2025-10-04T23:41:06.074" v="1374"/>
          <ac:spMkLst>
            <pc:docMk/>
            <pc:sldMk cId="2168830255" sldId="563"/>
            <ac:spMk id="7" creationId="{EC1EA560-6C16-220F-A31C-F3027A7E493C}"/>
          </ac:spMkLst>
        </pc:spChg>
      </pc:sldChg>
      <pc:sldChg chg="add">
        <pc:chgData name="Zonghua Gu" userId="9a7e1853e1951ef5" providerId="LiveId" clId="{CF1FAA12-072C-4ED5-BA76-0FFFAEFDB88A}" dt="2025-10-05T00:05:41.801" v="1588"/>
        <pc:sldMkLst>
          <pc:docMk/>
          <pc:sldMk cId="1860818616" sldId="564"/>
        </pc:sldMkLst>
      </pc:sldChg>
      <pc:sldChg chg="addSp delSp modSp add mod">
        <pc:chgData name="Zonghua Gu" userId="9a7e1853e1951ef5" providerId="LiveId" clId="{CF1FAA12-072C-4ED5-BA76-0FFFAEFDB88A}" dt="2025-10-05T00:23:38.701" v="1717" actId="1076"/>
        <pc:sldMkLst>
          <pc:docMk/>
          <pc:sldMk cId="1671373347" sldId="565"/>
        </pc:sldMkLst>
        <pc:spChg chg="mod">
          <ac:chgData name="Zonghua Gu" userId="9a7e1853e1951ef5" providerId="LiveId" clId="{CF1FAA12-072C-4ED5-BA76-0FFFAEFDB88A}" dt="2025-10-05T00:22:40.760" v="1711" actId="20577"/>
          <ac:spMkLst>
            <pc:docMk/>
            <pc:sldMk cId="1671373347" sldId="565"/>
            <ac:spMk id="2" creationId="{24943FBB-D245-9542-B4DC-8D249EAA2EF8}"/>
          </ac:spMkLst>
        </pc:spChg>
        <pc:spChg chg="add mod">
          <ac:chgData name="Zonghua Gu" userId="9a7e1853e1951ef5" providerId="LiveId" clId="{CF1FAA12-072C-4ED5-BA76-0FFFAEFDB88A}" dt="2025-10-05T00:23:38.701" v="1717" actId="1076"/>
          <ac:spMkLst>
            <pc:docMk/>
            <pc:sldMk cId="1671373347" sldId="565"/>
            <ac:spMk id="4" creationId="{322021C4-48B0-785F-37E1-344B4B93A676}"/>
          </ac:spMkLst>
        </pc:spChg>
        <pc:spChg chg="mod">
          <ac:chgData name="Zonghua Gu" userId="9a7e1853e1951ef5" providerId="LiveId" clId="{CF1FAA12-072C-4ED5-BA76-0FFFAEFDB88A}" dt="2025-10-05T00:23:35.598" v="1716" actId="1076"/>
          <ac:spMkLst>
            <pc:docMk/>
            <pc:sldMk cId="1671373347" sldId="565"/>
            <ac:spMk id="6" creationId="{CE638046-5BA3-A3CF-AF2C-C5DE1F3D39B8}"/>
          </ac:spMkLst>
        </pc:spChg>
        <pc:spChg chg="del">
          <ac:chgData name="Zonghua Gu" userId="9a7e1853e1951ef5" providerId="LiveId" clId="{CF1FAA12-072C-4ED5-BA76-0FFFAEFDB88A}" dt="2025-10-05T00:23:03.842" v="1712" actId="478"/>
          <ac:spMkLst>
            <pc:docMk/>
            <pc:sldMk cId="1671373347" sldId="565"/>
            <ac:spMk id="7" creationId="{F164103F-5493-6E75-917E-11F5943403D8}"/>
          </ac:spMkLst>
        </pc:spChg>
        <pc:graphicFrameChg chg="mod">
          <ac:chgData name="Zonghua Gu" userId="9a7e1853e1951ef5" providerId="LiveId" clId="{CF1FAA12-072C-4ED5-BA76-0FFFAEFDB88A}" dt="2025-10-05T00:23:35.598" v="1716" actId="1076"/>
          <ac:graphicFrameMkLst>
            <pc:docMk/>
            <pc:sldMk cId="1671373347" sldId="565"/>
            <ac:graphicFrameMk id="5" creationId="{C7914D5B-2CC7-293C-9379-3C41827285D1}"/>
          </ac:graphicFrameMkLst>
        </pc:graphicFrameChg>
      </pc:sldChg>
      <pc:sldChg chg="modSp new mod">
        <pc:chgData name="Zonghua Gu" userId="9a7e1853e1951ef5" providerId="LiveId" clId="{CF1FAA12-072C-4ED5-BA76-0FFFAEFDB88A}" dt="2025-10-05T00:32:35.373" v="1834"/>
        <pc:sldMkLst>
          <pc:docMk/>
          <pc:sldMk cId="3277199290" sldId="566"/>
        </pc:sldMkLst>
        <pc:spChg chg="mod">
          <ac:chgData name="Zonghua Gu" userId="9a7e1853e1951ef5" providerId="LiveId" clId="{CF1FAA12-072C-4ED5-BA76-0FFFAEFDB88A}" dt="2025-10-05T00:32:35.373" v="1834"/>
          <ac:spMkLst>
            <pc:docMk/>
            <pc:sldMk cId="3277199290" sldId="566"/>
            <ac:spMk id="2" creationId="{E0EEF74B-F835-6B09-4B91-23075FA91516}"/>
          </ac:spMkLst>
        </pc:spChg>
        <pc:spChg chg="mod">
          <ac:chgData name="Zonghua Gu" userId="9a7e1853e1951ef5" providerId="LiveId" clId="{CF1FAA12-072C-4ED5-BA76-0FFFAEFDB88A}" dt="2025-10-05T00:30:28.778" v="1826" actId="27636"/>
          <ac:spMkLst>
            <pc:docMk/>
            <pc:sldMk cId="3277199290" sldId="566"/>
            <ac:spMk id="4" creationId="{52A8D265-BD59-8C4E-12B1-03AC7ABB6312}"/>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0.55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09-09T23:11:41.335"/>
    </inkml:context>
    <inkml:brush xml:id="br0">
      <inkml:brushProperty name="width" value="0.05" units="cm"/>
      <inkml:brushProperty name="height" value="0.05" units="cm"/>
      <inkml:brushProperty name="ignorePressure" value="1"/>
    </inkml:brush>
  </inkml:definitions>
  <inkml:trace contextRef="#ctx0" brushRef="#br0">0 1,'0'0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10/4/2025</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Arithmetic"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8" Type="http://schemas.openxmlformats.org/officeDocument/2006/relationships/hyperlink" Target="https://heyrick.eu/assembler/psr.html" TargetMode="External"/><Relationship Id="rId3" Type="http://schemas.openxmlformats.org/officeDocument/2006/relationships/hyperlink" Target="https://www.sciencedirect.com/topics/computer-science/current-program-status-register" TargetMode="External"/><Relationship Id="rId7" Type="http://schemas.openxmlformats.org/officeDocument/2006/relationships/hyperlink" Target="https://goiabada.github.io/docs/sections/arm-cpu/flags.html" TargetMode="External"/><Relationship Id="rId12" Type="http://schemas.openxmlformats.org/officeDocument/2006/relationships/hyperlink" Target="https://ece.eng.wayne.edu/~smahmud/ECECourses/ECE5620/Manuals/ARM_InstructionSet.pdf"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developer.arm.com/documentation/ddi0406/b/System-Level-Architecture/The-System-Level-Programmers--Model/ARM-processor-modes-and-core-registers/Program-Status-Registers--PSRs-" TargetMode="External"/><Relationship Id="rId11" Type="http://schemas.openxmlformats.org/officeDocument/2006/relationships/hyperlink" Target="https://azeria-labs.com/arm-conditional-execution-and-branching-part-6/" TargetMode="External"/><Relationship Id="rId5" Type="http://schemas.openxmlformats.org/officeDocument/2006/relationships/hyperlink" Target="https://arm-software.github.io/CMSIS_5/Core_A/html/group__CMSIS__CPSR.html" TargetMode="External"/><Relationship Id="rId10" Type="http://schemas.openxmlformats.org/officeDocument/2006/relationships/hyperlink" Target="https://www.youtube.com/watch?v=28MMaELXRZ0" TargetMode="External"/><Relationship Id="rId4" Type="http://schemas.openxmlformats.org/officeDocument/2006/relationships/hyperlink" Target="https://community.arm.com/arm-community-blogs/b/architectures-and-processors-blog/posts/condition-codes-1-condition-flags-and-codes" TargetMode="External"/><Relationship Id="rId9" Type="http://schemas.openxmlformats.org/officeDocument/2006/relationships/hyperlink" Target="https://users.ece.utexas.edu/~valvano/EE345M/Arm_EE382N_4.pdf" TargetMode="Externa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Rot="1" noChangeAspect="1" noChangeArrowheads="1" noTextEdit="1"/>
          </p:cNvSpPr>
          <p:nvPr>
            <p:ph type="sldImg"/>
          </p:nvPr>
        </p:nvSpPr>
        <p:spPr>
          <a:xfrm>
            <a:off x="396875" y="692150"/>
            <a:ext cx="6156325" cy="3463925"/>
          </a:xfrm>
          <a:ln/>
        </p:spPr>
      </p:sp>
      <p:sp>
        <p:nvSpPr>
          <p:cNvPr id="39939" name="Rectangle 3"/>
          <p:cNvSpPr>
            <a:spLocks noGrp="1" noChangeArrowheads="1"/>
          </p:cNvSpPr>
          <p:nvPr>
            <p:ph type="body" idx="1"/>
          </p:nvPr>
        </p:nvSpPr>
        <p:spPr>
          <a:noFill/>
          <a:ln/>
        </p:spPr>
        <p:txBody>
          <a:bodyPr/>
          <a:lstStyle/>
          <a:p>
            <a:pPr>
              <a:lnSpc>
                <a:spcPct val="90000"/>
              </a:lnSpc>
            </a:pPr>
            <a:r>
              <a:rPr lang="en-US" dirty="0">
                <a:solidFill>
                  <a:srgbClr val="000000"/>
                </a:solidFill>
              </a:rPr>
              <a:t>The Q flag is sticky in that, when set to 1 by an instruction, it remains set until explicitly</a:t>
            </a:r>
            <a:r>
              <a:rPr lang="en-US" baseline="0" dirty="0">
                <a:solidFill>
                  <a:srgbClr val="000000"/>
                </a:solidFill>
              </a:rPr>
              <a:t> </a:t>
            </a:r>
            <a:r>
              <a:rPr lang="en-US" dirty="0">
                <a:solidFill>
                  <a:srgbClr val="000000"/>
                </a:solidFill>
              </a:rPr>
              <a:t>cleared to 0 by an MSR instruction writing to the CPSR. Instructions cannot execute</a:t>
            </a:r>
            <a:r>
              <a:rPr lang="en-US" baseline="0" dirty="0">
                <a:solidFill>
                  <a:srgbClr val="000000"/>
                </a:solidFill>
              </a:rPr>
              <a:t> </a:t>
            </a:r>
            <a:r>
              <a:rPr lang="en-US" dirty="0">
                <a:solidFill>
                  <a:srgbClr val="000000"/>
                </a:solidFill>
              </a:rPr>
              <a:t>conditionally on the status of the Q flag.</a:t>
            </a:r>
          </a:p>
          <a:p>
            <a:pPr>
              <a:lnSpc>
                <a:spcPct val="90000"/>
              </a:lnSpc>
            </a:pPr>
            <a:endParaRPr lang="en-US" dirty="0">
              <a:solidFill>
                <a:srgbClr val="000000"/>
              </a:solidFill>
            </a:endParaRPr>
          </a:p>
          <a:p>
            <a:r>
              <a:rPr lang="en-US" b="1" dirty="0"/>
              <a:t>Saturation arithmetic</a:t>
            </a:r>
            <a:r>
              <a:rPr lang="en-US" dirty="0"/>
              <a:t> is a version of </a:t>
            </a:r>
            <a:r>
              <a:rPr lang="en-US" dirty="0">
                <a:hlinkClick r:id="rId3" tooltip="Arithmetic"/>
              </a:rPr>
              <a:t>arithmetic</a:t>
            </a:r>
            <a:r>
              <a:rPr lang="en-US" dirty="0"/>
              <a:t> in which all operations such as addition and multiplication are limited to a fixed range between a minimum and maximum value. If the result of an operation is greater than the maximum it is set ("clamped") to the maximum, while if it is below the minimum it is clamped to the minimum. The name comes from how the value becomes "saturated" once it reaches the extreme values; further additions to a maximum or subtractions from a minimum will not change the result.</a:t>
            </a:r>
          </a:p>
          <a:p>
            <a:r>
              <a:rPr lang="en-US" dirty="0"/>
              <a:t>For example, if the valid range of values is from -100 to 100, the following operations produce the following values:</a:t>
            </a:r>
          </a:p>
          <a:p>
            <a:r>
              <a:rPr lang="en-US" dirty="0"/>
              <a:t>60 + 43 = 100</a:t>
            </a:r>
          </a:p>
          <a:p>
            <a:r>
              <a:rPr lang="en-US" dirty="0"/>
              <a:t>(60 + 43) − 150 = −50</a:t>
            </a:r>
          </a:p>
          <a:p>
            <a:r>
              <a:rPr lang="en-US" dirty="0"/>
              <a:t>43 − 150 = −100</a:t>
            </a:r>
          </a:p>
          <a:p>
            <a:r>
              <a:rPr lang="en-US" dirty="0"/>
              <a:t>60 + (43 − 150) = −40</a:t>
            </a:r>
          </a:p>
          <a:p>
            <a:r>
              <a:rPr lang="en-US" dirty="0"/>
              <a:t>10 × 11 = 100</a:t>
            </a:r>
          </a:p>
          <a:p>
            <a:r>
              <a:rPr lang="en-US" dirty="0"/>
              <a:t>99 × 99 = 100</a:t>
            </a:r>
          </a:p>
          <a:p>
            <a:r>
              <a:rPr lang="en-US" dirty="0"/>
              <a:t>30 × (5 − 1) = 100</a:t>
            </a:r>
          </a:p>
          <a:p>
            <a:r>
              <a:rPr lang="en-US" dirty="0"/>
              <a:t>30×5 − 30×1 = 70</a:t>
            </a:r>
          </a:p>
          <a:p>
            <a:pPr>
              <a:lnSpc>
                <a:spcPct val="90000"/>
              </a:lnSpc>
            </a:pPr>
            <a:endParaRPr lang="en-US" dirty="0">
              <a:solidFill>
                <a:srgbClr val="000000"/>
              </a:solidFill>
            </a:endParaRPr>
          </a:p>
          <a:p>
            <a:pPr>
              <a:lnSpc>
                <a:spcPct val="90000"/>
              </a:lnSpc>
            </a:pPr>
            <a:endParaRPr lang="en-US" dirty="0">
              <a:solidFill>
                <a:srgbClr val="000000"/>
              </a:solidFill>
            </a:endParaRPr>
          </a:p>
          <a:p>
            <a:pPr>
              <a:lnSpc>
                <a:spcPct val="90000"/>
              </a:lnSpc>
            </a:pPr>
            <a:r>
              <a:rPr lang="en-US" dirty="0">
                <a:solidFill>
                  <a:srgbClr val="000000"/>
                </a:solidFill>
              </a:rPr>
              <a:t>Green </a:t>
            </a:r>
            <a:r>
              <a:rPr lang="en-US" dirty="0" err="1">
                <a:solidFill>
                  <a:srgbClr val="000000"/>
                </a:solidFill>
              </a:rPr>
              <a:t>psr</a:t>
            </a:r>
            <a:r>
              <a:rPr lang="en-US" dirty="0">
                <a:solidFill>
                  <a:srgbClr val="000000"/>
                </a:solidFill>
              </a:rPr>
              <a:t> bits are only in certain versions of the ARM architecture</a:t>
            </a:r>
          </a:p>
          <a:p>
            <a:pPr>
              <a:lnSpc>
                <a:spcPct val="90000"/>
              </a:lnSpc>
            </a:pPr>
            <a:r>
              <a:rPr lang="en-US" dirty="0">
                <a:solidFill>
                  <a:srgbClr val="000000"/>
                </a:solidFill>
              </a:rPr>
              <a:t>ALU status flags (set if "S" bit set, implied in Thumb state).</a:t>
            </a:r>
            <a:endParaRPr lang="en-US" dirty="0"/>
          </a:p>
          <a:p>
            <a:r>
              <a:rPr lang="en-US" dirty="0"/>
              <a:t>Sticky overflow flag (Q flag) is set either when </a:t>
            </a:r>
          </a:p>
          <a:p>
            <a:pPr lvl="1"/>
            <a:r>
              <a:rPr lang="en-US" dirty="0"/>
              <a:t>saturation occurs during QADD, QDADD, QSUB or QDSUB, or </a:t>
            </a:r>
          </a:p>
          <a:p>
            <a:pPr lvl="1"/>
            <a:r>
              <a:rPr lang="en-US" dirty="0"/>
              <a:t>the result of </a:t>
            </a:r>
            <a:r>
              <a:rPr lang="en-US" dirty="0" err="1"/>
              <a:t>SMLAxy</a:t>
            </a:r>
            <a:r>
              <a:rPr lang="en-US" dirty="0"/>
              <a:t> or </a:t>
            </a:r>
            <a:r>
              <a:rPr lang="en-US" dirty="0" err="1"/>
              <a:t>SMLAWx</a:t>
            </a:r>
            <a:r>
              <a:rPr lang="en-US" dirty="0"/>
              <a:t> overflows 32-bits</a:t>
            </a:r>
          </a:p>
          <a:p>
            <a:r>
              <a:rPr lang="en-US" dirty="0"/>
              <a:t>Once flag has been set can not be modified by one of the above instructions and must write to CPSR using MSR instruction to cleared</a:t>
            </a:r>
          </a:p>
          <a:p>
            <a:r>
              <a:rPr lang="en-US" dirty="0"/>
              <a:t>PSRs split into four 8-bit fields that can be individually written: </a:t>
            </a:r>
          </a:p>
          <a:p>
            <a:r>
              <a:rPr lang="en-US" dirty="0"/>
              <a:t>Control	(c)	bits 0-7    </a:t>
            </a:r>
          </a:p>
          <a:p>
            <a:r>
              <a:rPr lang="en-US" dirty="0"/>
              <a:t>Extension	(x)	bits 8-15	Reserved for future use</a:t>
            </a:r>
          </a:p>
          <a:p>
            <a:r>
              <a:rPr lang="en-US" dirty="0"/>
              <a:t>Status	(s)	bits 16-23	Reserved for future use</a:t>
            </a:r>
          </a:p>
          <a:p>
            <a:r>
              <a:rPr lang="en-US" dirty="0"/>
              <a:t>Flags	(f)	bits 24-31</a:t>
            </a:r>
          </a:p>
          <a:p>
            <a:r>
              <a:rPr lang="en-US" dirty="0"/>
              <a:t>Bits that are reserved for future use should not be modified by current software. Typically, a read-modify-write strategy should be used to update the value of a status register to ensure future compatibility. Note that the T/J bits in the CPSR should never be changed directly by writing to the PSR (use the BX/BXJ instruction to change state instead).</a:t>
            </a:r>
          </a:p>
          <a:p>
            <a:r>
              <a:rPr lang="en-US" dirty="0"/>
              <a:t>However, in cases where the processor state is known in advance (e.g. on reset, following an interrupt, or some other exception), an immediate value may be written directly into the status registers, to change only specific bits (e.g. to change mode).</a:t>
            </a:r>
          </a:p>
          <a:p>
            <a:r>
              <a:rPr lang="en-US" dirty="0"/>
              <a:t>New ARM V6 bits now shown.</a:t>
            </a:r>
          </a:p>
        </p:txBody>
      </p:sp>
    </p:spTree>
    <p:extLst>
      <p:ext uri="{BB962C8B-B14F-4D97-AF65-F5344CB8AC3E}">
        <p14:creationId xmlns:p14="http://schemas.microsoft.com/office/powerpoint/2010/main" val="10025462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N</a:t>
            </a:r>
            <a:r>
              <a:rPr lang="en-US" sz="1200" dirty="0"/>
              <a:t> (negative) – set (1) when a signed result is negative, otherwise cleared (0).</a:t>
            </a:r>
          </a:p>
          <a:p>
            <a:r>
              <a:rPr lang="en-US" sz="1200" b="1" dirty="0"/>
              <a:t>Z</a:t>
            </a:r>
            <a:r>
              <a:rPr lang="en-US" sz="1200" dirty="0"/>
              <a:t> (zero) – set (1) when a result is 0, otherwise cleared (0).</a:t>
            </a:r>
          </a:p>
          <a:p>
            <a:r>
              <a:rPr lang="en-US" sz="1200" b="1" dirty="0"/>
              <a:t>C</a:t>
            </a:r>
            <a:r>
              <a:rPr lang="en-US" sz="1200" dirty="0"/>
              <a:t> (carry) – set (1) when an add-based operation produces an overflow, when a subtract-based operation doesn’t require a borrow; when shifting, holds the last bit that’s been shifted out; otherwise cleared (0).</a:t>
            </a:r>
          </a:p>
          <a:p>
            <a:r>
              <a:rPr lang="en-US" sz="1200" b="1" dirty="0"/>
              <a:t>V</a:t>
            </a:r>
            <a:r>
              <a:rPr lang="en-US" sz="1200" dirty="0"/>
              <a:t> (overflow) – set (1) when an add- or subtract-based operation generates a signed overflow, otherwise cleared (0).</a:t>
            </a:r>
          </a:p>
          <a:p>
            <a:endParaRPr lang="en-US"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4</a:t>
            </a:fld>
            <a:endParaRPr lang="en-US"/>
          </a:p>
        </p:txBody>
      </p:sp>
    </p:spTree>
    <p:extLst>
      <p:ext uri="{BB962C8B-B14F-4D97-AF65-F5344CB8AC3E}">
        <p14:creationId xmlns:p14="http://schemas.microsoft.com/office/powerpoint/2010/main" val="3074025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Rot="1" noChangeAspect="1" noChangeArrowheads="1" noTextEdit="1"/>
          </p:cNvSpPr>
          <p:nvPr>
            <p:ph type="sldImg"/>
          </p:nvPr>
        </p:nvSpPr>
        <p:spPr>
          <a:ln/>
        </p:spPr>
      </p:sp>
      <p:sp>
        <p:nvSpPr>
          <p:cNvPr id="324611" name="Rectangle 3"/>
          <p:cNvSpPr>
            <a:spLocks noGrp="1" noChangeArrowheads="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Gill Sans MT"/>
                <a:ea typeface="+mn-ea"/>
                <a:cs typeface="+mn-cs"/>
              </a:rPr>
              <a:t>C is cleared </a:t>
            </a:r>
            <a:r>
              <a:rPr kumimoji="0" lang="en-US" sz="1200" b="0" i="0" u="none" strike="noStrike" kern="1200" cap="none" spc="0" normalizeH="0" baseline="0" noProof="0" dirty="0">
                <a:ln>
                  <a:noFill/>
                </a:ln>
                <a:solidFill>
                  <a:prstClr val="black"/>
                </a:solidFill>
                <a:effectLst/>
                <a:uLnTx/>
                <a:uFillTx/>
                <a:latin typeface="Gill Sans MT"/>
                <a:ea typeface="+mn-ea"/>
                <a:cs typeface="Times New Roman" pitchFamily="18" charset="0"/>
              </a:rPr>
              <a:t>upon </a:t>
            </a:r>
            <a:r>
              <a:rPr kumimoji="0" lang="en-US" sz="1200" b="0" i="0" u="none" strike="noStrike" kern="1200" cap="none" spc="0" normalizeH="0" baseline="0" noProof="0" dirty="0">
                <a:ln>
                  <a:noFill/>
                </a:ln>
                <a:solidFill>
                  <a:prstClr val="black"/>
                </a:solidFill>
                <a:effectLst/>
                <a:uLnTx/>
                <a:uFillTx/>
                <a:latin typeface="Gill Sans MT"/>
                <a:ea typeface="+mn-ea"/>
                <a:cs typeface="+mn-cs"/>
              </a:rPr>
              <a:t>an </a:t>
            </a:r>
            <a:r>
              <a:rPr kumimoji="0" lang="en-US" sz="1200" b="1" i="0" u="sng" strike="noStrike" kern="1200" cap="none" spc="0" normalizeH="0" baseline="0" noProof="0" dirty="0">
                <a:ln>
                  <a:noFill/>
                </a:ln>
                <a:solidFill>
                  <a:srgbClr val="800000"/>
                </a:solidFill>
                <a:effectLst/>
                <a:uLnTx/>
                <a:uFillTx/>
                <a:latin typeface="Gill Sans MT"/>
                <a:ea typeface="+mn-ea"/>
                <a:cs typeface="+mn-cs"/>
              </a:rPr>
              <a:t>unsigned</a:t>
            </a:r>
            <a:r>
              <a:rPr kumimoji="0" lang="en-US" sz="1200" b="0" i="0" u="none" strike="noStrike" kern="1200" cap="none" spc="0" normalizeH="0" baseline="0" noProof="0" dirty="0">
                <a:ln>
                  <a:noFill/>
                </a:ln>
                <a:solidFill>
                  <a:prstClr val="black"/>
                </a:solidFill>
                <a:effectLst/>
                <a:uLnTx/>
                <a:uFillTx/>
                <a:latin typeface="Gill Sans MT"/>
                <a:ea typeface="+mn-ea"/>
                <a:cs typeface="+mn-cs"/>
              </a:rPr>
              <a:t> subtract if the answer is wrong</a:t>
            </a:r>
            <a:endParaRPr kumimoji="0" lang="en-US" sz="300" b="0" i="0" u="none" strike="noStrike" kern="1200" cap="none" spc="0" normalizeH="0" baseline="0" noProof="0" dirty="0">
              <a:ln>
                <a:noFill/>
              </a:ln>
              <a:solidFill>
                <a:prstClr val="black"/>
              </a:solidFill>
              <a:effectLst/>
              <a:uLnTx/>
              <a:uFillTx/>
              <a:latin typeface="Gill Sans MT"/>
              <a:ea typeface="+mn-ea"/>
              <a:cs typeface="+mn-cs"/>
            </a:endParaRPr>
          </a:p>
          <a:p>
            <a:r>
              <a:rPr lang="en-US" sz="1200" b="0" i="0" kern="1200" dirty="0">
                <a:solidFill>
                  <a:schemeClr val="tx1"/>
                </a:solidFill>
                <a:effectLst/>
                <a:latin typeface="+mn-lt"/>
                <a:ea typeface="+mn-ea"/>
                <a:cs typeface="+mn-cs"/>
              </a:rPr>
              <a:t>The carry flag (CF) is set differently for unsigned addition and subtraction:</a:t>
            </a:r>
          </a:p>
          <a:p>
            <a:r>
              <a:rPr lang="en-US" sz="1200" b="1" i="0" kern="1200" dirty="0">
                <a:solidFill>
                  <a:schemeClr val="tx1"/>
                </a:solidFill>
                <a:effectLst/>
                <a:latin typeface="+mn-lt"/>
                <a:ea typeface="+mn-ea"/>
                <a:cs typeface="+mn-cs"/>
              </a:rPr>
              <a:t>Unsigned Addition:</a:t>
            </a:r>
          </a:p>
          <a:p>
            <a:r>
              <a:rPr lang="en-US" sz="1200" b="0" i="0" kern="1200" dirty="0">
                <a:solidFill>
                  <a:schemeClr val="tx1"/>
                </a:solidFill>
                <a:effectLst/>
                <a:latin typeface="+mn-lt"/>
                <a:ea typeface="+mn-ea"/>
                <a:cs typeface="+mn-cs"/>
              </a:rPr>
              <a:t>The carry flag is set to 1 if there is a </a:t>
            </a:r>
            <a:r>
              <a:rPr lang="en-US" sz="1200" b="1" i="0" kern="1200" dirty="0">
                <a:solidFill>
                  <a:schemeClr val="tx1"/>
                </a:solidFill>
                <a:effectLst/>
                <a:latin typeface="+mn-lt"/>
                <a:ea typeface="+mn-ea"/>
                <a:cs typeface="+mn-cs"/>
              </a:rPr>
              <a:t>carry out</a:t>
            </a:r>
            <a:r>
              <a:rPr lang="en-US" sz="1200" b="0" i="0" kern="1200" dirty="0">
                <a:solidFill>
                  <a:schemeClr val="tx1"/>
                </a:solidFill>
                <a:effectLst/>
                <a:latin typeface="+mn-lt"/>
                <a:ea typeface="+mn-ea"/>
                <a:cs typeface="+mn-cs"/>
              </a:rPr>
              <a:t> from the most significant bit (MSB) during the addition.</a:t>
            </a:r>
          </a:p>
          <a:p>
            <a:r>
              <a:rPr lang="en-US" sz="1200" b="0" i="0" kern="1200" dirty="0">
                <a:solidFill>
                  <a:schemeClr val="tx1"/>
                </a:solidFill>
                <a:effectLst/>
                <a:latin typeface="+mn-lt"/>
                <a:ea typeface="+mn-ea"/>
                <a:cs typeface="+mn-cs"/>
              </a:rPr>
              <a:t>This means the sum exceeds the maximum value that can be represented in the given number of bits.</a:t>
            </a:r>
          </a:p>
          <a:p>
            <a:r>
              <a:rPr lang="en-US" sz="1200" b="0" i="0" kern="1200" dirty="0">
                <a:solidFill>
                  <a:schemeClr val="tx1"/>
                </a:solidFill>
                <a:effectLst/>
                <a:latin typeface="+mn-lt"/>
                <a:ea typeface="+mn-ea"/>
                <a:cs typeface="+mn-cs"/>
              </a:rPr>
              <a:t>Example: Adding two 8-bit numbers resulting in a value greater than 255 will set CF = 1.</a:t>
            </a:r>
          </a:p>
          <a:p>
            <a:r>
              <a:rPr lang="en-US" sz="1200" b="1" i="0" kern="1200" dirty="0">
                <a:solidFill>
                  <a:schemeClr val="tx1"/>
                </a:solidFill>
                <a:effectLst/>
                <a:latin typeface="+mn-lt"/>
                <a:ea typeface="+mn-ea"/>
                <a:cs typeface="+mn-cs"/>
              </a:rPr>
              <a:t>Unsigned Subtraction:</a:t>
            </a:r>
          </a:p>
          <a:p>
            <a:r>
              <a:rPr lang="en-US" sz="1200" b="0" i="0" kern="1200" dirty="0">
                <a:solidFill>
                  <a:schemeClr val="tx1"/>
                </a:solidFill>
                <a:effectLst/>
                <a:latin typeface="+mn-lt"/>
                <a:ea typeface="+mn-ea"/>
                <a:cs typeface="+mn-cs"/>
              </a:rPr>
              <a:t>The carry flag acts as a </a:t>
            </a:r>
            <a:r>
              <a:rPr lang="en-US" sz="1200" b="1" i="0" kern="1200" dirty="0">
                <a:solidFill>
                  <a:schemeClr val="tx1"/>
                </a:solidFill>
                <a:effectLst/>
                <a:latin typeface="+mn-lt"/>
                <a:ea typeface="+mn-ea"/>
                <a:cs typeface="+mn-cs"/>
              </a:rPr>
              <a:t>borrow indicator</a:t>
            </a:r>
            <a:r>
              <a:rPr lang="en-US" sz="1200" b="0" i="0" kern="1200" dirty="0">
                <a:solidFill>
                  <a:schemeClr val="tx1"/>
                </a:solidFill>
                <a:effectLst/>
                <a:latin typeface="+mn-lt"/>
                <a:ea typeface="+mn-ea"/>
                <a:cs typeface="+mn-cs"/>
              </a:rPr>
              <a:t> for subtraction.</a:t>
            </a:r>
          </a:p>
          <a:p>
            <a:r>
              <a:rPr lang="en-US" sz="1200" b="0" i="0" kern="1200" dirty="0">
                <a:solidFill>
                  <a:schemeClr val="tx1"/>
                </a:solidFill>
                <a:effectLst/>
                <a:latin typeface="+mn-lt"/>
                <a:ea typeface="+mn-ea"/>
                <a:cs typeface="+mn-cs"/>
              </a:rPr>
              <a:t>CF is cleared (set to 0) if a borrow is needed (i.e., if the minuend is less than the subtrahend).</a:t>
            </a:r>
          </a:p>
          <a:p>
            <a:r>
              <a:rPr lang="en-US" sz="1200" b="0" i="0" kern="1200" dirty="0">
                <a:solidFill>
                  <a:schemeClr val="tx1"/>
                </a:solidFill>
                <a:effectLst/>
                <a:latin typeface="+mn-lt"/>
                <a:ea typeface="+mn-ea"/>
                <a:cs typeface="+mn-cs"/>
              </a:rPr>
              <a:t>CF is set to 1 if no borrow is needed, meaning the subtraction did not underflow.</a:t>
            </a:r>
          </a:p>
          <a:p>
            <a:r>
              <a:rPr lang="en-US" sz="1200" b="1" i="0" kern="1200" dirty="0">
                <a:solidFill>
                  <a:schemeClr val="tx1"/>
                </a:solidFill>
                <a:effectLst/>
                <a:latin typeface="+mn-lt"/>
                <a:ea typeface="+mn-ea"/>
                <a:cs typeface="+mn-cs"/>
              </a:rPr>
              <a:t>Summary:</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addition</a:t>
            </a:r>
            <a:r>
              <a:rPr lang="en-US" sz="1200" b="0" i="0" kern="1200" dirty="0">
                <a:solidFill>
                  <a:schemeClr val="tx1"/>
                </a:solidFill>
                <a:effectLst/>
                <a:latin typeface="+mn-lt"/>
                <a:ea typeface="+mn-ea"/>
                <a:cs typeface="+mn-cs"/>
              </a:rPr>
              <a:t>, CF = 1 means an overflow beyond the MSB (carry out).</a:t>
            </a:r>
          </a:p>
          <a:p>
            <a:r>
              <a:rPr lang="en-US" sz="1200" b="0" i="0" kern="1200" dirty="0">
                <a:solidFill>
                  <a:schemeClr val="tx1"/>
                </a:solidFill>
                <a:effectLst/>
                <a:latin typeface="+mn-lt"/>
                <a:ea typeface="+mn-ea"/>
                <a:cs typeface="+mn-cs"/>
              </a:rPr>
              <a:t>For </a:t>
            </a:r>
            <a:r>
              <a:rPr lang="en-US" sz="1200" b="1" i="0" kern="1200" dirty="0">
                <a:solidFill>
                  <a:schemeClr val="tx1"/>
                </a:solidFill>
                <a:effectLst/>
                <a:latin typeface="+mn-lt"/>
                <a:ea typeface="+mn-ea"/>
                <a:cs typeface="+mn-cs"/>
              </a:rPr>
              <a:t>unsigned subtraction</a:t>
            </a:r>
            <a:r>
              <a:rPr lang="en-US" sz="1200" b="0" i="0" kern="1200" dirty="0">
                <a:solidFill>
                  <a:schemeClr val="tx1"/>
                </a:solidFill>
                <a:effectLst/>
                <a:latin typeface="+mn-lt"/>
                <a:ea typeface="+mn-ea"/>
                <a:cs typeface="+mn-cs"/>
              </a:rPr>
              <a:t>, CF = 0 means a borrow (underflow), CF = 1 means no borrow.</a:t>
            </a:r>
          </a:p>
          <a:p>
            <a:r>
              <a:rPr lang="en-US" sz="1200" b="0" i="0" kern="1200" dirty="0">
                <a:solidFill>
                  <a:schemeClr val="tx1"/>
                </a:solidFill>
                <a:effectLst/>
                <a:latin typeface="+mn-lt"/>
                <a:ea typeface="+mn-ea"/>
                <a:cs typeface="+mn-cs"/>
              </a:rPr>
              <a:t>The carry flag thus helps detect unsigned overflow or underflow conditions.</a:t>
            </a:r>
          </a:p>
          <a:p>
            <a:r>
              <a:rPr lang="en-US" sz="1200" b="0" i="0" kern="1200" dirty="0">
                <a:solidFill>
                  <a:schemeClr val="tx1"/>
                </a:solidFill>
                <a:effectLst/>
                <a:latin typeface="+mn-lt"/>
                <a:ea typeface="+mn-ea"/>
                <a:cs typeface="+mn-cs"/>
              </a:rPr>
              <a:t>This behavior contrasts with signed arithmetic, where the overflow flag (OF) signals signed overflow, and the carry flag is generally not used.</a:t>
            </a:r>
          </a:p>
          <a:p>
            <a:r>
              <a:rPr lang="en-US" sz="1200" b="0" i="0" kern="1200">
                <a:solidFill>
                  <a:schemeClr val="tx1"/>
                </a:solidFill>
                <a:effectLst/>
                <a:latin typeface="+mn-lt"/>
                <a:ea typeface="+mn-ea"/>
                <a:cs typeface="+mn-cs"/>
              </a:rPr>
              <a:t>References from teaching and documentation explain this clearly: The carry flag signals actual carry for addition and borrow for subtraction in unsigned arithmetic scenarios.</a:t>
            </a:r>
          </a:p>
          <a:p>
            <a:endParaRPr lang="en-US" dirty="0"/>
          </a:p>
        </p:txBody>
      </p:sp>
    </p:spTree>
    <p:extLst>
      <p:ext uri="{BB962C8B-B14F-4D97-AF65-F5344CB8AC3E}">
        <p14:creationId xmlns:p14="http://schemas.microsoft.com/office/powerpoint/2010/main" val="31600375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it’s a “compare-only” operation for branching or predication. </a:t>
            </a:r>
          </a:p>
          <a:p>
            <a:r>
              <a:rPr lang="en-US" dirty="0"/>
              <a:t>; it both computes and compares in one step</a:t>
            </a:r>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6551084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SUBS Rd, Rn, Op2: performs subtraction </a:t>
                </a:r>
                <a14:m>
                  <m:oMath xmlns:m="http://schemas.openxmlformats.org/officeDocument/2006/math">
                    <m:r>
                      <a:rPr lang="en-US" i="1">
                        <a:latin typeface="Cambria Math" panose="02040503050406030204" pitchFamily="18" charset="0"/>
                      </a:rPr>
                      <m:t>𝑅𝑛</m:t>
                    </m:r>
                    <m:r>
                      <a:rPr lang="en-US" b="0" i="0" smtClean="0">
                        <a:latin typeface="Cambria Math" panose="02040503050406030204" pitchFamily="18" charset="0"/>
                      </a:rPr>
                      <m:t> − </m:t>
                    </m:r>
                    <m:r>
                      <a:rPr lang="en-US" i="1">
                        <a:latin typeface="Cambria Math" panose="02040503050406030204" pitchFamily="18" charset="0"/>
                      </a:rPr>
                      <m:t>𝑂𝑝</m:t>
                    </m:r>
                    <m:r>
                      <a:rPr lang="en-US">
                        <a:latin typeface="Cambria Math" panose="02040503050406030204" pitchFamily="18" charset="0"/>
                      </a:rPr>
                      <m:t>2</m:t>
                    </m:r>
                  </m:oMath>
                </a14:m>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Operand2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Operand2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Operand2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Operand2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t>SUBS Rd, Rn, Op2: performs subtraction </a:t>
                </a:r>
                <a:r>
                  <a:rPr lang="en-US" i="0">
                    <a:latin typeface="Cambria Math" panose="02040503050406030204" pitchFamily="18" charset="0"/>
                  </a:rPr>
                  <a:t>𝑅𝑛</a:t>
                </a:r>
                <a:r>
                  <a:rPr lang="en-US" b="0" i="0">
                    <a:latin typeface="Cambria Math" panose="02040503050406030204" pitchFamily="18" charset="0"/>
                  </a:rPr>
                  <a:t> − </a:t>
                </a:r>
                <a:r>
                  <a:rPr lang="en-US" i="0">
                    <a:latin typeface="Cambria Math" panose="02040503050406030204" pitchFamily="18" charset="0"/>
                  </a:rPr>
                  <a:t>𝑂𝑝2</a:t>
                </a:r>
                <a:r>
                  <a:rPr lang="en-US" dirty="0"/>
                  <a:t>, writes the result into Rd, and also updates NZCV flags; it both computes and compares in one step.</a:t>
                </a:r>
              </a:p>
              <a:p>
                <a:r>
                  <a:rPr lang="en-US" dirty="0"/>
                  <a:t>CMP/CMN/TEQ/TST: performs operations to update NZCV flags, but the computation result is not saved and discarded; it’s a “compare-only” operation for branching or predication. </a:t>
                </a:r>
              </a:p>
              <a:p>
                <a:pPr marL="0" indent="0" algn="ctr">
                  <a:buNone/>
                </a:pPr>
                <a:r>
                  <a:rPr lang="en-US" sz="2400" b="1" dirty="0">
                    <a:solidFill>
                      <a:srgbClr val="FF0000"/>
                    </a:solidFill>
                    <a:latin typeface="Consolas" panose="020B0609020204030204" pitchFamily="49" charset="0"/>
                  </a:rPr>
                  <a:t>CMP</a:t>
                </a:r>
                <a:r>
                  <a:rPr lang="en-US" sz="2400" b="1" dirty="0">
                    <a:latin typeface="Consolas" panose="020B0609020204030204" pitchFamily="49" charset="0"/>
                  </a:rPr>
                  <a:t> Rn, Operand2</a:t>
                </a:r>
              </a:p>
              <a:p>
                <a:pPr marL="0" indent="0" algn="ctr">
                  <a:buNone/>
                </a:pPr>
                <a:r>
                  <a:rPr lang="en-US" sz="2400" b="1" dirty="0">
                    <a:solidFill>
                      <a:srgbClr val="FF0000"/>
                    </a:solidFill>
                    <a:latin typeface="Consolas" panose="020B0609020204030204" pitchFamily="49" charset="0"/>
                  </a:rPr>
                  <a:t>CMN</a:t>
                </a:r>
                <a:r>
                  <a:rPr lang="en-US" sz="2400" b="1" dirty="0">
                    <a:latin typeface="Consolas" panose="020B0609020204030204" pitchFamily="49" charset="0"/>
                  </a:rPr>
                  <a:t> Rn, Operand2</a:t>
                </a:r>
              </a:p>
              <a:p>
                <a:pPr marL="0" indent="0" algn="ctr">
                  <a:buNone/>
                </a:pPr>
                <a:endParaRPr lang="en-US" sz="2000" dirty="0"/>
              </a:p>
              <a:p>
                <a:r>
                  <a:rPr lang="en-US" sz="2000" dirty="0"/>
                  <a:t>Update N, Z, C and V according to the result</a:t>
                </a:r>
              </a:p>
              <a:p>
                <a:r>
                  <a:rPr lang="en-US" sz="2000" b="1" dirty="0">
                    <a:latin typeface="Consolas" panose="020B0609020204030204" pitchFamily="49" charset="0"/>
                  </a:rPr>
                  <a:t>CMP</a:t>
                </a:r>
                <a:r>
                  <a:rPr lang="en-US" sz="2000" dirty="0"/>
                  <a:t> </a:t>
                </a:r>
                <a:r>
                  <a:rPr lang="en-US" sz="2000" dirty="0">
                    <a:solidFill>
                      <a:srgbClr val="FF0000"/>
                    </a:solidFill>
                  </a:rPr>
                  <a:t>subtracts</a:t>
                </a:r>
                <a:r>
                  <a:rPr lang="en-US" sz="2000" dirty="0"/>
                  <a:t> Operand2 from Rn. </a:t>
                </a:r>
              </a:p>
              <a:p>
                <a:pPr lvl="1"/>
                <a:r>
                  <a:rPr lang="en-US" sz="1800" dirty="0"/>
                  <a:t>Same as </a:t>
                </a:r>
                <a:r>
                  <a:rPr lang="en-US" sz="1800" dirty="0">
                    <a:latin typeface="Consolas" panose="020B0609020204030204" pitchFamily="49" charset="0"/>
                  </a:rPr>
                  <a:t>SUBS</a:t>
                </a:r>
                <a:r>
                  <a:rPr lang="en-US" sz="1800" dirty="0"/>
                  <a:t>, except result is discarded.</a:t>
                </a:r>
              </a:p>
              <a:p>
                <a:r>
                  <a:rPr lang="en-US" sz="2000" b="1" dirty="0">
                    <a:latin typeface="Consolas" panose="020B0609020204030204" pitchFamily="49" charset="0"/>
                  </a:rPr>
                  <a:t>CMN</a:t>
                </a:r>
                <a:r>
                  <a:rPr lang="en-US" sz="2000" dirty="0"/>
                  <a:t> </a:t>
                </a:r>
                <a:r>
                  <a:rPr lang="en-US" sz="2000" dirty="0">
                    <a:solidFill>
                      <a:srgbClr val="FF0000"/>
                    </a:solidFill>
                  </a:rPr>
                  <a:t>adds</a:t>
                </a:r>
                <a:r>
                  <a:rPr lang="en-US" sz="2000" dirty="0"/>
                  <a:t> Operand2 to Rn. </a:t>
                </a:r>
              </a:p>
              <a:p>
                <a:pPr lvl="1"/>
                <a:r>
                  <a:rPr lang="en-US" sz="1800" dirty="0"/>
                  <a:t>Same as </a:t>
                </a:r>
                <a:r>
                  <a:rPr lang="en-US" sz="1800" dirty="0">
                    <a:latin typeface="Consolas" panose="020B0609020204030204" pitchFamily="49" charset="0"/>
                  </a:rPr>
                  <a:t>ADDS</a:t>
                </a:r>
                <a:r>
                  <a:rPr lang="en-US" sz="1800" dirty="0"/>
                  <a:t>, except result is discarded.</a:t>
                </a:r>
              </a:p>
              <a:p>
                <a:endParaRPr lang="en-US" sz="2100" dirty="0"/>
              </a:p>
              <a:p>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4424494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dirty="0"/>
              <a:t>Note: RSB = Reverse </a:t>
            </a:r>
            <a:r>
              <a:rPr lang="en-US" sz="1200" i="1" dirty="0" err="1"/>
              <a:t>SuBtract</a:t>
            </a:r>
            <a:endParaRPr lang="en-US" sz="1200" i="1" dirty="0"/>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24457786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000" dirty="0"/>
                  <a:t>It </a:t>
                </a:r>
                <a:r>
                  <a:rPr lang="en-US" dirty="0"/>
                  <a:t>computes logical operation </a:t>
                </a:r>
                <a14:m>
                  <m:oMath xmlns:m="http://schemas.openxmlformats.org/officeDocument/2006/math">
                    <m:r>
                      <a:rPr lang="en-US" i="1">
                        <a:latin typeface="Cambria Math" panose="02040503050406030204" pitchFamily="18" charset="0"/>
                      </a:rPr>
                      <m:t>𝑅𝑑</m:t>
                    </m:r>
                    <m:r>
                      <a:rPr lang="en-US">
                        <a:latin typeface="Cambria Math" panose="02040503050406030204" pitchFamily="18" charset="0"/>
                      </a:rPr>
                      <m:t>⊕</m:t>
                    </m:r>
                    <m:r>
                      <a:rPr lang="en-US" i="1">
                        <a:latin typeface="Cambria Math" panose="02040503050406030204" pitchFamily="18" charset="0"/>
                      </a:rPr>
                      <m:t>𝑂𝑝</m:t>
                    </m:r>
                  </m:oMath>
                </a14:m>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14:m>
                  <m:oMath xmlns:m="http://schemas.openxmlformats.org/officeDocument/2006/math">
                    <m:r>
                      <a:rPr lang="en-US" sz="1200" i="1">
                        <a:latin typeface="Cambria Math" panose="02040503050406030204" pitchFamily="18" charset="0"/>
                      </a:rPr>
                      <m:t>𝑅𝑛</m:t>
                    </m:r>
                    <m:r>
                      <m:rPr>
                        <m:nor/>
                      </m:rPr>
                      <a:rPr lang="en-US" sz="1200" b="0" i="0" smtClean="0">
                        <a:latin typeface="Cambria Math" panose="02040503050406030204" pitchFamily="18" charset="0"/>
                      </a:rPr>
                      <m:t> </m:t>
                    </m:r>
                    <m:r>
                      <m:rPr>
                        <m:nor/>
                      </m:rPr>
                      <a:rPr lang="en-US"/>
                      <m:t>∧</m:t>
                    </m:r>
                    <m:r>
                      <m:rPr>
                        <m:nor/>
                      </m:rPr>
                      <a:rPr lang="en-US" b="0" i="0" smtClean="0"/>
                      <m:t> </m:t>
                    </m:r>
                    <m:r>
                      <a:rPr lang="en-US" sz="1200" i="1">
                        <a:latin typeface="Cambria Math" panose="02040503050406030204" pitchFamily="18" charset="0"/>
                      </a:rPr>
                      <m:t>𝑂𝑝𝑒𝑟𝑎𝑛𝑑</m:t>
                    </m:r>
                    <m:r>
                      <a:rPr lang="en-US" sz="1200" i="1">
                        <a:latin typeface="Cambria Math" panose="02040503050406030204" pitchFamily="18" charset="0"/>
                      </a:rPr>
                      <m:t>2</m:t>
                    </m:r>
                  </m:oMath>
                </a14:m>
                <a:r>
                  <a:rPr lang="en-US" sz="1200" dirty="0"/>
                  <a:t> is 0x0, then Rn and Operand2 are equal, Z is set to 1; otherwise Z is cleared.</a:t>
                </a:r>
                <a:endParaRPr lang="en-US" sz="1050" dirty="0"/>
              </a:p>
              <a:p>
                <a:endParaRPr lang="en-US" dirty="0"/>
              </a:p>
            </p:txBody>
          </p:sp>
        </mc:Choice>
        <mc:Fallback xmlns="">
          <p:sp>
            <p:nvSpPr>
              <p:cNvPr id="3" name="Notes Placeholder 2"/>
              <p:cNvSpPr>
                <a:spLocks noGrp="1"/>
              </p:cNvSpPr>
              <p:nvPr>
                <p:ph type="body" idx="1"/>
              </p:nvPr>
            </p:nvSpPr>
            <p:spPr/>
            <p:txBody>
              <a:bodyPr/>
              <a:lstStyle/>
              <a:p>
                <a:r>
                  <a:rPr lang="en-US" sz="1000" dirty="0"/>
                  <a:t>It </a:t>
                </a:r>
                <a:r>
                  <a:rPr lang="en-US" dirty="0"/>
                  <a:t>computes logical operation </a:t>
                </a:r>
                <a:r>
                  <a:rPr lang="en-US" i="0">
                    <a:latin typeface="Cambria Math" panose="02040503050406030204" pitchFamily="18" charset="0"/>
                  </a:rPr>
                  <a:t>𝑅𝑑⊕𝑂𝑝</a:t>
                </a:r>
                <a:r>
                  <a:rPr lang="en-US" dirty="0"/>
                  <a:t> internally, writes no result to a register, and updates the condition flags based on that XOR.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If </a:t>
                </a:r>
                <a:r>
                  <a:rPr lang="en-US" sz="1200" i="0">
                    <a:latin typeface="Cambria Math" panose="02040503050406030204" pitchFamily="18" charset="0"/>
                  </a:rPr>
                  <a:t>𝑅𝑛</a:t>
                </a:r>
                <a:r>
                  <a:rPr lang="en-US" sz="1200" b="0" i="0">
                    <a:latin typeface="Cambria Math" panose="02040503050406030204" pitchFamily="18" charset="0"/>
                  </a:rPr>
                  <a:t>" </a:t>
                </a:r>
                <a:r>
                  <a:rPr lang="en-US" i="0">
                    <a:latin typeface="Cambria Math" panose="02040503050406030204" pitchFamily="18" charset="0"/>
                  </a:rPr>
                  <a:t>∧</a:t>
                </a:r>
                <a:r>
                  <a:rPr lang="en-US" b="0" i="0">
                    <a:latin typeface="Cambria Math" panose="02040503050406030204" pitchFamily="18" charset="0"/>
                  </a:rPr>
                  <a:t> </a:t>
                </a:r>
                <a:r>
                  <a:rPr lang="en-US" sz="1200" b="0" i="0">
                    <a:latin typeface="Cambria Math" panose="02040503050406030204" pitchFamily="18" charset="0"/>
                  </a:rPr>
                  <a:t>" </a:t>
                </a:r>
                <a:r>
                  <a:rPr lang="en-US" sz="1200" i="0">
                    <a:latin typeface="Cambria Math" panose="02040503050406030204" pitchFamily="18" charset="0"/>
                  </a:rPr>
                  <a:t>𝑂𝑝𝑒𝑟𝑎𝑛𝑑2</a:t>
                </a:r>
                <a:r>
                  <a:rPr lang="en-US" sz="1200" dirty="0"/>
                  <a:t> is 0x0, then Rn and Operand2 are equal, Z is set to 1; otherwise Z is cleared.</a:t>
                </a:r>
                <a:endParaRPr lang="en-US" sz="1050" dirty="0"/>
              </a:p>
              <a:p>
                <a:endParaRPr 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32021910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8139130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CMP a, b computes a - b and sets flags without keeping the result. </a:t>
            </a:r>
          </a:p>
          <a:p>
            <a:r>
              <a:rPr lang="en-US" dirty="0"/>
              <a:t>For unsigned subtraction, borrow happens when a &lt; b.  ARM encodes “no borrow” (a ≥ b) as C=1, and “borrow” (a &lt; b) as C=0, while Z distinguishes equality. </a:t>
            </a:r>
          </a:p>
          <a:p>
            <a:pPr lvl="1"/>
            <a:r>
              <a:rPr lang="en-US" dirty="0"/>
              <a:t>HI (unsigned higher &gt;): the subtraction needs no borrow, so C=1, and it’s not equal, so Z=0. </a:t>
            </a:r>
          </a:p>
          <a:p>
            <a:pPr lvl="1"/>
            <a:r>
              <a:rPr lang="en-US" dirty="0"/>
              <a:t>HS/CS (higher or same/carry set ≥) : no borrow → C=1; equality allowed.</a:t>
            </a:r>
          </a:p>
          <a:p>
            <a:pPr lvl="1"/>
            <a:r>
              <a:rPr lang="en-US" dirty="0"/>
              <a:t>LO/CC (unsigned lower/carry clear &lt;): subtraction borrows → C=0. </a:t>
            </a:r>
          </a:p>
          <a:p>
            <a:pPr lvl="1"/>
            <a:r>
              <a:rPr lang="en-US" dirty="0"/>
              <a:t>LS (unsigned lower or same ≤): “lower or same” means either borrowed or equal → C=0 or Z=1. </a:t>
            </a:r>
          </a:p>
          <a:p>
            <a:r>
              <a:rPr lang="en-US" dirty="0"/>
              <a:t>For signed subtraction a - b, the sign bit N is correct if a ≥ b (no overflow, V = 0); the sign bit N is incorrect if a &lt; b (overflow, V = 1). </a:t>
            </a:r>
          </a:p>
          <a:p>
            <a:pPr lvl="1"/>
            <a:r>
              <a:rPr lang="en-US" dirty="0"/>
              <a:t>GE (signed greater or equal ≥): N == V. If there’s no overflow (V=0), non‑negative (N=0) means ≥; if there is overflow (V=1), N=1 (incorrect) also indicates the ≥ relation.</a:t>
            </a:r>
          </a:p>
          <a:p>
            <a:pPr lvl="1"/>
            <a:r>
              <a:rPr lang="en-US" dirty="0"/>
              <a:t>LT (signed less than &lt;): N != V. If there’s no overflow (V=0), negative (N=1) means &lt;; if there is overflow (V=1), N=0 (incorrect) also indicates the &lt; relation.</a:t>
            </a:r>
          </a:p>
          <a:p>
            <a:pPr lvl="1"/>
            <a:r>
              <a:rPr lang="en-US" dirty="0"/>
              <a:t>GT (signed greater than &gt;): N==V and Z=0. Strictly greater excludes equality, so combine GE with not equal.</a:t>
            </a:r>
          </a:p>
          <a:p>
            <a:pPr lvl="1"/>
            <a:r>
              <a:rPr lang="en-US" dirty="0"/>
              <a:t>LE (signed less or equal ≤): N != V or Z=1. Either strictly less, or equal.</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8326063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A59-11A5-244C-D733-140E7C95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D06E9-2B83-0692-3BBB-EC9E9303B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40EBF-8B82-4DE4-C9B7-6661BDB47D45}"/>
              </a:ext>
            </a:extLst>
          </p:cNvPr>
          <p:cNvSpPr>
            <a:spLocks noGrp="1"/>
          </p:cNvSpPr>
          <p:nvPr>
            <p:ph type="body" idx="1"/>
          </p:nvPr>
        </p:nvSpPr>
        <p:spPr/>
        <p:txBody>
          <a:bodyPr/>
          <a:lstStyle/>
          <a:p>
            <a:r>
              <a:rPr lang="en-US" dirty="0"/>
              <a:t>In the CPSR (Current Program Status Register) of ARM processors, the N and V flags are status flags used to reflect the result of operations:</a:t>
            </a:r>
          </a:p>
          <a:p>
            <a:r>
              <a:rPr lang="en-US" b="1" dirty="0"/>
              <a:t>N flag (Negative flag):</a:t>
            </a:r>
            <a:br>
              <a:rPr lang="en-US" dirty="0"/>
            </a:br>
            <a:r>
              <a:rPr lang="en-US" dirty="0"/>
              <a:t>This flag is set to 1 if the result of an operation is negative when interpreted as a signed number. In practice, it is set to the most significant bit (bit 31) of the result. If this bit is 1, the number is negative in two's complement representation. Otherwise, it is 0.</a:t>
            </a:r>
            <a:r>
              <a:rPr lang="en-US" dirty="0">
                <a:hlinkClick r:id="rId3"/>
              </a:rPr>
              <a:t>sciencedirect+1</a:t>
            </a:r>
            <a:r>
              <a:rPr lang="en-US" dirty="0"/>
              <a:t>youtube</a:t>
            </a:r>
          </a:p>
          <a:p>
            <a:r>
              <a:rPr lang="en-US" b="1" dirty="0"/>
              <a:t>V flag (Overflow flag):</a:t>
            </a:r>
            <a:br>
              <a:rPr lang="en-US" dirty="0"/>
            </a:br>
            <a:r>
              <a:rPr lang="en-US" dirty="0"/>
              <a:t>This flag is set to 1 if a signed overflow has occurred in the operation—meaning the signed result does not fit in the number of bits allowed. For example, adding two large positive signed integers that produce a negative result sets V. Likewise, subtracting a large negative from a large positive can also set V. It indicates that the sign bit has been corrupted due to overflow. If no overflow occurs, V is cleared to 0.</a:t>
            </a:r>
            <a:r>
              <a:rPr lang="en-US" dirty="0">
                <a:hlinkClick r:id="rId4"/>
              </a:rPr>
              <a:t>arm</a:t>
            </a:r>
            <a:r>
              <a:rPr lang="en-US" dirty="0"/>
              <a:t>youtube</a:t>
            </a:r>
          </a:p>
          <a:p>
            <a:r>
              <a:rPr lang="en-US" dirty="0"/>
              <a:t>Together, N and V help the processor and programmers detect and handle signed arithmetic conditions like overflow and sign changes, which are critical for signed condition codes and branching decisions.</a:t>
            </a:r>
          </a:p>
          <a:p>
            <a:r>
              <a:rPr lang="en-US" dirty="0">
                <a:hlinkClick r:id="rId5"/>
              </a:rPr>
              <a:t>https://arm-software.github.io/CMSIS_5/Core_A/html/group__CMSIS__CPSR.html</a:t>
            </a:r>
            <a:endParaRPr lang="en-US" dirty="0"/>
          </a:p>
          <a:p>
            <a:r>
              <a:rPr lang="en-US" dirty="0">
                <a:hlinkClick r:id="rId3"/>
              </a:rPr>
              <a:t>https://www.sciencedirect.com/topics/computer-science/current-program-status-register</a:t>
            </a:r>
            <a:endParaRPr lang="en-US" dirty="0"/>
          </a:p>
          <a:p>
            <a:r>
              <a:rPr lang="en-US" dirty="0">
                <a:hlinkClick r:id="rId6"/>
              </a:rPr>
              <a:t>https://developer.arm.com/documentation/ddi0406/b/System-Level-Architecture/The-System-Level-Programmers--Model/ARM-processor-modes-and-core-registers/Program-Status-Registers--PSRs-</a:t>
            </a:r>
            <a:endParaRPr lang="en-US" dirty="0"/>
          </a:p>
          <a:p>
            <a:r>
              <a:rPr lang="en-US" dirty="0">
                <a:hlinkClick r:id="rId4"/>
              </a:rPr>
              <a:t>https://community.arm.com/arm-community-blogs/b/architectures-and-processors-blog/posts/condition-codes-1-condition-flags-and-codes</a:t>
            </a:r>
            <a:endParaRPr lang="en-US" dirty="0"/>
          </a:p>
          <a:p>
            <a:r>
              <a:rPr lang="en-US" dirty="0">
                <a:hlinkClick r:id="rId7"/>
              </a:rPr>
              <a:t>https://goiabada.github.io/docs/sections/arm-cpu/flags.html</a:t>
            </a:r>
            <a:endParaRPr lang="en-US" dirty="0"/>
          </a:p>
          <a:p>
            <a:r>
              <a:rPr lang="en-US" dirty="0">
                <a:hlinkClick r:id="rId8"/>
              </a:rPr>
              <a:t>https://heyrick.eu/assembler/psr.html</a:t>
            </a:r>
            <a:endParaRPr lang="en-US" dirty="0"/>
          </a:p>
          <a:p>
            <a:r>
              <a:rPr lang="en-US" dirty="0">
                <a:hlinkClick r:id="rId9"/>
              </a:rPr>
              <a:t>https://users.ece.utexas.edu/~valvano/EE345M/Arm_EE382N_4.pdf</a:t>
            </a:r>
            <a:endParaRPr lang="en-US" dirty="0"/>
          </a:p>
          <a:p>
            <a:r>
              <a:rPr lang="en-US" dirty="0">
                <a:hlinkClick r:id="rId10"/>
              </a:rPr>
              <a:t>https://www.youtube.com/watch?v=28MMaELXRZ0</a:t>
            </a:r>
            <a:endParaRPr lang="en-US" dirty="0"/>
          </a:p>
          <a:p>
            <a:r>
              <a:rPr lang="en-US" dirty="0">
                <a:hlinkClick r:id="rId11"/>
              </a:rPr>
              <a:t>https://azeria-labs.com/arm-conditional-execution-and-branching-part-6/</a:t>
            </a:r>
            <a:endParaRPr lang="en-US" dirty="0"/>
          </a:p>
          <a:p>
            <a:r>
              <a:rPr lang="en-US" dirty="0">
                <a:hlinkClick r:id="rId12"/>
              </a:rPr>
              <a:t>https://ece.eng.wayne.edu/~smahmud/ECECourses/ECE5620/Manuals/ARM_InstructionSet.pdf</a:t>
            </a:r>
            <a:endParaRPr lang="en-US" dirty="0"/>
          </a:p>
          <a:p>
            <a:endParaRPr lang="en-US" dirty="0"/>
          </a:p>
        </p:txBody>
      </p:sp>
      <p:sp>
        <p:nvSpPr>
          <p:cNvPr id="4" name="Slide Number Placeholder 3">
            <a:extLst>
              <a:ext uri="{FF2B5EF4-FFF2-40B4-BE49-F238E27FC236}">
                <a16:creationId xmlns:a16="http://schemas.microsoft.com/office/drawing/2014/main" id="{DC012530-C6C2-F43E-572A-B12A65EEFE8F}"/>
              </a:ext>
            </a:extLst>
          </p:cNvPr>
          <p:cNvSpPr>
            <a:spLocks noGrp="1"/>
          </p:cNvSpPr>
          <p:nvPr>
            <p:ph type="sldNum" sz="quarter" idx="5"/>
          </p:nvPr>
        </p:nvSpPr>
        <p:spPr/>
        <p:txBody>
          <a:bodyPr/>
          <a:lstStyle/>
          <a:p>
            <a:fld id="{2D71AD5F-E36F-46B9-A99B-7B025244359D}" type="slidenum">
              <a:rPr lang="en-US" smtClean="0"/>
              <a:pPr/>
              <a:t>18</a:t>
            </a:fld>
            <a:endParaRPr lang="en-US"/>
          </a:p>
        </p:txBody>
      </p:sp>
    </p:spTree>
    <p:extLst>
      <p:ext uri="{BB962C8B-B14F-4D97-AF65-F5344CB8AC3E}">
        <p14:creationId xmlns:p14="http://schemas.microsoft.com/office/powerpoint/2010/main" val="1098039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latin typeface="Consolas" panose="020B0609020204030204" pitchFamily="49" charset="0"/>
                <a:cs typeface="Consolas" panose="020B0609020204030204" pitchFamily="49" charset="0"/>
              </a:rPr>
              <a:t> 	MOV r0, #0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latin typeface="Consolas" panose="020B0609020204030204" pitchFamily="49" charset="0"/>
                <a:cs typeface="Consolas" panose="020B0609020204030204" pitchFamily="49" charset="0"/>
              </a:rPr>
              <a:t>      	MOV r1, #0  </a:t>
            </a:r>
            <a:r>
              <a:rPr lang="pt-BR" dirty="0">
                <a:solidFill>
                  <a:schemeClr val="bg1">
                    <a:lumMod val="65000"/>
                  </a:schemeClr>
                </a:solidFill>
                <a:latin typeface="Consolas" panose="020B0609020204030204" pitchFamily="49" charset="0"/>
                <a:cs typeface="Consolas" panose="020B0609020204030204" pitchFamily="49" charset="0"/>
              </a:rPr>
              <a:t>; sum</a:t>
            </a:r>
          </a:p>
          <a:p>
            <a:endParaRPr lang="pt-BR" dirty="0">
              <a:latin typeface="Consolas" panose="020B0609020204030204" pitchFamily="49" charset="0"/>
              <a:cs typeface="Consolas" panose="020B0609020204030204" pitchFamily="49" charset="0"/>
            </a:endParaRPr>
          </a:p>
          <a:p>
            <a:r>
              <a:rPr lang="pt-BR" dirty="0">
                <a:solidFill>
                  <a:srgbClr val="FF0000"/>
                </a:solidFill>
                <a:latin typeface="Consolas" panose="020B0609020204030204" pitchFamily="49" charset="0"/>
                <a:cs typeface="Consolas" panose="020B0609020204030204" pitchFamily="49" charset="0"/>
              </a:rPr>
              <a:t>loop</a:t>
            </a:r>
            <a:r>
              <a:rPr lang="pt-BR" dirty="0">
                <a:latin typeface="Consolas" panose="020B0609020204030204" pitchFamily="49" charset="0"/>
                <a:cs typeface="Consolas" panose="020B0609020204030204" pitchFamily="49" charset="0"/>
              </a:rPr>
              <a:t>  	CMP r0, #10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check whether i &lt; 10</a:t>
            </a:r>
          </a:p>
          <a:p>
            <a:r>
              <a:rPr lang="pt-BR" dirty="0">
                <a:solidFill>
                  <a:srgbClr val="FF0000"/>
                </a:solidFill>
                <a:latin typeface="Consolas" panose="020B0609020204030204" pitchFamily="49" charset="0"/>
                <a:cs typeface="Consolas" panose="020B0609020204030204" pitchFamily="49" charset="0"/>
              </a:rPr>
              <a:t>      	BGE endloop </a:t>
            </a:r>
            <a:r>
              <a:rPr lang="pt-BR" dirty="0">
                <a:solidFill>
                  <a:schemeClr val="bg1">
                    <a:lumMod val="65000"/>
                  </a:schemeClr>
                </a:solidFill>
                <a:latin typeface="Consolas" panose="020B0609020204030204" pitchFamily="49" charset="0"/>
                <a:cs typeface="Consolas" panose="020B0609020204030204" pitchFamily="49" charset="0"/>
              </a:rPr>
              <a:t>;</a:t>
            </a:r>
            <a:r>
              <a:rPr lang="pt-BR" dirty="0">
                <a:solidFill>
                  <a:schemeClr val="bg1">
                    <a:lumMod val="50000"/>
                  </a:schemeClr>
                </a:solidFill>
                <a:latin typeface="Consolas" panose="020B0609020204030204" pitchFamily="49" charset="0"/>
                <a:cs typeface="Consolas" panose="020B0609020204030204" pitchFamily="49" charset="0"/>
              </a:rPr>
              <a:t> </a:t>
            </a:r>
            <a:r>
              <a:rPr lang="pt-BR" dirty="0">
                <a:solidFill>
                  <a:schemeClr val="bg1">
                    <a:lumMod val="65000"/>
                  </a:schemeClr>
                </a:solidFill>
                <a:latin typeface="Consolas" panose="020B0609020204030204" pitchFamily="49" charset="0"/>
                <a:cs typeface="Consolas" panose="020B0609020204030204" pitchFamily="49" charset="0"/>
              </a:rPr>
              <a:t>skip if ≥</a:t>
            </a:r>
          </a:p>
          <a:p>
            <a:r>
              <a:rPr lang="pt-BR" dirty="0">
                <a:latin typeface="Consolas" panose="020B0609020204030204" pitchFamily="49" charset="0"/>
                <a:cs typeface="Consolas" panose="020B0609020204030204" pitchFamily="49" charset="0"/>
              </a:rPr>
              <a:t>      	ADD r1, r1, r0  </a:t>
            </a:r>
            <a:r>
              <a:rPr lang="pt-BR" dirty="0">
                <a:solidFill>
                  <a:schemeClr val="bg1">
                    <a:lumMod val="65000"/>
                  </a:schemeClr>
                </a:solidFill>
                <a:latin typeface="Consolas" panose="020B0609020204030204" pitchFamily="49" charset="0"/>
                <a:cs typeface="Consolas" panose="020B0609020204030204" pitchFamily="49" charset="0"/>
              </a:rPr>
              <a:t>; sum += i</a:t>
            </a:r>
          </a:p>
          <a:p>
            <a:r>
              <a:rPr lang="pt-BR" dirty="0">
                <a:latin typeface="Consolas" panose="020B0609020204030204" pitchFamily="49" charset="0"/>
                <a:cs typeface="Consolas" panose="020B0609020204030204" pitchFamily="49" charset="0"/>
              </a:rPr>
              <a:t>      	ADD r0, r0, #1  </a:t>
            </a:r>
            <a:r>
              <a:rPr lang="pt-BR" dirty="0">
                <a:solidFill>
                  <a:schemeClr val="bg1">
                    <a:lumMod val="65000"/>
                  </a:schemeClr>
                </a:solidFill>
                <a:latin typeface="Consolas" panose="020B0609020204030204" pitchFamily="49" charset="0"/>
                <a:cs typeface="Consolas" panose="020B0609020204030204" pitchFamily="49" charset="0"/>
              </a:rPr>
              <a:t>; i++</a:t>
            </a:r>
          </a:p>
          <a:p>
            <a:r>
              <a:rPr lang="pt-BR" dirty="0">
                <a:solidFill>
                  <a:srgbClr val="FF0000"/>
                </a:solidFill>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endloop</a:t>
            </a:r>
            <a:endParaRPr lang="en-US" dirty="0">
              <a:latin typeface="Consolas" panose="020B0609020204030204" pitchFamily="49" charset="0"/>
              <a:cs typeface="Consolas" panose="020B0609020204030204" pitchFamily="49" charset="0"/>
            </a:endParaRP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24</a:t>
            </a:fld>
            <a:endParaRPr lang="en-US"/>
          </a:p>
        </p:txBody>
      </p:sp>
    </p:spTree>
    <p:extLst>
      <p:ext uri="{BB962C8B-B14F-4D97-AF65-F5344CB8AC3E}">
        <p14:creationId xmlns:p14="http://schemas.microsoft.com/office/powerpoint/2010/main" val="3161737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30398530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rgbClr val="C00000"/>
                </a:solidFill>
              </a:rPr>
              <a:t>You do not need to write IT instructions in your code. </a:t>
            </a:r>
          </a:p>
          <a:p>
            <a:endParaRPr lang="en-US" sz="1200" dirty="0">
              <a:solidFill>
                <a:srgbClr val="C00000"/>
              </a:solidFill>
            </a:endParaRPr>
          </a:p>
          <a:p>
            <a:r>
              <a:rPr lang="en-US" sz="1200" dirty="0">
                <a:solidFill>
                  <a:srgbClr val="C00000"/>
                </a:solidFill>
              </a:rPr>
              <a:t>The assembler generates them for you automatically according to the conditions specified.</a:t>
            </a:r>
          </a:p>
          <a:p>
            <a:endParaRPr 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39</a:t>
            </a:fld>
            <a:endParaRPr lang="en-US"/>
          </a:p>
        </p:txBody>
      </p:sp>
    </p:spTree>
    <p:extLst>
      <p:ext uri="{BB962C8B-B14F-4D97-AF65-F5344CB8AC3E}">
        <p14:creationId xmlns:p14="http://schemas.microsoft.com/office/powerpoint/2010/main" val="41025246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body" idx="1"/>
          </p:nvPr>
        </p:nvSpPr>
        <p:spPr>
          <a:xfrm>
            <a:off x="924810" y="4404346"/>
            <a:ext cx="5100458" cy="4170576"/>
          </a:xfrm>
          <a:solidFill>
            <a:srgbClr val="FFFFFF"/>
          </a:solidFill>
          <a:ln>
            <a:solidFill>
              <a:srgbClr val="000000"/>
            </a:solidFill>
          </a:ln>
        </p:spPr>
        <p:txBody>
          <a:bodyPr lIns="95780" tIns="47890" rIns="95780" bIns="47890"/>
          <a:lstStyle/>
          <a:p>
            <a:pPr marL="0" lvl="2" defTabSz="924879">
              <a:defRPr/>
            </a:pPr>
            <a:r>
              <a:rPr lang="en-US" dirty="0"/>
              <a:t>Condition codes are simply a way of testing the ALU status flags. </a:t>
            </a:r>
          </a:p>
          <a:p>
            <a:pPr marL="0" lvl="2" defTabSz="924879">
              <a:defRPr/>
            </a:pPr>
            <a:r>
              <a:rPr lang="en-US" dirty="0"/>
              <a:t>Note AL is the default and does not need to be specified </a:t>
            </a:r>
            <a:endParaRPr lang="en-GB" dirty="0"/>
          </a:p>
          <a:p>
            <a:endParaRPr lang="en-US" dirty="0"/>
          </a:p>
        </p:txBody>
      </p:sp>
      <p:sp>
        <p:nvSpPr>
          <p:cNvPr id="45059" name="Rectangle 3"/>
          <p:cNvSpPr>
            <a:spLocks noGrp="1" noRot="1" noChangeAspect="1" noChangeArrowheads="1" noTextEdit="1"/>
          </p:cNvSpPr>
          <p:nvPr>
            <p:ph type="sldImg"/>
          </p:nvPr>
        </p:nvSpPr>
        <p:spPr>
          <a:xfrm>
            <a:off x="546100" y="863600"/>
            <a:ext cx="5870575" cy="3303588"/>
          </a:xfrm>
          <a:ln/>
        </p:spPr>
      </p:sp>
    </p:spTree>
    <p:extLst>
      <p:ext uri="{BB962C8B-B14F-4D97-AF65-F5344CB8AC3E}">
        <p14:creationId xmlns:p14="http://schemas.microsoft.com/office/powerpoint/2010/main" val="42560826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10/4/2025</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10/4/2025</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10/4/2025</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10/4/2025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10/4/2025</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10/4/2025</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10/4/2025</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10/4/2025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10/4/2025</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10/4/2025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10/4/2025</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able Placeholder 2"/>
          <p:cNvSpPr>
            <a:spLocks noGrp="1"/>
          </p:cNvSpPr>
          <p:nvPr>
            <p:ph type="tbl" idx="1"/>
          </p:nvPr>
        </p:nvSpPr>
        <p:spPr>
          <a:xfrm>
            <a:off x="914400" y="1981200"/>
            <a:ext cx="10363200" cy="41148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fld id="{F4EA606C-8FDC-48DF-B809-A9223E8539C3}" type="datetime1">
              <a:rPr lang="en-US" smtClean="0"/>
              <a:pPr>
                <a:defRPr/>
              </a:pPr>
              <a:t>10/4/2025</a:t>
            </a:fld>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7D3083A4-9012-4F92-8AC9-739FC4D3B103}" type="slidenum">
              <a:rPr lang="en-US"/>
              <a:pPr>
                <a:defRPr/>
              </a:pPr>
              <a:t>‹#›</a:t>
            </a:fld>
            <a:endParaRPr lang="en-US"/>
          </a:p>
        </p:txBody>
      </p:sp>
    </p:spTree>
    <p:extLst>
      <p:ext uri="{BB962C8B-B14F-4D97-AF65-F5344CB8AC3E}">
        <p14:creationId xmlns:p14="http://schemas.microsoft.com/office/powerpoint/2010/main" val="18585145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10/4/2025</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eb.eece.maine.edu/~zhu/book/"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customXml" Target="../ink/ink2.xml"/><Relationship Id="rId4" Type="http://schemas.openxmlformats.org/officeDocument/2006/relationships/image" Target="../media/image60.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youtube.com/watch?v=9hlxG8L5-G4&amp;list=PLRJhV4hUhIymmp5CCeIFPyxbknsdcXCc8&amp;index=28" TargetMode="External"/><Relationship Id="rId2" Type="http://schemas.openxmlformats.org/officeDocument/2006/relationships/hyperlink" Target="https://www.youtube.com/watch?v=_QKD7f1cmRI&amp;list=PLRJhV4hUhIymmp5CCeIFPyxbknsdcXCc8&amp;index=2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Fall 2025</a:t>
            </a:r>
          </a:p>
        </p:txBody>
      </p:sp>
      <p:sp>
        <p:nvSpPr>
          <p:cNvPr id="5" name="TextBox 4"/>
          <p:cNvSpPr txBox="1"/>
          <p:nvPr/>
        </p:nvSpPr>
        <p:spPr>
          <a:xfrm>
            <a:off x="4572000" y="308816"/>
            <a:ext cx="6477000" cy="523220"/>
          </a:xfrm>
          <a:prstGeom prst="rect">
            <a:avLst/>
          </a:prstGeom>
          <a:noFill/>
        </p:spPr>
        <p:txBody>
          <a:bodyPr wrap="square" rtlCol="0">
            <a:spAutoFit/>
          </a:bodyPr>
          <a:lstStyle/>
          <a:p>
            <a:pPr algn="r"/>
            <a:r>
              <a:rPr lang="en-US" sz="1400" b="1" dirty="0">
                <a:latin typeface="Bookman Old Style (Headings)"/>
              </a:rPr>
              <a:t>Embedded Systems with ARM Cortex-M Microcontrollers in Assembly Language and C</a:t>
            </a:r>
          </a:p>
        </p:txBody>
      </p:sp>
      <p:sp>
        <p:nvSpPr>
          <p:cNvPr id="6" name="TextBox 5"/>
          <p:cNvSpPr txBox="1"/>
          <p:nvPr/>
        </p:nvSpPr>
        <p:spPr>
          <a:xfrm>
            <a:off x="7156282" y="1800070"/>
            <a:ext cx="3856313" cy="830997"/>
          </a:xfrm>
          <a:prstGeom prst="rect">
            <a:avLst/>
          </a:prstGeom>
          <a:noFill/>
        </p:spPr>
        <p:txBody>
          <a:bodyPr wrap="none" rtlCol="0">
            <a:spAutoFit/>
          </a:bodyPr>
          <a:lstStyle/>
          <a:p>
            <a:pPr algn="r"/>
            <a:r>
              <a:rPr lang="en-US" sz="2400" b="1" dirty="0">
                <a:solidFill>
                  <a:srgbClr val="C00000"/>
                </a:solidFill>
              </a:rPr>
              <a:t>Chapter 6</a:t>
            </a:r>
          </a:p>
          <a:p>
            <a:pPr algn="r"/>
            <a:r>
              <a:rPr lang="en-US" sz="2400" b="1">
                <a:solidFill>
                  <a:srgbClr val="C00000"/>
                </a:solidFill>
              </a:rPr>
              <a:t>Control Flow </a:t>
            </a:r>
            <a:r>
              <a:rPr lang="en-US" sz="2400" b="1" dirty="0">
                <a:solidFill>
                  <a:srgbClr val="C00000"/>
                </a:solidFill>
              </a:rPr>
              <a:t>in Assembly</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
        <p:nvSpPr>
          <p:cNvPr id="7" name="TextBox 6">
            <a:extLst>
              <a:ext uri="{FF2B5EF4-FFF2-40B4-BE49-F238E27FC236}">
                <a16:creationId xmlns:a16="http://schemas.microsoft.com/office/drawing/2014/main" id="{CDF938EB-593A-3F78-8471-70DE26383963}"/>
              </a:ext>
            </a:extLst>
          </p:cNvPr>
          <p:cNvSpPr txBox="1"/>
          <p:nvPr/>
        </p:nvSpPr>
        <p:spPr>
          <a:xfrm>
            <a:off x="2233138" y="6307128"/>
            <a:ext cx="7725724" cy="461665"/>
          </a:xfrm>
          <a:prstGeom prst="rect">
            <a:avLst/>
          </a:prstGeom>
          <a:ln w="9525"/>
        </p:spPr>
        <p:style>
          <a:lnRef idx="2">
            <a:schemeClr val="accent5"/>
          </a:lnRef>
          <a:fillRef idx="1">
            <a:schemeClr val="lt1"/>
          </a:fillRef>
          <a:effectRef idx="0">
            <a:schemeClr val="accent5"/>
          </a:effectRef>
          <a:fontRef idx="minor">
            <a:schemeClr val="dk1"/>
          </a:fontRef>
        </p:style>
        <p:txBody>
          <a:bodyPr wrap="square" rtlCol="0">
            <a:spAutoFit/>
          </a:bodyPr>
          <a:lstStyle/>
          <a:p>
            <a:r>
              <a:rPr lang="en-US" altLang="zh-CN" sz="1200" dirty="0">
                <a:solidFill>
                  <a:schemeClr val="tx1"/>
                </a:solidFill>
                <a:latin typeface="Gill Sans Light"/>
              </a:rPr>
              <a:t>Acknowledgement: Lecture slides based on Embedded Systems with ARM Cortex-M Microcontrollers in Assembly Language and C, University of Maine </a:t>
            </a:r>
            <a:r>
              <a:rPr lang="en-US" altLang="zh-CN" sz="1200" dirty="0">
                <a:solidFill>
                  <a:schemeClr val="tx1"/>
                </a:solidFill>
                <a:latin typeface="Gill Sans Light"/>
                <a:hlinkClick r:id="rId2"/>
              </a:rPr>
              <a:t>https://web.eece.maine.edu/~zhu/book/</a:t>
            </a:r>
            <a:r>
              <a:rPr lang="en-US" altLang="zh-CN" sz="1200" dirty="0">
                <a:solidFill>
                  <a:schemeClr val="tx1"/>
                </a:solidFill>
                <a:latin typeface="Gill Sans Light"/>
              </a:rPr>
              <a:t> </a:t>
            </a:r>
            <a:endParaRPr lang="en-SE" sz="1200" dirty="0">
              <a:solidFill>
                <a:schemeClr val="tx1"/>
              </a:solidFill>
              <a:latin typeface="Gill Sans Light"/>
            </a:endParaRPr>
          </a:p>
        </p:txBody>
      </p:sp>
    </p:spTree>
    <p:extLst>
      <p:ext uri="{BB962C8B-B14F-4D97-AF65-F5344CB8AC3E}">
        <p14:creationId xmlns:p14="http://schemas.microsoft.com/office/powerpoint/2010/main" val="31038717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70F042E-8630-4D89-B007-79A5D5D66790}" type="slidenum">
              <a:rPr lang="en-US" altLang="zh-TW"/>
              <a:pPr/>
              <a:t>2</a:t>
            </a:fld>
            <a:endParaRPr lang="en-US" altLang="zh-TW"/>
          </a:p>
        </p:txBody>
      </p:sp>
      <p:sp>
        <p:nvSpPr>
          <p:cNvPr id="787458" name="Rectangle 2"/>
          <p:cNvSpPr>
            <a:spLocks noGrp="1" noChangeArrowheads="1"/>
          </p:cNvSpPr>
          <p:nvPr>
            <p:ph type="title"/>
          </p:nvPr>
        </p:nvSpPr>
        <p:spPr/>
        <p:txBody>
          <a:bodyPr/>
          <a:lstStyle/>
          <a:p>
            <a:r>
              <a:rPr lang="en-US" dirty="0"/>
              <a:t>Three Control Structures</a:t>
            </a:r>
            <a:endParaRPr lang="zh-TW" altLang="en-US" dirty="0"/>
          </a:p>
        </p:txBody>
      </p:sp>
      <p:sp>
        <p:nvSpPr>
          <p:cNvPr id="787459" name="Rectangle 3"/>
          <p:cNvSpPr>
            <a:spLocks noGrp="1" noChangeArrowheads="1"/>
          </p:cNvSpPr>
          <p:nvPr>
            <p:ph type="body" idx="1"/>
          </p:nvPr>
        </p:nvSpPr>
        <p:spPr/>
        <p:txBody>
          <a:bodyPr>
            <a:normAutofit/>
          </a:bodyPr>
          <a:lstStyle/>
          <a:p>
            <a:r>
              <a:rPr lang="en-US" sz="1800" dirty="0"/>
              <a:t>Sequence Structure</a:t>
            </a:r>
          </a:p>
          <a:p>
            <a:pPr lvl="1"/>
            <a:r>
              <a:rPr lang="en-US" sz="1600" dirty="0"/>
              <a:t>Computer executes statements (instructions), one after another, in the order listed in the program</a:t>
            </a:r>
          </a:p>
          <a:p>
            <a:pPr>
              <a:lnSpc>
                <a:spcPct val="90000"/>
              </a:lnSpc>
            </a:pPr>
            <a:r>
              <a:rPr lang="en-US" altLang="zh-TW" sz="1800" b="1" dirty="0">
                <a:latin typeface="Courier New"/>
                <a:cs typeface="Courier New"/>
              </a:rPr>
              <a:t>Selection Structure</a:t>
            </a:r>
          </a:p>
          <a:p>
            <a:pPr lvl="1">
              <a:lnSpc>
                <a:spcPct val="90000"/>
              </a:lnSpc>
            </a:pPr>
            <a:r>
              <a:rPr lang="en-US" altLang="zh-TW" sz="1600" b="1" dirty="0">
                <a:latin typeface="Courier New"/>
                <a:cs typeface="Courier New"/>
              </a:rPr>
              <a:t>If-then-else</a:t>
            </a:r>
          </a:p>
          <a:p>
            <a:pPr>
              <a:lnSpc>
                <a:spcPct val="90000"/>
              </a:lnSpc>
            </a:pPr>
            <a:r>
              <a:rPr lang="en-US" altLang="zh-TW" sz="1800" b="1" dirty="0">
                <a:latin typeface="Courier New" pitchFamily="49" charset="0"/>
              </a:rPr>
              <a:t>Loop Structure</a:t>
            </a:r>
          </a:p>
          <a:p>
            <a:pPr lvl="1">
              <a:lnSpc>
                <a:spcPct val="90000"/>
              </a:lnSpc>
            </a:pPr>
            <a:r>
              <a:rPr lang="en-US" altLang="zh-TW" sz="1600" b="1" dirty="0">
                <a:latin typeface="Courier New" pitchFamily="49" charset="0"/>
              </a:rPr>
              <a:t>while loop</a:t>
            </a:r>
          </a:p>
          <a:p>
            <a:pPr lvl="1">
              <a:lnSpc>
                <a:spcPct val="90000"/>
              </a:lnSpc>
            </a:pPr>
            <a:r>
              <a:rPr lang="en-US" altLang="zh-TW" sz="1600" b="1" dirty="0">
                <a:latin typeface="Courier New" pitchFamily="49" charset="0"/>
              </a:rPr>
              <a:t>for </a:t>
            </a:r>
            <a:r>
              <a:rPr lang="en-US" altLang="zh-TW" sz="1800" b="1" dirty="0">
                <a:latin typeface="Courier New" pitchFamily="49" charset="0"/>
              </a:rPr>
              <a:t>loop</a:t>
            </a:r>
            <a:endParaRPr lang="en-US" altLang="zh-TW" sz="1800" dirty="0"/>
          </a:p>
        </p:txBody>
      </p:sp>
      <p:pic>
        <p:nvPicPr>
          <p:cNvPr id="11"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3099329"/>
            <a:ext cx="1600200" cy="266958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2" name="TextBox 11"/>
          <p:cNvSpPr txBox="1"/>
          <p:nvPr/>
        </p:nvSpPr>
        <p:spPr>
          <a:xfrm>
            <a:off x="2133600" y="5896958"/>
            <a:ext cx="2209800" cy="369332"/>
          </a:xfrm>
          <a:prstGeom prst="rect">
            <a:avLst/>
          </a:prstGeom>
          <a:noFill/>
        </p:spPr>
        <p:txBody>
          <a:bodyPr wrap="square" rtlCol="0">
            <a:spAutoFit/>
          </a:bodyPr>
          <a:lstStyle/>
          <a:p>
            <a:pPr algn="ctr"/>
            <a:r>
              <a:rPr lang="en-US" dirty="0">
                <a:solidFill>
                  <a:srgbClr val="C00000"/>
                </a:solidFill>
              </a:rPr>
              <a:t>Sequence Structure</a:t>
            </a:r>
          </a:p>
        </p:txBody>
      </p:sp>
      <p:grpSp>
        <p:nvGrpSpPr>
          <p:cNvPr id="13" name="Group 12">
            <a:extLst>
              <a:ext uri="{FF2B5EF4-FFF2-40B4-BE49-F238E27FC236}">
                <a16:creationId xmlns:a16="http://schemas.microsoft.com/office/drawing/2014/main" id="{B362000C-983C-524D-87C2-3EDCAF4543B1}"/>
              </a:ext>
            </a:extLst>
          </p:cNvPr>
          <p:cNvGrpSpPr/>
          <p:nvPr/>
        </p:nvGrpSpPr>
        <p:grpSpPr>
          <a:xfrm>
            <a:off x="4759452" y="3210895"/>
            <a:ext cx="3657600" cy="3011381"/>
            <a:chOff x="2362200" y="1752600"/>
            <a:chExt cx="4132390" cy="3714428"/>
          </a:xfrm>
        </p:grpSpPr>
        <p:pic>
          <p:nvPicPr>
            <p:cNvPr id="1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62200" y="1752600"/>
              <a:ext cx="4132390" cy="28098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p:nvSpPr>
          <p:spPr>
            <a:xfrm>
              <a:off x="3439086" y="5011470"/>
              <a:ext cx="2235462" cy="455558"/>
            </a:xfrm>
            <a:prstGeom prst="rect">
              <a:avLst/>
            </a:prstGeom>
            <a:noFill/>
          </p:spPr>
          <p:txBody>
            <a:bodyPr wrap="none" rtlCol="0">
              <a:spAutoFit/>
            </a:bodyPr>
            <a:lstStyle/>
            <a:p>
              <a:r>
                <a:rPr lang="en-US" dirty="0">
                  <a:solidFill>
                    <a:srgbClr val="C00000"/>
                  </a:solidFill>
                </a:rPr>
                <a:t>Selection Structure</a:t>
              </a:r>
            </a:p>
          </p:txBody>
        </p:sp>
      </p:grpSp>
      <p:grpSp>
        <p:nvGrpSpPr>
          <p:cNvPr id="16" name="Group 15">
            <a:extLst>
              <a:ext uri="{FF2B5EF4-FFF2-40B4-BE49-F238E27FC236}">
                <a16:creationId xmlns:a16="http://schemas.microsoft.com/office/drawing/2014/main" id="{B2548B9B-63B4-EE41-BB16-A644D9AF1BF9}"/>
              </a:ext>
            </a:extLst>
          </p:cNvPr>
          <p:cNvGrpSpPr/>
          <p:nvPr/>
        </p:nvGrpSpPr>
        <p:grpSpPr>
          <a:xfrm>
            <a:off x="9616640" y="2843013"/>
            <a:ext cx="2133600" cy="3379263"/>
            <a:chOff x="6400800" y="1447800"/>
            <a:chExt cx="2517213" cy="4008753"/>
          </a:xfrm>
        </p:grpSpPr>
        <p:pic>
          <p:nvPicPr>
            <p:cNvPr id="17" name="Picture 6"/>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00800" y="1447800"/>
              <a:ext cx="2517213" cy="2981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8" name="TextBox 17"/>
            <p:cNvSpPr txBox="1"/>
            <p:nvPr/>
          </p:nvSpPr>
          <p:spPr>
            <a:xfrm>
              <a:off x="6853640" y="5018422"/>
              <a:ext cx="1901278" cy="438131"/>
            </a:xfrm>
            <a:prstGeom prst="rect">
              <a:avLst/>
            </a:prstGeom>
            <a:noFill/>
          </p:spPr>
          <p:txBody>
            <a:bodyPr wrap="none" rtlCol="0">
              <a:spAutoFit/>
            </a:bodyPr>
            <a:lstStyle/>
            <a:p>
              <a:r>
                <a:rPr lang="en-US" dirty="0">
                  <a:solidFill>
                    <a:srgbClr val="C00000"/>
                  </a:solidFill>
                </a:rPr>
                <a:t>Loop Structure</a:t>
              </a:r>
            </a:p>
          </p:txBody>
        </p:sp>
      </p:grpSp>
    </p:spTree>
    <p:extLst>
      <p:ext uri="{BB962C8B-B14F-4D97-AF65-F5344CB8AC3E}">
        <p14:creationId xmlns:p14="http://schemas.microsoft.com/office/powerpoint/2010/main" val="166800616"/>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3075"/>
          <p:cNvSpPr>
            <a:spLocks noGrp="1" noChangeArrowheads="1"/>
          </p:cNvSpPr>
          <p:nvPr>
            <p:ph type="title"/>
          </p:nvPr>
        </p:nvSpPr>
        <p:spPr/>
        <p:txBody>
          <a:bodyPr>
            <a:normAutofit/>
          </a:bodyPr>
          <a:lstStyle/>
          <a:p>
            <a:r>
              <a:rPr lang="en-US" dirty="0"/>
              <a:t>Combined Program Status Registers (</a:t>
            </a:r>
            <a:r>
              <a:rPr lang="en-US" dirty="0" err="1"/>
              <a:t>xPSR</a:t>
            </a:r>
            <a:r>
              <a:rPr lang="en-US" dirty="0"/>
              <a:t>)</a:t>
            </a:r>
          </a:p>
        </p:txBody>
      </p:sp>
      <p:sp>
        <p:nvSpPr>
          <p:cNvPr id="50" name="Slide Number Placeholder 49"/>
          <p:cNvSpPr>
            <a:spLocks noGrp="1"/>
          </p:cNvSpPr>
          <p:nvPr>
            <p:ph type="sldNum" sz="quarter" idx="12"/>
          </p:nvPr>
        </p:nvSpPr>
        <p:spPr/>
        <p:txBody>
          <a:bodyPr/>
          <a:lstStyle/>
          <a:p>
            <a:fld id="{AEE14D4A-FE32-40AF-B06D-E9622816B101}" type="slidenum">
              <a:rPr lang="en-US" smtClean="0"/>
              <a:pPr/>
              <a:t>3</a:t>
            </a:fld>
            <a:endParaRPr lang="en-US"/>
          </a:p>
        </p:txBody>
      </p:sp>
      <p:pic>
        <p:nvPicPr>
          <p:cNvPr id="3" name="Picture 2"/>
          <p:cNvPicPr>
            <a:picLocks noChangeAspect="1"/>
          </p:cNvPicPr>
          <p:nvPr/>
        </p:nvPicPr>
        <p:blipFill>
          <a:blip r:embed="rId3"/>
          <a:stretch>
            <a:fillRect/>
          </a:stretch>
        </p:blipFill>
        <p:spPr>
          <a:xfrm>
            <a:off x="1600201" y="1828800"/>
            <a:ext cx="9035457" cy="2590800"/>
          </a:xfrm>
          <a:prstGeom prst="rect">
            <a:avLst/>
          </a:prstGeom>
        </p:spPr>
      </p:pic>
      <p:sp>
        <p:nvSpPr>
          <p:cNvPr id="2" name="Horizontal Scroll 15">
            <a:extLst>
              <a:ext uri="{FF2B5EF4-FFF2-40B4-BE49-F238E27FC236}">
                <a16:creationId xmlns:a16="http://schemas.microsoft.com/office/drawing/2014/main" id="{83E562FA-F0A6-5842-2638-B80BBF6217CC}"/>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774725071"/>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p:cNvSpPr>
            <a:spLocks noGrp="1"/>
          </p:cNvSpPr>
          <p:nvPr>
            <p:ph sz="quarter" idx="1"/>
          </p:nvPr>
        </p:nvSpPr>
        <p:spPr>
          <a:xfrm>
            <a:off x="609600" y="2377588"/>
            <a:ext cx="8229600" cy="3718560"/>
          </a:xfrm>
        </p:spPr>
        <p:txBody>
          <a:bodyPr>
            <a:noAutofit/>
          </a:bodyPr>
          <a:lstStyle/>
          <a:p>
            <a:r>
              <a:rPr lang="en-US" sz="1600" b="1" dirty="0"/>
              <a:t>Negative</a:t>
            </a:r>
            <a:r>
              <a:rPr lang="en-US" sz="1600" dirty="0"/>
              <a:t> bit</a:t>
            </a:r>
          </a:p>
          <a:p>
            <a:pPr lvl="1"/>
            <a:r>
              <a:rPr lang="en-US" sz="1600" dirty="0">
                <a:latin typeface="Consolas" panose="020B0609020204030204" pitchFamily="49" charset="0"/>
                <a:cs typeface="Consolas" panose="020B0609020204030204" pitchFamily="49" charset="0"/>
              </a:rPr>
              <a:t>N = 1 </a:t>
            </a:r>
            <a:r>
              <a:rPr lang="en-US" sz="1600" dirty="0"/>
              <a:t>if most significant bit of result is </a:t>
            </a:r>
            <a:r>
              <a:rPr lang="en-US" sz="1600" dirty="0">
                <a:latin typeface="Consolas" panose="020B0609020204030204" pitchFamily="49" charset="0"/>
                <a:cs typeface="Consolas" panose="020B0609020204030204" pitchFamily="49" charset="0"/>
              </a:rPr>
              <a:t>1</a:t>
            </a:r>
          </a:p>
          <a:p>
            <a:r>
              <a:rPr lang="en-US" sz="1600" b="1" dirty="0"/>
              <a:t>Zero</a:t>
            </a:r>
            <a:r>
              <a:rPr lang="en-US" sz="1600" dirty="0"/>
              <a:t> bit</a:t>
            </a:r>
          </a:p>
          <a:p>
            <a:pPr lvl="1"/>
            <a:r>
              <a:rPr lang="en-US" sz="1600" dirty="0">
                <a:latin typeface="Consolas" panose="020B0609020204030204" pitchFamily="49" charset="0"/>
                <a:cs typeface="Consolas" panose="020B0609020204030204" pitchFamily="49" charset="0"/>
              </a:rPr>
              <a:t>Z = 1 </a:t>
            </a:r>
            <a:r>
              <a:rPr lang="en-US" sz="1600" dirty="0"/>
              <a:t>if all bits of result are </a:t>
            </a:r>
            <a:r>
              <a:rPr lang="en-US" sz="1600" dirty="0">
                <a:latin typeface="Consolas" panose="020B0609020204030204" pitchFamily="49" charset="0"/>
                <a:cs typeface="Consolas" panose="020B0609020204030204" pitchFamily="49" charset="0"/>
              </a:rPr>
              <a:t>0</a:t>
            </a:r>
          </a:p>
          <a:p>
            <a:r>
              <a:rPr lang="en-US" sz="1600" b="1" dirty="0"/>
              <a:t>Carry</a:t>
            </a:r>
            <a:r>
              <a:rPr lang="en-US" sz="1600" dirty="0"/>
              <a:t> bit</a:t>
            </a:r>
          </a:p>
          <a:p>
            <a:pPr lvl="1"/>
            <a:r>
              <a:rPr lang="en-US" sz="1600" dirty="0"/>
              <a:t>For unsigned addition, </a:t>
            </a:r>
            <a:r>
              <a:rPr lang="en-US" sz="1600" dirty="0">
                <a:latin typeface="Consolas" panose="020B0609020204030204" pitchFamily="49" charset="0"/>
                <a:cs typeface="Consolas" panose="020B0609020204030204" pitchFamily="49" charset="0"/>
              </a:rPr>
              <a:t>C = 1 </a:t>
            </a:r>
            <a:r>
              <a:rPr lang="en-US" sz="1600" dirty="0"/>
              <a:t>if carry takes place</a:t>
            </a:r>
          </a:p>
          <a:p>
            <a:pPr lvl="1"/>
            <a:r>
              <a:rPr lang="en-US" sz="1600" dirty="0"/>
              <a:t>For unsigned subtraction, </a:t>
            </a:r>
            <a:r>
              <a:rPr lang="en-US" sz="1600" dirty="0">
                <a:latin typeface="Consolas" panose="020B0609020204030204" pitchFamily="49" charset="0"/>
                <a:cs typeface="Consolas" panose="020B0609020204030204" pitchFamily="49" charset="0"/>
              </a:rPr>
              <a:t>C = 0 </a:t>
            </a:r>
            <a:r>
              <a:rPr lang="en-US" sz="1600" dirty="0"/>
              <a:t>(carry = not borrow) if borrow takes place</a:t>
            </a:r>
          </a:p>
          <a:p>
            <a:pPr lvl="1"/>
            <a:r>
              <a:rPr lang="en-US" sz="1600" dirty="0"/>
              <a:t>For shift/rotation, C = last bit shifted out</a:t>
            </a:r>
          </a:p>
          <a:p>
            <a:r>
              <a:rPr lang="en-US" sz="1600" b="1" dirty="0" err="1"/>
              <a:t>oVerflow</a:t>
            </a:r>
            <a:r>
              <a:rPr lang="en-US" sz="1600" dirty="0"/>
              <a:t> bit</a:t>
            </a:r>
          </a:p>
          <a:p>
            <a:pPr lvl="1"/>
            <a:r>
              <a:rPr lang="en-US" sz="1600" dirty="0">
                <a:latin typeface="Consolas" panose="020B0609020204030204" pitchFamily="49" charset="0"/>
                <a:cs typeface="Consolas" panose="020B0609020204030204" pitchFamily="49" charset="0"/>
              </a:rPr>
              <a:t>V = 1 </a:t>
            </a:r>
            <a:r>
              <a:rPr lang="en-US" sz="1600" dirty="0"/>
              <a:t>if adding 2 same-signed numbers produces a result with the opposite sign</a:t>
            </a:r>
          </a:p>
          <a:p>
            <a:pPr lvl="2"/>
            <a:r>
              <a:rPr lang="en-US" sz="1400" dirty="0"/>
              <a:t>Positive + Positive = Negative, or </a:t>
            </a:r>
          </a:p>
          <a:p>
            <a:pPr lvl="2"/>
            <a:r>
              <a:rPr lang="en-US" sz="1400" dirty="0"/>
              <a:t>Negative + negative = Positive</a:t>
            </a:r>
          </a:p>
          <a:p>
            <a:pPr lvl="1"/>
            <a:r>
              <a:rPr lang="en-US" sz="1600" dirty="0"/>
              <a:t>Non-arithmetic operations does not touch V bit, such as </a:t>
            </a:r>
            <a:r>
              <a:rPr lang="en-US" sz="1600" dirty="0">
                <a:latin typeface="Consolas" panose="020B0609020204030204" pitchFamily="49" charset="0"/>
                <a:cs typeface="Consolas" panose="020B0609020204030204" pitchFamily="49" charset="0"/>
              </a:rPr>
              <a:t>MOV,AND,LSL,MUL</a:t>
            </a:r>
          </a:p>
        </p:txBody>
      </p:sp>
      <p:grpSp>
        <p:nvGrpSpPr>
          <p:cNvPr id="44" name="Group 43">
            <a:extLst>
              <a:ext uri="{FF2B5EF4-FFF2-40B4-BE49-F238E27FC236}">
                <a16:creationId xmlns:a16="http://schemas.microsoft.com/office/drawing/2014/main" id="{E23C336C-72F6-5E4D-AEBB-F4AB2D4C384F}"/>
              </a:ext>
            </a:extLst>
          </p:cNvPr>
          <p:cNvGrpSpPr/>
          <p:nvPr/>
        </p:nvGrpSpPr>
        <p:grpSpPr>
          <a:xfrm>
            <a:off x="2286000" y="1333086"/>
            <a:ext cx="8527446" cy="914401"/>
            <a:chOff x="974370" y="1440516"/>
            <a:chExt cx="7606093" cy="556276"/>
          </a:xfrm>
        </p:grpSpPr>
        <p:sp>
          <p:nvSpPr>
            <p:cNvPr id="5" name="Rectangle 4">
              <a:extLst>
                <a:ext uri="{FF2B5EF4-FFF2-40B4-BE49-F238E27FC236}">
                  <a16:creationId xmlns:a16="http://schemas.microsoft.com/office/drawing/2014/main" id="{3865754D-DE16-4F39-B1B0-DA5943946BF1}"/>
                </a:ext>
              </a:extLst>
            </p:cNvPr>
            <p:cNvSpPr/>
            <p:nvPr/>
          </p:nvSpPr>
          <p:spPr bwMode="auto">
            <a:xfrm>
              <a:off x="2874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6" name="Rectangle 5">
              <a:extLst>
                <a:ext uri="{FF2B5EF4-FFF2-40B4-BE49-F238E27FC236}">
                  <a16:creationId xmlns:a16="http://schemas.microsoft.com/office/drawing/2014/main" id="{6E93E8F1-45C8-45CC-B373-7F5661A4CDAC}"/>
                </a:ext>
              </a:extLst>
            </p:cNvPr>
            <p:cNvSpPr/>
            <p:nvPr/>
          </p:nvSpPr>
          <p:spPr bwMode="auto">
            <a:xfrm>
              <a:off x="3114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7" name="Rectangle 6">
              <a:extLst>
                <a:ext uri="{FF2B5EF4-FFF2-40B4-BE49-F238E27FC236}">
                  <a16:creationId xmlns:a16="http://schemas.microsoft.com/office/drawing/2014/main" id="{4AFCC2AB-1DE5-4E46-A408-A603476BC0DC}"/>
                </a:ext>
              </a:extLst>
            </p:cNvPr>
            <p:cNvSpPr/>
            <p:nvPr/>
          </p:nvSpPr>
          <p:spPr bwMode="auto">
            <a:xfrm>
              <a:off x="3348658"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8" name="Rectangle 7">
              <a:extLst>
                <a:ext uri="{FF2B5EF4-FFF2-40B4-BE49-F238E27FC236}">
                  <a16:creationId xmlns:a16="http://schemas.microsoft.com/office/drawing/2014/main" id="{4D1D7D1A-5E84-4709-8248-A578919960E8}"/>
                </a:ext>
              </a:extLst>
            </p:cNvPr>
            <p:cNvSpPr/>
            <p:nvPr/>
          </p:nvSpPr>
          <p:spPr bwMode="auto">
            <a:xfrm>
              <a:off x="358837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9" name="Rectangle 8">
              <a:extLst>
                <a:ext uri="{FF2B5EF4-FFF2-40B4-BE49-F238E27FC236}">
                  <a16:creationId xmlns:a16="http://schemas.microsoft.com/office/drawing/2014/main" id="{5D012AA1-6463-46CA-9447-F46147A08F0D}"/>
                </a:ext>
              </a:extLst>
            </p:cNvPr>
            <p:cNvSpPr/>
            <p:nvPr/>
          </p:nvSpPr>
          <p:spPr bwMode="auto">
            <a:xfrm>
              <a:off x="3828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0" name="Rectangle 9">
              <a:extLst>
                <a:ext uri="{FF2B5EF4-FFF2-40B4-BE49-F238E27FC236}">
                  <a16:creationId xmlns:a16="http://schemas.microsoft.com/office/drawing/2014/main" id="{C70CD862-50B5-4C82-A42C-3DCF77853209}"/>
                </a:ext>
              </a:extLst>
            </p:cNvPr>
            <p:cNvSpPr/>
            <p:nvPr/>
          </p:nvSpPr>
          <p:spPr bwMode="auto">
            <a:xfrm>
              <a:off x="406779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1" name="Rectangle 10">
              <a:extLst>
                <a:ext uri="{FF2B5EF4-FFF2-40B4-BE49-F238E27FC236}">
                  <a16:creationId xmlns:a16="http://schemas.microsoft.com/office/drawing/2014/main" id="{A04B20A9-0070-459B-AD5B-2686AAB485F3}"/>
                </a:ext>
              </a:extLst>
            </p:cNvPr>
            <p:cNvSpPr/>
            <p:nvPr/>
          </p:nvSpPr>
          <p:spPr bwMode="auto">
            <a:xfrm>
              <a:off x="4301797"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2" name="Rectangle 11">
              <a:extLst>
                <a:ext uri="{FF2B5EF4-FFF2-40B4-BE49-F238E27FC236}">
                  <a16:creationId xmlns:a16="http://schemas.microsoft.com/office/drawing/2014/main" id="{D566CDDF-BF45-403E-87AF-598F6C2E43FE}"/>
                </a:ext>
              </a:extLst>
            </p:cNvPr>
            <p:cNvSpPr/>
            <p:nvPr/>
          </p:nvSpPr>
          <p:spPr bwMode="auto">
            <a:xfrm>
              <a:off x="4541509"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3" name="Rectangle 12">
              <a:extLst>
                <a:ext uri="{FF2B5EF4-FFF2-40B4-BE49-F238E27FC236}">
                  <a16:creationId xmlns:a16="http://schemas.microsoft.com/office/drawing/2014/main" id="{5E4A65F3-34EF-471D-9C2E-7512DF187876}"/>
                </a:ext>
              </a:extLst>
            </p:cNvPr>
            <p:cNvSpPr/>
            <p:nvPr/>
          </p:nvSpPr>
          <p:spPr bwMode="auto">
            <a:xfrm>
              <a:off x="4775514"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4" name="Rectangle 13">
              <a:extLst>
                <a:ext uri="{FF2B5EF4-FFF2-40B4-BE49-F238E27FC236}">
                  <a16:creationId xmlns:a16="http://schemas.microsoft.com/office/drawing/2014/main" id="{64DB2790-A34C-4D7B-ADEA-5F46A4AB8753}"/>
                </a:ext>
              </a:extLst>
            </p:cNvPr>
            <p:cNvSpPr/>
            <p:nvPr/>
          </p:nvSpPr>
          <p:spPr bwMode="auto">
            <a:xfrm>
              <a:off x="5015226"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5" name="Rectangle 14">
              <a:extLst>
                <a:ext uri="{FF2B5EF4-FFF2-40B4-BE49-F238E27FC236}">
                  <a16:creationId xmlns:a16="http://schemas.microsoft.com/office/drawing/2014/main" id="{3EC4CDFA-F92B-4AC6-A958-80818AFD4FD0}"/>
                </a:ext>
              </a:extLst>
            </p:cNvPr>
            <p:cNvSpPr/>
            <p:nvPr/>
          </p:nvSpPr>
          <p:spPr bwMode="auto">
            <a:xfrm>
              <a:off x="5249230"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6" name="Rectangle 15">
              <a:extLst>
                <a:ext uri="{FF2B5EF4-FFF2-40B4-BE49-F238E27FC236}">
                  <a16:creationId xmlns:a16="http://schemas.microsoft.com/office/drawing/2014/main" id="{031CE36A-EF5F-4EE4-A95B-86B9DB4AF71C}"/>
                </a:ext>
              </a:extLst>
            </p:cNvPr>
            <p:cNvSpPr/>
            <p:nvPr/>
          </p:nvSpPr>
          <p:spPr bwMode="auto">
            <a:xfrm>
              <a:off x="5488941"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7" name="Rectangle 16">
              <a:extLst>
                <a:ext uri="{FF2B5EF4-FFF2-40B4-BE49-F238E27FC236}">
                  <a16:creationId xmlns:a16="http://schemas.microsoft.com/office/drawing/2014/main" id="{7E111690-1753-4E03-B833-C0D763FC959F}"/>
                </a:ext>
              </a:extLst>
            </p:cNvPr>
            <p:cNvSpPr/>
            <p:nvPr/>
          </p:nvSpPr>
          <p:spPr bwMode="auto">
            <a:xfrm>
              <a:off x="5728653"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8" name="Rectangle 17">
              <a:extLst>
                <a:ext uri="{FF2B5EF4-FFF2-40B4-BE49-F238E27FC236}">
                  <a16:creationId xmlns:a16="http://schemas.microsoft.com/office/drawing/2014/main" id="{3F6BF773-7EBF-46BA-8C7B-D1E8AC322732}"/>
                </a:ext>
              </a:extLst>
            </p:cNvPr>
            <p:cNvSpPr/>
            <p:nvPr/>
          </p:nvSpPr>
          <p:spPr bwMode="auto">
            <a:xfrm>
              <a:off x="5968365"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19" name="Rectangle 18">
              <a:extLst>
                <a:ext uri="{FF2B5EF4-FFF2-40B4-BE49-F238E27FC236}">
                  <a16:creationId xmlns:a16="http://schemas.microsoft.com/office/drawing/2014/main" id="{528641D4-6BE4-42F0-9DEF-5328BBB089B2}"/>
                </a:ext>
              </a:extLst>
            </p:cNvPr>
            <p:cNvSpPr/>
            <p:nvPr/>
          </p:nvSpPr>
          <p:spPr bwMode="auto">
            <a:xfrm>
              <a:off x="6202370" y="1643456"/>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0" name="Rectangle 19">
              <a:extLst>
                <a:ext uri="{FF2B5EF4-FFF2-40B4-BE49-F238E27FC236}">
                  <a16:creationId xmlns:a16="http://schemas.microsoft.com/office/drawing/2014/main" id="{A360E56F-D602-4907-BE12-BC4495F32E15}"/>
                </a:ext>
              </a:extLst>
            </p:cNvPr>
            <p:cNvSpPr/>
            <p:nvPr/>
          </p:nvSpPr>
          <p:spPr bwMode="auto">
            <a:xfrm>
              <a:off x="6442082" y="1652020"/>
              <a:ext cx="239712" cy="264071"/>
            </a:xfrm>
            <a:prstGeom prst="rect">
              <a:avLst/>
            </a:prstGeom>
            <a:solidFill>
              <a:schemeClr val="bg1">
                <a:lumMod val="95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1" name="Rectangle 20">
              <a:extLst>
                <a:ext uri="{FF2B5EF4-FFF2-40B4-BE49-F238E27FC236}">
                  <a16:creationId xmlns:a16="http://schemas.microsoft.com/office/drawing/2014/main" id="{C49516BC-AC41-4F00-AD9D-4D90FA55F70D}"/>
                </a:ext>
              </a:extLst>
            </p:cNvPr>
            <p:cNvSpPr/>
            <p:nvPr/>
          </p:nvSpPr>
          <p:spPr bwMode="auto">
            <a:xfrm>
              <a:off x="6676086" y="1652020"/>
              <a:ext cx="239712" cy="264071"/>
            </a:xfrm>
            <a:prstGeom prst="rect">
              <a:avLst/>
            </a:prstGeom>
            <a:solidFill>
              <a:schemeClr val="accent1">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2" name="Rectangle 21">
              <a:extLst>
                <a:ext uri="{FF2B5EF4-FFF2-40B4-BE49-F238E27FC236}">
                  <a16:creationId xmlns:a16="http://schemas.microsoft.com/office/drawing/2014/main" id="{24E1D1CC-70EC-4CA7-8615-4B382AA3D3C2}"/>
                </a:ext>
              </a:extLst>
            </p:cNvPr>
            <p:cNvSpPr/>
            <p:nvPr/>
          </p:nvSpPr>
          <p:spPr bwMode="auto">
            <a:xfrm>
              <a:off x="6915797" y="1652020"/>
              <a:ext cx="237810" cy="264071"/>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3" name="TextBox 175">
              <a:extLst>
                <a:ext uri="{FF2B5EF4-FFF2-40B4-BE49-F238E27FC236}">
                  <a16:creationId xmlns:a16="http://schemas.microsoft.com/office/drawing/2014/main" id="{68648CD0-3075-4696-B669-7E74DA96EFBE}"/>
                </a:ext>
              </a:extLst>
            </p:cNvPr>
            <p:cNvSpPr txBox="1">
              <a:spLocks noChangeArrowheads="1"/>
            </p:cNvSpPr>
            <p:nvPr/>
          </p:nvSpPr>
          <p:spPr bwMode="auto">
            <a:xfrm>
              <a:off x="4914394"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sp>
          <p:nvSpPr>
            <p:cNvPr id="24" name="Rectangle 23">
              <a:extLst>
                <a:ext uri="{FF2B5EF4-FFF2-40B4-BE49-F238E27FC236}">
                  <a16:creationId xmlns:a16="http://schemas.microsoft.com/office/drawing/2014/main" id="{EE525114-3B9F-40BF-8378-90F023342A73}"/>
                </a:ext>
              </a:extLst>
            </p:cNvPr>
            <p:cNvSpPr/>
            <p:nvPr/>
          </p:nvSpPr>
          <p:spPr bwMode="auto">
            <a:xfrm>
              <a:off x="714789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5" name="Rectangle 24">
              <a:extLst>
                <a:ext uri="{FF2B5EF4-FFF2-40B4-BE49-F238E27FC236}">
                  <a16:creationId xmlns:a16="http://schemas.microsoft.com/office/drawing/2014/main" id="{B226853F-3ADD-4E19-B18E-B805DC1E278B}"/>
                </a:ext>
              </a:extLst>
            </p:cNvPr>
            <p:cNvSpPr/>
            <p:nvPr/>
          </p:nvSpPr>
          <p:spPr bwMode="auto">
            <a:xfrm>
              <a:off x="738761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6" name="Rectangle 25">
              <a:extLst>
                <a:ext uri="{FF2B5EF4-FFF2-40B4-BE49-F238E27FC236}">
                  <a16:creationId xmlns:a16="http://schemas.microsoft.com/office/drawing/2014/main" id="{BD55D5F5-D625-4899-A7C0-8BE44198F5DC}"/>
                </a:ext>
              </a:extLst>
            </p:cNvPr>
            <p:cNvSpPr/>
            <p:nvPr/>
          </p:nvSpPr>
          <p:spPr bwMode="auto">
            <a:xfrm>
              <a:off x="7627323"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7" name="Rectangle 26">
              <a:extLst>
                <a:ext uri="{FF2B5EF4-FFF2-40B4-BE49-F238E27FC236}">
                  <a16:creationId xmlns:a16="http://schemas.microsoft.com/office/drawing/2014/main" id="{F3A3B9F4-3E85-41FC-A10B-E5971133B270}"/>
                </a:ext>
              </a:extLst>
            </p:cNvPr>
            <p:cNvSpPr/>
            <p:nvPr/>
          </p:nvSpPr>
          <p:spPr bwMode="auto">
            <a:xfrm>
              <a:off x="7867034"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8" name="Rectangle 27">
              <a:extLst>
                <a:ext uri="{FF2B5EF4-FFF2-40B4-BE49-F238E27FC236}">
                  <a16:creationId xmlns:a16="http://schemas.microsoft.com/office/drawing/2014/main" id="{AB4E03AC-784F-4130-8827-18D68D5F6E44}"/>
                </a:ext>
              </a:extLst>
            </p:cNvPr>
            <p:cNvSpPr/>
            <p:nvPr/>
          </p:nvSpPr>
          <p:spPr bwMode="auto">
            <a:xfrm>
              <a:off x="8101039"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29" name="Rectangle 28">
              <a:extLst>
                <a:ext uri="{FF2B5EF4-FFF2-40B4-BE49-F238E27FC236}">
                  <a16:creationId xmlns:a16="http://schemas.microsoft.com/office/drawing/2014/main" id="{B6447CF9-AD34-4EFD-99F1-FF7212AF0999}"/>
                </a:ext>
              </a:extLst>
            </p:cNvPr>
            <p:cNvSpPr/>
            <p:nvPr/>
          </p:nvSpPr>
          <p:spPr bwMode="auto">
            <a:xfrm>
              <a:off x="8340751" y="1653446"/>
              <a:ext cx="239712" cy="264072"/>
            </a:xfrm>
            <a:prstGeom prst="rect">
              <a:avLst/>
            </a:prstGeom>
            <a:solidFill>
              <a:schemeClr val="accent1">
                <a:lumMod val="20000"/>
                <a:lumOff val="80000"/>
              </a:schemeClr>
            </a:solidFill>
            <a:ln w="12700" cap="flat" cmpd="sng" algn="ctr">
              <a:solidFill>
                <a:schemeClr val="bg1">
                  <a:lumMod val="8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0" name="TextBox 187">
              <a:extLst>
                <a:ext uri="{FF2B5EF4-FFF2-40B4-BE49-F238E27FC236}">
                  <a16:creationId xmlns:a16="http://schemas.microsoft.com/office/drawing/2014/main" id="{4FC34199-D78E-4AAD-BD4F-3D1CA46C29C6}"/>
                </a:ext>
              </a:extLst>
            </p:cNvPr>
            <p:cNvSpPr txBox="1">
              <a:spLocks noChangeArrowheads="1"/>
            </p:cNvSpPr>
            <p:nvPr/>
          </p:nvSpPr>
          <p:spPr bwMode="auto">
            <a:xfrm>
              <a:off x="6974774" y="1689015"/>
              <a:ext cx="145729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ISR number</a:t>
              </a:r>
            </a:p>
          </p:txBody>
        </p:sp>
        <p:sp>
          <p:nvSpPr>
            <p:cNvPr id="31" name="Rectangle 30">
              <a:extLst>
                <a:ext uri="{FF2B5EF4-FFF2-40B4-BE49-F238E27FC236}">
                  <a16:creationId xmlns:a16="http://schemas.microsoft.com/office/drawing/2014/main" id="{B01593D0-75BC-44AC-8888-D7FEEBDDA23B}"/>
                </a:ext>
              </a:extLst>
            </p:cNvPr>
            <p:cNvSpPr/>
            <p:nvPr/>
          </p:nvSpPr>
          <p:spPr bwMode="auto">
            <a:xfrm>
              <a:off x="974370" y="1652020"/>
              <a:ext cx="7606093" cy="264071"/>
            </a:xfrm>
            <a:prstGeom prst="rect">
              <a:avLst/>
            </a:prstGeom>
            <a:no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endParaRPr lang="en-GB">
                <a:cs typeface="Arial" charset="0"/>
              </a:endParaRPr>
            </a:p>
          </p:txBody>
        </p:sp>
        <p:sp>
          <p:nvSpPr>
            <p:cNvPr id="32" name="TextBox 192">
              <a:extLst>
                <a:ext uri="{FF2B5EF4-FFF2-40B4-BE49-F238E27FC236}">
                  <a16:creationId xmlns:a16="http://schemas.microsoft.com/office/drawing/2014/main" id="{A82AD67E-01CD-4280-99DA-A2D9DBBAB909}"/>
                </a:ext>
              </a:extLst>
            </p:cNvPr>
            <p:cNvSpPr txBox="1">
              <a:spLocks noChangeArrowheads="1"/>
            </p:cNvSpPr>
            <p:nvPr/>
          </p:nvSpPr>
          <p:spPr bwMode="auto">
            <a:xfrm>
              <a:off x="2996663" y="1440516"/>
              <a:ext cx="3325563"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algn="ctr" eaLnBrk="1" hangingPunct="1"/>
              <a:r>
                <a:rPr lang="en-GB" b="0" dirty="0"/>
                <a:t>Program Status Register (PSR)</a:t>
              </a:r>
            </a:p>
          </p:txBody>
        </p:sp>
        <p:sp>
          <p:nvSpPr>
            <p:cNvPr id="33" name="Rectangle 32">
              <a:extLst>
                <a:ext uri="{FF2B5EF4-FFF2-40B4-BE49-F238E27FC236}">
                  <a16:creationId xmlns:a16="http://schemas.microsoft.com/office/drawing/2014/main" id="{16A4B8D1-4535-44B8-B29B-C02808A256A9}"/>
                </a:ext>
              </a:extLst>
            </p:cNvPr>
            <p:cNvSpPr/>
            <p:nvPr/>
          </p:nvSpPr>
          <p:spPr bwMode="auto">
            <a:xfrm>
              <a:off x="2169125" y="1650165"/>
              <a:ext cx="473715"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400" dirty="0">
                  <a:cs typeface="Arial" charset="0"/>
                </a:rPr>
                <a:t>ICI/IT</a:t>
              </a:r>
            </a:p>
          </p:txBody>
        </p:sp>
        <p:sp>
          <p:nvSpPr>
            <p:cNvPr id="34" name="Rectangle 33">
              <a:extLst>
                <a:ext uri="{FF2B5EF4-FFF2-40B4-BE49-F238E27FC236}">
                  <a16:creationId xmlns:a16="http://schemas.microsoft.com/office/drawing/2014/main" id="{05AD78AE-C3D6-45BC-8E10-E7B863D9686E}"/>
                </a:ext>
              </a:extLst>
            </p:cNvPr>
            <p:cNvSpPr/>
            <p:nvPr/>
          </p:nvSpPr>
          <p:spPr bwMode="auto">
            <a:xfrm>
              <a:off x="2642839" y="1650165"/>
              <a:ext cx="237810" cy="265926"/>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T</a:t>
              </a:r>
            </a:p>
          </p:txBody>
        </p:sp>
        <p:sp>
          <p:nvSpPr>
            <p:cNvPr id="35" name="Rectangle 34">
              <a:extLst>
                <a:ext uri="{FF2B5EF4-FFF2-40B4-BE49-F238E27FC236}">
                  <a16:creationId xmlns:a16="http://schemas.microsoft.com/office/drawing/2014/main" id="{E025A097-4EBD-4C13-895B-09051144B7A4}"/>
                </a:ext>
              </a:extLst>
            </p:cNvPr>
            <p:cNvSpPr/>
            <p:nvPr/>
          </p:nvSpPr>
          <p:spPr bwMode="auto">
            <a:xfrm>
              <a:off x="974370" y="1650594"/>
              <a:ext cx="237808"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N</a:t>
              </a:r>
            </a:p>
          </p:txBody>
        </p:sp>
        <p:sp>
          <p:nvSpPr>
            <p:cNvPr id="36" name="Rectangle 35">
              <a:extLst>
                <a:ext uri="{FF2B5EF4-FFF2-40B4-BE49-F238E27FC236}">
                  <a16:creationId xmlns:a16="http://schemas.microsoft.com/office/drawing/2014/main" id="{0DEF319D-969E-486D-84A8-E35102197EDB}"/>
                </a:ext>
              </a:extLst>
            </p:cNvPr>
            <p:cNvSpPr/>
            <p:nvPr/>
          </p:nvSpPr>
          <p:spPr bwMode="auto">
            <a:xfrm>
              <a:off x="1212179"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Z</a:t>
              </a:r>
            </a:p>
          </p:txBody>
        </p:sp>
        <p:sp>
          <p:nvSpPr>
            <p:cNvPr id="37" name="Rectangle 36">
              <a:extLst>
                <a:ext uri="{FF2B5EF4-FFF2-40B4-BE49-F238E27FC236}">
                  <a16:creationId xmlns:a16="http://schemas.microsoft.com/office/drawing/2014/main" id="{01265415-19E5-4060-87AA-110FFDA83F85}"/>
                </a:ext>
              </a:extLst>
            </p:cNvPr>
            <p:cNvSpPr/>
            <p:nvPr/>
          </p:nvSpPr>
          <p:spPr bwMode="auto">
            <a:xfrm>
              <a:off x="1446184"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C</a:t>
              </a:r>
            </a:p>
          </p:txBody>
        </p:sp>
        <p:sp>
          <p:nvSpPr>
            <p:cNvPr id="38" name="Rectangle 37">
              <a:extLst>
                <a:ext uri="{FF2B5EF4-FFF2-40B4-BE49-F238E27FC236}">
                  <a16:creationId xmlns:a16="http://schemas.microsoft.com/office/drawing/2014/main" id="{F9678C94-2C85-403A-B830-B0E8C5460086}"/>
                </a:ext>
              </a:extLst>
            </p:cNvPr>
            <p:cNvSpPr/>
            <p:nvPr/>
          </p:nvSpPr>
          <p:spPr bwMode="auto">
            <a:xfrm>
              <a:off x="1685895"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b="1" dirty="0">
                  <a:solidFill>
                    <a:srgbClr val="FF0000"/>
                  </a:solidFill>
                  <a:latin typeface="Consolas" panose="020B0609020204030204" pitchFamily="49" charset="0"/>
                  <a:cs typeface="Consolas" panose="020B0609020204030204" pitchFamily="49" charset="0"/>
                </a:rPr>
                <a:t>V</a:t>
              </a:r>
            </a:p>
          </p:txBody>
        </p:sp>
        <p:sp>
          <p:nvSpPr>
            <p:cNvPr id="39" name="Rectangle 38">
              <a:extLst>
                <a:ext uri="{FF2B5EF4-FFF2-40B4-BE49-F238E27FC236}">
                  <a16:creationId xmlns:a16="http://schemas.microsoft.com/office/drawing/2014/main" id="{1B9FC768-1AC3-4342-9A16-035324535CA0}"/>
                </a:ext>
              </a:extLst>
            </p:cNvPr>
            <p:cNvSpPr/>
            <p:nvPr/>
          </p:nvSpPr>
          <p:spPr bwMode="auto">
            <a:xfrm>
              <a:off x="1925607" y="1650594"/>
              <a:ext cx="239712" cy="265925"/>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latin typeface="Consolas" panose="020B0609020204030204" pitchFamily="49" charset="0"/>
                  <a:cs typeface="Consolas" panose="020B0609020204030204" pitchFamily="49" charset="0"/>
                </a:rPr>
                <a:t>Q</a:t>
              </a:r>
            </a:p>
          </p:txBody>
        </p:sp>
        <p:sp>
          <p:nvSpPr>
            <p:cNvPr id="40" name="Rectangle 39">
              <a:extLst>
                <a:ext uri="{FF2B5EF4-FFF2-40B4-BE49-F238E27FC236}">
                  <a16:creationId xmlns:a16="http://schemas.microsoft.com/office/drawing/2014/main" id="{4D4E244D-1ECE-4A09-A40F-FBFBC680BB13}"/>
                </a:ext>
              </a:extLst>
            </p:cNvPr>
            <p:cNvSpPr/>
            <p:nvPr/>
          </p:nvSpPr>
          <p:spPr bwMode="auto">
            <a:xfrm>
              <a:off x="5971219" y="1652223"/>
              <a:ext cx="473715" cy="264072"/>
            </a:xfrm>
            <a:prstGeom prst="rect">
              <a:avLst/>
            </a:prstGeom>
            <a:solidFill>
              <a:schemeClr val="accent3">
                <a:lumMod val="40000"/>
                <a:lumOff val="6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sz="1200" dirty="0">
                  <a:cs typeface="Arial" charset="0"/>
                </a:rPr>
                <a:t>ICI/IT</a:t>
              </a:r>
            </a:p>
          </p:txBody>
        </p:sp>
        <p:sp>
          <p:nvSpPr>
            <p:cNvPr id="41" name="Rectangle 40">
              <a:extLst>
                <a:ext uri="{FF2B5EF4-FFF2-40B4-BE49-F238E27FC236}">
                  <a16:creationId xmlns:a16="http://schemas.microsoft.com/office/drawing/2014/main" id="{385393E0-B838-4933-8333-EA5CC9833BCE}"/>
                </a:ext>
              </a:extLst>
            </p:cNvPr>
            <p:cNvSpPr/>
            <p:nvPr/>
          </p:nvSpPr>
          <p:spPr bwMode="auto">
            <a:xfrm>
              <a:off x="3835474" y="1649210"/>
              <a:ext cx="943456" cy="264811"/>
            </a:xfrm>
            <a:prstGeom prst="rect">
              <a:avLst/>
            </a:prstGeom>
            <a:solidFill>
              <a:schemeClr val="accent2">
                <a:lumMod val="20000"/>
                <a:lumOff val="80000"/>
              </a:schemeClr>
            </a:solidFill>
            <a:ln w="12700" cap="flat" cmpd="sng" algn="ctr">
              <a:solidFill>
                <a:schemeClr val="tx1">
                  <a:lumMod val="75000"/>
                  <a:lumOff val="25000"/>
                </a:schemeClr>
              </a:solidFill>
              <a:prstDash val="solid"/>
              <a:round/>
              <a:headEnd type="none" w="med" len="med"/>
              <a:tailEnd type="none" w="med" len="med"/>
            </a:ln>
            <a:effectLst/>
          </p:spPr>
          <p:txBody>
            <a:bodyPr wrap="none" anchor="ctr"/>
            <a:lstStyle/>
            <a:p>
              <a:pPr algn="ctr">
                <a:defRPr/>
              </a:pPr>
              <a:r>
                <a:rPr lang="en-GB" dirty="0">
                  <a:cs typeface="Arial" charset="0"/>
                </a:rPr>
                <a:t>GE</a:t>
              </a:r>
            </a:p>
          </p:txBody>
        </p:sp>
        <p:sp>
          <p:nvSpPr>
            <p:cNvPr id="42" name="TextBox 175">
              <a:extLst>
                <a:ext uri="{FF2B5EF4-FFF2-40B4-BE49-F238E27FC236}">
                  <a16:creationId xmlns:a16="http://schemas.microsoft.com/office/drawing/2014/main" id="{BD7F47C9-A0AF-4D8D-A4A8-65B792F7D00A}"/>
                </a:ext>
              </a:extLst>
            </p:cNvPr>
            <p:cNvSpPr txBox="1">
              <a:spLocks noChangeArrowheads="1"/>
            </p:cNvSpPr>
            <p:nvPr/>
          </p:nvSpPr>
          <p:spPr bwMode="auto">
            <a:xfrm>
              <a:off x="2939208" y="1689015"/>
              <a:ext cx="105682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1400" b="1">
                  <a:solidFill>
                    <a:srgbClr val="000000"/>
                  </a:solidFill>
                  <a:latin typeface="Arial" charset="0"/>
                  <a:ea typeface="MS PGothic" pitchFamily="34" charset="-128"/>
                </a:defRPr>
              </a:lvl1pPr>
              <a:lvl2pPr marL="742950" indent="-285750" eaLnBrk="0" hangingPunct="0">
                <a:defRPr sz="1400" b="1">
                  <a:solidFill>
                    <a:srgbClr val="000000"/>
                  </a:solidFill>
                  <a:latin typeface="Arial" charset="0"/>
                  <a:ea typeface="MS PGothic" pitchFamily="34" charset="-128"/>
                </a:defRPr>
              </a:lvl2pPr>
              <a:lvl3pPr marL="1143000" indent="-228600" eaLnBrk="0" hangingPunct="0">
                <a:defRPr sz="1400" b="1">
                  <a:solidFill>
                    <a:srgbClr val="000000"/>
                  </a:solidFill>
                  <a:latin typeface="Arial" charset="0"/>
                  <a:ea typeface="MS PGothic" pitchFamily="34" charset="-128"/>
                </a:defRPr>
              </a:lvl3pPr>
              <a:lvl4pPr marL="1600200" indent="-228600" eaLnBrk="0" hangingPunct="0">
                <a:defRPr sz="1400" b="1">
                  <a:solidFill>
                    <a:srgbClr val="000000"/>
                  </a:solidFill>
                  <a:latin typeface="Arial" charset="0"/>
                  <a:ea typeface="MS PGothic" pitchFamily="34" charset="-128"/>
                </a:defRPr>
              </a:lvl4pPr>
              <a:lvl5pPr marL="2057400" indent="-228600" eaLnBrk="0" hangingPunct="0">
                <a:defRPr sz="1400" b="1">
                  <a:solidFill>
                    <a:srgbClr val="000000"/>
                  </a:solidFill>
                  <a:latin typeface="Arial" charset="0"/>
                  <a:ea typeface="MS PGothic" pitchFamily="34" charset="-128"/>
                </a:defRPr>
              </a:lvl5pPr>
              <a:lvl6pPr marL="2514600" indent="-228600" eaLnBrk="0" fontAlgn="base" hangingPunct="0">
                <a:spcBef>
                  <a:spcPct val="0"/>
                </a:spcBef>
                <a:spcAft>
                  <a:spcPct val="0"/>
                </a:spcAft>
                <a:defRPr sz="1400" b="1">
                  <a:solidFill>
                    <a:srgbClr val="000000"/>
                  </a:solidFill>
                  <a:latin typeface="Arial" charset="0"/>
                  <a:ea typeface="MS PGothic" pitchFamily="34" charset="-128"/>
                </a:defRPr>
              </a:lvl6pPr>
              <a:lvl7pPr marL="2971800" indent="-228600" eaLnBrk="0" fontAlgn="base" hangingPunct="0">
                <a:spcBef>
                  <a:spcPct val="0"/>
                </a:spcBef>
                <a:spcAft>
                  <a:spcPct val="0"/>
                </a:spcAft>
                <a:defRPr sz="1400" b="1">
                  <a:solidFill>
                    <a:srgbClr val="000000"/>
                  </a:solidFill>
                  <a:latin typeface="Arial" charset="0"/>
                  <a:ea typeface="MS PGothic" pitchFamily="34" charset="-128"/>
                </a:defRPr>
              </a:lvl7pPr>
              <a:lvl8pPr marL="3429000" indent="-228600" eaLnBrk="0" fontAlgn="base" hangingPunct="0">
                <a:spcBef>
                  <a:spcPct val="0"/>
                </a:spcBef>
                <a:spcAft>
                  <a:spcPct val="0"/>
                </a:spcAft>
                <a:defRPr sz="1400" b="1">
                  <a:solidFill>
                    <a:srgbClr val="000000"/>
                  </a:solidFill>
                  <a:latin typeface="Arial" charset="0"/>
                  <a:ea typeface="MS PGothic" pitchFamily="34" charset="-128"/>
                </a:defRPr>
              </a:lvl8pPr>
              <a:lvl9pPr marL="3886200" indent="-228600" eaLnBrk="0" fontAlgn="base" hangingPunct="0">
                <a:spcBef>
                  <a:spcPct val="0"/>
                </a:spcBef>
                <a:spcAft>
                  <a:spcPct val="0"/>
                </a:spcAft>
                <a:defRPr sz="1400" b="1">
                  <a:solidFill>
                    <a:srgbClr val="000000"/>
                  </a:solidFill>
                  <a:latin typeface="Arial" charset="0"/>
                  <a:ea typeface="MS PGothic" pitchFamily="34" charset="-128"/>
                </a:defRPr>
              </a:lvl9pPr>
            </a:lstStyle>
            <a:p>
              <a:pPr eaLnBrk="1" hangingPunct="1"/>
              <a:r>
                <a:rPr lang="en-GB" b="0" dirty="0"/>
                <a:t>Reserved</a:t>
              </a:r>
            </a:p>
          </p:txBody>
        </p:sp>
      </p:grpSp>
      <p:sp>
        <p:nvSpPr>
          <p:cNvPr id="43" name="Horizontal Scroll 15">
            <a:extLst>
              <a:ext uri="{FF2B5EF4-FFF2-40B4-BE49-F238E27FC236}">
                <a16:creationId xmlns:a16="http://schemas.microsoft.com/office/drawing/2014/main" id="{A364F533-400C-D612-5898-222CAE8624CB}"/>
              </a:ext>
            </a:extLst>
          </p:cNvPr>
          <p:cNvSpPr/>
          <p:nvPr/>
        </p:nvSpPr>
        <p:spPr>
          <a:xfrm>
            <a:off x="582706" y="-148"/>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pic>
        <p:nvPicPr>
          <p:cNvPr id="45" name="Picture 44">
            <a:extLst>
              <a:ext uri="{FF2B5EF4-FFF2-40B4-BE49-F238E27FC236}">
                <a16:creationId xmlns:a16="http://schemas.microsoft.com/office/drawing/2014/main" id="{F4610FDE-7BE3-AC86-5E3F-50D53906FDD5}"/>
              </a:ext>
            </a:extLst>
          </p:cNvPr>
          <p:cNvPicPr>
            <a:picLocks noChangeAspect="1"/>
          </p:cNvPicPr>
          <p:nvPr/>
        </p:nvPicPr>
        <p:blipFill>
          <a:blip r:embed="rId3"/>
          <a:stretch>
            <a:fillRect/>
          </a:stretch>
        </p:blipFill>
        <p:spPr>
          <a:xfrm>
            <a:off x="6274168" y="2201915"/>
            <a:ext cx="5130063" cy="2080525"/>
          </a:xfrm>
          <a:prstGeom prst="rect">
            <a:avLst/>
          </a:prstGeom>
        </p:spPr>
      </p:pic>
    </p:spTree>
    <p:extLst>
      <p:ext uri="{BB962C8B-B14F-4D97-AF65-F5344CB8AC3E}">
        <p14:creationId xmlns:p14="http://schemas.microsoft.com/office/powerpoint/2010/main" val="1197208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ln>
            <a:miter lim="800000"/>
            <a:headEnd/>
            <a:tailEnd/>
          </a:ln>
        </p:spPr>
        <p:txBody>
          <a:bodyPr/>
          <a:lstStyle/>
          <a:p>
            <a:r>
              <a:rPr lang="en-US" dirty="0"/>
              <a:t>Carry and Overflow Flags w/ Arithmetic Instructions</a:t>
            </a:r>
          </a:p>
        </p:txBody>
      </p:sp>
      <p:sp>
        <p:nvSpPr>
          <p:cNvPr id="8" name="Slide Number Placeholder 3"/>
          <p:cNvSpPr>
            <a:spLocks noGrp="1"/>
          </p:cNvSpPr>
          <p:nvPr>
            <p:ph type="sldNum" sz="quarter" idx="4294967295"/>
          </p:nvPr>
        </p:nvSpPr>
        <p:spPr>
          <a:xfrm>
            <a:off x="2136648" y="6356350"/>
            <a:ext cx="1981200" cy="365760"/>
          </a:xfrm>
          <a:prstGeom prst="rect">
            <a:avLst/>
          </a:prstGeom>
        </p:spPr>
        <p:txBody>
          <a:bodyPr/>
          <a:lstStyle/>
          <a:p>
            <a:pPr>
              <a:defRPr/>
            </a:pPr>
            <a:fld id="{3D56C4D0-D1DD-434F-9E39-17578F101405}" type="slidenum">
              <a:rPr lang="en-US">
                <a:solidFill>
                  <a:srgbClr val="1F497D"/>
                </a:solidFill>
                <a:latin typeface="Gill Sans MT"/>
              </a:rPr>
              <a:pPr>
                <a:defRPr/>
              </a:pPr>
              <a:t>5</a:t>
            </a:fld>
            <a:endParaRPr lang="en-US">
              <a:solidFill>
                <a:srgbClr val="1F497D"/>
              </a:solidFill>
              <a:latin typeface="Gill Sans MT"/>
            </a:endParaRPr>
          </a:p>
        </p:txBody>
      </p:sp>
      <p:sp>
        <p:nvSpPr>
          <p:cNvPr id="323586" name="Date Placeholder 3"/>
          <p:cNvSpPr txBox="1">
            <a:spLocks noGrp="1"/>
          </p:cNvSpPr>
          <p:nvPr/>
        </p:nvSpPr>
        <p:spPr bwMode="auto">
          <a:xfrm>
            <a:off x="1981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defRPr/>
            </a:pPr>
            <a:endParaRPr lang="en-US" sz="1400">
              <a:solidFill>
                <a:srgbClr val="EEECE1"/>
              </a:solidFill>
            </a:endParaRPr>
          </a:p>
        </p:txBody>
      </p:sp>
      <p:sp>
        <p:nvSpPr>
          <p:cNvPr id="323587" name="Slide Number Placeholder 5"/>
          <p:cNvSpPr txBox="1">
            <a:spLocks noGrp="1"/>
          </p:cNvSpPr>
          <p:nvPr/>
        </p:nvSpPr>
        <p:spPr bwMode="auto">
          <a:xfrm>
            <a:off x="8077200" y="6245225"/>
            <a:ext cx="2133600" cy="476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itchFamily="34" charset="0"/>
              </a:defRPr>
            </a:lvl1pPr>
            <a:lvl2pPr marL="742950" indent="-285750">
              <a:defRPr>
                <a:solidFill>
                  <a:schemeClr val="tx1"/>
                </a:solidFill>
                <a:latin typeface="Arial" pitchFamily="34" charset="0"/>
              </a:defRPr>
            </a:lvl2pPr>
            <a:lvl3pPr marL="1143000" indent="-228600">
              <a:defRPr>
                <a:solidFill>
                  <a:schemeClr val="tx1"/>
                </a:solidFill>
                <a:latin typeface="Arial" pitchFamily="34" charset="0"/>
              </a:defRPr>
            </a:lvl3pPr>
            <a:lvl4pPr marL="1600200" indent="-228600">
              <a:defRPr>
                <a:solidFill>
                  <a:schemeClr val="tx1"/>
                </a:solidFill>
                <a:latin typeface="Arial" pitchFamily="34" charset="0"/>
              </a:defRPr>
            </a:lvl4pPr>
            <a:lvl5pPr marL="2057400" indent="-228600">
              <a:defRPr>
                <a:solidFill>
                  <a:schemeClr val="tx1"/>
                </a:solidFill>
                <a:latin typeface="Arial" pitchFamily="34" charset="0"/>
              </a:defRPr>
            </a:lvl5pPr>
            <a:lvl6pPr marL="2514600" indent="-228600" fontAlgn="base">
              <a:spcBef>
                <a:spcPct val="0"/>
              </a:spcBef>
              <a:spcAft>
                <a:spcPct val="0"/>
              </a:spcAft>
              <a:defRPr>
                <a:solidFill>
                  <a:schemeClr val="tx1"/>
                </a:solidFill>
                <a:latin typeface="Arial" pitchFamily="34" charset="0"/>
              </a:defRPr>
            </a:lvl6pPr>
            <a:lvl7pPr marL="2971800" indent="-228600" fontAlgn="base">
              <a:spcBef>
                <a:spcPct val="0"/>
              </a:spcBef>
              <a:spcAft>
                <a:spcPct val="0"/>
              </a:spcAft>
              <a:defRPr>
                <a:solidFill>
                  <a:schemeClr val="tx1"/>
                </a:solidFill>
                <a:latin typeface="Arial" pitchFamily="34" charset="0"/>
              </a:defRPr>
            </a:lvl7pPr>
            <a:lvl8pPr marL="3429000" indent="-228600" fontAlgn="base">
              <a:spcBef>
                <a:spcPct val="0"/>
              </a:spcBef>
              <a:spcAft>
                <a:spcPct val="0"/>
              </a:spcAft>
              <a:defRPr>
                <a:solidFill>
                  <a:schemeClr val="tx1"/>
                </a:solidFill>
                <a:latin typeface="Arial" pitchFamily="34" charset="0"/>
              </a:defRPr>
            </a:lvl8pPr>
            <a:lvl9pPr marL="3886200" indent="-228600" fontAlgn="base">
              <a:spcBef>
                <a:spcPct val="0"/>
              </a:spcBef>
              <a:spcAft>
                <a:spcPct val="0"/>
              </a:spcAft>
              <a:defRPr>
                <a:solidFill>
                  <a:schemeClr val="tx1"/>
                </a:solidFill>
                <a:latin typeface="Arial" pitchFamily="34" charset="0"/>
              </a:defRPr>
            </a:lvl9pPr>
          </a:lstStyle>
          <a:p>
            <a:pPr algn="r">
              <a:defRPr/>
            </a:pPr>
            <a:fld id="{433D14BE-FE52-4332-969F-3696FB65ED39}" type="slidenum">
              <a:rPr lang="en-US" sz="1400">
                <a:solidFill>
                  <a:srgbClr val="EEECE1"/>
                </a:solidFill>
              </a:rPr>
              <a:pPr algn="r">
                <a:defRPr/>
              </a:pPr>
              <a:t>5</a:t>
            </a:fld>
            <a:endParaRPr lang="en-US" sz="1400">
              <a:solidFill>
                <a:srgbClr val="EEECE1"/>
              </a:solidFill>
            </a:endParaRPr>
          </a:p>
        </p:txBody>
      </p:sp>
      <p:sp>
        <p:nvSpPr>
          <p:cNvPr id="38917" name="Rectangle 5"/>
          <p:cNvSpPr>
            <a:spLocks noChangeArrowheads="1"/>
          </p:cNvSpPr>
          <p:nvPr/>
        </p:nvSpPr>
        <p:spPr bwMode="auto">
          <a:xfrm>
            <a:off x="762000" y="1571092"/>
            <a:ext cx="10515600" cy="1585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chor="ctr">
            <a:spAutoFit/>
          </a:bodyPr>
          <a:lstStyle/>
          <a:p>
            <a:pPr>
              <a:defRPr/>
            </a:pPr>
            <a:endParaRPr lang="en-US" sz="700" dirty="0">
              <a:solidFill>
                <a:prstClr val="black"/>
              </a:solidFill>
              <a:latin typeface="Gill Sans MT"/>
            </a:endParaRPr>
          </a:p>
          <a:p>
            <a:pPr>
              <a:defRPr/>
            </a:pPr>
            <a:r>
              <a:rPr lang="en-US" dirty="0">
                <a:solidFill>
                  <a:prstClr val="black"/>
                </a:solidFill>
                <a:latin typeface="Gill Sans MT"/>
                <a:cs typeface="Times New Roman" pitchFamily="18" charset="0"/>
              </a:rPr>
              <a:t>Carry flag C = 1 </a:t>
            </a:r>
            <a:r>
              <a:rPr lang="en-US" dirty="0">
                <a:solidFill>
                  <a:prstClr val="black"/>
                </a:solidFill>
                <a:latin typeface="Gill Sans MT"/>
              </a:rPr>
              <a:t>(Borrow flag = 0) </a:t>
            </a:r>
            <a:r>
              <a:rPr lang="en-US" dirty="0">
                <a:solidFill>
                  <a:prstClr val="black"/>
                </a:solidFill>
                <a:latin typeface="Gill Sans MT"/>
                <a:cs typeface="Times New Roman" pitchFamily="18" charset="0"/>
              </a:rPr>
              <a:t>upon an </a:t>
            </a:r>
            <a:r>
              <a:rPr lang="en-US" b="1" u="sng" dirty="0">
                <a:solidFill>
                  <a:srgbClr val="800000"/>
                </a:solidFill>
                <a:latin typeface="Gill Sans MT"/>
                <a:cs typeface="Times New Roman" pitchFamily="18" charset="0"/>
              </a:rPr>
              <a:t>unsigned</a:t>
            </a:r>
            <a:r>
              <a:rPr lang="en-US" dirty="0">
                <a:solidFill>
                  <a:prstClr val="black"/>
                </a:solidFill>
                <a:latin typeface="Gill Sans MT"/>
                <a:cs typeface="Times New Roman" pitchFamily="18" charset="0"/>
              </a:rPr>
              <a:t> addition if the answer is wrong (true result &gt; 2</a:t>
            </a:r>
            <a:r>
              <a:rPr lang="en-US" baseline="30000" dirty="0">
                <a:solidFill>
                  <a:prstClr val="black"/>
                </a:solidFill>
                <a:latin typeface="Gill Sans MT"/>
                <a:cs typeface="Times New Roman" pitchFamily="18" charset="0"/>
              </a:rPr>
              <a:t>n</a:t>
            </a:r>
            <a:r>
              <a:rPr lang="en-US" dirty="0">
                <a:solidFill>
                  <a:prstClr val="black"/>
                </a:solidFill>
                <a:latin typeface="Gill Sans MT"/>
                <a:cs typeface="Times New Roman" pitchFamily="18" charset="0"/>
              </a:rPr>
              <a:t>-1)</a:t>
            </a:r>
          </a:p>
          <a:p>
            <a:r>
              <a:rPr lang="en-US" dirty="0">
                <a:solidFill>
                  <a:prstClr val="black"/>
                </a:solidFill>
                <a:latin typeface="Gill Sans MT"/>
                <a:cs typeface="Times New Roman" pitchFamily="18" charset="0"/>
              </a:rPr>
              <a:t>Carry flag </a:t>
            </a:r>
            <a:r>
              <a:rPr lang="en-US" dirty="0">
                <a:solidFill>
                  <a:prstClr val="black"/>
                </a:solidFill>
                <a:latin typeface="Gill Sans MT"/>
              </a:rPr>
              <a:t>C = 0 (Borrow flag = 1) </a:t>
            </a:r>
            <a:r>
              <a:rPr lang="en-US" dirty="0">
                <a:solidFill>
                  <a:prstClr val="black"/>
                </a:solidFill>
                <a:latin typeface="Gill Sans MT"/>
                <a:cs typeface="Times New Roman" pitchFamily="18" charset="0"/>
              </a:rPr>
              <a:t>upon </a:t>
            </a:r>
            <a:r>
              <a:rPr lang="en-US" dirty="0">
                <a:solidFill>
                  <a:prstClr val="black"/>
                </a:solidFill>
                <a:latin typeface="Gill Sans MT"/>
              </a:rPr>
              <a:t>an </a:t>
            </a:r>
            <a:r>
              <a:rPr lang="en-US" b="1" u="sng" dirty="0">
                <a:solidFill>
                  <a:srgbClr val="800000"/>
                </a:solidFill>
                <a:latin typeface="Gill Sans MT"/>
                <a:cs typeface="Times New Roman" pitchFamily="18" charset="0"/>
              </a:rPr>
              <a:t>unsigned</a:t>
            </a:r>
            <a:r>
              <a:rPr lang="en-US" dirty="0">
                <a:solidFill>
                  <a:prstClr val="black"/>
                </a:solidFill>
                <a:latin typeface="Gill Sans MT"/>
              </a:rPr>
              <a:t> subtraction </a:t>
            </a:r>
            <a:r>
              <a:rPr lang="en-US" dirty="0">
                <a:solidFill>
                  <a:prstClr val="black"/>
                </a:solidFill>
                <a:latin typeface="Gill Sans MT"/>
                <a:cs typeface="Times New Roman" pitchFamily="18" charset="0"/>
              </a:rPr>
              <a:t>if the answer is wrong </a:t>
            </a:r>
            <a:r>
              <a:rPr lang="en-US" dirty="0">
                <a:solidFill>
                  <a:prstClr val="black"/>
                </a:solidFill>
                <a:latin typeface="Gill Sans MT"/>
              </a:rPr>
              <a:t> (</a:t>
            </a:r>
            <a:r>
              <a:rPr lang="en-US" dirty="0">
                <a:solidFill>
                  <a:prstClr val="black"/>
                </a:solidFill>
                <a:latin typeface="Gill Sans MT"/>
                <a:cs typeface="Times New Roman" pitchFamily="18" charset="0"/>
              </a:rPr>
              <a:t>true result &lt; 0)</a:t>
            </a:r>
            <a:endParaRPr lang="en-US" sz="700" dirty="0">
              <a:solidFill>
                <a:prstClr val="black"/>
              </a:solidFill>
              <a:latin typeface="Gill Sans MT"/>
            </a:endParaRPr>
          </a:p>
          <a:p>
            <a:pPr>
              <a:defRPr/>
            </a:pPr>
            <a:r>
              <a:rPr lang="en-US" dirty="0">
                <a:solidFill>
                  <a:prstClr val="black"/>
                </a:solidFill>
                <a:latin typeface="Gill Sans MT"/>
                <a:cs typeface="Times New Roman" pitchFamily="18" charset="0"/>
              </a:rPr>
              <a:t>Overflow flag V =1 upon a </a:t>
            </a:r>
            <a:r>
              <a:rPr lang="en-US" b="1" u="sng" dirty="0">
                <a:solidFill>
                  <a:srgbClr val="800000"/>
                </a:solidFill>
                <a:latin typeface="Gill Sans MT"/>
                <a:cs typeface="Times New Roman" pitchFamily="18" charset="0"/>
              </a:rPr>
              <a:t>signed</a:t>
            </a:r>
            <a:r>
              <a:rPr lang="en-US" dirty="0">
                <a:solidFill>
                  <a:prstClr val="black"/>
                </a:solidFill>
                <a:latin typeface="Gill Sans MT"/>
                <a:cs typeface="Times New Roman" pitchFamily="18" charset="0"/>
              </a:rPr>
              <a:t> addition or subtraction if the answer is wrong (true result &gt; 2</a:t>
            </a:r>
            <a:r>
              <a:rPr lang="en-US" baseline="30000" dirty="0">
                <a:solidFill>
                  <a:prstClr val="black"/>
                </a:solidFill>
                <a:latin typeface="Gill Sans MT"/>
                <a:cs typeface="Times New Roman" pitchFamily="18" charset="0"/>
              </a:rPr>
              <a:t>n</a:t>
            </a:r>
            <a:r>
              <a:rPr lang="en-US" altLang="zh-CN" baseline="30000" dirty="0">
                <a:solidFill>
                  <a:prstClr val="black"/>
                </a:solidFill>
                <a:latin typeface="Gill Sans MT"/>
                <a:cs typeface="Times New Roman" pitchFamily="18" charset="0"/>
              </a:rPr>
              <a:t>-1</a:t>
            </a:r>
            <a:r>
              <a:rPr lang="en-US" dirty="0">
                <a:solidFill>
                  <a:prstClr val="black"/>
                </a:solidFill>
                <a:latin typeface="Gill Sans MT"/>
                <a:cs typeface="Times New Roman" pitchFamily="18" charset="0"/>
              </a:rPr>
              <a:t>-1 </a:t>
            </a:r>
            <a:r>
              <a:rPr lang="en-US" altLang="zh-CN" dirty="0">
                <a:solidFill>
                  <a:prstClr val="black"/>
                </a:solidFill>
                <a:latin typeface="Gill Sans MT"/>
                <a:cs typeface="Times New Roman" pitchFamily="18" charset="0"/>
              </a:rPr>
              <a:t>or true result &lt; -</a:t>
            </a:r>
            <a:r>
              <a:rPr lang="en-US" dirty="0">
                <a:solidFill>
                  <a:prstClr val="black"/>
                </a:solidFill>
                <a:latin typeface="Gill Sans MT"/>
                <a:cs typeface="Times New Roman" pitchFamily="18" charset="0"/>
              </a:rPr>
              <a:t>2</a:t>
            </a:r>
            <a:r>
              <a:rPr lang="en-US" baseline="30000" dirty="0">
                <a:solidFill>
                  <a:prstClr val="black"/>
                </a:solidFill>
                <a:latin typeface="Gill Sans MT"/>
                <a:cs typeface="Times New Roman" pitchFamily="18" charset="0"/>
              </a:rPr>
              <a:t>n</a:t>
            </a:r>
            <a:r>
              <a:rPr lang="en-US" altLang="zh-CN" baseline="30000" dirty="0">
                <a:solidFill>
                  <a:prstClr val="black"/>
                </a:solidFill>
                <a:latin typeface="Gill Sans MT"/>
                <a:cs typeface="Times New Roman" pitchFamily="18" charset="0"/>
              </a:rPr>
              <a:t>-1</a:t>
            </a:r>
            <a:r>
              <a:rPr lang="en-US" altLang="zh-CN" dirty="0">
                <a:solidFill>
                  <a:prstClr val="black"/>
                </a:solidFill>
                <a:latin typeface="Gill Sans MT"/>
                <a:cs typeface="Times New Roman" pitchFamily="18" charset="0"/>
              </a:rPr>
              <a:t>)</a:t>
            </a:r>
            <a:endParaRPr lang="en-US" dirty="0">
              <a:solidFill>
                <a:prstClr val="black"/>
              </a:solidFill>
              <a:latin typeface="Gill Sans MT"/>
              <a:cs typeface="Times New Roman" pitchFamily="18" charset="0"/>
            </a:endParaRPr>
          </a:p>
          <a:p>
            <a:pPr eaLnBrk="0" hangingPunct="0">
              <a:defRPr/>
            </a:pPr>
            <a:endParaRPr lang="en-US" dirty="0">
              <a:solidFill>
                <a:prstClr val="black"/>
              </a:solidFill>
              <a:latin typeface="Gill Sans MT"/>
              <a:cs typeface="Times New Roman" pitchFamily="18" charset="0"/>
            </a:endParaRPr>
          </a:p>
        </p:txBody>
      </p:sp>
      <p:graphicFrame>
        <p:nvGraphicFramePr>
          <p:cNvPr id="2" name="Table 1"/>
          <p:cNvGraphicFramePr>
            <a:graphicFrameLocks noGrp="1"/>
          </p:cNvGraphicFramePr>
          <p:nvPr>
            <p:extLst>
              <p:ext uri="{D42A27DB-BD31-4B8C-83A1-F6EECF244321}">
                <p14:modId xmlns:p14="http://schemas.microsoft.com/office/powerpoint/2010/main" val="1282616403"/>
              </p:ext>
            </p:extLst>
          </p:nvPr>
        </p:nvGraphicFramePr>
        <p:xfrm>
          <a:off x="1676400" y="3165892"/>
          <a:ext cx="8153399" cy="2775578"/>
        </p:xfrm>
        <a:graphic>
          <a:graphicData uri="http://schemas.openxmlformats.org/drawingml/2006/table">
            <a:tbl>
              <a:tblPr firstRow="1" firstCol="1" bandRow="1">
                <a:tableStyleId>{5C22544A-7EE6-4342-B048-85BDC9FD1C3A}</a:tableStyleId>
              </a:tblPr>
              <a:tblGrid>
                <a:gridCol w="1769460">
                  <a:extLst>
                    <a:ext uri="{9D8B030D-6E8A-4147-A177-3AD203B41FA5}">
                      <a16:colId xmlns:a16="http://schemas.microsoft.com/office/drawing/2014/main" val="3449689791"/>
                    </a:ext>
                  </a:extLst>
                </a:gridCol>
                <a:gridCol w="2121371">
                  <a:extLst>
                    <a:ext uri="{9D8B030D-6E8A-4147-A177-3AD203B41FA5}">
                      <a16:colId xmlns:a16="http://schemas.microsoft.com/office/drawing/2014/main" val="2443800576"/>
                    </a:ext>
                  </a:extLst>
                </a:gridCol>
                <a:gridCol w="2007373">
                  <a:extLst>
                    <a:ext uri="{9D8B030D-6E8A-4147-A177-3AD203B41FA5}">
                      <a16:colId xmlns:a16="http://schemas.microsoft.com/office/drawing/2014/main" val="1711257944"/>
                    </a:ext>
                  </a:extLst>
                </a:gridCol>
                <a:gridCol w="2255195">
                  <a:extLst>
                    <a:ext uri="{9D8B030D-6E8A-4147-A177-3AD203B41FA5}">
                      <a16:colId xmlns:a16="http://schemas.microsoft.com/office/drawing/2014/main" val="3663234745"/>
                    </a:ext>
                  </a:extLst>
                </a:gridCol>
              </a:tblGrid>
              <a:tr h="581018">
                <a:tc>
                  <a:txBody>
                    <a:bodyPr/>
                    <a:lstStyle/>
                    <a:p>
                      <a:pPr marL="0" marR="0">
                        <a:spcBef>
                          <a:spcPts val="0"/>
                        </a:spcBef>
                        <a:spcAft>
                          <a:spcPts val="0"/>
                        </a:spcAft>
                      </a:pPr>
                      <a:r>
                        <a:rPr lang="en-US" sz="1800" b="0" dirty="0">
                          <a:effectLst/>
                        </a:rPr>
                        <a:t> </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Addition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Unsigned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Signed Addition or Subtraction</a:t>
                      </a:r>
                      <a:endParaRPr lang="en-US" sz="1800" b="0" dirty="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3840512487"/>
                  </a:ext>
                </a:extLst>
              </a:tr>
              <a:tr h="693247">
                <a:tc>
                  <a:txBody>
                    <a:bodyPr/>
                    <a:lstStyle/>
                    <a:p>
                      <a:pPr marL="0" marR="0">
                        <a:spcBef>
                          <a:spcPts val="0"/>
                        </a:spcBef>
                        <a:spcAft>
                          <a:spcPts val="0"/>
                        </a:spcAft>
                      </a:pPr>
                      <a:r>
                        <a:rPr lang="en-US" sz="1800" b="0" dirty="0">
                          <a:effectLst/>
                        </a:rPr>
                        <a:t>Carry flag</a:t>
                      </a:r>
                      <a:endParaRPr lang="en-US" sz="1800" b="0" dirty="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solidFill>
                            <a:schemeClr val="tx1"/>
                          </a:solidFill>
                          <a:effectLst/>
                        </a:rPr>
                        <a:t>true result &gt; 2</a:t>
                      </a:r>
                      <a:r>
                        <a:rPr lang="en-US" sz="1800" b="0" baseline="30000" dirty="0">
                          <a:solidFill>
                            <a:schemeClr val="tx1"/>
                          </a:solidFill>
                          <a:effectLst/>
                        </a:rPr>
                        <a:t>n</a:t>
                      </a:r>
                      <a:r>
                        <a:rPr lang="en-US" sz="1800" b="0" dirty="0">
                          <a:solidFill>
                            <a:schemeClr val="tx1"/>
                          </a:solidFill>
                          <a:effectLst/>
                        </a:rPr>
                        <a:t>-1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flag=0</a:t>
                      </a:r>
                    </a:p>
                    <a:p>
                      <a:pPr marL="0" marR="0">
                        <a:spcBef>
                          <a:spcPts val="0"/>
                        </a:spcBef>
                        <a:spcAft>
                          <a:spcPts val="0"/>
                        </a:spcAft>
                      </a:pPr>
                      <a:r>
                        <a:rPr lang="en-US" sz="1800" b="0" dirty="0">
                          <a:solidFill>
                            <a:schemeClr val="tx1"/>
                          </a:solidFill>
                          <a:effectLst/>
                          <a:latin typeface="Times New Roman" panose="02020603050405020304" pitchFamily="18" charset="0"/>
                          <a:ea typeface="SimSun" panose="02010600030101010101" pitchFamily="2" charset="-122"/>
                        </a:rPr>
                        <a:t>(Result incorrect)</a:t>
                      </a:r>
                    </a:p>
                  </a:txBody>
                  <a:tcPr marL="68580" marR="68580" marT="0" marB="0"/>
                </a:tc>
                <a:tc>
                  <a:txBody>
                    <a:bodyPr/>
                    <a:lstStyle/>
                    <a:p>
                      <a:pPr marL="0" marR="0">
                        <a:spcBef>
                          <a:spcPts val="0"/>
                        </a:spcBef>
                        <a:spcAft>
                          <a:spcPts val="0"/>
                        </a:spcAft>
                      </a:pPr>
                      <a:r>
                        <a:rPr lang="en-US" sz="1800" b="0" dirty="0">
                          <a:solidFill>
                            <a:schemeClr val="tx1"/>
                          </a:solidFill>
                          <a:effectLst/>
                        </a:rPr>
                        <a:t>true result &lt; 0 </a:t>
                      </a:r>
                      <a:r>
                        <a:rPr lang="en-US" sz="1800" b="0" dirty="0">
                          <a:solidFill>
                            <a:schemeClr val="tx1"/>
                          </a:solidFill>
                          <a:effectLst/>
                          <a:sym typeface="Wingdings" panose="05000000000000000000" pitchFamily="2" charset="2"/>
                        </a:rPr>
                        <a:t></a:t>
                      </a:r>
                      <a:r>
                        <a:rPr lang="en-US" sz="1800" b="0" dirty="0">
                          <a:solidFill>
                            <a:schemeClr val="tx1"/>
                          </a:solidFill>
                          <a:effectLst/>
                        </a:rPr>
                        <a:t> Carry flag=0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dirty="0">
                          <a:solidFill>
                            <a:schemeClr val="tx1"/>
                          </a:solidFill>
                          <a:effectLst/>
                        </a:rPr>
                        <a:t>Borrow flag=1</a:t>
                      </a:r>
                    </a:p>
                    <a:p>
                      <a:pPr marL="0" marR="0">
                        <a:spcBef>
                          <a:spcPts val="0"/>
                        </a:spcBef>
                        <a:spcAft>
                          <a:spcPts val="0"/>
                        </a:spcAft>
                      </a:pPr>
                      <a:r>
                        <a:rPr lang="en-US" sz="1800" b="0" dirty="0">
                          <a:solidFill>
                            <a:schemeClr val="tx1"/>
                          </a:solidFill>
                          <a:effectLst/>
                          <a:latin typeface="Times New Roman" panose="02020603050405020304" pitchFamily="18" charset="0"/>
                          <a:ea typeface="SimSun" panose="02010600030101010101" pitchFamily="2" charset="-122"/>
                        </a:rPr>
                        <a:t>(Result incorrect)</a:t>
                      </a: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extLst>
                  <a:ext uri="{0D108BD9-81ED-4DB2-BD59-A6C34878D82A}">
                    <a16:rowId xmlns:a16="http://schemas.microsoft.com/office/drawing/2014/main" val="2963854241"/>
                  </a:ext>
                </a:extLst>
              </a:tr>
              <a:tr h="693247">
                <a:tc>
                  <a:txBody>
                    <a:bodyPr/>
                    <a:lstStyle/>
                    <a:p>
                      <a:pPr marL="0" marR="0">
                        <a:spcBef>
                          <a:spcPts val="0"/>
                        </a:spcBef>
                        <a:spcAft>
                          <a:spcPts val="0"/>
                        </a:spcAft>
                      </a:pPr>
                      <a:r>
                        <a:rPr lang="en-US" sz="1800" b="0">
                          <a:effectLst/>
                        </a:rPr>
                        <a:t>Overflow flag</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a:effectLst/>
                        </a:rPr>
                        <a:t>N/A</a:t>
                      </a:r>
                      <a:endParaRPr lang="en-US" sz="1800" b="0">
                        <a:effectLst/>
                        <a:latin typeface="Times New Roman" panose="02020603050405020304" pitchFamily="18" charset="0"/>
                        <a:ea typeface="SimSun" panose="02010600030101010101" pitchFamily="2" charset="-122"/>
                      </a:endParaRPr>
                    </a:p>
                  </a:txBody>
                  <a:tcPr marL="68580" marR="68580" marT="0" marB="0"/>
                </a:tc>
                <a:tc>
                  <a:txBody>
                    <a:bodyPr/>
                    <a:lstStyle/>
                    <a:p>
                      <a:pPr marL="0" marR="0">
                        <a:spcBef>
                          <a:spcPts val="0"/>
                        </a:spcBef>
                        <a:spcAft>
                          <a:spcPts val="0"/>
                        </a:spcAft>
                      </a:pPr>
                      <a:r>
                        <a:rPr lang="en-US" sz="1800" b="0" dirty="0">
                          <a:effectLst/>
                        </a:rPr>
                        <a:t>true result &gt; 2</a:t>
                      </a:r>
                      <a:r>
                        <a:rPr lang="en-US" sz="1800" b="0" baseline="30000" dirty="0">
                          <a:effectLst/>
                        </a:rPr>
                        <a:t>n-1</a:t>
                      </a:r>
                      <a:r>
                        <a:rPr lang="en-US" sz="1800" b="0" dirty="0">
                          <a:effectLst/>
                        </a:rPr>
                        <a:t>-1 or true result &lt; -2</a:t>
                      </a:r>
                      <a:r>
                        <a:rPr lang="en-US" sz="1800" b="0" baseline="30000" dirty="0">
                          <a:effectLst/>
                        </a:rPr>
                        <a:t>n-1</a:t>
                      </a:r>
                    </a:p>
                    <a:p>
                      <a:pPr marL="285750" marR="0" indent="-285750">
                        <a:spcBef>
                          <a:spcPts val="0"/>
                        </a:spcBef>
                        <a:spcAft>
                          <a:spcPts val="0"/>
                        </a:spcAft>
                        <a:buFont typeface="Wingdings" panose="05000000000000000000" pitchFamily="2" charset="2"/>
                        <a:buChar char="è"/>
                      </a:pPr>
                      <a:r>
                        <a:rPr lang="en-US" sz="1800" b="0" dirty="0">
                          <a:effectLst/>
                        </a:rPr>
                        <a:t>Overflow flag=1</a:t>
                      </a:r>
                    </a:p>
                    <a:p>
                      <a:pPr marL="0" marR="0" indent="0">
                        <a:spcBef>
                          <a:spcPts val="0"/>
                        </a:spcBef>
                        <a:spcAft>
                          <a:spcPts val="0"/>
                        </a:spcAft>
                        <a:buFont typeface="Wingdings" panose="05000000000000000000" pitchFamily="2" charset="2"/>
                        <a:buNone/>
                      </a:pPr>
                      <a:r>
                        <a:rPr lang="en-US" sz="1800" b="0" dirty="0">
                          <a:effectLst/>
                          <a:latin typeface="Times New Roman" panose="02020603050405020304" pitchFamily="18" charset="0"/>
                          <a:ea typeface="SimSun" panose="02010600030101010101" pitchFamily="2" charset="-122"/>
                        </a:rPr>
                        <a:t>(Result incorrect)</a:t>
                      </a:r>
                    </a:p>
                  </a:txBody>
                  <a:tcPr marL="68580" marR="68580" marT="0" marB="0"/>
                </a:tc>
                <a:extLst>
                  <a:ext uri="{0D108BD9-81ED-4DB2-BD59-A6C34878D82A}">
                    <a16:rowId xmlns:a16="http://schemas.microsoft.com/office/drawing/2014/main" val="1206363004"/>
                  </a:ext>
                </a:extLst>
              </a:tr>
            </a:tbl>
          </a:graphicData>
        </a:graphic>
      </p:graphicFrame>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E2ACC35D-CF95-407F-B222-DF5A1F69BA9F}"/>
                  </a:ext>
                </a:extLst>
              </p14:cNvPr>
              <p14:cNvContentPartPr/>
              <p14:nvPr/>
            </p14:nvContentPartPr>
            <p14:xfrm>
              <a:off x="4591459" y="4660181"/>
              <a:ext cx="360" cy="360"/>
            </p14:xfrm>
          </p:contentPart>
        </mc:Choice>
        <mc:Fallback xmlns="">
          <p:pic>
            <p:nvPicPr>
              <p:cNvPr id="5" name="Ink 4">
                <a:extLst>
                  <a:ext uri="{FF2B5EF4-FFF2-40B4-BE49-F238E27FC236}">
                    <a16:creationId xmlns:a16="http://schemas.microsoft.com/office/drawing/2014/main" id="{E2ACC35D-CF95-407F-B222-DF5A1F69BA9F}"/>
                  </a:ext>
                </a:extLst>
              </p:cNvPr>
              <p:cNvPicPr/>
              <p:nvPr/>
            </p:nvPicPr>
            <p:blipFill>
              <a:blip r:embed="rId4"/>
              <a:stretch>
                <a:fillRect/>
              </a:stretch>
            </p:blipFill>
            <p:spPr>
              <a:xfrm>
                <a:off x="4582459" y="4651181"/>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641399B7-0992-4159-AA56-A61464B0489C}"/>
                  </a:ext>
                </a:extLst>
              </p14:cNvPr>
              <p14:cNvContentPartPr/>
              <p14:nvPr/>
            </p14:nvContentPartPr>
            <p14:xfrm>
              <a:off x="5151979" y="4660181"/>
              <a:ext cx="360" cy="360"/>
            </p14:xfrm>
          </p:contentPart>
        </mc:Choice>
        <mc:Fallback xmlns="">
          <p:pic>
            <p:nvPicPr>
              <p:cNvPr id="6" name="Ink 5">
                <a:extLst>
                  <a:ext uri="{FF2B5EF4-FFF2-40B4-BE49-F238E27FC236}">
                    <a16:creationId xmlns:a16="http://schemas.microsoft.com/office/drawing/2014/main" id="{641399B7-0992-4159-AA56-A61464B0489C}"/>
                  </a:ext>
                </a:extLst>
              </p:cNvPr>
              <p:cNvPicPr/>
              <p:nvPr/>
            </p:nvPicPr>
            <p:blipFill>
              <a:blip r:embed="rId4"/>
              <a:stretch>
                <a:fillRect/>
              </a:stretch>
            </p:blipFill>
            <p:spPr>
              <a:xfrm>
                <a:off x="5142979" y="4651181"/>
                <a:ext cx="18000" cy="18000"/>
              </a:xfrm>
              <a:prstGeom prst="rect">
                <a:avLst/>
              </a:prstGeom>
            </p:spPr>
          </p:pic>
        </mc:Fallback>
      </mc:AlternateContent>
      <p:sp>
        <p:nvSpPr>
          <p:cNvPr id="3" name="Horizontal Scroll 15">
            <a:extLst>
              <a:ext uri="{FF2B5EF4-FFF2-40B4-BE49-F238E27FC236}">
                <a16:creationId xmlns:a16="http://schemas.microsoft.com/office/drawing/2014/main" id="{4DF73044-40F3-F2D2-4520-3537F47168BE}"/>
              </a:ext>
            </a:extLst>
          </p:cNvPr>
          <p:cNvSpPr/>
          <p:nvPr/>
        </p:nvSpPr>
        <p:spPr>
          <a:xfrm>
            <a:off x="609600" y="-7874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a:defRPr/>
            </a:pPr>
            <a:r>
              <a:rPr lang="en-US" sz="2400" kern="0" dirty="0">
                <a:solidFill>
                  <a:prstClr val="black"/>
                </a:solidFill>
                <a:latin typeface="Calibri"/>
              </a:rPr>
              <a:t>Review</a:t>
            </a:r>
          </a:p>
        </p:txBody>
      </p:sp>
    </p:spTree>
    <p:extLst>
      <p:ext uri="{BB962C8B-B14F-4D97-AF65-F5344CB8AC3E}">
        <p14:creationId xmlns:p14="http://schemas.microsoft.com/office/powerpoint/2010/main" val="120226533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89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917" grpId="0" autoUpdateAnimBg="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p:cNvSpPr>
            <a:spLocks noGrp="1"/>
          </p:cNvSpPr>
          <p:nvPr>
            <p:ph sz="quarter" idx="1"/>
          </p:nvPr>
        </p:nvSpPr>
        <p:spPr/>
        <p:txBody>
          <a:bodyPr/>
          <a:lstStyle/>
          <a:p>
            <a:r>
              <a:rPr lang="en-US" dirty="0"/>
              <a:t>Method </a:t>
            </a:r>
            <a:r>
              <a:rPr lang="en-US" dirty="0">
                <a:latin typeface="Consolas" panose="020B0609020204030204" pitchFamily="49" charset="0"/>
              </a:rPr>
              <a:t>1</a:t>
            </a:r>
            <a:r>
              <a:rPr lang="en-US" dirty="0"/>
              <a:t>:  append “</a:t>
            </a:r>
            <a:r>
              <a:rPr lang="en-US" b="1" dirty="0">
                <a:solidFill>
                  <a:srgbClr val="FF0000"/>
                </a:solidFill>
                <a:latin typeface="Consolas" panose="020B0609020204030204" pitchFamily="49" charset="0"/>
              </a:rPr>
              <a:t>S</a:t>
            </a:r>
            <a:r>
              <a:rPr lang="en-US" dirty="0"/>
              <a:t>”: updates destination register, and sets flags</a:t>
            </a:r>
          </a:p>
          <a:p>
            <a:pPr lvl="1"/>
            <a:r>
              <a:rPr lang="en-US" dirty="0">
                <a:latin typeface="Consolas" panose="020B0609020204030204" pitchFamily="49" charset="0"/>
              </a:rPr>
              <a:t>ADD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ADD</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ea typeface="Arial Unicode MS" panose="020B0604020202020204" pitchFamily="34" charset="-128"/>
                <a:cs typeface="Arial Unicode MS" panose="020B0604020202020204" pitchFamily="34" charset="-128"/>
              </a:rPr>
              <a:t> r0,r1,r2</a:t>
            </a:r>
            <a:r>
              <a:rPr lang="en-US" dirty="0"/>
              <a:t> </a:t>
            </a:r>
          </a:p>
          <a:p>
            <a:pPr lvl="1"/>
            <a:r>
              <a:rPr lang="en-US" dirty="0">
                <a:latin typeface="Consolas" panose="020B0609020204030204" pitchFamily="49" charset="0"/>
              </a:rPr>
              <a:t>SUB r0,r1,r2</a:t>
            </a:r>
            <a:r>
              <a:rPr lang="en-US" dirty="0"/>
              <a:t>   </a:t>
            </a:r>
            <a:r>
              <a:rPr lang="en-US" dirty="0">
                <a:latin typeface="Arial Unicode MS" panose="020B0604020202020204" pitchFamily="34" charset="-128"/>
                <a:ea typeface="Arial Unicode MS" panose="020B0604020202020204" pitchFamily="34" charset="-128"/>
                <a:cs typeface="Arial Unicode MS" panose="020B0604020202020204" pitchFamily="34" charset="-128"/>
              </a:rPr>
              <a:t>→   </a:t>
            </a:r>
            <a:r>
              <a:rPr lang="en-US" dirty="0">
                <a:latin typeface="Consolas" panose="020B0609020204030204" pitchFamily="49" charset="0"/>
                <a:ea typeface="Arial Unicode MS" panose="020B0604020202020204" pitchFamily="34" charset="-128"/>
                <a:cs typeface="Arial Unicode MS" panose="020B0604020202020204" pitchFamily="34" charset="-128"/>
              </a:rPr>
              <a:t>SUB</a:t>
            </a:r>
            <a:r>
              <a:rPr lang="en-US" dirty="0">
                <a:solidFill>
                  <a:srgbClr val="FF0000"/>
                </a:solidFill>
                <a:latin typeface="Consolas" panose="020B0609020204030204" pitchFamily="49" charset="0"/>
                <a:ea typeface="Arial Unicode MS" panose="020B0604020202020204" pitchFamily="34" charset="-128"/>
                <a:cs typeface="Arial Unicode MS" panose="020B0604020202020204" pitchFamily="34" charset="-128"/>
              </a:rPr>
              <a:t>S</a:t>
            </a:r>
            <a:r>
              <a:rPr lang="en-US" dirty="0">
                <a:latin typeface="Consolas" panose="020B0609020204030204" pitchFamily="49" charset="0"/>
              </a:rPr>
              <a:t> r0,r1,r2</a:t>
            </a:r>
          </a:p>
          <a:p>
            <a:pPr lvl="1"/>
            <a:r>
              <a:rPr lang="en-US" dirty="0"/>
              <a:t>Performs operation, writes the result into Rd, and also updates NZCV flags</a:t>
            </a:r>
          </a:p>
          <a:p>
            <a:r>
              <a:rPr lang="en-US" dirty="0"/>
              <a:t>Method </a:t>
            </a:r>
            <a:r>
              <a:rPr lang="en-US" dirty="0">
                <a:latin typeface="Consolas" panose="020B0609020204030204" pitchFamily="49" charset="0"/>
              </a:rPr>
              <a:t>2</a:t>
            </a:r>
            <a:r>
              <a:rPr lang="en-US" dirty="0"/>
              <a:t>:  compare instructions: sets flags only</a:t>
            </a:r>
          </a:p>
          <a:p>
            <a:pPr lvl="1"/>
            <a:r>
              <a:rPr lang="en-US" dirty="0"/>
              <a:t>CMP/CMN/TEQ/TST: performs operation to update NZCV flags, but the computation result is not saved and discarded</a:t>
            </a:r>
          </a:p>
          <a:p>
            <a:endParaRPr lang="en-US" dirty="0">
              <a:latin typeface="Consolas" panose="020B0609020204030204" pitchFamily="49" charset="0"/>
            </a:endParaRPr>
          </a:p>
        </p:txBody>
      </p:sp>
      <p:graphicFrame>
        <p:nvGraphicFramePr>
          <p:cNvPr id="5" name="Table 4"/>
          <p:cNvGraphicFramePr>
            <a:graphicFrameLocks noGrp="1"/>
          </p:cNvGraphicFramePr>
          <p:nvPr>
            <p:extLst>
              <p:ext uri="{D42A27DB-BD31-4B8C-83A1-F6EECF244321}">
                <p14:modId xmlns:p14="http://schemas.microsoft.com/office/powerpoint/2010/main" val="541216042"/>
              </p:ext>
            </p:extLst>
          </p:nvPr>
        </p:nvGraphicFramePr>
        <p:xfrm>
          <a:off x="3851867" y="4210947"/>
          <a:ext cx="4488265"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Description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TEQ</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3"/>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680559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Updating Condition Flags</a:t>
            </a:r>
          </a:p>
        </p:txBody>
      </p:sp>
      <p:sp>
        <p:nvSpPr>
          <p:cNvPr id="5" name="Content Placeholder 4"/>
          <p:cNvSpPr>
            <a:spLocks noGrp="1"/>
          </p:cNvSpPr>
          <p:nvPr>
            <p:ph sz="quarter" idx="1"/>
          </p:nvPr>
        </p:nvSpPr>
        <p:spPr>
          <a:xfrm>
            <a:off x="1524000" y="3399790"/>
            <a:ext cx="9448800" cy="2956560"/>
          </a:xfrm>
        </p:spPr>
        <p:txBody>
          <a:bodyPr>
            <a:normAutofit lnSpcReduction="10000"/>
          </a:bodyPr>
          <a:lstStyle/>
          <a:p>
            <a:pPr>
              <a:lnSpc>
                <a:spcPct val="90000"/>
              </a:lnSpc>
              <a:buFont typeface="Wingdings" pitchFamily="2" charset="2"/>
              <a:buChar char="Ø"/>
            </a:pPr>
            <a:r>
              <a:rPr lang="en-US" altLang="zh-TW" sz="1900" b="1" dirty="0">
                <a:solidFill>
                  <a:srgbClr val="C00000"/>
                </a:solidFill>
              </a:rPr>
              <a:t>Update flags</a:t>
            </a:r>
            <a:endParaRPr lang="en-US" altLang="zh-TW" sz="1900" b="1" i="1" dirty="0"/>
          </a:p>
          <a:p>
            <a:pPr marL="800100" lvl="1" indent="-342900">
              <a:lnSpc>
                <a:spcPct val="90000"/>
              </a:lnSpc>
              <a:buFont typeface="Arial" pitchFamily="34" charset="0"/>
              <a:buChar char="•"/>
            </a:pPr>
            <a:r>
              <a:rPr lang="en-US" altLang="zh-TW" sz="1600" dirty="0"/>
              <a:t>No need to add S. No need to specify destination register.</a:t>
            </a:r>
          </a:p>
          <a:p>
            <a:pPr>
              <a:lnSpc>
                <a:spcPct val="90000"/>
              </a:lnSpc>
              <a:buFont typeface="Wingdings" pitchFamily="2" charset="2"/>
              <a:buChar char="Ø"/>
            </a:pPr>
            <a:r>
              <a:rPr lang="en-US" altLang="zh-TW" sz="1900" dirty="0"/>
              <a:t>Operations are:</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CMP  </a:t>
            </a:r>
            <a:r>
              <a:rPr lang="en-US" altLang="zh-TW" sz="1600" dirty="0">
                <a:latin typeface="Consolas" panose="020B0609020204030204" pitchFamily="49" charset="0"/>
                <a:cs typeface="Consolas" panose="020B0609020204030204" pitchFamily="49" charset="0"/>
              </a:rPr>
              <a:t>Rn – Op2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SUBS, except result discarded (not written to destination register)</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CMN  </a:t>
            </a:r>
            <a:r>
              <a:rPr lang="en-US" altLang="zh-TW" sz="1600" dirty="0">
                <a:latin typeface="Consolas" panose="020B0609020204030204" pitchFamily="49" charset="0"/>
                <a:cs typeface="Consolas" panose="020B0609020204030204" pitchFamily="49" charset="0"/>
              </a:rPr>
              <a:t>Rn + Op2</a:t>
            </a:r>
            <a:r>
              <a:rPr lang="en-US" altLang="zh-TW" sz="1600" dirty="0"/>
              <a:t>:</a:t>
            </a:r>
            <a:r>
              <a:rPr lang="en-US" altLang="zh-TW" sz="1600" dirty="0">
                <a:latin typeface="Consolas" panose="020B0609020204030204" pitchFamily="49" charset="0"/>
                <a:cs typeface="Consolas" panose="020B0609020204030204" pitchFamily="49" charset="0"/>
              </a:rPr>
              <a:t> </a:t>
            </a:r>
            <a:r>
              <a:rPr lang="en-US" altLang="zh-TW" sz="1600" dirty="0"/>
              <a:t>Same as ADDS,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TST  </a:t>
            </a:r>
            <a:r>
              <a:rPr lang="en-US" altLang="zh-TW" sz="1600" dirty="0">
                <a:latin typeface="Consolas" panose="020B0609020204030204" pitchFamily="49" charset="0"/>
                <a:cs typeface="Consolas" panose="020B0609020204030204" pitchFamily="49" charset="0"/>
              </a:rPr>
              <a:t>Rn &amp; Op2:</a:t>
            </a:r>
            <a:r>
              <a:rPr lang="en-US" altLang="zh-TW" sz="1600" dirty="0"/>
              <a:t> Same as ANDS, except result discarded</a:t>
            </a:r>
          </a:p>
          <a:p>
            <a:pPr marL="800100" lvl="1" indent="-342900">
              <a:lnSpc>
                <a:spcPct val="90000"/>
              </a:lnSpc>
              <a:buClr>
                <a:schemeClr val="tx1"/>
              </a:buClr>
              <a:buFont typeface="Arial" pitchFamily="34" charset="0"/>
              <a:buChar char="•"/>
            </a:pPr>
            <a:r>
              <a:rPr lang="en-US" altLang="zh-TW" sz="1600" b="1" dirty="0">
                <a:solidFill>
                  <a:srgbClr val="FF0000"/>
                </a:solidFill>
                <a:latin typeface="Consolas" panose="020B0609020204030204" pitchFamily="49" charset="0"/>
                <a:cs typeface="Consolas" panose="020B0609020204030204" pitchFamily="49" charset="0"/>
              </a:rPr>
              <a:t>TEQ  </a:t>
            </a:r>
            <a:r>
              <a:rPr lang="en-US" altLang="zh-TW" sz="1600" dirty="0">
                <a:latin typeface="Consolas" panose="020B0609020204030204" pitchFamily="49" charset="0"/>
              </a:rPr>
              <a:t>Rn</a:t>
            </a:r>
            <a:r>
              <a:rPr lang="en-US" altLang="zh-TW" sz="1600" dirty="0">
                <a:latin typeface="Consolas" panose="020B0609020204030204" pitchFamily="49" charset="0"/>
                <a:cs typeface="Consolas" panose="020B0609020204030204" pitchFamily="49" charset="0"/>
              </a:rPr>
              <a:t> ^ Op2:</a:t>
            </a:r>
            <a:r>
              <a:rPr lang="en-US" altLang="zh-TW" sz="1600" dirty="0"/>
              <a:t> Same as EORS, except result discarded</a:t>
            </a:r>
          </a:p>
          <a:p>
            <a:pPr>
              <a:lnSpc>
                <a:spcPct val="90000"/>
              </a:lnSpc>
              <a:buFont typeface="Wingdings" pitchFamily="2" charset="2"/>
              <a:buChar char="Ø"/>
            </a:pPr>
            <a:r>
              <a:rPr lang="en-US" altLang="zh-TW" sz="2100" dirty="0"/>
              <a:t>Examples:</a:t>
            </a:r>
            <a:endParaRPr lang="en-US" altLang="zh-TW" sz="2100" b="1" dirty="0">
              <a:latin typeface="Courier New" pitchFamily="49" charset="0"/>
            </a:endParaRPr>
          </a:p>
          <a:p>
            <a:pPr marL="800100" lvl="1" indent="-342900">
              <a:lnSpc>
                <a:spcPct val="90000"/>
              </a:lnSpc>
              <a:buFont typeface="Arial" pitchFamily="34" charset="0"/>
              <a:buChar char="•"/>
            </a:pPr>
            <a:r>
              <a:rPr lang="en-US" altLang="zh-TW" sz="1600" b="1" dirty="0">
                <a:latin typeface="Courier New" pitchFamily="49" charset="0"/>
              </a:rPr>
              <a:t>CMP  r0, r1</a:t>
            </a:r>
          </a:p>
          <a:p>
            <a:pPr marL="800100" lvl="1" indent="-342900">
              <a:lnSpc>
                <a:spcPct val="90000"/>
              </a:lnSpc>
              <a:buFont typeface="Arial" pitchFamily="34" charset="0"/>
              <a:buChar char="•"/>
            </a:pPr>
            <a:r>
              <a:rPr lang="en-US" altLang="zh-TW" sz="1600" b="1" dirty="0">
                <a:latin typeface="Courier New" pitchFamily="49" charset="0"/>
              </a:rPr>
              <a:t>TST  r2, #5</a:t>
            </a:r>
            <a:endParaRPr lang="zh-TW" altLang="en-US" sz="1600" b="1" dirty="0">
              <a:latin typeface="Courier New" pitchFamily="49" charset="0"/>
            </a:endParaRPr>
          </a:p>
          <a:p>
            <a:endParaRPr lang="en-US" dirty="0"/>
          </a:p>
        </p:txBody>
      </p:sp>
      <p:graphicFrame>
        <p:nvGraphicFramePr>
          <p:cNvPr id="3" name="Table 2"/>
          <p:cNvGraphicFramePr>
            <a:graphicFrameLocks noGrp="1"/>
          </p:cNvGraphicFramePr>
          <p:nvPr>
            <p:extLst>
              <p:ext uri="{D42A27DB-BD31-4B8C-83A1-F6EECF244321}">
                <p14:modId xmlns:p14="http://schemas.microsoft.com/office/powerpoint/2010/main" val="1029720561"/>
              </p:ext>
            </p:extLst>
          </p:nvPr>
        </p:nvGraphicFramePr>
        <p:xfrm>
          <a:off x="2971800" y="1242566"/>
          <a:ext cx="6096001" cy="1910844"/>
        </p:xfrm>
        <a:graphic>
          <a:graphicData uri="http://schemas.openxmlformats.org/drawingml/2006/table">
            <a:tbl>
              <a:tblPr firstRow="1" firstCol="1" bandRow="1">
                <a:tableStyleId>{B301B821-A1FF-4177-AEE7-76D212191A09}</a:tableStyleId>
              </a:tblPr>
              <a:tblGrid>
                <a:gridCol w="1339781">
                  <a:extLst>
                    <a:ext uri="{9D8B030D-6E8A-4147-A177-3AD203B41FA5}">
                      <a16:colId xmlns:a16="http://schemas.microsoft.com/office/drawing/2014/main" val="20000"/>
                    </a:ext>
                  </a:extLst>
                </a:gridCol>
                <a:gridCol w="1607736">
                  <a:extLst>
                    <a:ext uri="{9D8B030D-6E8A-4147-A177-3AD203B41FA5}">
                      <a16:colId xmlns:a16="http://schemas.microsoft.com/office/drawing/2014/main" val="20001"/>
                    </a:ext>
                  </a:extLst>
                </a:gridCol>
                <a:gridCol w="2080113">
                  <a:extLst>
                    <a:ext uri="{9D8B030D-6E8A-4147-A177-3AD203B41FA5}">
                      <a16:colId xmlns:a16="http://schemas.microsoft.com/office/drawing/2014/main" val="20002"/>
                    </a:ext>
                  </a:extLst>
                </a:gridCol>
                <a:gridCol w="1068371">
                  <a:extLst>
                    <a:ext uri="{9D8B030D-6E8A-4147-A177-3AD203B41FA5}">
                      <a16:colId xmlns:a16="http://schemas.microsoft.com/office/drawing/2014/main" val="20003"/>
                    </a:ext>
                  </a:extLst>
                </a:gridCol>
              </a:tblGrid>
              <a:tr h="33528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Brief description</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Flags</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CMP</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CMN</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Compare Negative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N,Z,C,V</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r h="335280">
                <a:tc>
                  <a:txBody>
                    <a:bodyPr/>
                    <a:lstStyle/>
                    <a:p>
                      <a:pPr marL="0" marR="0" algn="ctr">
                        <a:lnSpc>
                          <a:spcPct val="115000"/>
                        </a:lnSpc>
                        <a:spcBef>
                          <a:spcPts val="0"/>
                        </a:spcBef>
                        <a:spcAft>
                          <a:spcPts val="0"/>
                        </a:spcAft>
                      </a:pPr>
                      <a:r>
                        <a:rPr lang="en-US" sz="2400">
                          <a:solidFill>
                            <a:srgbClr val="FF0000"/>
                          </a:solidFill>
                          <a:effectLst/>
                          <a:latin typeface="Consolas" panose="020B0609020204030204" pitchFamily="49" charset="0"/>
                        </a:rPr>
                        <a:t>TEQ</a:t>
                      </a:r>
                      <a:endParaRPr lang="en-US" sz="240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latin typeface="Consolas" panose="020B0609020204030204" pitchFamily="49" charset="0"/>
                        </a:rPr>
                        <a:t>Rn, Op2</a:t>
                      </a:r>
                      <a:endParaRPr lang="en-US" sz="180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Test Equivalence</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N,Z,C</a:t>
                      </a:r>
                      <a:endParaRPr lang="en-US" sz="1800">
                        <a:effectLst/>
                        <a:latin typeface="Calibri"/>
                        <a:ea typeface="宋体"/>
                        <a:cs typeface="Times New Roman"/>
                      </a:endParaRPr>
                    </a:p>
                  </a:txBody>
                  <a:tcPr marL="68580" marR="68580" marT="0" marB="0" anchor="ctr"/>
                </a:tc>
                <a:extLst>
                  <a:ext uri="{0D108BD9-81ED-4DB2-BD59-A6C34878D82A}">
                    <a16:rowId xmlns:a16="http://schemas.microsoft.com/office/drawing/2014/main" val="10003"/>
                  </a:ext>
                </a:extLst>
              </a:tr>
              <a:tr h="335280">
                <a:tc>
                  <a:txBody>
                    <a:bodyPr/>
                    <a:lstStyle/>
                    <a:p>
                      <a:pPr marL="0" marR="0" algn="ctr">
                        <a:lnSpc>
                          <a:spcPct val="115000"/>
                        </a:lnSpc>
                        <a:spcBef>
                          <a:spcPts val="0"/>
                        </a:spcBef>
                        <a:spcAft>
                          <a:spcPts val="0"/>
                        </a:spcAft>
                      </a:pPr>
                      <a:r>
                        <a:rPr lang="en-US" sz="2400" dirty="0">
                          <a:solidFill>
                            <a:srgbClr val="FF0000"/>
                          </a:solidFill>
                          <a:effectLst/>
                          <a:latin typeface="Consolas" panose="020B0609020204030204" pitchFamily="49" charset="0"/>
                        </a:rPr>
                        <a:t>TST</a:t>
                      </a:r>
                      <a:endParaRPr lang="en-US" sz="2400"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Rn</a:t>
                      </a:r>
                      <a:r>
                        <a:rPr lang="en-US" sz="1800" dirty="0">
                          <a:effectLst/>
                          <a:latin typeface="Consolas" panose="020B0609020204030204" pitchFamily="49" charset="0"/>
                        </a:rPr>
                        <a:t>, Op2</a:t>
                      </a:r>
                      <a:endParaRPr lang="en-US" sz="1800" dirty="0">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Test</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N,Z,C</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4"/>
                  </a:ext>
                </a:extLst>
              </a:tr>
            </a:tbl>
          </a:graphicData>
        </a:graphic>
      </p:graphicFrame>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7</a:t>
            </a:fld>
            <a:endParaRPr kumimoji="0" lang="en-US" dirty="0"/>
          </a:p>
        </p:txBody>
      </p:sp>
    </p:spTree>
    <p:extLst>
      <p:ext uri="{BB962C8B-B14F-4D97-AF65-F5344CB8AC3E}">
        <p14:creationId xmlns:p14="http://schemas.microsoft.com/office/powerpoint/2010/main" val="25023434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of CMP</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8</a:t>
            </a:fld>
            <a:endParaRPr kumimoji="0" lang="en-US" dirty="0"/>
          </a:p>
        </p:txBody>
      </p:sp>
      <p:sp>
        <p:nvSpPr>
          <p:cNvPr id="5" name="Rectangle 4"/>
          <p:cNvSpPr/>
          <p:nvPr/>
        </p:nvSpPr>
        <p:spPr>
          <a:xfrm>
            <a:off x="2819400" y="2286000"/>
            <a:ext cx="6324600" cy="3416320"/>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Area absolute, CODE, </a:t>
            </a:r>
            <a:r>
              <a:rPr lang="en-US" dirty="0" err="1">
                <a:latin typeface="Consolas" panose="020B0609020204030204" pitchFamily="49" charset="0"/>
                <a:cs typeface="Consolas" panose="020B0609020204030204" pitchFamily="49" charset="0"/>
              </a:rPr>
              <a:t>READONLY</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EXPORT __main  </a:t>
            </a:r>
          </a:p>
          <a:p>
            <a:r>
              <a:rPr lang="en-US" dirty="0">
                <a:latin typeface="Consolas" panose="020B0609020204030204" pitchFamily="49" charset="0"/>
                <a:cs typeface="Consolas" panose="020B0609020204030204" pitchFamily="49" charset="0"/>
              </a:rPr>
              <a:t>       ENTRY</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__main </a:t>
            </a:r>
            <a:r>
              <a:rPr lang="en-US" dirty="0" err="1">
                <a:latin typeface="Consolas" panose="020B0609020204030204" pitchFamily="49" charset="0"/>
                <a:cs typeface="Consolas" panose="020B0609020204030204" pitchFamily="49" charset="0"/>
              </a:rPr>
              <a:t>PROC</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CMP</a:t>
            </a:r>
            <a:r>
              <a:rPr lang="en-US" dirty="0">
                <a:latin typeface="Consolas" panose="020B0609020204030204" pitchFamily="49" charset="0"/>
                <a:cs typeface="Consolas" panose="020B0609020204030204" pitchFamily="49" charset="0"/>
              </a:rPr>
              <a:t>    r1, #0       </a:t>
            </a:r>
            <a:r>
              <a:rPr lang="en-US" dirty="0">
                <a:solidFill>
                  <a:schemeClr val="bg1">
                    <a:lumMod val="50000"/>
                  </a:schemeClr>
                </a:solidFill>
                <a:latin typeface="Consolas" panose="020B0609020204030204" pitchFamily="49" charset="0"/>
                <a:cs typeface="Consolas" panose="020B0609020204030204" pitchFamily="49" charset="0"/>
              </a:rPr>
              <a:t>; r1 = x</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RSB</a:t>
            </a:r>
            <a:r>
              <a:rPr lang="en-US" b="1" dirty="0">
                <a:solidFill>
                  <a:srgbClr val="FF0000"/>
                </a:solidFill>
                <a:latin typeface="Consolas" panose="020B0609020204030204" pitchFamily="49" charset="0"/>
                <a:cs typeface="Consolas" panose="020B0609020204030204" pitchFamily="49" charset="0"/>
              </a:rPr>
              <a:t>LT</a:t>
            </a:r>
            <a:r>
              <a:rPr lang="en-US" dirty="0">
                <a:latin typeface="Consolas" panose="020B0609020204030204" pitchFamily="49" charset="0"/>
                <a:cs typeface="Consolas" panose="020B0609020204030204" pitchFamily="49" charset="0"/>
              </a:rPr>
              <a:t>  r0, r1, #0</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done   B done     </a:t>
            </a:r>
            <a:r>
              <a:rPr lang="en-US" dirty="0">
                <a:solidFill>
                  <a:schemeClr val="bg1">
                    <a:lumMod val="50000"/>
                  </a:schemeClr>
                </a:solidFill>
                <a:latin typeface="Consolas" panose="020B0609020204030204" pitchFamily="49" charset="0"/>
                <a:cs typeface="Consolas" panose="020B0609020204030204" pitchFamily="49" charset="0"/>
              </a:rPr>
              <a:t>; deadloop, end of program</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ENDP</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END</a:t>
            </a:r>
          </a:p>
        </p:txBody>
      </p:sp>
      <mc:AlternateContent xmlns:mc="http://schemas.openxmlformats.org/markup-compatibility/2006" xmlns:a14="http://schemas.microsoft.com/office/drawing/2010/main">
        <mc:Choice Requires="a14">
          <p:sp>
            <p:nvSpPr>
              <p:cNvPr id="6" name="TextBox 5"/>
              <p:cNvSpPr txBox="1"/>
              <p:nvPr/>
            </p:nvSpPr>
            <p:spPr>
              <a:xfrm>
                <a:off x="5105400" y="1524000"/>
                <a:ext cx="2057400" cy="52322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a:rPr>
                        <m:t>𝑓</m:t>
                      </m:r>
                      <m:d>
                        <m:dPr>
                          <m:ctrlPr>
                            <a:rPr lang="en-US" sz="2800" i="1">
                              <a:latin typeface="Cambria Math" panose="02040503050406030204" pitchFamily="18" charset="0"/>
                            </a:rPr>
                          </m:ctrlPr>
                        </m:dPr>
                        <m:e>
                          <m:r>
                            <a:rPr lang="en-US" sz="2800" i="1">
                              <a:latin typeface="Cambria Math"/>
                            </a:rPr>
                            <m:t>𝑥</m:t>
                          </m:r>
                        </m:e>
                      </m:d>
                      <m:r>
                        <a:rPr lang="en-US" sz="2800" i="1">
                          <a:latin typeface="Cambria Math"/>
                        </a:rPr>
                        <m:t>=|</m:t>
                      </m:r>
                      <m:r>
                        <a:rPr lang="en-US" sz="2800" i="1">
                          <a:latin typeface="Cambria Math"/>
                        </a:rPr>
                        <m:t>𝑥</m:t>
                      </m:r>
                      <m:r>
                        <a:rPr lang="en-US" sz="2800" i="1">
                          <a:latin typeface="Cambria Math"/>
                        </a:rPr>
                        <m:t>|</m:t>
                      </m:r>
                    </m:oMath>
                  </m:oMathPara>
                </a14:m>
                <a:endParaRPr lang="en-US" sz="2800" dirty="0"/>
              </a:p>
            </p:txBody>
          </p:sp>
        </mc:Choice>
        <mc:Fallback xmlns="">
          <p:sp>
            <p:nvSpPr>
              <p:cNvPr id="6" name="TextBox 5"/>
              <p:cNvSpPr txBox="1">
                <a:spLocks noRot="1" noChangeAspect="1" noMove="1" noResize="1" noEditPoints="1" noAdjustHandles="1" noChangeArrowheads="1" noChangeShapeType="1" noTextEdit="1"/>
              </p:cNvSpPr>
              <p:nvPr/>
            </p:nvSpPr>
            <p:spPr>
              <a:xfrm>
                <a:off x="5105400" y="1524000"/>
                <a:ext cx="2057400" cy="523220"/>
              </a:xfrm>
              <a:prstGeom prst="rect">
                <a:avLst/>
              </a:prstGeom>
              <a:blipFill>
                <a:blip r:embed="rId3"/>
                <a:stretch>
                  <a:fillRect b="-1904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070E943D-54D2-737B-8F17-C236B0E07369}"/>
              </a:ext>
            </a:extLst>
          </p:cNvPr>
          <p:cNvSpPr txBox="1"/>
          <p:nvPr/>
        </p:nvSpPr>
        <p:spPr>
          <a:xfrm>
            <a:off x="2743199" y="5776516"/>
            <a:ext cx="6629400" cy="646331"/>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RSBLT r1, r1, #0:: conditional execution of the RSB instruction with condition code LT. If r1 &lt; 0, then set r1=−r1</a:t>
            </a:r>
            <a:endParaRPr lang="en-US" dirty="0"/>
          </a:p>
        </p:txBody>
      </p:sp>
    </p:spTree>
    <p:extLst>
      <p:ext uri="{BB962C8B-B14F-4D97-AF65-F5344CB8AC3E}">
        <p14:creationId xmlns:p14="http://schemas.microsoft.com/office/powerpoint/2010/main" val="34105704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Updating Condition Flags:</a:t>
            </a:r>
            <a:br>
              <a:rPr lang="en-US" dirty="0"/>
            </a:br>
            <a:r>
              <a:rPr lang="en-US" dirty="0"/>
              <a:t>TST and TEQ</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9</a:t>
            </a:fld>
            <a:endParaRPr kumimoji="0" lang="en-US" dirty="0"/>
          </a:p>
        </p:txBody>
      </p:sp>
      <mc:AlternateContent xmlns:mc="http://schemas.openxmlformats.org/markup-compatibility/2006" xmlns:a14="http://schemas.microsoft.com/office/drawing/2010/main">
        <mc:Choice Requires="a14">
          <p:sp>
            <p:nvSpPr>
              <p:cNvPr id="4" name="Content Placeholder 3"/>
              <p:cNvSpPr>
                <a:spLocks noGrp="1"/>
              </p:cNvSpPr>
              <p:nvPr>
                <p:ph sz="quarter" idx="1"/>
              </p:nvPr>
            </p:nvSpPr>
            <p:spPr>
              <a:xfrm>
                <a:off x="685800" y="1447800"/>
                <a:ext cx="8686800" cy="4709160"/>
              </a:xfrm>
            </p:spPr>
            <p:txBody>
              <a:bodyPr>
                <a:normAutofit fontScale="92500" lnSpcReduction="10000"/>
              </a:bodyPr>
              <a:lstStyle/>
              <a:p>
                <a:pPr marL="0" indent="0">
                  <a:buNone/>
                </a:pPr>
                <a:r>
                  <a:rPr lang="en-US" sz="2400" b="1" dirty="0">
                    <a:solidFill>
                      <a:srgbClr val="FF0000"/>
                    </a:solidFill>
                    <a:latin typeface="Consolas" panose="020B0609020204030204" pitchFamily="49" charset="0"/>
                  </a:rPr>
                  <a:t>   TST</a:t>
                </a:r>
                <a:r>
                  <a:rPr lang="en-US" sz="2400" b="1" dirty="0">
                    <a:latin typeface="Consolas" panose="020B0609020204030204" pitchFamily="49" charset="0"/>
                  </a:rPr>
                  <a:t> Rn, Operand2  </a:t>
                </a:r>
                <a:r>
                  <a:rPr lang="en-US" sz="2400" b="1" dirty="0">
                    <a:solidFill>
                      <a:schemeClr val="bg1">
                        <a:lumMod val="50000"/>
                      </a:schemeClr>
                    </a:solidFill>
                    <a:latin typeface="Consolas" panose="020B0609020204030204" pitchFamily="49" charset="0"/>
                  </a:rPr>
                  <a:t>; Bitwise AND</a:t>
                </a:r>
              </a:p>
              <a:p>
                <a:pPr marL="0" indent="0">
                  <a:buNone/>
                </a:pPr>
                <a:r>
                  <a:rPr lang="en-US" sz="2400" b="1" dirty="0">
                    <a:solidFill>
                      <a:srgbClr val="FF0000"/>
                    </a:solidFill>
                    <a:latin typeface="Consolas" panose="020B0609020204030204" pitchFamily="49" charset="0"/>
                  </a:rPr>
                  <a:t>   TEQ</a:t>
                </a:r>
                <a:r>
                  <a:rPr lang="en-US" sz="2400" b="1" dirty="0">
                    <a:latin typeface="Consolas" panose="020B0609020204030204" pitchFamily="49" charset="0"/>
                  </a:rPr>
                  <a:t> Rn, Operand2  </a:t>
                </a:r>
                <a:r>
                  <a:rPr lang="en-US" sz="2400" b="1" dirty="0">
                    <a:solidFill>
                      <a:schemeClr val="bg1">
                        <a:lumMod val="50000"/>
                      </a:schemeClr>
                    </a:solidFill>
                    <a:latin typeface="Consolas" panose="020B0609020204030204" pitchFamily="49" charset="0"/>
                  </a:rPr>
                  <a:t>; Bitwise Exclusive OR</a:t>
                </a:r>
              </a:p>
              <a:p>
                <a:pPr marL="0" indent="0" algn="ctr">
                  <a:buNone/>
                </a:pPr>
                <a:endParaRPr lang="en-US" sz="1400" dirty="0"/>
              </a:p>
              <a:p>
                <a:r>
                  <a:rPr lang="en-US" sz="2000" dirty="0">
                    <a:solidFill>
                      <a:srgbClr val="FF0000"/>
                    </a:solidFill>
                  </a:rPr>
                  <a:t>Update N and Z </a:t>
                </a:r>
                <a:r>
                  <a:rPr lang="en-US" sz="2000" dirty="0"/>
                  <a:t>according to the result</a:t>
                </a:r>
              </a:p>
              <a:p>
                <a:r>
                  <a:rPr lang="en-US" sz="2000" dirty="0"/>
                  <a:t>Can update C during the calculation of Operand2 (w/ shifting)</a:t>
                </a:r>
              </a:p>
              <a:p>
                <a:r>
                  <a:rPr lang="en-US" sz="2000" dirty="0"/>
                  <a:t>Do not affect V</a:t>
                </a:r>
              </a:p>
              <a:p>
                <a:r>
                  <a:rPr lang="en-US" sz="2000" dirty="0"/>
                  <a:t>TST performs </a:t>
                </a:r>
                <a:r>
                  <a:rPr lang="en-US" sz="2000" dirty="0">
                    <a:solidFill>
                      <a:srgbClr val="FF0000"/>
                    </a:solidFill>
                  </a:rPr>
                  <a:t>bitwise AND </a:t>
                </a:r>
                <a:r>
                  <a:rPr lang="en-US" sz="2000" dirty="0"/>
                  <a:t>on Rn and Operand2. </a:t>
                </a:r>
              </a:p>
              <a:p>
                <a:pPr lvl="1"/>
                <a:r>
                  <a:rPr lang="en-US" sz="1800" dirty="0"/>
                  <a:t>Same as </a:t>
                </a:r>
                <a:r>
                  <a:rPr lang="en-US" sz="1800" dirty="0">
                    <a:latin typeface="Consolas" panose="020B0609020204030204" pitchFamily="49" charset="0"/>
                  </a:rPr>
                  <a:t>ANDS</a:t>
                </a:r>
                <a:r>
                  <a:rPr lang="en-US" sz="1800" dirty="0"/>
                  <a:t>, except result discarded.</a:t>
                </a:r>
              </a:p>
              <a:p>
                <a:pPr lvl="1"/>
                <a:r>
                  <a:rPr lang="en-US" sz="1800" dirty="0"/>
                  <a:t>Use Operand2 as a mask; Z=0 implies “some masked bit(s) are set, so result is non-zero” Z=1 implies “none of the masked bit(s) are set, so result is zero.” For a single-bit mask, Z=0 means “that bit in Rn is 1,” and Z=1 means “that bit is 0.”</a:t>
                </a:r>
              </a:p>
              <a:p>
                <a:r>
                  <a:rPr lang="en-US" sz="2000" dirty="0"/>
                  <a:t> TEQ performs </a:t>
                </a:r>
                <a:r>
                  <a:rPr lang="en-US" sz="2000" dirty="0">
                    <a:solidFill>
                      <a:srgbClr val="FF0000"/>
                    </a:solidFill>
                  </a:rPr>
                  <a:t>bitwise Exclusive OR </a:t>
                </a:r>
                <a:r>
                  <a:rPr lang="en-US" sz="2000" dirty="0"/>
                  <a:t>on Rn and Operand2.</a:t>
                </a:r>
              </a:p>
              <a:p>
                <a:pPr lvl="1"/>
                <a:r>
                  <a:rPr lang="en-US" sz="1800" dirty="0"/>
                  <a:t>Same as </a:t>
                </a:r>
                <a:r>
                  <a:rPr lang="en-US" sz="1800" dirty="0">
                    <a:latin typeface="Consolas" panose="020B0609020204030204" pitchFamily="49" charset="0"/>
                  </a:rPr>
                  <a:t>EORS</a:t>
                </a:r>
                <a:r>
                  <a:rPr lang="en-US" sz="1800" dirty="0"/>
                  <a:t>, except result discarded.</a:t>
                </a:r>
              </a:p>
              <a:p>
                <a:pPr lvl="1"/>
                <a:r>
                  <a:rPr lang="en-US" sz="1800" dirty="0"/>
                  <a:t>If Rn and Operand2 are equal, then </a:t>
                </a:r>
                <a14:m>
                  <m:oMath xmlns:m="http://schemas.openxmlformats.org/officeDocument/2006/math">
                    <m:r>
                      <a:rPr lang="en-US" sz="1800">
                        <a:latin typeface="Cambria Math" panose="02040503050406030204" pitchFamily="18" charset="0"/>
                      </a:rPr>
                      <m:t>𝑅𝑛</m:t>
                    </m:r>
                    <m:r>
                      <a:rPr lang="en-US" sz="1800">
                        <a:latin typeface="Cambria Math" panose="02040503050406030204" pitchFamily="18" charset="0"/>
                      </a:rPr>
                      <m:t>⊕</m:t>
                    </m:r>
                    <m:r>
                      <a:rPr lang="en-US" sz="1800">
                        <a:latin typeface="Cambria Math" panose="02040503050406030204" pitchFamily="18" charset="0"/>
                      </a:rPr>
                      <m:t>𝑂𝑝𝑒𝑟𝑎𝑛𝑑</m:t>
                    </m:r>
                    <m:r>
                      <a:rPr lang="en-US" sz="1800">
                        <a:latin typeface="Cambria Math" panose="02040503050406030204" pitchFamily="18" charset="0"/>
                      </a:rPr>
                      <m:t>2</m:t>
                    </m:r>
                  </m:oMath>
                </a14:m>
                <a:r>
                  <a:rPr lang="en-US" sz="1800" dirty="0"/>
                  <a:t> is zero, and Z is set to 1; otherwise Z is cleared.</a:t>
                </a:r>
              </a:p>
            </p:txBody>
          </p:sp>
        </mc:Choice>
        <mc:Fallback xmlns="">
          <p:sp>
            <p:nvSpPr>
              <p:cNvPr id="4" name="Content Placeholder 3"/>
              <p:cNvSpPr>
                <a:spLocks noGrp="1" noRot="1" noChangeAspect="1" noMove="1" noResize="1" noEditPoints="1" noAdjustHandles="1" noChangeArrowheads="1" noChangeShapeType="1" noTextEdit="1"/>
              </p:cNvSpPr>
              <p:nvPr>
                <p:ph sz="quarter" idx="1"/>
              </p:nvPr>
            </p:nvSpPr>
            <p:spPr>
              <a:xfrm>
                <a:off x="685800" y="1447800"/>
                <a:ext cx="8686800" cy="4709160"/>
              </a:xfrm>
              <a:blipFill>
                <a:blip r:embed="rId3"/>
                <a:stretch>
                  <a:fillRect l="-211" t="-1554"/>
                </a:stretch>
              </a:blipFill>
            </p:spPr>
            <p:txBody>
              <a:bodyPr/>
              <a:lstStyle/>
              <a:p>
                <a:r>
                  <a:rPr lang="en-US">
                    <a:noFill/>
                  </a:rPr>
                  <a:t> </a:t>
                </a:r>
              </a:p>
            </p:txBody>
          </p:sp>
        </mc:Fallback>
      </mc:AlternateContent>
      <p:graphicFrame>
        <p:nvGraphicFramePr>
          <p:cNvPr id="5" name="Table 4">
            <a:extLst>
              <a:ext uri="{FF2B5EF4-FFF2-40B4-BE49-F238E27FC236}">
                <a16:creationId xmlns:a16="http://schemas.microsoft.com/office/drawing/2014/main" id="{8DCF8158-0829-196C-D9FE-1C770A94B4C4}"/>
              </a:ext>
            </a:extLst>
          </p:cNvPr>
          <p:cNvGraphicFramePr>
            <a:graphicFrameLocks noGrp="1"/>
          </p:cNvGraphicFramePr>
          <p:nvPr>
            <p:extLst>
              <p:ext uri="{D42A27DB-BD31-4B8C-83A1-F6EECF244321}">
                <p14:modId xmlns:p14="http://schemas.microsoft.com/office/powerpoint/2010/main" val="1239562302"/>
              </p:ext>
            </p:extLst>
          </p:nvPr>
        </p:nvGraphicFramePr>
        <p:xfrm>
          <a:off x="9776968" y="1828800"/>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AND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2771978248"/>
                  </a:ext>
                </a:extLst>
              </a:tr>
            </a:tbl>
          </a:graphicData>
        </a:graphic>
      </p:graphicFrame>
      <p:graphicFrame>
        <p:nvGraphicFramePr>
          <p:cNvPr id="6" name="Table 5">
            <a:extLst>
              <a:ext uri="{FF2B5EF4-FFF2-40B4-BE49-F238E27FC236}">
                <a16:creationId xmlns:a16="http://schemas.microsoft.com/office/drawing/2014/main" id="{03FCCA32-130C-6803-E182-E05ADA9ECB49}"/>
              </a:ext>
            </a:extLst>
          </p:cNvPr>
          <p:cNvGraphicFramePr>
            <a:graphicFrameLocks noGrp="1"/>
          </p:cNvGraphicFramePr>
          <p:nvPr>
            <p:extLst>
              <p:ext uri="{D42A27DB-BD31-4B8C-83A1-F6EECF244321}">
                <p14:modId xmlns:p14="http://schemas.microsoft.com/office/powerpoint/2010/main" val="375375003"/>
              </p:ext>
            </p:extLst>
          </p:nvPr>
        </p:nvGraphicFramePr>
        <p:xfrm>
          <a:off x="9776968" y="3949491"/>
          <a:ext cx="1749552" cy="1854200"/>
        </p:xfrm>
        <a:graphic>
          <a:graphicData uri="http://schemas.openxmlformats.org/drawingml/2006/table">
            <a:tbl>
              <a:tblPr firstRow="1" bandRow="1">
                <a:tableStyleId>{5C22544A-7EE6-4342-B048-85BDC9FD1C3A}</a:tableStyleId>
              </a:tblPr>
              <a:tblGrid>
                <a:gridCol w="326583">
                  <a:extLst>
                    <a:ext uri="{9D8B030D-6E8A-4147-A177-3AD203B41FA5}">
                      <a16:colId xmlns:a16="http://schemas.microsoft.com/office/drawing/2014/main" val="327165762"/>
                    </a:ext>
                  </a:extLst>
                </a:gridCol>
                <a:gridCol w="326583">
                  <a:extLst>
                    <a:ext uri="{9D8B030D-6E8A-4147-A177-3AD203B41FA5}">
                      <a16:colId xmlns:a16="http://schemas.microsoft.com/office/drawing/2014/main" val="4133995959"/>
                    </a:ext>
                  </a:extLst>
                </a:gridCol>
                <a:gridCol w="1096386">
                  <a:extLst>
                    <a:ext uri="{9D8B030D-6E8A-4147-A177-3AD203B41FA5}">
                      <a16:colId xmlns:a16="http://schemas.microsoft.com/office/drawing/2014/main" val="496111405"/>
                    </a:ext>
                  </a:extLst>
                </a:gridCol>
              </a:tblGrid>
              <a:tr h="370840">
                <a:tc>
                  <a:txBody>
                    <a:bodyPr/>
                    <a:lstStyle/>
                    <a:p>
                      <a:pPr algn="ctr"/>
                      <a:r>
                        <a:rPr lang="en-US" dirty="0"/>
                        <a:t>x</a:t>
                      </a:r>
                    </a:p>
                  </a:txBody>
                  <a:tcPr/>
                </a:tc>
                <a:tc>
                  <a:txBody>
                    <a:bodyPr/>
                    <a:lstStyle/>
                    <a:p>
                      <a:pPr algn="ctr"/>
                      <a:r>
                        <a:rPr lang="en-US" dirty="0"/>
                        <a:t>y</a:t>
                      </a:r>
                    </a:p>
                  </a:txBody>
                  <a:tcPr/>
                </a:tc>
                <a:tc>
                  <a:txBody>
                    <a:bodyPr/>
                    <a:lstStyle/>
                    <a:p>
                      <a:pPr algn="ctr"/>
                      <a:r>
                        <a:rPr lang="en-US" dirty="0"/>
                        <a:t>x XOR y</a:t>
                      </a:r>
                    </a:p>
                  </a:txBody>
                  <a:tcPr/>
                </a:tc>
                <a:extLst>
                  <a:ext uri="{0D108BD9-81ED-4DB2-BD59-A6C34878D82A}">
                    <a16:rowId xmlns:a16="http://schemas.microsoft.com/office/drawing/2014/main" val="6395782"/>
                  </a:ext>
                </a:extLst>
              </a:tr>
              <a:tr h="370840">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843437107"/>
                  </a:ext>
                </a:extLst>
              </a:tr>
              <a:tr h="370840">
                <a:tc>
                  <a:txBody>
                    <a:bodyPr/>
                    <a:lstStyle/>
                    <a:p>
                      <a:pPr algn="ctr"/>
                      <a:r>
                        <a:rPr lang="en-US" dirty="0"/>
                        <a:t>0</a:t>
                      </a:r>
                    </a:p>
                  </a:txBody>
                  <a:tcPr/>
                </a:tc>
                <a:tc>
                  <a:txBody>
                    <a:bodyPr/>
                    <a:lstStyle/>
                    <a:p>
                      <a:pPr algn="ctr"/>
                      <a:r>
                        <a:rPr lang="en-US" dirty="0"/>
                        <a:t>1</a:t>
                      </a:r>
                    </a:p>
                  </a:txBody>
                  <a:tcPr/>
                </a:tc>
                <a:tc>
                  <a:txBody>
                    <a:bodyPr/>
                    <a:lstStyle/>
                    <a:p>
                      <a:pPr algn="ctr"/>
                      <a:r>
                        <a:rPr lang="en-US" dirty="0"/>
                        <a:t>1</a:t>
                      </a:r>
                    </a:p>
                  </a:txBody>
                  <a:tcPr/>
                </a:tc>
                <a:extLst>
                  <a:ext uri="{0D108BD9-81ED-4DB2-BD59-A6C34878D82A}">
                    <a16:rowId xmlns:a16="http://schemas.microsoft.com/office/drawing/2014/main" val="74501186"/>
                  </a:ext>
                </a:extLst>
              </a:tr>
              <a:tr h="370840">
                <a:tc>
                  <a:txBody>
                    <a:bodyPr/>
                    <a:lstStyle/>
                    <a:p>
                      <a:pPr algn="ctr"/>
                      <a:r>
                        <a:rPr lang="en-US" dirty="0"/>
                        <a:t>1</a:t>
                      </a:r>
                    </a:p>
                  </a:txBody>
                  <a:tcPr/>
                </a:tc>
                <a:tc>
                  <a:txBody>
                    <a:bodyPr/>
                    <a:lstStyle/>
                    <a:p>
                      <a:pPr algn="ctr"/>
                      <a:r>
                        <a:rPr lang="en-US" dirty="0"/>
                        <a:t>0</a:t>
                      </a:r>
                    </a:p>
                  </a:txBody>
                  <a:tcPr/>
                </a:tc>
                <a:tc>
                  <a:txBody>
                    <a:bodyPr/>
                    <a:lstStyle/>
                    <a:p>
                      <a:pPr algn="ctr"/>
                      <a:r>
                        <a:rPr lang="en-US" dirty="0"/>
                        <a:t>1</a:t>
                      </a:r>
                    </a:p>
                  </a:txBody>
                  <a:tcPr/>
                </a:tc>
                <a:extLst>
                  <a:ext uri="{0D108BD9-81ED-4DB2-BD59-A6C34878D82A}">
                    <a16:rowId xmlns:a16="http://schemas.microsoft.com/office/drawing/2014/main" val="2082847053"/>
                  </a:ext>
                </a:extLst>
              </a:tr>
              <a:tr h="370840">
                <a:tc>
                  <a:txBody>
                    <a:bodyPr/>
                    <a:lstStyle/>
                    <a:p>
                      <a:pPr algn="ctr"/>
                      <a:r>
                        <a:rPr lang="en-US" dirty="0"/>
                        <a:t>1</a:t>
                      </a:r>
                    </a:p>
                  </a:txBody>
                  <a:tcPr/>
                </a:tc>
                <a:tc>
                  <a:txBody>
                    <a:bodyPr/>
                    <a:lstStyle/>
                    <a:p>
                      <a:pPr algn="ctr"/>
                      <a:r>
                        <a:rPr lang="en-US" dirty="0"/>
                        <a:t>1</a:t>
                      </a:r>
                    </a:p>
                  </a:txBody>
                  <a:tcPr/>
                </a:tc>
                <a:tc>
                  <a:txBody>
                    <a:bodyPr/>
                    <a:lstStyle/>
                    <a:p>
                      <a:pPr algn="ctr"/>
                      <a:r>
                        <a:rPr lang="en-US" dirty="0"/>
                        <a:t>0</a:t>
                      </a:r>
                    </a:p>
                  </a:txBody>
                  <a:tcPr/>
                </a:tc>
                <a:extLst>
                  <a:ext uri="{0D108BD9-81ED-4DB2-BD59-A6C34878D82A}">
                    <a16:rowId xmlns:a16="http://schemas.microsoft.com/office/drawing/2014/main" val="2771978248"/>
                  </a:ext>
                </a:extLst>
              </a:tr>
            </a:tbl>
          </a:graphicData>
        </a:graphic>
      </p:graphicFrame>
    </p:spTree>
    <p:extLst>
      <p:ext uri="{BB962C8B-B14F-4D97-AF65-F5344CB8AC3E}">
        <p14:creationId xmlns:p14="http://schemas.microsoft.com/office/powerpoint/2010/main" val="3037248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B27C1-1F30-01B4-EDA5-AA372A7564E3}"/>
              </a:ext>
            </a:extLst>
          </p:cNvPr>
          <p:cNvSpPr>
            <a:spLocks noGrp="1"/>
          </p:cNvSpPr>
          <p:nvPr>
            <p:ph type="title"/>
          </p:nvPr>
        </p:nvSpPr>
        <p:spPr/>
        <p:txBody>
          <a:bodyPr/>
          <a:lstStyle/>
          <a:p>
            <a:r>
              <a:rPr lang="en-US" dirty="0"/>
              <a:t>Example of TEQ</a:t>
            </a:r>
          </a:p>
        </p:txBody>
      </p:sp>
      <p:sp>
        <p:nvSpPr>
          <p:cNvPr id="3" name="Slide Number Placeholder 2">
            <a:extLst>
              <a:ext uri="{FF2B5EF4-FFF2-40B4-BE49-F238E27FC236}">
                <a16:creationId xmlns:a16="http://schemas.microsoft.com/office/drawing/2014/main" id="{45F24D4A-7641-EB87-BBFE-58459B1F105F}"/>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994813A-6090-94C3-BB20-0506E22F6AC2}"/>
              </a:ext>
            </a:extLst>
          </p:cNvPr>
          <p:cNvSpPr>
            <a:spLocks noGrp="1"/>
          </p:cNvSpPr>
          <p:nvPr>
            <p:ph sz="quarter" idx="1"/>
          </p:nvPr>
        </p:nvSpPr>
        <p:spPr>
          <a:xfrm>
            <a:off x="990600" y="1219200"/>
            <a:ext cx="9220200" cy="990600"/>
          </a:xfrm>
        </p:spPr>
        <p:txBody>
          <a:bodyPr/>
          <a:lstStyle/>
          <a:p>
            <a:r>
              <a:rPr lang="pt-BR" dirty="0"/>
              <a:t>Translate C code into assembly:</a:t>
            </a:r>
          </a:p>
        </p:txBody>
      </p:sp>
      <mc:AlternateContent xmlns:mc="http://schemas.openxmlformats.org/markup-compatibility/2006" xmlns:a14="http://schemas.microsoft.com/office/drawing/2010/main">
        <mc:Choice Requires="a14">
          <p:sp>
            <p:nvSpPr>
              <p:cNvPr id="6" name="Content Placeholder 3">
                <a:extLst>
                  <a:ext uri="{FF2B5EF4-FFF2-40B4-BE49-F238E27FC236}">
                    <a16:creationId xmlns:a16="http://schemas.microsoft.com/office/drawing/2014/main" id="{E5FFFCF9-37E2-4F46-BF73-3BA72A325AB2}"/>
                  </a:ext>
                </a:extLst>
              </p:cNvPr>
              <p:cNvSpPr txBox="1">
                <a:spLocks/>
              </p:cNvSpPr>
              <p:nvPr/>
            </p:nvSpPr>
            <p:spPr>
              <a:xfrm>
                <a:off x="990600" y="3200400"/>
                <a:ext cx="10210800" cy="3281640"/>
              </a:xfrm>
              <a:prstGeom prst="rect">
                <a:avLst/>
              </a:prstGeom>
            </p:spPr>
            <p:txBody>
              <a:bodyPr vert="horz">
                <a:normAutofit fontScale="77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dirty="0"/>
                  <a:t>TEQ r0, #‘!’ performs a test-equal by computing </a:t>
                </a:r>
                <a14:m>
                  <m:oMath xmlns:m="http://schemas.openxmlformats.org/officeDocument/2006/math">
                    <m:r>
                      <a:rPr lang="en-US" i="1">
                        <a:latin typeface="Cambria Math" panose="02040503050406030204" pitchFamily="18" charset="0"/>
                      </a:rPr>
                      <m:t>𝑟</m:t>
                    </m:r>
                    <m:r>
                      <a:rPr lang="en-US">
                        <a:latin typeface="Cambria Math" panose="02040503050406030204" pitchFamily="18" charset="0"/>
                      </a:rPr>
                      <m:t>0</m:t>
                    </m:r>
                    <m:sSup>
                      <m:sSupPr>
                        <m:ctrlPr>
                          <a:rPr lang="ar-AE" i="1">
                            <a:latin typeface="Cambria Math" panose="02040503050406030204" pitchFamily="18" charset="0"/>
                          </a:rPr>
                        </m:ctrlPr>
                      </m:sSupPr>
                      <m:e>
                        <m:r>
                          <a:rPr lang="ar-AE">
                            <a:latin typeface="Cambria Math" panose="02040503050406030204" pitchFamily="18" charset="0"/>
                          </a:rPr>
                          <m:t>⊕</m:t>
                        </m:r>
                      </m:e>
                      <m:sup>
                        <m:r>
                          <a:rPr lang="ar-AE">
                            <a:latin typeface="Cambria Math" panose="02040503050406030204" pitchFamily="18" charset="0"/>
                          </a:rPr>
                          <m:t>′</m:t>
                        </m:r>
                      </m:sup>
                    </m:sSup>
                    <m:sSup>
                      <m:sSupPr>
                        <m:ctrlPr>
                          <a:rPr lang="ar-AE" i="1">
                            <a:latin typeface="Cambria Math" panose="02040503050406030204" pitchFamily="18" charset="0"/>
                          </a:rPr>
                        </m:ctrlPr>
                      </m:sSupPr>
                      <m:e>
                        <m:r>
                          <a:rPr lang="ar-AE">
                            <a:latin typeface="Cambria Math" panose="02040503050406030204" pitchFamily="18" charset="0"/>
                          </a:rPr>
                          <m:t>!</m:t>
                        </m:r>
                      </m:e>
                      <m:sup>
                        <m:r>
                          <a:rPr lang="ar-AE">
                            <a:latin typeface="Cambria Math" panose="02040503050406030204" pitchFamily="18" charset="0"/>
                          </a:rPr>
                          <m:t>′</m:t>
                        </m:r>
                      </m:sup>
                    </m:sSup>
                  </m:oMath>
                </a14:m>
                <a:r>
                  <a:rPr lang="ar-AE" dirty="0"/>
                  <a:t> </a:t>
                </a:r>
                <a:r>
                  <a:rPr lang="en-US" dirty="0"/>
                  <a:t>and setting condition flags; Z=1 when r0 equals ‘!’. </a:t>
                </a:r>
              </a:p>
              <a:p>
                <a:r>
                  <a:rPr lang="en-US" dirty="0"/>
                  <a:t>TEQNE r0, #‘?’ executes only if the previous Z=0 (i.e., char was not ‘!’); it tests r0 against ‘?’ and sets Z accordingly.  This achieves the logical OR without branches by conditionally running the second test only when needed.</a:t>
                </a:r>
              </a:p>
              <a:p>
                <a:pPr lvl="1"/>
                <a:r>
                  <a:rPr lang="en-GB" sz="2400" kern="0" dirty="0"/>
                  <a:t>Logical OR operator (||) employs short-circuit evaluation, meaning it evaluates expressions from left to right and stops as soon as the result of the entire expression is determined. For (cond1||cond2): If cond1 evaluates to true (non-zero), the overall result of the || operation is already known to be true, so cond2 is not evaluated. If cond1 evaluates to false (zero), the evaluation proceeds to the next operand cond2.</a:t>
                </a:r>
                <a:endParaRPr lang="en-US" dirty="0"/>
              </a:p>
              <a:p>
                <a:r>
                  <a:rPr lang="en-US" dirty="0"/>
                  <a:t>ADDEQ r1, r1, #1 executes only if Z=1 after the tests, meaning char matched either ‘!’ or ‘?’.</a:t>
                </a:r>
              </a:p>
              <a:p>
                <a:endParaRPr lang="en-US" dirty="0"/>
              </a:p>
            </p:txBody>
          </p:sp>
        </mc:Choice>
        <mc:Fallback xmlns="">
          <p:sp>
            <p:nvSpPr>
              <p:cNvPr id="6" name="Content Placeholder 3">
                <a:extLst>
                  <a:ext uri="{FF2B5EF4-FFF2-40B4-BE49-F238E27FC236}">
                    <a16:creationId xmlns:a16="http://schemas.microsoft.com/office/drawing/2014/main" id="{E5FFFCF9-37E2-4F46-BF73-3BA72A325AB2}"/>
                  </a:ext>
                </a:extLst>
              </p:cNvPr>
              <p:cNvSpPr txBox="1">
                <a:spLocks noRot="1" noChangeAspect="1" noMove="1" noResize="1" noEditPoints="1" noAdjustHandles="1" noChangeArrowheads="1" noChangeShapeType="1" noTextEdit="1"/>
              </p:cNvSpPr>
              <p:nvPr/>
            </p:nvSpPr>
            <p:spPr>
              <a:xfrm>
                <a:off x="990600" y="3200400"/>
                <a:ext cx="10210800" cy="3281640"/>
              </a:xfrm>
              <a:prstGeom prst="rect">
                <a:avLst/>
              </a:prstGeom>
              <a:blipFill>
                <a:blip r:embed="rId2"/>
                <a:stretch>
                  <a:fillRect l="-239" t="-2788" r="-597"/>
                </a:stretch>
              </a:blipFill>
            </p:spPr>
            <p:txBody>
              <a:bodyPr/>
              <a:lstStyle/>
              <a:p>
                <a:r>
                  <a:rPr lang="en-US">
                    <a:noFill/>
                  </a:rPr>
                  <a:t> </a:t>
                </a:r>
              </a:p>
            </p:txBody>
          </p:sp>
        </mc:Fallback>
      </mc:AlternateContent>
      <p:graphicFrame>
        <p:nvGraphicFramePr>
          <p:cNvPr id="7" name="Table 6">
            <a:extLst>
              <a:ext uri="{FF2B5EF4-FFF2-40B4-BE49-F238E27FC236}">
                <a16:creationId xmlns:a16="http://schemas.microsoft.com/office/drawing/2014/main" id="{92162710-0645-EA84-2B5C-000E62B73A45}"/>
              </a:ext>
            </a:extLst>
          </p:cNvPr>
          <p:cNvGraphicFramePr>
            <a:graphicFrameLocks noGrp="1"/>
          </p:cNvGraphicFramePr>
          <p:nvPr>
            <p:extLst>
              <p:ext uri="{D42A27DB-BD31-4B8C-83A1-F6EECF244321}">
                <p14:modId xmlns:p14="http://schemas.microsoft.com/office/powerpoint/2010/main" val="1083452584"/>
              </p:ext>
            </p:extLst>
          </p:nvPr>
        </p:nvGraphicFramePr>
        <p:xfrm>
          <a:off x="1828800" y="1806067"/>
          <a:ext cx="8256373" cy="1261872"/>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239268">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C Code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Assembly</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957072">
                <a:tc>
                  <a:txBody>
                    <a:bodyPr/>
                    <a:lstStyle/>
                    <a:p>
                      <a:pPr marL="0" marR="0" algn="just">
                        <a:spcBef>
                          <a:spcPts val="0"/>
                        </a:spcBef>
                        <a:spcAft>
                          <a:spcPts val="0"/>
                        </a:spcAft>
                      </a:pPr>
                      <a:r>
                        <a:rPr lang="en-US" sz="2000" dirty="0">
                          <a:effectLst/>
                          <a:latin typeface="Consolas" panose="020B0609020204030204" pitchFamily="49" charset="0"/>
                          <a:ea typeface="宋体"/>
                          <a:cs typeface="Consolas" panose="020B0609020204030204" pitchFamily="49" charset="0"/>
                        </a:rPr>
                        <a:t>if (char==‘!’||char==‘?’) found++; </a:t>
                      </a:r>
                    </a:p>
                    <a:p>
                      <a:pPr marL="0" marR="0" algn="just">
                        <a:spcBef>
                          <a:spcPts val="0"/>
                        </a:spcBef>
                        <a:spcAft>
                          <a:spcPts val="0"/>
                        </a:spcAft>
                      </a:pP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 r0, #‘!’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TEQNE r0, #‘?’</a:t>
                      </a:r>
                    </a:p>
                    <a:p>
                      <a:pPr marL="0" marR="0" algn="just">
                        <a:spcBef>
                          <a:spcPts val="0"/>
                        </a:spcBef>
                        <a:spcAft>
                          <a:spcPts val="0"/>
                        </a:spcAft>
                      </a:pPr>
                      <a:r>
                        <a:rPr lang="pt-BR" sz="2000" dirty="0">
                          <a:effectLst/>
                          <a:latin typeface="Consolas" panose="020B0609020204030204" pitchFamily="49" charset="0"/>
                          <a:ea typeface="宋体"/>
                          <a:cs typeface="Consolas" panose="020B0609020204030204" pitchFamily="49" charset="0"/>
                        </a:rPr>
                        <a:t>ADDEQ r1, r1, #1</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974562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Unconditional Branch Instructions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11</a:t>
            </a:fld>
            <a:endParaRPr kumimoji="0" lang="en-US" dirty="0"/>
          </a:p>
        </p:txBody>
      </p:sp>
      <p:sp>
        <p:nvSpPr>
          <p:cNvPr id="5" name="Content Placeholder 4"/>
          <p:cNvSpPr>
            <a:spLocks noGrp="1"/>
          </p:cNvSpPr>
          <p:nvPr>
            <p:ph sz="quarter" idx="1"/>
          </p:nvPr>
        </p:nvSpPr>
        <p:spPr>
          <a:xfrm>
            <a:off x="842932" y="3228829"/>
            <a:ext cx="8534400" cy="2880360"/>
          </a:xfrm>
        </p:spPr>
        <p:txBody>
          <a:bodyPr>
            <a:normAutofit fontScale="92500" lnSpcReduction="20000"/>
          </a:bodyPr>
          <a:lstStyle/>
          <a:p>
            <a:r>
              <a:rPr lang="en-US" sz="2000" i="1" dirty="0">
                <a:solidFill>
                  <a:srgbClr val="FF0000"/>
                </a:solidFill>
              </a:rPr>
              <a:t>B label</a:t>
            </a:r>
            <a:r>
              <a:rPr lang="en-US" sz="2000" dirty="0"/>
              <a:t> </a:t>
            </a:r>
          </a:p>
          <a:p>
            <a:pPr lvl="1"/>
            <a:r>
              <a:rPr lang="en-US" sz="1700" dirty="0"/>
              <a:t>cause a branch to label.</a:t>
            </a:r>
          </a:p>
          <a:p>
            <a:r>
              <a:rPr lang="en-US" sz="2000" i="1" dirty="0">
                <a:solidFill>
                  <a:srgbClr val="FF0000"/>
                </a:solidFill>
              </a:rPr>
              <a:t>BL label</a:t>
            </a:r>
            <a:endParaRPr lang="en-US" sz="2000" dirty="0"/>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cause a branch to label.</a:t>
            </a:r>
          </a:p>
          <a:p>
            <a:r>
              <a:rPr lang="en-US" sz="2000" i="1" dirty="0">
                <a:solidFill>
                  <a:srgbClr val="FF0000"/>
                </a:solidFill>
              </a:rPr>
              <a:t>BX Rm</a:t>
            </a:r>
            <a:endParaRPr lang="en-US" sz="2000" dirty="0"/>
          </a:p>
          <a:p>
            <a:pPr lvl="1"/>
            <a:r>
              <a:rPr lang="en-US" sz="1700" dirty="0"/>
              <a:t>branch to the address held in Rm</a:t>
            </a:r>
          </a:p>
          <a:p>
            <a:r>
              <a:rPr lang="en-US" sz="2000" i="1" dirty="0">
                <a:solidFill>
                  <a:srgbClr val="FF0000"/>
                </a:solidFill>
              </a:rPr>
              <a:t>BLX Rm</a:t>
            </a:r>
            <a:r>
              <a:rPr lang="en-US" sz="2000" dirty="0"/>
              <a:t>: </a:t>
            </a:r>
          </a:p>
          <a:p>
            <a:pPr lvl="1"/>
            <a:r>
              <a:rPr lang="en-US" sz="1700" dirty="0"/>
              <a:t>copy the address of the next instruction into </a:t>
            </a:r>
            <a:r>
              <a:rPr lang="en-US" sz="1700" dirty="0">
                <a:latin typeface="Consolas" panose="020B0609020204030204" pitchFamily="49" charset="0"/>
              </a:rPr>
              <a:t>r14</a:t>
            </a:r>
            <a:r>
              <a:rPr lang="en-US" sz="1700" dirty="0"/>
              <a:t> (</a:t>
            </a:r>
            <a:r>
              <a:rPr lang="en-US" sz="1700" dirty="0" err="1"/>
              <a:t>lr</a:t>
            </a:r>
            <a:r>
              <a:rPr lang="en-US" sz="1700" dirty="0"/>
              <a:t>, the link register) and </a:t>
            </a:r>
          </a:p>
          <a:p>
            <a:pPr lvl="1"/>
            <a:r>
              <a:rPr lang="en-US" sz="1700" dirty="0"/>
              <a:t>branch to the address held in Rm</a:t>
            </a:r>
          </a:p>
        </p:txBody>
      </p:sp>
      <p:graphicFrame>
        <p:nvGraphicFramePr>
          <p:cNvPr id="3" name="Table 2"/>
          <p:cNvGraphicFramePr>
            <a:graphicFrameLocks noGrp="1"/>
          </p:cNvGraphicFramePr>
          <p:nvPr>
            <p:extLst>
              <p:ext uri="{D42A27DB-BD31-4B8C-83A1-F6EECF244321}">
                <p14:modId xmlns:p14="http://schemas.microsoft.com/office/powerpoint/2010/main" val="2406667574"/>
              </p:ext>
            </p:extLst>
          </p:nvPr>
        </p:nvGraphicFramePr>
        <p:xfrm>
          <a:off x="3352801" y="1503389"/>
          <a:ext cx="5791199" cy="1478280"/>
        </p:xfrm>
        <a:graphic>
          <a:graphicData uri="http://schemas.openxmlformats.org/drawingml/2006/table">
            <a:tbl>
              <a:tblPr firstRow="1" firstCol="1" bandRow="1">
                <a:tableStyleId>{B301B821-A1FF-4177-AEE7-76D212191A09}</a:tableStyleId>
              </a:tblPr>
              <a:tblGrid>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104057392"/>
                    </a:ext>
                  </a:extLst>
                </a:gridCol>
                <a:gridCol w="3047999">
                  <a:extLst>
                    <a:ext uri="{9D8B030D-6E8A-4147-A177-3AD203B41FA5}">
                      <a16:colId xmlns:a16="http://schemas.microsoft.com/office/drawing/2014/main" val="20002"/>
                    </a:ext>
                  </a:extLst>
                </a:gridCol>
              </a:tblGrid>
              <a:tr h="0">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nchorCtr="1">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Consolas" panose="020B0609020204030204" pitchFamily="49" charset="0"/>
                        </a:rPr>
                        <a:t>label</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a:effectLst/>
                          <a:latin typeface="Consolas" panose="020B0609020204030204" pitchFamily="49" charset="0"/>
                        </a:rPr>
                        <a:t>label</a:t>
                      </a:r>
                      <a:endParaRPr lang="en-US" sz="180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marR="0" algn="ctr">
                        <a:lnSpc>
                          <a:spcPct val="115000"/>
                        </a:lnSpc>
                        <a:spcBef>
                          <a:spcPts val="0"/>
                        </a:spcBef>
                        <a:spcAft>
                          <a:spcPts val="0"/>
                        </a:spcAft>
                      </a:pPr>
                      <a:r>
                        <a:rPr lang="en-US" sz="1800" b="1">
                          <a:solidFill>
                            <a:srgbClr val="FF0000"/>
                          </a:solidFill>
                          <a:effectLst/>
                          <a:latin typeface="Consolas" panose="020B0609020204030204" pitchFamily="49" charset="0"/>
                        </a:rPr>
                        <a:t>BLX</a:t>
                      </a:r>
                      <a:endParaRPr lang="en-US" sz="1800" b="1">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 with Link</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BX</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err="1">
                          <a:effectLst/>
                          <a:latin typeface="Consolas" panose="020B0609020204030204" pitchFamily="49" charset="0"/>
                        </a:rPr>
                        <a:t>Rm</a:t>
                      </a:r>
                      <a:endParaRPr lang="en-US" sz="1800" dirty="0">
                        <a:effectLst/>
                        <a:latin typeface="Consolas" panose="020B0609020204030204" pitchFamily="49" charset="0"/>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rPr>
                        <a:t>Branch indirect</a:t>
                      </a:r>
                      <a:endParaRPr lang="en-US" sz="1800" dirty="0">
                        <a:effectLst/>
                        <a:latin typeface="Calibri"/>
                        <a:ea typeface="宋体"/>
                        <a:cs typeface="Times New Roman"/>
                      </a:endParaRPr>
                    </a:p>
                  </a:txBody>
                  <a:tcPr marL="68580" marR="68580" marT="0" marB="0" anchor="ctr" anchorCtr="1">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0860551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Unconditional Branch Instructions:</a:t>
            </a:r>
            <a:br>
              <a:rPr lang="en-US" dirty="0"/>
            </a:br>
            <a:r>
              <a:rPr lang="en-US" dirty="0"/>
              <a:t>A Simple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p:cNvSpPr>
            <a:spLocks noGrp="1"/>
          </p:cNvSpPr>
          <p:nvPr>
            <p:ph sz="quarter" idx="1"/>
          </p:nvPr>
        </p:nvSpPr>
        <p:spPr>
          <a:xfrm>
            <a:off x="2136648" y="4253396"/>
            <a:ext cx="8229600" cy="1280160"/>
          </a:xfrm>
        </p:spPr>
        <p:txBody>
          <a:bodyPr>
            <a:normAutofit fontScale="77500" lnSpcReduction="20000"/>
          </a:bodyPr>
          <a:lstStyle/>
          <a:p>
            <a:r>
              <a:rPr lang="en-US" dirty="0"/>
              <a:t>A </a:t>
            </a:r>
            <a:r>
              <a:rPr lang="en-US" dirty="0">
                <a:solidFill>
                  <a:srgbClr val="FF0000"/>
                </a:solidFill>
              </a:rPr>
              <a:t>label</a:t>
            </a:r>
            <a:r>
              <a:rPr lang="en-US" dirty="0"/>
              <a:t> marks the location of an instruction</a:t>
            </a:r>
          </a:p>
          <a:p>
            <a:r>
              <a:rPr lang="en-US" dirty="0"/>
              <a:t>Labels helps human to read the code</a:t>
            </a:r>
          </a:p>
          <a:p>
            <a:r>
              <a:rPr lang="en-US" dirty="0"/>
              <a:t>In machine program, labels are converted to numeric offsets by assembler </a:t>
            </a:r>
          </a:p>
        </p:txBody>
      </p:sp>
      <p:sp>
        <p:nvSpPr>
          <p:cNvPr id="5" name="TextBox 4"/>
          <p:cNvSpPr txBox="1"/>
          <p:nvPr/>
        </p:nvSpPr>
        <p:spPr>
          <a:xfrm>
            <a:off x="3478894" y="1729343"/>
            <a:ext cx="5545108" cy="193899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sz="2000" dirty="0">
                <a:latin typeface="Consolas" panose="020B0609020204030204" pitchFamily="49" charset="0"/>
              </a:rPr>
              <a:t>       MOVS r1, #1</a:t>
            </a:r>
          </a:p>
          <a:p>
            <a:r>
              <a:rPr lang="en-US" sz="2000" dirty="0">
                <a:latin typeface="Consolas" panose="020B0609020204030204" pitchFamily="49" charset="0"/>
              </a:rPr>
              <a:t>       </a:t>
            </a:r>
            <a:r>
              <a:rPr lang="en-US" sz="2000" b="1" dirty="0">
                <a:solidFill>
                  <a:srgbClr val="FF0000"/>
                </a:solidFill>
                <a:latin typeface="Consolas" panose="020B0609020204030204" pitchFamily="49" charset="0"/>
              </a:rPr>
              <a:t>B    target  </a:t>
            </a:r>
            <a:r>
              <a:rPr lang="en-US" sz="2000" dirty="0">
                <a:solidFill>
                  <a:schemeClr val="bg1">
                    <a:lumMod val="50000"/>
                  </a:schemeClr>
                </a:solidFill>
                <a:latin typeface="Consolas" panose="020B0609020204030204" pitchFamily="49" charset="0"/>
              </a:rPr>
              <a:t>; Branch to target</a:t>
            </a:r>
            <a:endParaRPr lang="en-US" sz="2000" b="1" dirty="0">
              <a:solidFill>
                <a:srgbClr val="FF0000"/>
              </a:solidFill>
              <a:latin typeface="Consolas" panose="020B0609020204030204" pitchFamily="49" charset="0"/>
            </a:endParaRPr>
          </a:p>
          <a:p>
            <a:r>
              <a:rPr lang="en-US" sz="2000" dirty="0">
                <a:latin typeface="Consolas" panose="020B0609020204030204" pitchFamily="49" charset="0"/>
              </a:rPr>
              <a:t>       MOVS r2, #2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r3, #3  </a:t>
            </a:r>
            <a:r>
              <a:rPr lang="en-US" sz="2000" dirty="0">
                <a:solidFill>
                  <a:srgbClr val="0000FF"/>
                </a:solidFill>
                <a:latin typeface="Consolas" panose="020B0609020204030204" pitchFamily="49" charset="0"/>
              </a:rPr>
              <a:t>; Not executed</a:t>
            </a:r>
          </a:p>
          <a:p>
            <a:r>
              <a:rPr lang="en-US" sz="2000" dirty="0">
                <a:latin typeface="Consolas" panose="020B0609020204030204" pitchFamily="49" charset="0"/>
              </a:rPr>
              <a:t>       MOVS r4, #4  </a:t>
            </a:r>
            <a:r>
              <a:rPr lang="en-US" sz="2000" dirty="0">
                <a:solidFill>
                  <a:srgbClr val="0000FF"/>
                </a:solidFill>
                <a:latin typeface="Consolas" panose="020B0609020204030204" pitchFamily="49" charset="0"/>
              </a:rPr>
              <a:t>; Not executed</a:t>
            </a:r>
          </a:p>
          <a:p>
            <a:r>
              <a:rPr lang="en-US" sz="2000" b="1" dirty="0">
                <a:solidFill>
                  <a:srgbClr val="FF0000"/>
                </a:solidFill>
                <a:latin typeface="Consolas" panose="020B0609020204030204" pitchFamily="49" charset="0"/>
              </a:rPr>
              <a:t>target</a:t>
            </a:r>
            <a:r>
              <a:rPr lang="en-US" sz="2000" dirty="0">
                <a:latin typeface="Consolas" panose="020B0609020204030204" pitchFamily="49" charset="0"/>
              </a:rPr>
              <a:t> MOVS r5, #5</a:t>
            </a:r>
          </a:p>
        </p:txBody>
      </p:sp>
    </p:spTree>
    <p:extLst>
      <p:ext uri="{BB962C8B-B14F-4D97-AF65-F5344CB8AC3E}">
        <p14:creationId xmlns:p14="http://schemas.microsoft.com/office/powerpoint/2010/main" val="2162368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13</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extLst>
              <p:ext uri="{D42A27DB-BD31-4B8C-83A1-F6EECF244321}">
                <p14:modId xmlns:p14="http://schemas.microsoft.com/office/powerpoint/2010/main" val="217241857"/>
              </p:ext>
            </p:extLst>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extLst>
              <p:ext uri="{D42A27DB-BD31-4B8C-83A1-F6EECF244321}">
                <p14:modId xmlns:p14="http://schemas.microsoft.com/office/powerpoint/2010/main" val="1554878028"/>
              </p:ext>
            </p:extLst>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209600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14</a:t>
            </a:fld>
            <a:endParaRPr kumimoji="0" lang="en-US" dirty="0"/>
          </a:p>
        </p:txBody>
      </p:sp>
      <p:graphicFrame>
        <p:nvGraphicFramePr>
          <p:cNvPr id="5" name="Table 4"/>
          <p:cNvGraphicFramePr>
            <a:graphicFrameLocks noGrp="1"/>
          </p:cNvGraphicFramePr>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3071885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14342" name="Rectangle 5"/>
          <p:cNvSpPr>
            <a:spLocks noChangeArrowheads="1"/>
          </p:cNvSpPr>
          <p:nvPr/>
        </p:nvSpPr>
        <p:spPr bwMode="auto">
          <a:xfrm>
            <a:off x="4220972" y="2309814"/>
            <a:ext cx="3435035" cy="265113"/>
          </a:xfrm>
          <a:prstGeom prst="rect">
            <a:avLst/>
          </a:prstGeom>
          <a:noFill/>
          <a:ln w="12700">
            <a:solidFill>
              <a:schemeClr val="tx1"/>
            </a:solidFill>
            <a:miter lim="800000"/>
            <a:headEnd/>
            <a:tailEnd/>
          </a:ln>
        </p:spPr>
        <p:txBody>
          <a:bodyPr wrap="none" anchor="ctr"/>
          <a:lstStyle/>
          <a:p>
            <a:r>
              <a:rPr lang="en-US" dirty="0">
                <a:solidFill>
                  <a:srgbClr val="0000FF"/>
                </a:solidFill>
                <a:latin typeface="Arial" pitchFamily="34" charset="0"/>
              </a:rPr>
              <a:t>N</a:t>
            </a:r>
            <a:r>
              <a:rPr lang="en-US" dirty="0">
                <a:latin typeface="Arial" pitchFamily="34" charset="0"/>
              </a:rPr>
              <a:t>ot </a:t>
            </a:r>
            <a:r>
              <a:rPr lang="en-US" dirty="0">
                <a:solidFill>
                  <a:srgbClr val="0000FF"/>
                </a:solidFill>
                <a:latin typeface="Arial" pitchFamily="34" charset="0"/>
              </a:rPr>
              <a:t>E</a:t>
            </a:r>
            <a:r>
              <a:rPr lang="en-US" dirty="0">
                <a:latin typeface="Arial" pitchFamily="34" charset="0"/>
              </a:rPr>
              <a:t>qual</a:t>
            </a:r>
          </a:p>
        </p:txBody>
      </p:sp>
      <p:sp>
        <p:nvSpPr>
          <p:cNvPr id="14343" name="Rectangle 6"/>
          <p:cNvSpPr>
            <a:spLocks noChangeArrowheads="1"/>
          </p:cNvSpPr>
          <p:nvPr/>
        </p:nvSpPr>
        <p:spPr bwMode="auto">
          <a:xfrm>
            <a:off x="4220972" y="25749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H</a:t>
            </a:r>
            <a:r>
              <a:rPr lang="en-US" dirty="0">
                <a:latin typeface="Arial" pitchFamily="34" charset="0"/>
              </a:rPr>
              <a:t>igher or </a:t>
            </a:r>
            <a:r>
              <a:rPr lang="en-US" dirty="0">
                <a:solidFill>
                  <a:srgbClr val="0000FF"/>
                </a:solidFill>
                <a:latin typeface="Arial" pitchFamily="34" charset="0"/>
              </a:rPr>
              <a:t>S</a:t>
            </a:r>
            <a:r>
              <a:rPr lang="en-US" dirty="0">
                <a:latin typeface="Arial" pitchFamily="34" charset="0"/>
              </a:rPr>
              <a:t>ame</a:t>
            </a:r>
          </a:p>
        </p:txBody>
      </p:sp>
      <p:sp>
        <p:nvSpPr>
          <p:cNvPr id="14344" name="Rectangle 7"/>
          <p:cNvSpPr>
            <a:spLocks noChangeArrowheads="1"/>
          </p:cNvSpPr>
          <p:nvPr/>
        </p:nvSpPr>
        <p:spPr bwMode="auto">
          <a:xfrm>
            <a:off x="4220972" y="28400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LO</a:t>
            </a:r>
            <a:r>
              <a:rPr lang="en-US" dirty="0" err="1">
                <a:latin typeface="Arial" pitchFamily="34" charset="0"/>
              </a:rPr>
              <a:t>wer</a:t>
            </a:r>
            <a:endParaRPr lang="en-US" dirty="0">
              <a:latin typeface="Arial" pitchFamily="34" charset="0"/>
            </a:endParaRPr>
          </a:p>
        </p:txBody>
      </p:sp>
      <p:sp>
        <p:nvSpPr>
          <p:cNvPr id="14345" name="Rectangle 8"/>
          <p:cNvSpPr>
            <a:spLocks noChangeArrowheads="1"/>
          </p:cNvSpPr>
          <p:nvPr/>
        </p:nvSpPr>
        <p:spPr bwMode="auto">
          <a:xfrm>
            <a:off x="4220972" y="310515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MI</a:t>
            </a:r>
            <a:r>
              <a:rPr lang="en-US" dirty="0" err="1">
                <a:latin typeface="Arial" pitchFamily="34" charset="0"/>
              </a:rPr>
              <a:t>nus</a:t>
            </a:r>
            <a:r>
              <a:rPr lang="en-US" dirty="0">
                <a:latin typeface="Arial" pitchFamily="34" charset="0"/>
              </a:rPr>
              <a:t> (Negative)</a:t>
            </a:r>
          </a:p>
        </p:txBody>
      </p:sp>
      <p:sp>
        <p:nvSpPr>
          <p:cNvPr id="14346" name="Rectangle 9"/>
          <p:cNvSpPr>
            <a:spLocks noChangeArrowheads="1"/>
          </p:cNvSpPr>
          <p:nvPr/>
        </p:nvSpPr>
        <p:spPr bwMode="auto">
          <a:xfrm>
            <a:off x="4220972" y="2044702"/>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EQ</a:t>
            </a:r>
            <a:r>
              <a:rPr lang="en-US" dirty="0" err="1">
                <a:latin typeface="Arial" pitchFamily="34" charset="0"/>
              </a:rPr>
              <a:t>ual</a:t>
            </a:r>
            <a:endParaRPr lang="en-US" dirty="0">
              <a:latin typeface="Arial" pitchFamily="34" charset="0"/>
            </a:endParaRPr>
          </a:p>
        </p:txBody>
      </p:sp>
      <p:sp>
        <p:nvSpPr>
          <p:cNvPr id="14347" name="Rectangle 10"/>
          <p:cNvSpPr>
            <a:spLocks noChangeArrowheads="1"/>
          </p:cNvSpPr>
          <p:nvPr/>
        </p:nvSpPr>
        <p:spPr bwMode="auto">
          <a:xfrm>
            <a:off x="4220972" y="3635377"/>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S</a:t>
            </a:r>
            <a:r>
              <a:rPr lang="en-US" dirty="0">
                <a:latin typeface="Arial" pitchFamily="34" charset="0"/>
              </a:rPr>
              <a:t>et</a:t>
            </a:r>
          </a:p>
        </p:txBody>
      </p:sp>
      <p:sp>
        <p:nvSpPr>
          <p:cNvPr id="14348" name="Rectangle 11"/>
          <p:cNvSpPr>
            <a:spLocks noChangeArrowheads="1"/>
          </p:cNvSpPr>
          <p:nvPr/>
        </p:nvSpPr>
        <p:spPr bwMode="auto">
          <a:xfrm>
            <a:off x="4220972" y="3900489"/>
            <a:ext cx="3435035" cy="265113"/>
          </a:xfrm>
          <a:prstGeom prst="rect">
            <a:avLst/>
          </a:prstGeom>
          <a:noFill/>
          <a:ln w="12700">
            <a:solidFill>
              <a:schemeClr val="tx1"/>
            </a:solidFill>
            <a:miter lim="800000"/>
            <a:headEnd/>
            <a:tailEnd/>
          </a:ln>
        </p:spPr>
        <p:txBody>
          <a:bodyPr wrap="none" anchor="ctr"/>
          <a:lstStyle/>
          <a:p>
            <a:r>
              <a:rPr lang="en-US" dirty="0" err="1">
                <a:latin typeface="Arial" pitchFamily="34" charset="0"/>
              </a:rPr>
              <a:t>o</a:t>
            </a:r>
            <a:r>
              <a:rPr lang="en-US" dirty="0" err="1">
                <a:solidFill>
                  <a:srgbClr val="0000FF"/>
                </a:solidFill>
                <a:latin typeface="Arial" pitchFamily="34" charset="0"/>
              </a:rPr>
              <a:t>V</a:t>
            </a:r>
            <a:r>
              <a:rPr lang="en-US" dirty="0" err="1">
                <a:latin typeface="Arial" pitchFamily="34" charset="0"/>
              </a:rPr>
              <a:t>erflow</a:t>
            </a:r>
            <a:r>
              <a:rPr lang="en-US" dirty="0">
                <a:latin typeface="Arial" pitchFamily="34" charset="0"/>
              </a:rPr>
              <a:t> </a:t>
            </a:r>
            <a:r>
              <a:rPr lang="en-US" dirty="0">
                <a:solidFill>
                  <a:srgbClr val="0000FF"/>
                </a:solidFill>
                <a:latin typeface="Arial" pitchFamily="34" charset="0"/>
              </a:rPr>
              <a:t>C</a:t>
            </a:r>
            <a:r>
              <a:rPr lang="en-US" dirty="0">
                <a:latin typeface="Arial" pitchFamily="34" charset="0"/>
              </a:rPr>
              <a:t>lear</a:t>
            </a:r>
          </a:p>
        </p:txBody>
      </p:sp>
      <p:sp>
        <p:nvSpPr>
          <p:cNvPr id="14349" name="Rectangle 12"/>
          <p:cNvSpPr>
            <a:spLocks noChangeArrowheads="1"/>
          </p:cNvSpPr>
          <p:nvPr/>
        </p:nvSpPr>
        <p:spPr bwMode="auto">
          <a:xfrm>
            <a:off x="4220972" y="416560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err="1">
                <a:solidFill>
                  <a:srgbClr val="0000FF"/>
                </a:solidFill>
                <a:latin typeface="Arial" pitchFamily="34" charset="0"/>
              </a:rPr>
              <a:t>HI</a:t>
            </a:r>
            <a:r>
              <a:rPr lang="en-US" dirty="0" err="1">
                <a:latin typeface="Arial" pitchFamily="34" charset="0"/>
              </a:rPr>
              <a:t>gher</a:t>
            </a:r>
            <a:endParaRPr lang="en-US" dirty="0">
              <a:latin typeface="Arial" pitchFamily="34" charset="0"/>
            </a:endParaRPr>
          </a:p>
        </p:txBody>
      </p:sp>
      <p:sp>
        <p:nvSpPr>
          <p:cNvPr id="14350" name="Rectangle 13"/>
          <p:cNvSpPr>
            <a:spLocks noChangeArrowheads="1"/>
          </p:cNvSpPr>
          <p:nvPr/>
        </p:nvSpPr>
        <p:spPr bwMode="auto">
          <a:xfrm>
            <a:off x="4220972" y="443071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Unsigned </a:t>
            </a:r>
            <a:r>
              <a:rPr lang="en-US" dirty="0">
                <a:solidFill>
                  <a:srgbClr val="0000FF"/>
                </a:solidFill>
                <a:latin typeface="Arial" pitchFamily="34" charset="0"/>
              </a:rPr>
              <a:t>L</a:t>
            </a:r>
            <a:r>
              <a:rPr lang="en-US" dirty="0">
                <a:latin typeface="Arial" pitchFamily="34" charset="0"/>
              </a:rPr>
              <a:t>ower or </a:t>
            </a:r>
            <a:r>
              <a:rPr lang="en-US" dirty="0">
                <a:solidFill>
                  <a:srgbClr val="0000FF"/>
                </a:solidFill>
                <a:latin typeface="Arial" pitchFamily="34" charset="0"/>
              </a:rPr>
              <a:t>S</a:t>
            </a:r>
            <a:r>
              <a:rPr lang="en-US" dirty="0">
                <a:latin typeface="Arial" pitchFamily="34" charset="0"/>
              </a:rPr>
              <a:t>ame</a:t>
            </a:r>
          </a:p>
        </p:txBody>
      </p:sp>
      <p:sp>
        <p:nvSpPr>
          <p:cNvPr id="14351" name="Rectangle 14"/>
          <p:cNvSpPr>
            <a:spLocks noChangeArrowheads="1"/>
          </p:cNvSpPr>
          <p:nvPr/>
        </p:nvSpPr>
        <p:spPr bwMode="auto">
          <a:xfrm>
            <a:off x="4220972" y="3370264"/>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PL</a:t>
            </a:r>
            <a:r>
              <a:rPr lang="en-US" dirty="0" err="1">
                <a:latin typeface="Arial" pitchFamily="34" charset="0"/>
              </a:rPr>
              <a:t>us</a:t>
            </a:r>
            <a:r>
              <a:rPr lang="en-US" dirty="0">
                <a:latin typeface="Arial" pitchFamily="34" charset="0"/>
              </a:rPr>
              <a:t> (Positive or Zero)</a:t>
            </a:r>
          </a:p>
        </p:txBody>
      </p:sp>
      <p:sp>
        <p:nvSpPr>
          <p:cNvPr id="14352" name="Rectangle 15"/>
          <p:cNvSpPr>
            <a:spLocks noChangeArrowheads="1"/>
          </p:cNvSpPr>
          <p:nvPr/>
        </p:nvSpPr>
        <p:spPr bwMode="auto">
          <a:xfrm>
            <a:off x="4220972" y="4960939"/>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a:t>
            </a:r>
            <a:r>
              <a:rPr lang="en-US" dirty="0">
                <a:solidFill>
                  <a:srgbClr val="0000FF"/>
                </a:solidFill>
                <a:latin typeface="Arial" pitchFamily="34" charset="0"/>
              </a:rPr>
              <a:t>T</a:t>
            </a:r>
            <a:r>
              <a:rPr lang="en-US" dirty="0">
                <a:latin typeface="Arial" pitchFamily="34" charset="0"/>
              </a:rPr>
              <a:t>han</a:t>
            </a:r>
          </a:p>
        </p:txBody>
      </p:sp>
      <p:sp>
        <p:nvSpPr>
          <p:cNvPr id="14353" name="Rectangle 16"/>
          <p:cNvSpPr>
            <a:spLocks noChangeArrowheads="1"/>
          </p:cNvSpPr>
          <p:nvPr/>
        </p:nvSpPr>
        <p:spPr bwMode="auto">
          <a:xfrm>
            <a:off x="4220972" y="5226052"/>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G</a:t>
            </a:r>
            <a:r>
              <a:rPr lang="en-US" dirty="0">
                <a:latin typeface="Arial" pitchFamily="34" charset="0"/>
              </a:rPr>
              <a:t>reater </a:t>
            </a:r>
            <a:r>
              <a:rPr lang="en-US" dirty="0">
                <a:solidFill>
                  <a:srgbClr val="0000FF"/>
                </a:solidFill>
                <a:latin typeface="Arial" pitchFamily="34" charset="0"/>
              </a:rPr>
              <a:t>T</a:t>
            </a:r>
            <a:r>
              <a:rPr lang="en-US" dirty="0">
                <a:latin typeface="Arial" pitchFamily="34" charset="0"/>
              </a:rPr>
              <a:t>han</a:t>
            </a:r>
          </a:p>
        </p:txBody>
      </p:sp>
      <p:sp>
        <p:nvSpPr>
          <p:cNvPr id="14354" name="Rectangle 17"/>
          <p:cNvSpPr>
            <a:spLocks noChangeArrowheads="1"/>
          </p:cNvSpPr>
          <p:nvPr/>
        </p:nvSpPr>
        <p:spPr bwMode="auto">
          <a:xfrm>
            <a:off x="4220972" y="5491164"/>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 </a:t>
            </a:r>
            <a:r>
              <a:rPr lang="en-US" dirty="0">
                <a:solidFill>
                  <a:srgbClr val="0000FF"/>
                </a:solidFill>
                <a:latin typeface="Arial" pitchFamily="34" charset="0"/>
              </a:rPr>
              <a:t>L</a:t>
            </a:r>
            <a:r>
              <a:rPr lang="en-US" dirty="0">
                <a:latin typeface="Arial" pitchFamily="34" charset="0"/>
              </a:rPr>
              <a:t>ess than or </a:t>
            </a:r>
            <a:r>
              <a:rPr lang="en-US" dirty="0">
                <a:solidFill>
                  <a:srgbClr val="0000FF"/>
                </a:solidFill>
                <a:latin typeface="Arial" pitchFamily="34" charset="0"/>
              </a:rPr>
              <a:t>E</a:t>
            </a:r>
            <a:r>
              <a:rPr lang="en-US" dirty="0">
                <a:latin typeface="Arial" pitchFamily="34" charset="0"/>
              </a:rPr>
              <a:t>qual</a:t>
            </a:r>
          </a:p>
        </p:txBody>
      </p:sp>
      <p:sp>
        <p:nvSpPr>
          <p:cNvPr id="14355" name="Rectangle 18"/>
          <p:cNvSpPr>
            <a:spLocks noChangeArrowheads="1"/>
          </p:cNvSpPr>
          <p:nvPr/>
        </p:nvSpPr>
        <p:spPr bwMode="auto">
          <a:xfrm>
            <a:off x="4220972" y="5756277"/>
            <a:ext cx="3435035" cy="265113"/>
          </a:xfrm>
          <a:prstGeom prst="rect">
            <a:avLst/>
          </a:prstGeom>
          <a:noFill/>
          <a:ln w="12700">
            <a:solidFill>
              <a:schemeClr val="tx1"/>
            </a:solidFill>
            <a:miter lim="800000"/>
            <a:headEnd/>
            <a:tailEnd/>
          </a:ln>
        </p:spPr>
        <p:txBody>
          <a:bodyPr wrap="none" anchor="ctr"/>
          <a:lstStyle/>
          <a:p>
            <a:r>
              <a:rPr lang="en-US" dirty="0" err="1">
                <a:solidFill>
                  <a:srgbClr val="0000FF"/>
                </a:solidFill>
                <a:latin typeface="Arial" pitchFamily="34" charset="0"/>
              </a:rPr>
              <a:t>AL</a:t>
            </a:r>
            <a:r>
              <a:rPr lang="en-US" dirty="0" err="1">
                <a:latin typeface="Arial" pitchFamily="34" charset="0"/>
              </a:rPr>
              <a:t>ways</a:t>
            </a:r>
            <a:endParaRPr lang="en-US" dirty="0">
              <a:latin typeface="Arial" pitchFamily="34" charset="0"/>
            </a:endParaRPr>
          </a:p>
        </p:txBody>
      </p:sp>
      <p:sp>
        <p:nvSpPr>
          <p:cNvPr id="14356" name="Rectangle 19"/>
          <p:cNvSpPr>
            <a:spLocks noChangeArrowheads="1"/>
          </p:cNvSpPr>
          <p:nvPr/>
        </p:nvSpPr>
        <p:spPr bwMode="auto">
          <a:xfrm>
            <a:off x="4220972" y="4695827"/>
            <a:ext cx="3435035" cy="265113"/>
          </a:xfrm>
          <a:prstGeom prst="rect">
            <a:avLst/>
          </a:prstGeom>
          <a:noFill/>
          <a:ln w="12700">
            <a:solidFill>
              <a:schemeClr val="tx1"/>
            </a:solidFill>
            <a:miter lim="800000"/>
            <a:headEnd/>
            <a:tailEnd/>
          </a:ln>
        </p:spPr>
        <p:txBody>
          <a:bodyPr wrap="none" anchor="ctr"/>
          <a:lstStyle/>
          <a:p>
            <a:r>
              <a:rPr lang="en-US" dirty="0">
                <a:latin typeface="Arial" pitchFamily="34" charset="0"/>
              </a:rPr>
              <a:t>Signed</a:t>
            </a:r>
            <a:r>
              <a:rPr lang="en-US" dirty="0">
                <a:solidFill>
                  <a:srgbClr val="0000FF"/>
                </a:solidFill>
                <a:latin typeface="Arial" pitchFamily="34" charset="0"/>
              </a:rPr>
              <a:t> G</a:t>
            </a:r>
            <a:r>
              <a:rPr lang="en-US" dirty="0">
                <a:latin typeface="Arial" pitchFamily="34" charset="0"/>
              </a:rPr>
              <a:t>reater or </a:t>
            </a:r>
            <a:r>
              <a:rPr lang="en-US" dirty="0">
                <a:solidFill>
                  <a:srgbClr val="0000FF"/>
                </a:solidFill>
                <a:latin typeface="Arial" pitchFamily="34" charset="0"/>
              </a:rPr>
              <a:t>E</a:t>
            </a:r>
            <a:r>
              <a:rPr lang="en-US" dirty="0">
                <a:latin typeface="Arial" pitchFamily="34" charset="0"/>
              </a:rPr>
              <a:t>qual</a:t>
            </a:r>
          </a:p>
        </p:txBody>
      </p:sp>
      <p:sp>
        <p:nvSpPr>
          <p:cNvPr id="14357" name="Rectangle 20"/>
          <p:cNvSpPr>
            <a:spLocks noChangeArrowheads="1"/>
          </p:cNvSpPr>
          <p:nvPr/>
        </p:nvSpPr>
        <p:spPr bwMode="auto">
          <a:xfrm>
            <a:off x="2947975" y="20447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EQ</a:t>
            </a:r>
          </a:p>
        </p:txBody>
      </p:sp>
      <p:sp>
        <p:nvSpPr>
          <p:cNvPr id="14358" name="Rectangle 21"/>
          <p:cNvSpPr>
            <a:spLocks noChangeArrowheads="1"/>
          </p:cNvSpPr>
          <p:nvPr/>
        </p:nvSpPr>
        <p:spPr bwMode="auto">
          <a:xfrm>
            <a:off x="2947975" y="23098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NE</a:t>
            </a:r>
          </a:p>
        </p:txBody>
      </p:sp>
      <p:sp>
        <p:nvSpPr>
          <p:cNvPr id="14359" name="Rectangle 22"/>
          <p:cNvSpPr>
            <a:spLocks noChangeArrowheads="1"/>
          </p:cNvSpPr>
          <p:nvPr/>
        </p:nvSpPr>
        <p:spPr bwMode="auto">
          <a:xfrm>
            <a:off x="2947975" y="25749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CS/HS</a:t>
            </a:r>
          </a:p>
        </p:txBody>
      </p:sp>
      <p:sp>
        <p:nvSpPr>
          <p:cNvPr id="14360" name="Rectangle 23"/>
          <p:cNvSpPr>
            <a:spLocks noChangeArrowheads="1"/>
          </p:cNvSpPr>
          <p:nvPr/>
        </p:nvSpPr>
        <p:spPr bwMode="auto">
          <a:xfrm>
            <a:off x="2947975" y="28400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CC/LO</a:t>
            </a:r>
          </a:p>
        </p:txBody>
      </p:sp>
      <p:sp>
        <p:nvSpPr>
          <p:cNvPr id="14361" name="Rectangle 24"/>
          <p:cNvSpPr>
            <a:spLocks noChangeArrowheads="1"/>
          </p:cNvSpPr>
          <p:nvPr/>
        </p:nvSpPr>
        <p:spPr bwMode="auto">
          <a:xfrm>
            <a:off x="2947975" y="33702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PL</a:t>
            </a:r>
          </a:p>
        </p:txBody>
      </p:sp>
      <p:sp>
        <p:nvSpPr>
          <p:cNvPr id="14362" name="Rectangle 25"/>
          <p:cNvSpPr>
            <a:spLocks noChangeArrowheads="1"/>
          </p:cNvSpPr>
          <p:nvPr/>
        </p:nvSpPr>
        <p:spPr bwMode="auto">
          <a:xfrm>
            <a:off x="2947975" y="36353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VS</a:t>
            </a:r>
          </a:p>
        </p:txBody>
      </p:sp>
      <p:sp>
        <p:nvSpPr>
          <p:cNvPr id="14363" name="Rectangle 26"/>
          <p:cNvSpPr>
            <a:spLocks noChangeArrowheads="1"/>
          </p:cNvSpPr>
          <p:nvPr/>
        </p:nvSpPr>
        <p:spPr bwMode="auto">
          <a:xfrm>
            <a:off x="2947975" y="416560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HI</a:t>
            </a:r>
          </a:p>
        </p:txBody>
      </p:sp>
      <p:sp>
        <p:nvSpPr>
          <p:cNvPr id="14364" name="Rectangle 27"/>
          <p:cNvSpPr>
            <a:spLocks noChangeArrowheads="1"/>
          </p:cNvSpPr>
          <p:nvPr/>
        </p:nvSpPr>
        <p:spPr bwMode="auto">
          <a:xfrm>
            <a:off x="2947975" y="443071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LS</a:t>
            </a:r>
          </a:p>
        </p:txBody>
      </p:sp>
      <p:sp>
        <p:nvSpPr>
          <p:cNvPr id="14365" name="Rectangle 28"/>
          <p:cNvSpPr>
            <a:spLocks noChangeArrowheads="1"/>
          </p:cNvSpPr>
          <p:nvPr/>
        </p:nvSpPr>
        <p:spPr bwMode="auto">
          <a:xfrm>
            <a:off x="2947975" y="469582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GE</a:t>
            </a:r>
          </a:p>
        </p:txBody>
      </p:sp>
      <p:sp>
        <p:nvSpPr>
          <p:cNvPr id="14366" name="Rectangle 29"/>
          <p:cNvSpPr>
            <a:spLocks noChangeArrowheads="1"/>
          </p:cNvSpPr>
          <p:nvPr/>
        </p:nvSpPr>
        <p:spPr bwMode="auto">
          <a:xfrm>
            <a:off x="2947975" y="496093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LT</a:t>
            </a:r>
          </a:p>
        </p:txBody>
      </p:sp>
      <p:sp>
        <p:nvSpPr>
          <p:cNvPr id="14367" name="Rectangle 30"/>
          <p:cNvSpPr>
            <a:spLocks noChangeArrowheads="1"/>
          </p:cNvSpPr>
          <p:nvPr/>
        </p:nvSpPr>
        <p:spPr bwMode="auto">
          <a:xfrm>
            <a:off x="2947975" y="52260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GT</a:t>
            </a:r>
          </a:p>
        </p:txBody>
      </p:sp>
      <p:sp>
        <p:nvSpPr>
          <p:cNvPr id="14368" name="Rectangle 31"/>
          <p:cNvSpPr>
            <a:spLocks noChangeArrowheads="1"/>
          </p:cNvSpPr>
          <p:nvPr/>
        </p:nvSpPr>
        <p:spPr bwMode="auto">
          <a:xfrm>
            <a:off x="2947975" y="5491164"/>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LE</a:t>
            </a:r>
          </a:p>
        </p:txBody>
      </p:sp>
      <p:sp>
        <p:nvSpPr>
          <p:cNvPr id="14369" name="Rectangle 32"/>
          <p:cNvSpPr>
            <a:spLocks noChangeArrowheads="1"/>
          </p:cNvSpPr>
          <p:nvPr/>
        </p:nvSpPr>
        <p:spPr bwMode="auto">
          <a:xfrm>
            <a:off x="2947975" y="5756277"/>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AL</a:t>
            </a:r>
          </a:p>
        </p:txBody>
      </p:sp>
      <p:sp>
        <p:nvSpPr>
          <p:cNvPr id="14370" name="Rectangle 33"/>
          <p:cNvSpPr>
            <a:spLocks noChangeArrowheads="1"/>
          </p:cNvSpPr>
          <p:nvPr/>
        </p:nvSpPr>
        <p:spPr bwMode="auto">
          <a:xfrm>
            <a:off x="2947975" y="3105152"/>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MI</a:t>
            </a:r>
          </a:p>
        </p:txBody>
      </p:sp>
      <p:sp>
        <p:nvSpPr>
          <p:cNvPr id="14371" name="Rectangle 34"/>
          <p:cNvSpPr>
            <a:spLocks noChangeArrowheads="1"/>
          </p:cNvSpPr>
          <p:nvPr/>
        </p:nvSpPr>
        <p:spPr bwMode="auto">
          <a:xfrm>
            <a:off x="2947975" y="3900489"/>
            <a:ext cx="1272997" cy="265113"/>
          </a:xfrm>
          <a:prstGeom prst="rect">
            <a:avLst/>
          </a:prstGeom>
          <a:noFill/>
          <a:ln w="12700">
            <a:solidFill>
              <a:schemeClr val="tx1"/>
            </a:solidFill>
            <a:miter lim="800000"/>
            <a:headEnd/>
            <a:tailEnd/>
          </a:ln>
        </p:spPr>
        <p:txBody>
          <a:bodyPr wrap="none" anchor="ctr"/>
          <a:lstStyle/>
          <a:p>
            <a:r>
              <a:rPr lang="en-US" sz="2000" dirty="0">
                <a:solidFill>
                  <a:srgbClr val="FF0000"/>
                </a:solidFill>
              </a:rPr>
              <a:t>VC</a:t>
            </a:r>
          </a:p>
        </p:txBody>
      </p:sp>
      <p:sp>
        <p:nvSpPr>
          <p:cNvPr id="14372" name="Rectangle 35"/>
          <p:cNvSpPr>
            <a:spLocks noChangeArrowheads="1"/>
          </p:cNvSpPr>
          <p:nvPr/>
        </p:nvSpPr>
        <p:spPr bwMode="auto">
          <a:xfrm>
            <a:off x="2947975" y="1779589"/>
            <a:ext cx="1272997"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Suffix</a:t>
            </a:r>
          </a:p>
        </p:txBody>
      </p:sp>
      <p:sp>
        <p:nvSpPr>
          <p:cNvPr id="14373" name="Rectangle 36"/>
          <p:cNvSpPr>
            <a:spLocks noChangeArrowheads="1"/>
          </p:cNvSpPr>
          <p:nvPr/>
        </p:nvSpPr>
        <p:spPr bwMode="auto">
          <a:xfrm>
            <a:off x="4220972" y="1779589"/>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Arial" pitchFamily="34" charset="0"/>
              </a:rPr>
              <a:t>Description</a:t>
            </a:r>
          </a:p>
        </p:txBody>
      </p:sp>
      <p:sp>
        <p:nvSpPr>
          <p:cNvPr id="14374" name="Rectangle 37"/>
          <p:cNvSpPr>
            <a:spLocks noChangeArrowheads="1"/>
          </p:cNvSpPr>
          <p:nvPr/>
        </p:nvSpPr>
        <p:spPr bwMode="auto">
          <a:xfrm>
            <a:off x="7656006" y="23098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a:t>
            </a:r>
          </a:p>
        </p:txBody>
      </p:sp>
      <p:sp>
        <p:nvSpPr>
          <p:cNvPr id="14375" name="Rectangle 38"/>
          <p:cNvSpPr>
            <a:spLocks noChangeArrowheads="1"/>
          </p:cNvSpPr>
          <p:nvPr/>
        </p:nvSpPr>
        <p:spPr bwMode="auto">
          <a:xfrm>
            <a:off x="7656006" y="25749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a:t>
            </a:r>
          </a:p>
        </p:txBody>
      </p:sp>
      <p:sp>
        <p:nvSpPr>
          <p:cNvPr id="14376" name="Rectangle 39"/>
          <p:cNvSpPr>
            <a:spLocks noChangeArrowheads="1"/>
          </p:cNvSpPr>
          <p:nvPr/>
        </p:nvSpPr>
        <p:spPr bwMode="auto">
          <a:xfrm>
            <a:off x="7656006" y="284003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a:t>
            </a:r>
          </a:p>
        </p:txBody>
      </p:sp>
      <p:sp>
        <p:nvSpPr>
          <p:cNvPr id="14377" name="Rectangle 40"/>
          <p:cNvSpPr>
            <a:spLocks noChangeArrowheads="1"/>
          </p:cNvSpPr>
          <p:nvPr/>
        </p:nvSpPr>
        <p:spPr bwMode="auto">
          <a:xfrm>
            <a:off x="7656006" y="20447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a:t>
            </a:r>
          </a:p>
        </p:txBody>
      </p:sp>
      <p:sp>
        <p:nvSpPr>
          <p:cNvPr id="14378" name="Rectangle 41"/>
          <p:cNvSpPr>
            <a:spLocks noChangeArrowheads="1"/>
          </p:cNvSpPr>
          <p:nvPr/>
        </p:nvSpPr>
        <p:spPr bwMode="auto">
          <a:xfrm>
            <a:off x="7656006" y="1779589"/>
            <a:ext cx="2021394"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rPr>
              <a:t>Flags tested</a:t>
            </a:r>
          </a:p>
        </p:txBody>
      </p:sp>
      <p:sp>
        <p:nvSpPr>
          <p:cNvPr id="14379" name="Rectangle 42"/>
          <p:cNvSpPr>
            <a:spLocks noChangeArrowheads="1"/>
          </p:cNvSpPr>
          <p:nvPr/>
        </p:nvSpPr>
        <p:spPr bwMode="auto">
          <a:xfrm>
            <a:off x="7656006" y="31051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N==1</a:t>
            </a:r>
          </a:p>
        </p:txBody>
      </p:sp>
      <p:sp>
        <p:nvSpPr>
          <p:cNvPr id="14380" name="Rectangle 43"/>
          <p:cNvSpPr>
            <a:spLocks noChangeArrowheads="1"/>
          </p:cNvSpPr>
          <p:nvPr/>
        </p:nvSpPr>
        <p:spPr bwMode="auto">
          <a:xfrm>
            <a:off x="7656006" y="33702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N==0</a:t>
            </a:r>
          </a:p>
        </p:txBody>
      </p:sp>
      <p:sp>
        <p:nvSpPr>
          <p:cNvPr id="14381" name="Rectangle 44"/>
          <p:cNvSpPr>
            <a:spLocks noChangeArrowheads="1"/>
          </p:cNvSpPr>
          <p:nvPr/>
        </p:nvSpPr>
        <p:spPr bwMode="auto">
          <a:xfrm>
            <a:off x="7656006" y="363537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V==1</a:t>
            </a:r>
          </a:p>
        </p:txBody>
      </p:sp>
      <p:sp>
        <p:nvSpPr>
          <p:cNvPr id="14382" name="Rectangle 45"/>
          <p:cNvSpPr>
            <a:spLocks noChangeArrowheads="1"/>
          </p:cNvSpPr>
          <p:nvPr/>
        </p:nvSpPr>
        <p:spPr bwMode="auto">
          <a:xfrm>
            <a:off x="7656006" y="3900489"/>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V==0</a:t>
            </a:r>
          </a:p>
        </p:txBody>
      </p:sp>
      <p:sp>
        <p:nvSpPr>
          <p:cNvPr id="14383" name="Rectangle 46"/>
          <p:cNvSpPr>
            <a:spLocks noChangeArrowheads="1"/>
          </p:cNvSpPr>
          <p:nvPr/>
        </p:nvSpPr>
        <p:spPr bwMode="auto">
          <a:xfrm>
            <a:off x="7656006" y="416560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C==1 and Z==0</a:t>
            </a:r>
          </a:p>
        </p:txBody>
      </p:sp>
      <p:sp>
        <p:nvSpPr>
          <p:cNvPr id="14384" name="Rectangle 47"/>
          <p:cNvSpPr>
            <a:spLocks noChangeArrowheads="1"/>
          </p:cNvSpPr>
          <p:nvPr/>
        </p:nvSpPr>
        <p:spPr bwMode="auto">
          <a:xfrm>
            <a:off x="7656006" y="443071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C==0 or Z==1</a:t>
            </a:r>
          </a:p>
        </p:txBody>
      </p:sp>
      <p:sp>
        <p:nvSpPr>
          <p:cNvPr id="14385" name="Rectangle 48"/>
          <p:cNvSpPr>
            <a:spLocks noChangeArrowheads="1"/>
          </p:cNvSpPr>
          <p:nvPr/>
        </p:nvSpPr>
        <p:spPr bwMode="auto">
          <a:xfrm>
            <a:off x="7656006" y="4695827"/>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N==V</a:t>
            </a:r>
          </a:p>
        </p:txBody>
      </p:sp>
      <p:sp>
        <p:nvSpPr>
          <p:cNvPr id="14386" name="Rectangle 49"/>
          <p:cNvSpPr>
            <a:spLocks noChangeArrowheads="1"/>
          </p:cNvSpPr>
          <p:nvPr/>
        </p:nvSpPr>
        <p:spPr bwMode="auto">
          <a:xfrm>
            <a:off x="7656006" y="4960939"/>
            <a:ext cx="2021394" cy="265113"/>
          </a:xfrm>
          <a:prstGeom prst="rect">
            <a:avLst/>
          </a:prstGeom>
          <a:noFill/>
          <a:ln w="12700">
            <a:solidFill>
              <a:schemeClr val="tx1"/>
            </a:solidFill>
            <a:miter lim="800000"/>
            <a:headEnd/>
            <a:tailEnd/>
          </a:ln>
        </p:spPr>
        <p:txBody>
          <a:bodyPr wrap="none" anchor="ctr"/>
          <a:lstStyle/>
          <a:p>
            <a:r>
              <a:rPr lang="en-US" b="1">
                <a:solidFill>
                  <a:srgbClr val="FF0000"/>
                </a:solidFill>
                <a:latin typeface="Consolas" panose="020B0609020204030204" pitchFamily="49" charset="0"/>
              </a:rPr>
              <a:t>N!=V</a:t>
            </a:r>
          </a:p>
        </p:txBody>
      </p:sp>
      <p:sp>
        <p:nvSpPr>
          <p:cNvPr id="14387" name="Rectangle 50"/>
          <p:cNvSpPr>
            <a:spLocks noChangeArrowheads="1"/>
          </p:cNvSpPr>
          <p:nvPr/>
        </p:nvSpPr>
        <p:spPr bwMode="auto">
          <a:xfrm>
            <a:off x="7656006" y="5226052"/>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Z==0 and N==V</a:t>
            </a:r>
          </a:p>
        </p:txBody>
      </p:sp>
      <p:sp>
        <p:nvSpPr>
          <p:cNvPr id="14388" name="Rectangle 51"/>
          <p:cNvSpPr>
            <a:spLocks noChangeArrowheads="1"/>
          </p:cNvSpPr>
          <p:nvPr/>
        </p:nvSpPr>
        <p:spPr bwMode="auto">
          <a:xfrm>
            <a:off x="7656006" y="5491164"/>
            <a:ext cx="2021394"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rPr>
              <a:t>Z==1 or N!=V</a:t>
            </a:r>
          </a:p>
        </p:txBody>
      </p:sp>
      <p:sp>
        <p:nvSpPr>
          <p:cNvPr id="14389" name="Rectangle 52"/>
          <p:cNvSpPr>
            <a:spLocks noChangeArrowheads="1"/>
          </p:cNvSpPr>
          <p:nvPr/>
        </p:nvSpPr>
        <p:spPr bwMode="auto">
          <a:xfrm>
            <a:off x="7656006" y="5756277"/>
            <a:ext cx="2021394" cy="265113"/>
          </a:xfrm>
          <a:prstGeom prst="rect">
            <a:avLst/>
          </a:prstGeom>
          <a:noFill/>
          <a:ln w="12700">
            <a:solidFill>
              <a:schemeClr val="tx1"/>
            </a:solidFill>
            <a:miter lim="800000"/>
            <a:headEnd/>
            <a:tailEnd/>
          </a:ln>
        </p:spPr>
        <p:txBody>
          <a:bodyPr wrap="none" anchor="ctr"/>
          <a:lstStyle/>
          <a:p>
            <a:endParaRPr lang="en-GB" b="1">
              <a:solidFill>
                <a:srgbClr val="FF0000"/>
              </a:solidFill>
              <a:latin typeface="Consolas" panose="020B0609020204030204" pitchFamily="49" charset="0"/>
            </a:endParaRPr>
          </a:p>
        </p:txBody>
      </p:sp>
      <p:sp>
        <p:nvSpPr>
          <p:cNvPr id="54" name="Slide Number Placeholder 53"/>
          <p:cNvSpPr>
            <a:spLocks noGrp="1"/>
          </p:cNvSpPr>
          <p:nvPr>
            <p:ph type="sldNum" sz="quarter" idx="12"/>
          </p:nvPr>
        </p:nvSpPr>
        <p:spPr/>
        <p:txBody>
          <a:bodyPr/>
          <a:lstStyle/>
          <a:p>
            <a:fld id="{AEE14D4A-FE32-40AF-B06D-E9622816B101}" type="slidenum">
              <a:rPr lang="en-US" smtClean="0"/>
              <a:pPr/>
              <a:t>15</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spTree>
    <p:extLst>
      <p:ext uri="{BB962C8B-B14F-4D97-AF65-F5344CB8AC3E}">
        <p14:creationId xmlns:p14="http://schemas.microsoft.com/office/powerpoint/2010/main" val="197787870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37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37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37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37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38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38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38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38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38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38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438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438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438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143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74" grpId="0" animBg="1"/>
      <p:bldP spid="14375" grpId="0" animBg="1"/>
      <p:bldP spid="14376" grpId="0" animBg="1"/>
      <p:bldP spid="14379" grpId="0" animBg="1"/>
      <p:bldP spid="14380" grpId="0" animBg="1"/>
      <p:bldP spid="14381" grpId="0" animBg="1"/>
      <p:bldP spid="14382" grpId="0" animBg="1"/>
      <p:bldP spid="14383" grpId="0" animBg="1"/>
      <p:bldP spid="14384" grpId="0" animBg="1"/>
      <p:bldP spid="14385" grpId="0" animBg="1"/>
      <p:bldP spid="14386" grpId="0" animBg="1"/>
      <p:bldP spid="14387" grpId="0" animBg="1"/>
      <p:bldP spid="14388" grpId="0" animBg="1"/>
      <p:bldP spid="1438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Signed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2067858"/>
              </p:ext>
            </p:extLst>
          </p:nvPr>
        </p:nvGraphicFramePr>
        <p:xfrm>
          <a:off x="1676401" y="1865532"/>
          <a:ext cx="8763002" cy="3651349"/>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nchor="ctr" anchorCtr="1"/>
                </a:tc>
                <a:tc>
                  <a:txBody>
                    <a:bodyPr/>
                    <a:lstStyle/>
                    <a:p>
                      <a:pPr algn="ctr"/>
                      <a:r>
                        <a:rPr lang="en-US" dirty="0">
                          <a:latin typeface="Consolas" panose="020B0609020204030204" pitchFamily="49" charset="0"/>
                          <a:cs typeface="Consolas" panose="020B0609020204030204" pitchFamily="49" charset="0"/>
                        </a:rPr>
                        <a:t> N = 0</a:t>
                      </a:r>
                    </a:p>
                  </a:txBody>
                  <a:tcPr anchor="ctr" anchorCtr="1"/>
                </a:tc>
                <a:tc>
                  <a:txBody>
                    <a:bodyPr/>
                    <a:lstStyle/>
                    <a:p>
                      <a:pPr algn="ctr"/>
                      <a:r>
                        <a:rPr lang="en-US"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dirty="0"/>
                        <a:t>No</a:t>
                      </a:r>
                      <a:r>
                        <a:rPr lang="en-US" baseline="0" dirty="0"/>
                        <a:t> overflow, implying the result is correct. </a:t>
                      </a:r>
                    </a:p>
                    <a:p>
                      <a:pPr marL="285750" indent="-285750">
                        <a:buFont typeface="Arial" pitchFamily="34" charset="0"/>
                        <a:buChar char="•"/>
                      </a:pPr>
                      <a:r>
                        <a:rPr lang="en-US" baseline="0" dirty="0"/>
                        <a:t>The result is non-negative, </a:t>
                      </a:r>
                    </a:p>
                    <a:p>
                      <a:pPr marL="285750" indent="-285750">
                        <a:buFont typeface="Arial" pitchFamily="34" charset="0"/>
                        <a:buChar char="•"/>
                      </a:pPr>
                      <a:r>
                        <a:rPr lang="en-US" baseline="0" dirty="0"/>
                        <a:t>Thus </a:t>
                      </a:r>
                      <a:r>
                        <a:rPr lang="en-US" baseline="0" dirty="0">
                          <a:latin typeface="Consolas" panose="020B0609020204030204" pitchFamily="49" charset="0"/>
                        </a:rPr>
                        <a:t>r0 – r1 ≥ 0</a:t>
                      </a:r>
                      <a:r>
                        <a:rPr lang="en-US" baseline="0" dirty="0"/>
                        <a:t>, i.e., </a:t>
                      </a:r>
                      <a:r>
                        <a:rPr lang="en-US" baseline="0" dirty="0">
                          <a:latin typeface="Consolas" panose="020B0609020204030204" pitchFamily="49" charset="0"/>
                        </a:rPr>
                        <a:t>r0 ≥ r1</a:t>
                      </a:r>
                      <a:endParaRPr lang="en-US"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dirty="0"/>
                        <a:t>No overflow, implying the result is correct.</a:t>
                      </a:r>
                    </a:p>
                    <a:p>
                      <a:pPr marL="285750" indent="-285750">
                        <a:buFont typeface="Arial" pitchFamily="34" charset="0"/>
                        <a:buChar char="•"/>
                      </a:pPr>
                      <a:r>
                        <a:rPr lang="en-US" dirty="0"/>
                        <a:t>The</a:t>
                      </a:r>
                      <a:r>
                        <a:rPr lang="en-US" baseline="0" dirty="0"/>
                        <a:t> result is</a:t>
                      </a:r>
                      <a:r>
                        <a:rPr lang="en-US" dirty="0"/>
                        <a:t> negative</a:t>
                      </a:r>
                      <a:r>
                        <a:rPr lang="en-US" baseline="0" dirty="0"/>
                        <a:t>.</a:t>
                      </a:r>
                    </a:p>
                    <a:p>
                      <a:pPr marL="285750" indent="-285750">
                        <a:buFont typeface="Arial" pitchFamily="34" charset="0"/>
                        <a:buChar char="•"/>
                      </a:pPr>
                      <a:r>
                        <a:rPr lang="en-US" baseline="0" dirty="0"/>
                        <a:t>Thus </a:t>
                      </a:r>
                      <a:r>
                        <a:rPr lang="en-US" baseline="0" dirty="0">
                          <a:latin typeface="Consolas" panose="020B0609020204030204" pitchFamily="49" charset="0"/>
                        </a:rPr>
                        <a:t>r0 – r1 &lt; 0</a:t>
                      </a:r>
                      <a:r>
                        <a:rPr lang="en-US" baseline="0" dirty="0"/>
                        <a:t>, i.e., </a:t>
                      </a:r>
                      <a:r>
                        <a:rPr lang="en-US" baseline="0" dirty="0">
                          <a:latin typeface="Consolas" panose="020B0609020204030204" pitchFamily="49" charset="0"/>
                        </a:rPr>
                        <a:t>r0 &lt; r1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dirty="0"/>
                        <a:t>O</a:t>
                      </a:r>
                      <a:r>
                        <a:rPr lang="en-US" baseline="0" dirty="0"/>
                        <a:t>verflow occurs, implying the result is incorrect.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The result is mistakenly reported as non-negative and in fact it should be negative.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Thus </a:t>
                      </a:r>
                      <a:r>
                        <a:rPr lang="en-US" baseline="0" dirty="0">
                          <a:latin typeface="Consolas" panose="020B0609020204030204" pitchFamily="49" charset="0"/>
                        </a:rPr>
                        <a:t>r0 – r1 &lt; 0 </a:t>
                      </a:r>
                      <a:r>
                        <a:rPr lang="en-US" baseline="0" dirty="0"/>
                        <a:t>in reality, i.e., </a:t>
                      </a:r>
                      <a:r>
                        <a:rPr lang="en-US" baseline="0" dirty="0">
                          <a:latin typeface="Consolas" panose="020B0609020204030204" pitchFamily="49" charset="0"/>
                        </a:rPr>
                        <a:t>r0 &lt; r1</a:t>
                      </a:r>
                      <a:endParaRPr lang="en-US"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dirty="0"/>
                        <a:t>O</a:t>
                      </a:r>
                      <a:r>
                        <a:rPr lang="en-US" baseline="0" dirty="0"/>
                        <a:t>verflow occurs, implying the result is incorrect.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The result is mistakenly reported as negative and in fact it should be non-negative.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Thus </a:t>
                      </a:r>
                      <a:r>
                        <a:rPr lang="en-US" baseline="0" dirty="0">
                          <a:latin typeface="Consolas" panose="020B0609020204030204" pitchFamily="49" charset="0"/>
                        </a:rPr>
                        <a:t>r0 – r1 ≥ 0 </a:t>
                      </a:r>
                      <a:r>
                        <a:rPr lang="en-US" baseline="0" dirty="0"/>
                        <a:t>in reality., i.e.  </a:t>
                      </a:r>
                      <a:r>
                        <a:rPr lang="en-US" baseline="0" dirty="0">
                          <a:latin typeface="Consolas" panose="020B0609020204030204" pitchFamily="49" charset="0"/>
                        </a:rPr>
                        <a:t>r0 ≥ r1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p:cNvSpPr txBox="1"/>
          <p:nvPr/>
        </p:nvSpPr>
        <p:spPr>
          <a:xfrm>
            <a:off x="2057400" y="1219201"/>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7" name="TextBox 6"/>
          <p:cNvSpPr txBox="1"/>
          <p:nvPr/>
        </p:nvSpPr>
        <p:spPr>
          <a:xfrm>
            <a:off x="2057400" y="5539026"/>
            <a:ext cx="6400800" cy="861774"/>
          </a:xfrm>
          <a:prstGeom prst="rect">
            <a:avLst/>
          </a:prstGeom>
          <a:no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2035247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Signed Comparison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17</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92008835"/>
              </p:ext>
            </p:extLst>
          </p:nvPr>
        </p:nvGraphicFramePr>
        <p:xfrm>
          <a:off x="1676401" y="1865531"/>
          <a:ext cx="8763002" cy="3639226"/>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tc>
                <a:tc>
                  <a:txBody>
                    <a:bodyPr/>
                    <a:lstStyle/>
                    <a:p>
                      <a:pPr algn="ctr"/>
                      <a:r>
                        <a:rPr lang="en-US" dirty="0">
                          <a:latin typeface="Consolas" panose="020B0609020204030204" pitchFamily="49" charset="0"/>
                          <a:cs typeface="Consolas" panose="020B0609020204030204" pitchFamily="49" charset="0"/>
                        </a:rPr>
                        <a:t> N = 0</a:t>
                      </a:r>
                    </a:p>
                  </a:txBody>
                  <a:tcPr/>
                </a:tc>
                <a:tc>
                  <a:txBody>
                    <a:bodyPr/>
                    <a:lstStyle/>
                    <a:p>
                      <a:pPr algn="ctr"/>
                      <a:r>
                        <a:rPr lang="en-US" dirty="0">
                          <a:latin typeface="Consolas" panose="020B0609020204030204" pitchFamily="49" charset="0"/>
                          <a:cs typeface="Consolas" panose="020B0609020204030204" pitchFamily="49" charset="0"/>
                        </a:rPr>
                        <a:t> N = 1</a:t>
                      </a:r>
                    </a:p>
                  </a:txBody>
                  <a:tcPr/>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0" indent="0" algn="ctr">
                        <a:buFont typeface="Arial" pitchFamily="34" charset="0"/>
                        <a:buNone/>
                      </a:pPr>
                      <a:r>
                        <a:rPr lang="en-US" baseline="0" dirty="0">
                          <a:latin typeface="Consolas" panose="020B0609020204030204" pitchFamily="49" charset="0"/>
                        </a:rPr>
                        <a:t>r0 ≥ r1</a:t>
                      </a:r>
                    </a:p>
                    <a:p>
                      <a:pPr marL="0" indent="0" algn="ctr">
                        <a:buFont typeface="Arial" pitchFamily="34" charset="0"/>
                        <a:buNone/>
                      </a:pPr>
                      <a:r>
                        <a:rPr lang="en-US" baseline="0" dirty="0">
                          <a:latin typeface="Consolas" panose="020B0609020204030204" pitchFamily="49" charset="0"/>
                          <a:cs typeface="Times New Roman" pitchFamily="18" charset="0"/>
                        </a:rPr>
                        <a:t>CMP returns 1</a:t>
                      </a:r>
                      <a:endParaRPr lang="en-US" dirty="0">
                        <a:latin typeface="Consolas" panose="020B0609020204030204" pitchFamily="49" charset="0"/>
                        <a:cs typeface="Times New Roman" pitchFamily="18" charset="0"/>
                      </a:endParaRPr>
                    </a:p>
                  </a:txBody>
                  <a:tcPr anchor="ctr" anchorCtr="1"/>
                </a:tc>
                <a:tc>
                  <a:txBody>
                    <a:bodyPr/>
                    <a:lstStyle/>
                    <a:p>
                      <a:pPr marL="0" indent="0" algn="ctr">
                        <a:buFont typeface="Arial" pitchFamily="34" charset="0"/>
                        <a:buNone/>
                      </a:pPr>
                      <a:r>
                        <a:rPr lang="en-US" baseline="0" dirty="0">
                          <a:latin typeface="Consolas" panose="020B0609020204030204" pitchFamily="49" charset="0"/>
                        </a:rPr>
                        <a:t>r0 &lt;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0</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0" marR="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rPr>
                        <a:t>r0 &lt;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0</a:t>
                      </a:r>
                      <a:endParaRPr lang="en-US" dirty="0">
                        <a:latin typeface="Consolas" panose="020B0609020204030204" pitchFamily="49" charset="0"/>
                        <a:cs typeface="Times New Roman" pitchFamily="18" charset="0"/>
                      </a:endParaRPr>
                    </a:p>
                  </a:txBody>
                  <a:tcPr anchor="ctr" anchorCtr="1"/>
                </a:tc>
                <a:tc>
                  <a:txBody>
                    <a:bodyPr/>
                    <a:lstStyle/>
                    <a:p>
                      <a:pPr marL="0" marR="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rPr>
                        <a:t>r0 ≥ r1</a:t>
                      </a:r>
                    </a:p>
                    <a:p>
                      <a:pPr marL="0" marR="0" lvl="0" indent="0" algn="ctr" defTabSz="914400" rtl="0" eaLnBrk="1" fontAlgn="auto" latinLnBrk="0" hangingPunct="1">
                        <a:lnSpc>
                          <a:spcPct val="100000"/>
                        </a:lnSpc>
                        <a:spcBef>
                          <a:spcPts val="0"/>
                        </a:spcBef>
                        <a:spcAft>
                          <a:spcPts val="0"/>
                        </a:spcAft>
                        <a:buClrTx/>
                        <a:buSzTx/>
                        <a:buFont typeface="Arial" pitchFamily="34" charset="0"/>
                        <a:buNone/>
                        <a:tabLst/>
                        <a:defRPr/>
                      </a:pPr>
                      <a:r>
                        <a:rPr lang="en-US" baseline="0" dirty="0">
                          <a:latin typeface="Consolas" panose="020B0609020204030204" pitchFamily="49" charset="0"/>
                          <a:cs typeface="Times New Roman" pitchFamily="18" charset="0"/>
                        </a:rPr>
                        <a:t>CMP returns 1</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p:cNvSpPr txBox="1"/>
          <p:nvPr/>
        </p:nvSpPr>
        <p:spPr>
          <a:xfrm>
            <a:off x="2057400" y="1219201"/>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7" name="TextBox 6"/>
          <p:cNvSpPr txBox="1"/>
          <p:nvPr/>
        </p:nvSpPr>
        <p:spPr>
          <a:xfrm>
            <a:off x="2057400" y="5539026"/>
            <a:ext cx="6400800" cy="861774"/>
          </a:xfrm>
          <a:prstGeom prst="rect">
            <a:avLst/>
          </a:prstGeom>
          <a:no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20515715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CAE6B-50BF-EC87-C691-EAFDE1EB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943FBB-D245-9542-B4DC-8D249EAA2EF8}"/>
              </a:ext>
            </a:extLst>
          </p:cNvPr>
          <p:cNvSpPr>
            <a:spLocks noGrp="1"/>
          </p:cNvSpPr>
          <p:nvPr>
            <p:ph type="title"/>
          </p:nvPr>
        </p:nvSpPr>
        <p:spPr/>
        <p:txBody>
          <a:bodyPr>
            <a:normAutofit/>
          </a:bodyPr>
          <a:lstStyle/>
          <a:p>
            <a:r>
              <a:rPr lang="en-US" dirty="0"/>
              <a:t>Signed Comparison Example</a:t>
            </a:r>
          </a:p>
        </p:txBody>
      </p:sp>
      <p:sp>
        <p:nvSpPr>
          <p:cNvPr id="3" name="Slide Number Placeholder 2">
            <a:extLst>
              <a:ext uri="{FF2B5EF4-FFF2-40B4-BE49-F238E27FC236}">
                <a16:creationId xmlns:a16="http://schemas.microsoft.com/office/drawing/2014/main" id="{ED158967-29A6-2F86-E4C9-0AF69AC0F715}"/>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graphicFrame>
        <p:nvGraphicFramePr>
          <p:cNvPr id="5" name="Table 4">
            <a:extLst>
              <a:ext uri="{FF2B5EF4-FFF2-40B4-BE49-F238E27FC236}">
                <a16:creationId xmlns:a16="http://schemas.microsoft.com/office/drawing/2014/main" id="{C7914D5B-2CC7-293C-9379-3C41827285D1}"/>
              </a:ext>
            </a:extLst>
          </p:cNvPr>
          <p:cNvGraphicFramePr>
            <a:graphicFrameLocks noGrp="1"/>
          </p:cNvGraphicFramePr>
          <p:nvPr>
            <p:extLst>
              <p:ext uri="{D42A27DB-BD31-4B8C-83A1-F6EECF244321}">
                <p14:modId xmlns:p14="http://schemas.microsoft.com/office/powerpoint/2010/main" val="2509547261"/>
              </p:ext>
            </p:extLst>
          </p:nvPr>
        </p:nvGraphicFramePr>
        <p:xfrm>
          <a:off x="1600200" y="1751398"/>
          <a:ext cx="8763002" cy="4114800"/>
        </p:xfrm>
        <a:graphic>
          <a:graphicData uri="http://schemas.openxmlformats.org/drawingml/2006/table">
            <a:tbl>
              <a:tblPr firstRow="1" firstCol="1" bandRow="1">
                <a:tableStyleId>{5C22544A-7EE6-4342-B048-85BDC9FD1C3A}</a:tableStyleId>
              </a:tblPr>
              <a:tblGrid>
                <a:gridCol w="914399">
                  <a:extLst>
                    <a:ext uri="{9D8B030D-6E8A-4147-A177-3AD203B41FA5}">
                      <a16:colId xmlns:a16="http://schemas.microsoft.com/office/drawing/2014/main" val="20000"/>
                    </a:ext>
                  </a:extLst>
                </a:gridCol>
                <a:gridCol w="3866760">
                  <a:extLst>
                    <a:ext uri="{9D8B030D-6E8A-4147-A177-3AD203B41FA5}">
                      <a16:colId xmlns:a16="http://schemas.microsoft.com/office/drawing/2014/main" val="20001"/>
                    </a:ext>
                  </a:extLst>
                </a:gridCol>
                <a:gridCol w="3981843">
                  <a:extLst>
                    <a:ext uri="{9D8B030D-6E8A-4147-A177-3AD203B41FA5}">
                      <a16:colId xmlns:a16="http://schemas.microsoft.com/office/drawing/2014/main" val="20002"/>
                    </a:ext>
                  </a:extLst>
                </a:gridCol>
              </a:tblGrid>
              <a:tr h="363556">
                <a:tc>
                  <a:txBody>
                    <a:bodyPr/>
                    <a:lstStyle/>
                    <a:p>
                      <a:endParaRPr lang="en-US" dirty="0">
                        <a:latin typeface="Consolas" panose="020B0609020204030204" pitchFamily="49" charset="0"/>
                        <a:cs typeface="Consolas" panose="020B0609020204030204" pitchFamily="49" charset="0"/>
                      </a:endParaRPr>
                    </a:p>
                  </a:txBody>
                  <a:tcPr anchor="ctr" anchorCtr="1"/>
                </a:tc>
                <a:tc>
                  <a:txBody>
                    <a:bodyPr/>
                    <a:lstStyle/>
                    <a:p>
                      <a:pPr algn="ctr"/>
                      <a:r>
                        <a:rPr lang="en-US" dirty="0">
                          <a:latin typeface="Consolas" panose="020B0609020204030204" pitchFamily="49" charset="0"/>
                          <a:cs typeface="Consolas" panose="020B0609020204030204" pitchFamily="49" charset="0"/>
                        </a:rPr>
                        <a:t> N = 0</a:t>
                      </a:r>
                    </a:p>
                  </a:txBody>
                  <a:tcPr anchor="ctr" anchorCtr="1"/>
                </a:tc>
                <a:tc>
                  <a:txBody>
                    <a:bodyPr/>
                    <a:lstStyle/>
                    <a:p>
                      <a:pPr algn="ctr"/>
                      <a:r>
                        <a:rPr lang="en-US" dirty="0">
                          <a:latin typeface="Consolas" panose="020B0609020204030204" pitchFamily="49" charset="0"/>
                          <a:cs typeface="Consolas" panose="020B0609020204030204" pitchFamily="49" charset="0"/>
                        </a:rPr>
                        <a:t> N = 1</a:t>
                      </a:r>
                    </a:p>
                  </a:txBody>
                  <a:tcPr anchor="ctr" anchorCtr="1"/>
                </a:tc>
                <a:extLst>
                  <a:ext uri="{0D108BD9-81ED-4DB2-BD59-A6C34878D82A}">
                    <a16:rowId xmlns:a16="http://schemas.microsoft.com/office/drawing/2014/main" val="10000"/>
                  </a:ext>
                </a:extLst>
              </a:tr>
              <a:tr h="1273909">
                <a:tc>
                  <a:txBody>
                    <a:bodyPr/>
                    <a:lstStyle/>
                    <a:p>
                      <a:pPr algn="ctr"/>
                      <a:r>
                        <a:rPr lang="en-US" dirty="0">
                          <a:latin typeface="Consolas" panose="020B0609020204030204" pitchFamily="49" charset="0"/>
                          <a:cs typeface="Consolas" panose="020B0609020204030204" pitchFamily="49" charset="0"/>
                        </a:rPr>
                        <a:t>V = 0</a:t>
                      </a:r>
                    </a:p>
                  </a:txBody>
                  <a:tcPr anchor="ctr" anchorCtr="1"/>
                </a:tc>
                <a:tc>
                  <a:txBody>
                    <a:bodyPr/>
                    <a:lstStyle/>
                    <a:p>
                      <a:pPr marL="285750" indent="-285750">
                        <a:buFont typeface="Arial" pitchFamily="34" charset="0"/>
                        <a:buChar char="•"/>
                      </a:pPr>
                      <a:r>
                        <a:rPr lang="en-US" dirty="0"/>
                        <a:t>r0 = +7 (00111)</a:t>
                      </a:r>
                    </a:p>
                    <a:p>
                      <a:pPr marL="285750" indent="-285750">
                        <a:buFont typeface="Arial" pitchFamily="34" charset="0"/>
                        <a:buChar char="•"/>
                      </a:pPr>
                      <a:r>
                        <a:rPr lang="en-US" dirty="0"/>
                        <a:t>r1 = +3 (00011) </a:t>
                      </a:r>
                    </a:p>
                    <a:p>
                      <a:pPr marL="285750" indent="-285750">
                        <a:buFont typeface="Arial" pitchFamily="34" charset="0"/>
                        <a:buChar char="•"/>
                      </a:pPr>
                      <a:r>
                        <a:rPr lang="en-US" dirty="0"/>
                        <a:t>r0 − r1 = +4 (00100); </a:t>
                      </a:r>
                    </a:p>
                    <a:p>
                      <a:pPr marL="285750" indent="-285750">
                        <a:buFont typeface="Arial" pitchFamily="34" charset="0"/>
                        <a:buChar char="•"/>
                      </a:pPr>
                      <a:r>
                        <a:rPr lang="en-US" dirty="0"/>
                        <a:t>result non‑negative and no signed overflow, so N=0, V=0 ⇒ GE holds</a:t>
                      </a:r>
                    </a:p>
                    <a:p>
                      <a:pPr marL="285750" indent="-285750">
                        <a:buFont typeface="Arial" pitchFamily="34" charset="0"/>
                        <a:buChar char="•"/>
                      </a:pPr>
                      <a:endParaRPr lang="en-US" dirty="0">
                        <a:latin typeface="Consolas" panose="020B0609020204030204" pitchFamily="49" charset="0"/>
                        <a:cs typeface="Times New Roman" pitchFamily="18" charset="0"/>
                      </a:endParaRPr>
                    </a:p>
                  </a:txBody>
                  <a:tcPr anchor="ctr" anchorCtr="1"/>
                </a:tc>
                <a:tc>
                  <a:txBody>
                    <a:bodyPr/>
                    <a:lstStyle/>
                    <a:p>
                      <a:pPr marL="285750" indent="-285750">
                        <a:buFont typeface="Arial" pitchFamily="34" charset="0"/>
                        <a:buChar char="•"/>
                      </a:pPr>
                      <a:r>
                        <a:rPr lang="en-US" dirty="0"/>
                        <a:t>r0 = +3 (00011)</a:t>
                      </a:r>
                    </a:p>
                    <a:p>
                      <a:pPr marL="285750" indent="-285750">
                        <a:buFont typeface="Arial" pitchFamily="34" charset="0"/>
                        <a:buChar char="•"/>
                      </a:pPr>
                      <a:r>
                        <a:rPr lang="en-US" dirty="0"/>
                        <a:t>r1 = +7 (00111)</a:t>
                      </a:r>
                    </a:p>
                    <a:p>
                      <a:pPr marL="285750" indent="-285750">
                        <a:buFont typeface="Arial" pitchFamily="34" charset="0"/>
                        <a:buChar char="•"/>
                      </a:pPr>
                      <a:r>
                        <a:rPr lang="en-US" dirty="0"/>
                        <a:t>r0 − r1 = −4 (11100)</a:t>
                      </a:r>
                    </a:p>
                    <a:p>
                      <a:pPr marL="285750" indent="-285750">
                        <a:buFont typeface="Arial" pitchFamily="34" charset="0"/>
                        <a:buChar char="•"/>
                      </a:pPr>
                      <a:r>
                        <a:rPr lang="en-US" dirty="0"/>
                        <a:t>result negative with no overflow, so N=1, V=0 ⇒ LT holds</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1"/>
                  </a:ext>
                </a:extLst>
              </a:tr>
              <a:tr h="1999557">
                <a:tc>
                  <a:txBody>
                    <a:bodyPr/>
                    <a:lstStyle/>
                    <a:p>
                      <a:pPr algn="ctr"/>
                      <a:r>
                        <a:rPr lang="en-US" dirty="0">
                          <a:latin typeface="Consolas" panose="020B0609020204030204" pitchFamily="49" charset="0"/>
                          <a:cs typeface="Consolas" panose="020B0609020204030204" pitchFamily="49" charset="0"/>
                        </a:rPr>
                        <a:t>V = 1</a:t>
                      </a: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−10 (10110)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r1 = +7 (00111) </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r1 = −17, outside range  [−16,+15]; result is 00111 (decimal 7), whose sign bit is 0 so N=0, but signed overflow occurs so V=1 </a:t>
                      </a:r>
                      <a:r>
                        <a:rPr lang="en-US" dirty="0"/>
                        <a:t>⇒ LT holds</a:t>
                      </a:r>
                      <a:r>
                        <a:rPr lang="en-US" baseline="0" dirty="0"/>
                        <a:t> </a:t>
                      </a:r>
                      <a:endParaRPr lang="en-US" dirty="0">
                        <a:latin typeface="Consolas" panose="020B0609020204030204" pitchFamily="49" charset="0"/>
                        <a:cs typeface="Times New Roman" pitchFamily="18" charset="0"/>
                      </a:endParaRPr>
                    </a:p>
                  </a:txBody>
                  <a:tcPr anchor="ctr" anchorCtr="1"/>
                </a:tc>
                <a:tc>
                  <a:txBody>
                    <a:bodyPr/>
                    <a:lstStyle/>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+10 (01010)</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r1 = −7 (11001)</a:t>
                      </a:r>
                    </a:p>
                    <a:p>
                      <a:pPr marL="285750" marR="0" indent="-285750" algn="l" defTabSz="914400" rtl="0" eaLnBrk="1" fontAlgn="auto" latinLnBrk="0" hangingPunct="1">
                        <a:lnSpc>
                          <a:spcPct val="100000"/>
                        </a:lnSpc>
                        <a:spcBef>
                          <a:spcPts val="0"/>
                        </a:spcBef>
                        <a:spcAft>
                          <a:spcPts val="0"/>
                        </a:spcAft>
                        <a:buClrTx/>
                        <a:buSzTx/>
                        <a:buFont typeface="Arial" pitchFamily="34" charset="0"/>
                        <a:buChar char="•"/>
                        <a:tabLst/>
                        <a:defRPr/>
                      </a:pPr>
                      <a:r>
                        <a:rPr lang="en-US" baseline="0" dirty="0"/>
                        <a:t>r0 − r1 = +17, outside range [−16,+15]; result is 10001 (decimal −15), whose sign bit is 1 so N=1, but signed overflow occurs so V=1 </a:t>
                      </a:r>
                      <a:r>
                        <a:rPr lang="en-US" dirty="0"/>
                        <a:t>⇒ GE holds</a:t>
                      </a:r>
                      <a:endParaRPr lang="en-US" dirty="0">
                        <a:latin typeface="Consolas" panose="020B0609020204030204" pitchFamily="49" charset="0"/>
                        <a:cs typeface="Times New Roman" pitchFamily="18" charset="0"/>
                      </a:endParaRPr>
                    </a:p>
                  </a:txBody>
                  <a:tcPr anchor="ctr" anchorCtr="1"/>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E638046-5BA3-A3CF-AF2C-C5DE1F3D39B8}"/>
              </a:ext>
            </a:extLst>
          </p:cNvPr>
          <p:cNvSpPr txBox="1"/>
          <p:nvPr/>
        </p:nvSpPr>
        <p:spPr>
          <a:xfrm>
            <a:off x="1981199" y="1105068"/>
            <a:ext cx="5465342" cy="646331"/>
          </a:xfrm>
          <a:prstGeom prst="rect">
            <a:avLst/>
          </a:prstGeom>
          <a:noFill/>
        </p:spPr>
        <p:txBody>
          <a:bodyPr wrap="none" rtlCol="0">
            <a:spAutoFit/>
          </a:bodyPr>
          <a:lstStyle/>
          <a:p>
            <a:r>
              <a:rPr lang="en-US" b="1" dirty="0">
                <a:solidFill>
                  <a:srgbClr val="C00000"/>
                </a:solidFill>
                <a:latin typeface="Consolas" panose="020B0609020204030204" pitchFamily="49" charset="0"/>
                <a:cs typeface="Consolas" panose="020B0609020204030204" pitchFamily="49" charset="0"/>
              </a:rPr>
              <a:t>CMP r0, r1</a:t>
            </a:r>
          </a:p>
          <a:p>
            <a:r>
              <a:rPr lang="en-US" dirty="0"/>
              <a:t>perform subtraction </a:t>
            </a:r>
            <a:r>
              <a:rPr lang="en-US" dirty="0">
                <a:latin typeface="Consolas" panose="020B0609020204030204" pitchFamily="49" charset="0"/>
              </a:rPr>
              <a:t>r0 – r1</a:t>
            </a:r>
            <a:r>
              <a:rPr lang="en-US" dirty="0"/>
              <a:t>, without saving the result</a:t>
            </a:r>
          </a:p>
        </p:txBody>
      </p:sp>
      <p:sp>
        <p:nvSpPr>
          <p:cNvPr id="4" name="TextBox 3">
            <a:extLst>
              <a:ext uri="{FF2B5EF4-FFF2-40B4-BE49-F238E27FC236}">
                <a16:creationId xmlns:a16="http://schemas.microsoft.com/office/drawing/2014/main" id="{322021C4-48B0-785F-37E1-344B4B93A676}"/>
              </a:ext>
            </a:extLst>
          </p:cNvPr>
          <p:cNvSpPr txBox="1"/>
          <p:nvPr/>
        </p:nvSpPr>
        <p:spPr>
          <a:xfrm>
            <a:off x="1858106" y="5866198"/>
            <a:ext cx="6400800" cy="861774"/>
          </a:xfrm>
          <a:prstGeom prst="rect">
            <a:avLst/>
          </a:prstGeom>
          <a:solidFill>
            <a:schemeClr val="bg1"/>
          </a:solidFill>
        </p:spPr>
        <p:txBody>
          <a:bodyPr wrap="square" rtlCol="0">
            <a:spAutoFit/>
          </a:bodyPr>
          <a:lstStyle/>
          <a:p>
            <a:r>
              <a:rPr lang="en-US" sz="1600" dirty="0"/>
              <a:t>Conclusions:</a:t>
            </a:r>
          </a:p>
          <a:p>
            <a:pPr marL="285750" indent="-285750">
              <a:buFont typeface="Arial" pitchFamily="34" charset="0"/>
              <a:buChar char="•"/>
            </a:pPr>
            <a:r>
              <a:rPr lang="en-US" sz="1600" dirty="0"/>
              <a:t>If N == V, then it is signed greater or equal (GE).</a:t>
            </a:r>
          </a:p>
          <a:p>
            <a:pPr marL="285750" indent="-285750">
              <a:buFont typeface="Arial" pitchFamily="34" charset="0"/>
              <a:buChar char="•"/>
            </a:pPr>
            <a:r>
              <a:rPr lang="en-US" sz="1600" dirty="0"/>
              <a:t>Otherwise, it is signed less than (LT)</a:t>
            </a:r>
          </a:p>
        </p:txBody>
      </p:sp>
    </p:spTree>
    <p:extLst>
      <p:ext uri="{BB962C8B-B14F-4D97-AF65-F5344CB8AC3E}">
        <p14:creationId xmlns:p14="http://schemas.microsoft.com/office/powerpoint/2010/main" val="16713733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1981200" y="5038"/>
            <a:ext cx="7772400" cy="1143000"/>
          </a:xfrm>
        </p:spPr>
        <p:txBody>
          <a:bodyPr/>
          <a:lstStyle/>
          <a:p>
            <a:r>
              <a:rPr lang="en-US" dirty="0"/>
              <a:t>Signed vs. Unsigned</a:t>
            </a:r>
            <a:r>
              <a:rPr lang="zh-CN" altLang="en-US" dirty="0"/>
              <a:t> </a:t>
            </a:r>
            <a:r>
              <a:rPr lang="en-US" altLang="zh-CN" dirty="0"/>
              <a:t>Comparison</a:t>
            </a:r>
            <a:endParaRPr lang="en-US" dirty="0"/>
          </a:p>
        </p:txBody>
      </p:sp>
      <p:sp>
        <p:nvSpPr>
          <p:cNvPr id="2" name="Slide Number Placeholder 1"/>
          <p:cNvSpPr>
            <a:spLocks noGrp="1"/>
          </p:cNvSpPr>
          <p:nvPr>
            <p:ph type="sldNum" sz="quarter" idx="11"/>
          </p:nvPr>
        </p:nvSpPr>
        <p:spPr/>
        <p:txBody>
          <a:bodyPr/>
          <a:lstStyle/>
          <a:p>
            <a:pPr>
              <a:defRPr/>
            </a:pPr>
            <a:fld id="{7D3083A4-9012-4F92-8AC9-739FC4D3B103}" type="slidenum">
              <a:rPr lang="en-US" smtClean="0"/>
              <a:pPr>
                <a:defRPr/>
              </a:pPr>
              <a:t>19</a:t>
            </a:fld>
            <a:endParaRPr lang="en-US"/>
          </a:p>
        </p:txBody>
      </p:sp>
      <p:sp>
        <p:nvSpPr>
          <p:cNvPr id="3" name="TextBox 2"/>
          <p:cNvSpPr txBox="1"/>
          <p:nvPr/>
        </p:nvSpPr>
        <p:spPr>
          <a:xfrm>
            <a:off x="6797812" y="1241454"/>
            <a:ext cx="3396977" cy="646331"/>
          </a:xfrm>
          <a:prstGeom prst="rect">
            <a:avLst/>
          </a:prstGeom>
          <a:noFill/>
        </p:spPr>
        <p:txBody>
          <a:bodyPr wrap="square" rtlCol="0">
            <a:spAutoFit/>
          </a:bodyPr>
          <a:lstStyle/>
          <a:p>
            <a:pPr algn="ctr"/>
            <a:r>
              <a:rPr lang="en-US" dirty="0"/>
              <a:t>Conditional codes applied to branch instructions</a:t>
            </a:r>
          </a:p>
        </p:txBody>
      </p:sp>
      <p:sp>
        <p:nvSpPr>
          <p:cNvPr id="4" name="Right Arrow 3"/>
          <p:cNvSpPr/>
          <p:nvPr/>
        </p:nvSpPr>
        <p:spPr>
          <a:xfrm>
            <a:off x="5776783" y="3238500"/>
            <a:ext cx="5334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roup 92"/>
          <p:cNvGraphicFramePr>
            <a:graphicFrameLocks/>
          </p:cNvGraphicFramePr>
          <p:nvPr/>
        </p:nvGraphicFramePr>
        <p:xfrm>
          <a:off x="6553201" y="1981200"/>
          <a:ext cx="3886201" cy="2743200"/>
        </p:xfrm>
        <a:graphic>
          <a:graphicData uri="http://schemas.openxmlformats.org/drawingml/2006/table">
            <a:tbl>
              <a:tblPr/>
              <a:tblGrid>
                <a:gridCol w="1423903">
                  <a:extLst>
                    <a:ext uri="{9D8B030D-6E8A-4147-A177-3AD203B41FA5}">
                      <a16:colId xmlns:a16="http://schemas.microsoft.com/office/drawing/2014/main" val="20000"/>
                    </a:ext>
                  </a:extLst>
                </a:gridCol>
                <a:gridCol w="1173389">
                  <a:extLst>
                    <a:ext uri="{9D8B030D-6E8A-4147-A177-3AD203B41FA5}">
                      <a16:colId xmlns:a16="http://schemas.microsoft.com/office/drawing/2014/main" val="20001"/>
                    </a:ext>
                  </a:extLst>
                </a:gridCol>
                <a:gridCol w="1288909">
                  <a:extLst>
                    <a:ext uri="{9D8B030D-6E8A-4147-A177-3AD203B41FA5}">
                      <a16:colId xmlns:a16="http://schemas.microsoft.com/office/drawing/2014/main" val="20002"/>
                    </a:ext>
                  </a:extLst>
                </a:gridCol>
              </a:tblGrid>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48074">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47133">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BLE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BLS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64924021"/>
                  </a:ext>
                </a:extLst>
              </a:tr>
              <a:tr h="34901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BNE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724926228"/>
                  </a:ext>
                </a:extLst>
              </a:tr>
            </a:tbl>
          </a:graphicData>
        </a:graphic>
      </p:graphicFrame>
      <p:graphicFrame>
        <p:nvGraphicFramePr>
          <p:cNvPr id="449628" name="Group 92"/>
          <p:cNvGraphicFramePr>
            <a:graphicFrameLocks noGrp="1"/>
          </p:cNvGraphicFramePr>
          <p:nvPr>
            <p:ph idx="1"/>
          </p:nvPr>
        </p:nvGraphicFramePr>
        <p:xfrm>
          <a:off x="1752600" y="1981200"/>
          <a:ext cx="3809998" cy="2743200"/>
        </p:xfrm>
        <a:graphic>
          <a:graphicData uri="http://schemas.openxmlformats.org/drawingml/2006/table">
            <a:tbl>
              <a:tblPr/>
              <a:tblGrid>
                <a:gridCol w="1191059">
                  <a:extLst>
                    <a:ext uri="{9D8B030D-6E8A-4147-A177-3AD203B41FA5}">
                      <a16:colId xmlns:a16="http://schemas.microsoft.com/office/drawing/2014/main" val="20000"/>
                    </a:ext>
                  </a:extLst>
                </a:gridCol>
                <a:gridCol w="1281608">
                  <a:extLst>
                    <a:ext uri="{9D8B030D-6E8A-4147-A177-3AD203B41FA5}">
                      <a16:colId xmlns:a16="http://schemas.microsoft.com/office/drawing/2014/main" val="20001"/>
                    </a:ext>
                  </a:extLst>
                </a:gridCol>
                <a:gridCol w="1337331">
                  <a:extLst>
                    <a:ext uri="{9D8B030D-6E8A-4147-A177-3AD203B41FA5}">
                      <a16:colId xmlns:a16="http://schemas.microsoft.com/office/drawing/2014/main" val="20002"/>
                    </a:ext>
                  </a:extLst>
                </a:gridCol>
              </a:tblGrid>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Compare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1800" b="1" i="0" u="none" strike="noStrike" cap="none" normalizeH="0" baseline="0" dirty="0">
                          <a:ln>
                            <a:noFill/>
                          </a:ln>
                          <a:solidFill>
                            <a:schemeClr val="bg1"/>
                          </a:solidFill>
                          <a:effectLst/>
                          <a:latin typeface="Arial" charset="0"/>
                        </a:rPr>
                        <a:t>Unsigned</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accent1"/>
                    </a:solidFill>
                  </a:tcPr>
                </a:tc>
                <a:extLst>
                  <a:ext uri="{0D108BD9-81ED-4DB2-BD59-A6C34878D82A}">
                    <a16:rowId xmlns:a16="http://schemas.microsoft.com/office/drawing/2014/main" val="10000"/>
                  </a:ext>
                </a:extLst>
              </a:tr>
              <a:tr h="337196">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HI</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GE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HS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36285">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a:ln>
                            <a:noFill/>
                          </a:ln>
                          <a:solidFill>
                            <a:srgbClr val="0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LO</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C00000"/>
                          </a:solidFill>
                          <a:effectLst/>
                          <a:latin typeface="Consolas" panose="020B0609020204030204" pitchFamily="49" charset="0"/>
                          <a:cs typeface="Consolas" panose="020B0609020204030204" pitchFamily="49" charset="0"/>
                        </a:rPr>
                        <a:t>LE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rPr>
                        <a:t>LS</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EQ</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86496093"/>
                  </a:ext>
                </a:extLst>
              </a:tr>
              <a:tr h="338108">
                <a:tc>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rgbClr val="000000"/>
                          </a:solidFill>
                          <a:effectLst/>
                          <a:latin typeface="Consolas" panose="020B0609020204030204" pitchFamily="49" charset="0"/>
                          <a:cs typeface="Consolas" panose="020B0609020204030204" pitchFamily="49" charset="0"/>
                        </a:rPr>
                        <a:t>≠</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gridSpan="2">
                  <a:txBody>
                    <a:bodyPr/>
                    <a:lstStyle/>
                    <a:p>
                      <a:pPr marL="0" marR="0" lvl="0" indent="0" algn="ctr" defTabSz="914400" rtl="0" eaLnBrk="0" fontAlgn="base" latinLnBrk="0" hangingPunct="0">
                        <a:lnSpc>
                          <a:spcPct val="100000"/>
                        </a:lnSpc>
                        <a:spcBef>
                          <a:spcPct val="20000"/>
                        </a:spcBef>
                        <a:spcAft>
                          <a:spcPct val="0"/>
                        </a:spcAft>
                        <a:buClrTx/>
                        <a:buSzTx/>
                        <a:buFontTx/>
                        <a:buNone/>
                        <a:tabLst/>
                      </a:pPr>
                      <a:r>
                        <a:rPr kumimoji="0" lang="en-US" sz="2000" b="0" i="0" u="none" strike="noStrike" cap="none" normalizeH="0" baseline="0" dirty="0">
                          <a:ln>
                            <a:noFill/>
                          </a:ln>
                          <a:solidFill>
                            <a:schemeClr val="tx1"/>
                          </a:solidFill>
                          <a:effectLst/>
                          <a:latin typeface="Consolas" panose="020B0609020204030204" pitchFamily="49" charset="0"/>
                          <a:cs typeface="Consolas" panose="020B0609020204030204" pitchFamily="49" charset="0"/>
                        </a:rPr>
                        <a:t>NE</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tc hMerge="1">
                  <a:txBody>
                    <a:bodyPr/>
                    <a:lstStyle/>
                    <a:p>
                      <a:pPr marL="0" marR="0" lvl="0" indent="0" algn="ctr" defTabSz="914400" rtl="0" eaLnBrk="0" fontAlgn="base" latinLnBrk="0" hangingPunct="0">
                        <a:lnSpc>
                          <a:spcPct val="100000"/>
                        </a:lnSpc>
                        <a:spcBef>
                          <a:spcPct val="20000"/>
                        </a:spcBef>
                        <a:spcAft>
                          <a:spcPct val="0"/>
                        </a:spcAft>
                        <a:buClrTx/>
                        <a:buSzTx/>
                        <a:buFontTx/>
                        <a:buNone/>
                        <a:tabLst/>
                      </a:pPr>
                      <a:endParaRPr kumimoji="0" lang="en-US" sz="2000" b="0" i="0" u="none" strike="noStrike" cap="none" normalizeH="0" baseline="0" dirty="0">
                        <a:ln>
                          <a:noFill/>
                        </a:ln>
                        <a:solidFill>
                          <a:srgbClr val="0000FF"/>
                        </a:solidFill>
                        <a:effectLst/>
                        <a:latin typeface="Consolas" panose="020B0609020204030204" pitchFamily="49" charset="0"/>
                        <a:cs typeface="Consolas" panose="020B0609020204030204" pitchFamily="49"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551342173"/>
                  </a:ext>
                </a:extLst>
              </a:tr>
            </a:tbl>
          </a:graphicData>
        </a:graphic>
      </p:graphicFrame>
    </p:spTree>
    <p:extLst>
      <p:ext uri="{BB962C8B-B14F-4D97-AF65-F5344CB8AC3E}">
        <p14:creationId xmlns:p14="http://schemas.microsoft.com/office/powerpoint/2010/main" val="1860818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500"/>
                            </p:stCondLst>
                            <p:childTnLst>
                              <p:par>
                                <p:cTn id="9" presetID="1"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6" name="Rectangle 2"/>
          <p:cNvSpPr>
            <a:spLocks noGrp="1" noChangeArrowheads="1"/>
          </p:cNvSpPr>
          <p:nvPr>
            <p:ph type="title"/>
          </p:nvPr>
        </p:nvSpPr>
        <p:spPr/>
        <p:txBody>
          <a:bodyPr>
            <a:normAutofit/>
          </a:bodyPr>
          <a:lstStyle/>
          <a:p>
            <a:r>
              <a:rPr lang="en-US" dirty="0"/>
              <a:t>Number Interpretation</a:t>
            </a:r>
            <a:endParaRPr lang="en-US" dirty="0">
              <a:solidFill>
                <a:schemeClr val="tx1"/>
              </a:solidFill>
              <a:latin typeface="Tahoma" pitchFamily="34" charset="0"/>
              <a:cs typeface="Times New Roman" pitchFamily="18" charset="0"/>
            </a:endParaRP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20</a:t>
            </a:fld>
            <a:endParaRPr kumimoji="0" lang="en-US" dirty="0"/>
          </a:p>
        </p:txBody>
      </p:sp>
      <p:sp>
        <p:nvSpPr>
          <p:cNvPr id="6" name="Content Placeholder 5"/>
          <p:cNvSpPr>
            <a:spLocks noGrp="1"/>
          </p:cNvSpPr>
          <p:nvPr>
            <p:ph sz="quarter" idx="1"/>
          </p:nvPr>
        </p:nvSpPr>
        <p:spPr>
          <a:xfrm>
            <a:off x="609600" y="3036505"/>
            <a:ext cx="10287000" cy="2575560"/>
          </a:xfrm>
        </p:spPr>
        <p:txBody>
          <a:bodyPr>
            <a:normAutofit/>
          </a:bodyPr>
          <a:lstStyle/>
          <a:p>
            <a:r>
              <a:rPr lang="en-US" sz="2400" dirty="0"/>
              <a:t>If they represent signed numbers, the latter is greater. </a:t>
            </a:r>
          </a:p>
          <a:p>
            <a:pPr marL="0" indent="0">
              <a:buNone/>
            </a:pPr>
            <a:r>
              <a:rPr lang="en-US" sz="2400" dirty="0"/>
              <a:t>   (</a:t>
            </a:r>
            <a:r>
              <a:rPr lang="en-US" sz="2400" b="1" dirty="0">
                <a:latin typeface="Consolas" panose="020B0609020204030204" pitchFamily="49" charset="0"/>
                <a:cs typeface="Consolas" panose="020B0609020204030204" pitchFamily="49" charset="0"/>
              </a:rPr>
              <a:t>1 &gt; -1</a:t>
            </a:r>
            <a:r>
              <a:rPr lang="en-US" sz="2400" dirty="0"/>
              <a:t>).</a:t>
            </a:r>
          </a:p>
          <a:p>
            <a:pPr marL="0" indent="0">
              <a:buNone/>
            </a:pPr>
            <a:endParaRPr lang="en-US" sz="2400" dirty="0"/>
          </a:p>
          <a:p>
            <a:r>
              <a:rPr lang="en-US" sz="2400" dirty="0"/>
              <a:t>If they represent unsigned numbers, the former is greater</a:t>
            </a:r>
          </a:p>
          <a:p>
            <a:pPr marL="0" indent="0">
              <a:buNone/>
            </a:pPr>
            <a:r>
              <a:rPr lang="en-US" sz="2400" dirty="0"/>
              <a:t>   (2</a:t>
            </a:r>
            <a:r>
              <a:rPr lang="en-US" sz="2400" baseline="30000" dirty="0"/>
              <a:t>32-1</a:t>
            </a:r>
            <a:r>
              <a:rPr lang="en-US" sz="2400" b="1" dirty="0">
                <a:latin typeface="Consolas" panose="020B0609020204030204" pitchFamily="49" charset="0"/>
                <a:cs typeface="Consolas" panose="020B0609020204030204" pitchFamily="49" charset="0"/>
              </a:rPr>
              <a:t> &gt; 1</a:t>
            </a:r>
            <a:r>
              <a:rPr lang="en-US" sz="2400" dirty="0"/>
              <a:t>).</a:t>
            </a:r>
          </a:p>
        </p:txBody>
      </p:sp>
      <p:sp>
        <p:nvSpPr>
          <p:cNvPr id="2" name="Rectangle 1"/>
          <p:cNvSpPr/>
          <p:nvPr/>
        </p:nvSpPr>
        <p:spPr>
          <a:xfrm>
            <a:off x="1981200" y="1295401"/>
            <a:ext cx="7772400" cy="1061829"/>
          </a:xfrm>
          <a:prstGeom prst="rect">
            <a:avLst/>
          </a:prstGeom>
        </p:spPr>
        <p:txBody>
          <a:bodyPr wrap="square">
            <a:spAutoFit/>
          </a:bodyPr>
          <a:lstStyle/>
          <a:p>
            <a:r>
              <a:rPr lang="en-US" sz="2800" dirty="0"/>
              <a:t>Which is greater?</a:t>
            </a:r>
          </a:p>
          <a:p>
            <a:endParaRPr lang="en-US" sz="1100" dirty="0"/>
          </a:p>
          <a:p>
            <a:r>
              <a:rPr lang="en-US" sz="2400" dirty="0">
                <a:latin typeface="Consolas" panose="020B0609020204030204" pitchFamily="49" charset="0"/>
                <a:cs typeface="Consolas" panose="020B0609020204030204" pitchFamily="49" charset="0"/>
              </a:rPr>
              <a:t>	</a:t>
            </a:r>
            <a:r>
              <a:rPr lang="en-US" sz="2400" b="1" dirty="0" err="1">
                <a:solidFill>
                  <a:srgbClr val="FF0000"/>
                </a:solidFill>
                <a:latin typeface="Consolas" panose="020B0609020204030204" pitchFamily="49" charset="0"/>
                <a:cs typeface="Consolas" panose="020B0609020204030204" pitchFamily="49" charset="0"/>
              </a:rPr>
              <a:t>0xFFFFFFFF</a:t>
            </a:r>
            <a:r>
              <a:rPr lang="en-US" sz="2400" dirty="0">
                <a:latin typeface="Tahoma" pitchFamily="34" charset="0"/>
                <a:cs typeface="Times New Roman" pitchFamily="18" charset="0"/>
              </a:rPr>
              <a:t> or </a:t>
            </a:r>
            <a:r>
              <a:rPr lang="en-US" sz="2400" b="1" dirty="0" err="1">
                <a:solidFill>
                  <a:srgbClr val="FF0000"/>
                </a:solidFill>
                <a:latin typeface="Consolas" panose="020B0609020204030204" pitchFamily="49" charset="0"/>
                <a:cs typeface="Consolas" panose="020B0609020204030204" pitchFamily="49" charset="0"/>
              </a:rPr>
              <a:t>0x00000001</a:t>
            </a:r>
            <a:endParaRPr lang="en-US" sz="2400" b="1" dirty="0">
              <a:solidFill>
                <a:srgbClr val="FF0000"/>
              </a:solidFill>
              <a:latin typeface="Tahoma" pitchFamily="34" charset="0"/>
              <a:cs typeface="Times New Roman" pitchFamily="18" charset="0"/>
            </a:endParaRPr>
          </a:p>
        </p:txBody>
      </p:sp>
    </p:spTree>
    <p:extLst>
      <p:ext uri="{BB962C8B-B14F-4D97-AF65-F5344CB8AC3E}">
        <p14:creationId xmlns:p14="http://schemas.microsoft.com/office/powerpoint/2010/main" val="2319237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Rectangle 2"/>
          <p:cNvSpPr>
            <a:spLocks noGrp="1" noChangeArrowheads="1"/>
          </p:cNvSpPr>
          <p:nvPr>
            <p:ph type="title"/>
          </p:nvPr>
        </p:nvSpPr>
        <p:spPr>
          <a:xfrm>
            <a:off x="615906" y="132281"/>
            <a:ext cx="8686800" cy="990600"/>
          </a:xfrm>
        </p:spPr>
        <p:txBody>
          <a:bodyPr>
            <a:normAutofit fontScale="90000"/>
          </a:bodyPr>
          <a:lstStyle/>
          <a:p>
            <a:r>
              <a:rPr lang="en-US" dirty="0"/>
              <a:t>Which is Greater: </a:t>
            </a:r>
            <a:r>
              <a:rPr lang="en-US" dirty="0">
                <a:solidFill>
                  <a:schemeClr val="tx1"/>
                </a:solidFill>
                <a:latin typeface="Consolas" panose="020B0609020204030204" pitchFamily="49" charset="0"/>
                <a:cs typeface="Consolas" panose="020B0609020204030204" pitchFamily="49" charset="0"/>
              </a:rPr>
              <a:t>0xFFFFFFFF</a:t>
            </a:r>
            <a:r>
              <a:rPr lang="en-US" dirty="0">
                <a:solidFill>
                  <a:schemeClr val="tx1"/>
                </a:solidFill>
                <a:latin typeface="Tahoma" pitchFamily="34" charset="0"/>
                <a:cs typeface="Times New Roman" pitchFamily="18" charset="0"/>
              </a:rPr>
              <a:t> or </a:t>
            </a:r>
            <a:r>
              <a:rPr lang="en-US" dirty="0">
                <a:solidFill>
                  <a:schemeClr val="tx1"/>
                </a:solidFill>
                <a:latin typeface="Consolas" panose="020B0609020204030204" pitchFamily="49" charset="0"/>
                <a:cs typeface="Consolas" panose="020B0609020204030204" pitchFamily="49" charset="0"/>
              </a:rPr>
              <a:t>0x00000001</a:t>
            </a:r>
            <a:r>
              <a:rPr lang="en-US" dirty="0">
                <a:solidFill>
                  <a:schemeClr val="tx1"/>
                </a:solidFill>
                <a:latin typeface="Tahoma" pitchFamily="34" charset="0"/>
                <a:cs typeface="Times New Roman" pitchFamily="18" charset="0"/>
              </a:rPr>
              <a:t>?</a:t>
            </a:r>
          </a:p>
        </p:txBody>
      </p:sp>
      <p:sp>
        <p:nvSpPr>
          <p:cNvPr id="119811" name="Text Box 3"/>
          <p:cNvSpPr txBox="1">
            <a:spLocks noChangeArrowheads="1"/>
          </p:cNvSpPr>
          <p:nvPr/>
        </p:nvSpPr>
        <p:spPr bwMode="auto">
          <a:xfrm>
            <a:off x="2498388" y="2331184"/>
            <a:ext cx="298801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int32_t x, y ;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x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	 </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9812" name="Text Box 4"/>
          <p:cNvSpPr txBox="1">
            <a:spLocks noChangeArrowheads="1"/>
          </p:cNvSpPr>
          <p:nvPr/>
        </p:nvSpPr>
        <p:spPr bwMode="auto">
          <a:xfrm>
            <a:off x="2484398" y="4388584"/>
            <a:ext cx="3002003"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rPr>
              <a:t>uint32_t x, y ;</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x = 4294967295;</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y = 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if (x &gt; y)</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21</a:t>
            </a:fld>
            <a:endParaRPr kumimoji="0" lang="en-US" dirty="0"/>
          </a:p>
        </p:txBody>
      </p:sp>
      <p:sp>
        <p:nvSpPr>
          <p:cNvPr id="2" name="TextBox 1"/>
          <p:cNvSpPr txBox="1"/>
          <p:nvPr/>
        </p:nvSpPr>
        <p:spPr>
          <a:xfrm>
            <a:off x="4114800" y="3974068"/>
            <a:ext cx="4131580" cy="369332"/>
          </a:xfrm>
          <a:prstGeom prst="rect">
            <a:avLst/>
          </a:prstGeom>
          <a:noFill/>
        </p:spPr>
        <p:txBody>
          <a:bodyPr wrap="none" rtlCol="0">
            <a:spAutoFit/>
          </a:bodyPr>
          <a:lstStyle/>
          <a:p>
            <a:r>
              <a:rPr lang="en-US" b="1" dirty="0"/>
              <a:t>BLE</a:t>
            </a:r>
            <a:r>
              <a:rPr lang="en-US" dirty="0"/>
              <a:t>: Branch if less than or equal, signed ≤</a:t>
            </a:r>
          </a:p>
        </p:txBody>
      </p:sp>
      <p:sp>
        <p:nvSpPr>
          <p:cNvPr id="9" name="TextBox 8"/>
          <p:cNvSpPr txBox="1"/>
          <p:nvPr/>
        </p:nvSpPr>
        <p:spPr>
          <a:xfrm>
            <a:off x="4041726" y="6031468"/>
            <a:ext cx="4076437" cy="369332"/>
          </a:xfrm>
          <a:prstGeom prst="rect">
            <a:avLst/>
          </a:prstGeom>
          <a:noFill/>
        </p:spPr>
        <p:txBody>
          <a:bodyPr wrap="none" rtlCol="0">
            <a:spAutoFit/>
          </a:bodyPr>
          <a:lstStyle/>
          <a:p>
            <a:r>
              <a:rPr lang="en-US" b="1" dirty="0"/>
              <a:t>BLS</a:t>
            </a:r>
            <a:r>
              <a:rPr lang="en-US" dirty="0"/>
              <a:t>: Branch if lower or same, unsigned ≤</a:t>
            </a:r>
          </a:p>
        </p:txBody>
      </p:sp>
      <p:sp>
        <p:nvSpPr>
          <p:cNvPr id="4" name="TextBox 3"/>
          <p:cNvSpPr txBox="1"/>
          <p:nvPr/>
        </p:nvSpPr>
        <p:spPr>
          <a:xfrm>
            <a:off x="600986" y="1220257"/>
            <a:ext cx="7473905" cy="1015663"/>
          </a:xfrm>
          <a:prstGeom prst="rect">
            <a:avLst/>
          </a:prstGeom>
          <a:noFill/>
        </p:spPr>
        <p:txBody>
          <a:bodyPr wrap="none" rtlCol="0">
            <a:spAutoFit/>
          </a:bodyPr>
          <a:lstStyle/>
          <a:p>
            <a:r>
              <a:rPr lang="en-US" sz="2000" dirty="0"/>
              <a:t>It’s </a:t>
            </a:r>
            <a:r>
              <a:rPr lang="en-US" sz="2000" b="1" dirty="0">
                <a:solidFill>
                  <a:srgbClr val="0000FF"/>
                </a:solidFill>
              </a:rPr>
              <a:t>software’s responsibility </a:t>
            </a:r>
            <a:r>
              <a:rPr lang="en-US" sz="2000" dirty="0"/>
              <a:t>to tell computer how to interpret data:</a:t>
            </a:r>
          </a:p>
          <a:p>
            <a:pPr marL="285750" indent="-285750">
              <a:buFont typeface="Arial" pitchFamily="34" charset="0"/>
              <a:buChar char="•"/>
            </a:pPr>
            <a:r>
              <a:rPr lang="en-US" sz="2000" dirty="0"/>
              <a:t>If written in C,  declare the signed </a:t>
            </a:r>
            <a:r>
              <a:rPr lang="en-US" sz="2000" i="1" dirty="0"/>
              <a:t>vs</a:t>
            </a:r>
            <a:r>
              <a:rPr lang="en-US" sz="2000" dirty="0"/>
              <a:t> unsigned variable </a:t>
            </a:r>
          </a:p>
          <a:p>
            <a:pPr marL="285750" indent="-285750">
              <a:buFont typeface="Arial" pitchFamily="34" charset="0"/>
              <a:buChar char="•"/>
            </a:pPr>
            <a:r>
              <a:rPr lang="en-US" sz="2000" dirty="0"/>
              <a:t>If written in Assembly, use signed </a:t>
            </a:r>
            <a:r>
              <a:rPr lang="en-US" sz="2000" i="1" dirty="0"/>
              <a:t>vs</a:t>
            </a:r>
            <a:r>
              <a:rPr lang="en-US" sz="2000" dirty="0"/>
              <a:t> unsigned branch instructions</a:t>
            </a:r>
          </a:p>
        </p:txBody>
      </p:sp>
      <p:sp>
        <p:nvSpPr>
          <p:cNvPr id="10" name="Text Box 3"/>
          <p:cNvSpPr txBox="1">
            <a:spLocks noChangeArrowheads="1"/>
          </p:cNvSpPr>
          <p:nvPr/>
        </p:nvSpPr>
        <p:spPr bwMode="auto">
          <a:xfrm>
            <a:off x="5712453" y="2327728"/>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BLE</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
        <p:nvSpPr>
          <p:cNvPr id="11" name="Text Box 4"/>
          <p:cNvSpPr txBox="1">
            <a:spLocks noChangeArrowheads="1"/>
          </p:cNvSpPr>
          <p:nvPr/>
        </p:nvSpPr>
        <p:spPr bwMode="auto">
          <a:xfrm>
            <a:off x="5715000" y="4369367"/>
            <a:ext cx="3782014" cy="1631216"/>
          </a:xfrm>
          <a:prstGeom prst="rect">
            <a:avLst/>
          </a:prstGeom>
          <a:ln/>
        </p:spPr>
        <p:style>
          <a:lnRef idx="2">
            <a:schemeClr val="accent1"/>
          </a:lnRef>
          <a:fillRef idx="1">
            <a:schemeClr val="lt1"/>
          </a:fillRef>
          <a:effectRef idx="0">
            <a:schemeClr val="accent1"/>
          </a:effectRef>
          <a:fontRef idx="minor">
            <a:schemeClr val="dk1"/>
          </a:fontRef>
        </p:style>
        <p:txBody>
          <a:bodyPr wrap="square">
            <a:spAutoFit/>
          </a:bodyPr>
          <a:lstStyle/>
          <a:p>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r5, #0xFFFFFFFF</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MOV r6, #0x00000001</a:t>
            </a: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CMP  r5, r6</a:t>
            </a:r>
            <a:br>
              <a:rPr lang="en-US" sz="2000" dirty="0">
                <a:solidFill>
                  <a:schemeClr val="tx1"/>
                </a:solidFill>
                <a:latin typeface="Consolas" panose="020B0609020204030204" pitchFamily="49" charset="0"/>
                <a:cs typeface="Consolas" panose="020B0609020204030204" pitchFamily="49" charset="0"/>
                <a:sym typeface="Monotype Sorts" pitchFamily="2" charset="2"/>
              </a:rPr>
            </a:b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b="1" dirty="0">
                <a:solidFill>
                  <a:srgbClr val="C00000"/>
                </a:solidFill>
                <a:latin typeface="Consolas" panose="020B0609020204030204" pitchFamily="49" charset="0"/>
                <a:cs typeface="Consolas" panose="020B0609020204030204" pitchFamily="49" charset="0"/>
                <a:sym typeface="Monotype Sorts" pitchFamily="2" charset="2"/>
              </a:rPr>
              <a:t>BLS</a:t>
            </a:r>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r>
              <a:rPr lang="en-US" sz="2000" dirty="0" err="1">
                <a:solidFill>
                  <a:schemeClr val="tx1"/>
                </a:solidFill>
                <a:latin typeface="Consolas" panose="020B0609020204030204" pitchFamily="49" charset="0"/>
                <a:cs typeface="Consolas" panose="020B0609020204030204" pitchFamily="49" charset="0"/>
                <a:sym typeface="Monotype Sorts" pitchFamily="2" charset="2"/>
              </a:rPr>
              <a:t>Then_Clause</a:t>
            </a:r>
            <a:endParaRPr lang="en-US" sz="2000" dirty="0">
              <a:solidFill>
                <a:schemeClr val="tx1"/>
              </a:solidFill>
              <a:latin typeface="Consolas" panose="020B0609020204030204" pitchFamily="49" charset="0"/>
              <a:cs typeface="Consolas" panose="020B0609020204030204" pitchFamily="49" charset="0"/>
              <a:sym typeface="Monotype Sorts" pitchFamily="2" charset="2"/>
            </a:endParaRPr>
          </a:p>
          <a:p>
            <a:r>
              <a:rPr lang="en-US" sz="2000" dirty="0">
                <a:solidFill>
                  <a:schemeClr val="tx1"/>
                </a:solidFill>
                <a:latin typeface="Consolas" panose="020B0609020204030204" pitchFamily="49" charset="0"/>
                <a:cs typeface="Consolas" panose="020B0609020204030204" pitchFamily="49" charset="0"/>
                <a:sym typeface="Monotype Sorts" pitchFamily="2" charset="2"/>
              </a:rPr>
              <a:t>    ...</a:t>
            </a:r>
          </a:p>
        </p:txBody>
      </p:sp>
    </p:spTree>
    <p:extLst>
      <p:ext uri="{BB962C8B-B14F-4D97-AF65-F5344CB8AC3E}">
        <p14:creationId xmlns:p14="http://schemas.microsoft.com/office/powerpoint/2010/main" val="21216414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 Statement</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22</a:t>
            </a:fld>
            <a:endParaRPr kumimoji="0" lang="en-US" dirty="0"/>
          </a:p>
        </p:txBody>
      </p:sp>
      <p:graphicFrame>
        <p:nvGraphicFramePr>
          <p:cNvPr id="4" name="Table 3">
            <a:extLst>
              <a:ext uri="{FF2B5EF4-FFF2-40B4-BE49-F238E27FC236}">
                <a16:creationId xmlns:a16="http://schemas.microsoft.com/office/drawing/2014/main" id="{8989EC59-E611-F201-0209-F4496711ACCE}"/>
              </a:ext>
            </a:extLst>
          </p:cNvPr>
          <p:cNvGraphicFramePr>
            <a:graphicFrameLocks noGrp="1"/>
          </p:cNvGraphicFramePr>
          <p:nvPr>
            <p:extLst>
              <p:ext uri="{D42A27DB-BD31-4B8C-83A1-F6EECF244321}">
                <p14:modId xmlns:p14="http://schemas.microsoft.com/office/powerpoint/2010/main" val="77658453"/>
              </p:ext>
            </p:extLst>
          </p:nvPr>
        </p:nvGraphicFramePr>
        <p:xfrm>
          <a:off x="228600" y="1371601"/>
          <a:ext cx="11734800" cy="1981173"/>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&lt; 0 ) {</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 = 0 – a;</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24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x = x + 1;</a:t>
                      </a:r>
                      <a:endParaRPr lang="en-US" sz="24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(signed integer), r2 = x</a:t>
                      </a:r>
                    </a:p>
                    <a:p>
                      <a:r>
                        <a:rPr lang="en-US" dirty="0">
                          <a:latin typeface="Consolas" panose="020B0609020204030204" pitchFamily="49" charset="0"/>
                          <a:cs typeface="Consolas" panose="020B0609020204030204" pitchFamily="49" charset="0"/>
                        </a:rPr>
                        <a:t>CMP r1, #0   </a:t>
                      </a:r>
                      <a:r>
                        <a:rPr lang="en-US" dirty="0">
                          <a:solidFill>
                            <a:schemeClr val="bg1">
                              <a:lumMod val="65000"/>
                            </a:schemeClr>
                          </a:solidFill>
                          <a:latin typeface="Consolas" panose="020B0609020204030204" pitchFamily="49" charset="0"/>
                          <a:cs typeface="Consolas" panose="020B0609020204030204" pitchFamily="49" charset="0"/>
                        </a:rPr>
                        <a:t>; Compare a with 0</a:t>
                      </a:r>
                    </a:p>
                    <a:p>
                      <a:r>
                        <a:rPr lang="en-US" b="1" dirty="0">
                          <a:solidFill>
                            <a:srgbClr val="C00000"/>
                          </a:solidFill>
                          <a:latin typeface="Consolas" panose="020B0609020204030204" pitchFamily="49" charset="0"/>
                          <a:cs typeface="Consolas" panose="020B0609020204030204" pitchFamily="49" charset="0"/>
                        </a:rPr>
                        <a:t>BGE</a:t>
                      </a:r>
                      <a:r>
                        <a:rPr lang="en-US" dirty="0">
                          <a:solidFill>
                            <a:srgbClr val="C00000"/>
                          </a:solidFill>
                          <a:latin typeface="Consolas" panose="020B0609020204030204" pitchFamily="49" charset="0"/>
                          <a:cs typeface="Consolas" panose="020B0609020204030204" pitchFamily="49" charset="0"/>
                        </a:rPr>
                        <a:t> </a:t>
                      </a:r>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t>
                      </a:r>
                      <a:r>
                        <a:rPr lang="en-US" dirty="0">
                          <a:solidFill>
                            <a:schemeClr val="bg1">
                              <a:lumMod val="65000"/>
                            </a:schemeClr>
                          </a:solidFill>
                          <a:latin typeface="Consolas" panose="020B0609020204030204" pitchFamily="49" charset="0"/>
                          <a:cs typeface="Consolas" panose="020B0609020204030204" pitchFamily="49" charset="0"/>
                        </a:rPr>
                        <a:t>; Go to endif if a ≥ 0</a:t>
                      </a:r>
                    </a:p>
                    <a:p>
                      <a:r>
                        <a:rPr lang="en-US" dirty="0">
                          <a:latin typeface="Consolas" panose="020B0609020204030204" pitchFamily="49" charset="0"/>
                          <a:cs typeface="Consolas" panose="020B0609020204030204" pitchFamily="49" charset="0"/>
                        </a:rPr>
                        <a:t>RSB r1, r1, #0     </a:t>
                      </a:r>
                      <a:r>
                        <a:rPr lang="en-US" dirty="0">
                          <a:solidFill>
                            <a:schemeClr val="bg1">
                              <a:lumMod val="65000"/>
                            </a:schemeClr>
                          </a:solidFill>
                          <a:latin typeface="Consolas" panose="020B0609020204030204" pitchFamily="49" charset="0"/>
                          <a:cs typeface="Consolas" panose="020B0609020204030204" pitchFamily="49" charset="0"/>
                        </a:rPr>
                        <a:t>; a = - a</a:t>
                      </a:r>
                    </a:p>
                    <a:p>
                      <a:r>
                        <a:rPr kumimoji="0" lang="en-US" b="1" kern="1200" dirty="0">
                          <a:solidFill>
                            <a:srgbClr val="C00000"/>
                          </a:solidFill>
                          <a:latin typeface="Consolas" panose="020B0609020204030204" pitchFamily="49" charset="0"/>
                          <a:ea typeface="+mn-ea"/>
                          <a:cs typeface="Consolas" panose="020B0609020204030204" pitchFamily="49" charset="0"/>
                        </a:rPr>
                        <a:t>endif</a:t>
                      </a:r>
                      <a:r>
                        <a:rPr lang="en-US" dirty="0">
                          <a:latin typeface="Consolas" panose="020B0609020204030204" pitchFamily="49" charset="0"/>
                          <a:cs typeface="Consolas" panose="020B0609020204030204" pitchFamily="49" charset="0"/>
                        </a:rPr>
                        <a:t>: 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x</a:t>
                      </a:r>
                    </a:p>
                    <a:p>
                      <a:r>
                        <a:rPr lang="en-US" dirty="0">
                          <a:latin typeface="Consolas" panose="020B0609020204030204" pitchFamily="49" charset="0"/>
                          <a:cs typeface="Consolas" panose="020B0609020204030204" pitchFamily="49" charset="0"/>
                        </a:rPr>
                        <a:t>CMP   r1, #0</a:t>
                      </a:r>
                      <a:endParaRPr lang="en-US" dirty="0">
                        <a:solidFill>
                          <a:schemeClr val="bg1">
                            <a:lumMod val="65000"/>
                          </a:schemeClr>
                        </a:solidFill>
                        <a:latin typeface="Consolas" panose="020B0609020204030204" pitchFamily="49" charset="0"/>
                        <a:cs typeface="Consolas" panose="020B0609020204030204" pitchFamily="49" charset="0"/>
                      </a:endParaRPr>
                    </a:p>
                    <a:p>
                      <a:r>
                        <a:rPr lang="en-US" b="1" dirty="0">
                          <a:solidFill>
                            <a:srgbClr val="C00000"/>
                          </a:solidFill>
                          <a:latin typeface="Consolas" panose="020B0609020204030204" pitchFamily="49" charset="0"/>
                          <a:cs typeface="Consolas" panose="020B0609020204030204" pitchFamily="49" charset="0"/>
                        </a:rPr>
                        <a:t>RSBLT</a:t>
                      </a:r>
                      <a:r>
                        <a:rPr lang="en-US" dirty="0">
                          <a:solidFill>
                            <a:srgbClr val="C00000"/>
                          </a:solidFill>
                          <a:latin typeface="Consolas" panose="020B0609020204030204" pitchFamily="49" charset="0"/>
                          <a:cs typeface="Consolas" panose="020B0609020204030204" pitchFamily="49" charset="0"/>
                        </a:rPr>
                        <a:t> </a:t>
                      </a:r>
                      <a:r>
                        <a:rPr lang="en-US" dirty="0">
                          <a:latin typeface="Consolas" panose="020B0609020204030204" pitchFamily="49" charset="0"/>
                          <a:cs typeface="Consolas" panose="020B0609020204030204" pitchFamily="49" charset="0"/>
                        </a:rPr>
                        <a:t>r1, r1, #0   </a:t>
                      </a:r>
                      <a:r>
                        <a:rPr lang="en-US" dirty="0">
                          <a:solidFill>
                            <a:schemeClr val="bg1">
                              <a:lumMod val="65000"/>
                            </a:schemeClr>
                          </a:solidFill>
                          <a:latin typeface="Consolas" panose="020B0609020204030204" pitchFamily="49" charset="0"/>
                          <a:cs typeface="Consolas" panose="020B0609020204030204" pitchFamily="49" charset="0"/>
                        </a:rPr>
                        <a:t>; a = - a if a &lt; 0</a:t>
                      </a:r>
                    </a:p>
                    <a:p>
                      <a:r>
                        <a:rPr lang="en-US" dirty="0">
                          <a:latin typeface="Consolas" panose="020B0609020204030204" pitchFamily="49" charset="0"/>
                          <a:cs typeface="Consolas" panose="020B0609020204030204" pitchFamily="49" charset="0"/>
                        </a:rPr>
                        <a:t>ADD   r2, r2, #1   </a:t>
                      </a:r>
                      <a:r>
                        <a:rPr lang="en-US" dirty="0">
                          <a:solidFill>
                            <a:schemeClr val="bg1">
                              <a:lumMod val="65000"/>
                            </a:schemeClr>
                          </a:solidFill>
                          <a:latin typeface="Consolas" panose="020B0609020204030204" pitchFamily="49" charset="0"/>
                          <a:cs typeface="Consolas" panose="020B0609020204030204" pitchFamily="49" charset="0"/>
                        </a:rPr>
                        <a:t>; x = x + 1</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905028314"/>
              </p:ext>
            </p:extLst>
          </p:nvPr>
        </p:nvGraphicFramePr>
        <p:xfrm>
          <a:off x="1981200" y="3608269"/>
          <a:ext cx="8229600" cy="2083237"/>
        </p:xfrm>
        <a:graphic>
          <a:graphicData uri="http://schemas.openxmlformats.org/drawingml/2006/table">
            <a:tbl>
              <a:tblPr firstRow="1" firstCol="1" bandRow="1">
                <a:tableStyleId>{5940675A-B579-460E-94D1-54222C63F5DA}</a:tableStyleId>
              </a:tblPr>
              <a:tblGrid>
                <a:gridCol w="2885704">
                  <a:extLst>
                    <a:ext uri="{9D8B030D-6E8A-4147-A177-3AD203B41FA5}">
                      <a16:colId xmlns:a16="http://schemas.microsoft.com/office/drawing/2014/main" val="20000"/>
                    </a:ext>
                  </a:extLst>
                </a:gridCol>
                <a:gridCol w="5343896">
                  <a:extLst>
                    <a:ext uri="{9D8B030D-6E8A-4147-A177-3AD203B41FA5}">
                      <a16:colId xmlns:a16="http://schemas.microsoft.com/office/drawing/2014/main" val="20001"/>
                    </a:ext>
                  </a:extLst>
                </a:gridCol>
              </a:tblGrid>
              <a:tr h="218003">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839397">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endParaRPr lang="en-US" sz="20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endParaRPr lang="en-US" sz="20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endParaRPr lang="en-US" sz="20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a:t>
                      </a:r>
                      <a:r>
                        <a:rPr lang="en-US" sz="1600" dirty="0" err="1">
                          <a:solidFill>
                            <a:schemeClr val="bg1">
                              <a:lumMod val="65000"/>
                            </a:schemeClr>
                          </a:solidFill>
                          <a:effectLst/>
                          <a:latin typeface="Consolas" panose="020B0609020204030204" pitchFamily="49" charset="0"/>
                          <a:cs typeface="Consolas" panose="020B0609020204030204" pitchFamily="49" charset="0"/>
                        </a:rPr>
                        <a:t>r0</a:t>
                      </a:r>
                      <a:r>
                        <a:rPr lang="en-US" sz="1600" dirty="0">
                          <a:solidFill>
                            <a:schemeClr val="bg1">
                              <a:lumMod val="65000"/>
                            </a:schemeClr>
                          </a:solidFill>
                          <a:effectLst/>
                          <a:latin typeface="Consolas" panose="020B0609020204030204" pitchFamily="49" charset="0"/>
                          <a:cs typeface="Consolas" panose="020B0609020204030204" pitchFamily="49" charset="0"/>
                        </a:rPr>
                        <a:t> = x</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#20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BLE</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then</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then if x ≤ 20</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CMP</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r0</a:t>
                      </a:r>
                      <a:r>
                        <a:rPr lang="en-US" sz="1600" dirty="0">
                          <a:effectLst/>
                          <a:latin typeface="Consolas" panose="020B0609020204030204" pitchFamily="49" charset="0"/>
                          <a:cs typeface="Consolas" panose="020B0609020204030204" pitchFamily="49" charset="0"/>
                        </a:rPr>
                        <a:t>, #25   </a:t>
                      </a:r>
                      <a:r>
                        <a:rPr lang="en-US" sz="1600" dirty="0">
                          <a:solidFill>
                            <a:schemeClr val="bg1">
                              <a:lumMod val="65000"/>
                            </a:schemeClr>
                          </a:solidFill>
                          <a:effectLst/>
                          <a:latin typeface="Consolas" panose="020B0609020204030204" pitchFamily="49" charset="0"/>
                          <a:cs typeface="Consolas" panose="020B0609020204030204" pitchFamily="49" charset="0"/>
                        </a:rPr>
                        <a:t>; compare x and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t>
                      </a:r>
                      <a:r>
                        <a:rPr kumimoji="0" lang="en-US" sz="1600" b="1" kern="1200" dirty="0">
                          <a:solidFill>
                            <a:srgbClr val="C00000"/>
                          </a:solidFill>
                          <a:latin typeface="Consolas" panose="020B0609020204030204" pitchFamily="49" charset="0"/>
                          <a:ea typeface="+mn-ea"/>
                          <a:cs typeface="Consolas" panose="020B0609020204030204" pitchFamily="49" charset="0"/>
                        </a:rPr>
                        <a:t>BLT</a:t>
                      </a:r>
                      <a:r>
                        <a:rPr lang="en-US" sz="1600" dirty="0">
                          <a:solidFill>
                            <a:srgbClr val="FF0000"/>
                          </a:solidFill>
                          <a:effectLst/>
                          <a:latin typeface="Consolas" panose="020B0609020204030204" pitchFamily="49" charset="0"/>
                          <a:cs typeface="Consolas" panose="020B0609020204030204" pitchFamily="49" charset="0"/>
                        </a:rPr>
                        <a:t>  </a:t>
                      </a:r>
                      <a:r>
                        <a:rPr kumimoji="0" lang="en-US" sz="1600" b="1" kern="1200" dirty="0" err="1">
                          <a:solidFill>
                            <a:srgbClr val="C00000"/>
                          </a:solidFill>
                          <a:latin typeface="Consolas" panose="020B0609020204030204" pitchFamily="49" charset="0"/>
                          <a:ea typeface="+mn-ea"/>
                          <a:cs typeface="Consolas" panose="020B0609020204030204" pitchFamily="49" charset="0"/>
                        </a:rPr>
                        <a:t>endif</a:t>
                      </a:r>
                      <a:r>
                        <a:rPr lang="en-US" sz="1600" dirty="0">
                          <a:solidFill>
                            <a:srgbClr val="FF0000"/>
                          </a:solidFill>
                          <a:effectLst/>
                          <a:latin typeface="Consolas" panose="020B0609020204030204" pitchFamily="49" charset="0"/>
                          <a:cs typeface="Consolas" panose="020B0609020204030204" pitchFamily="49" charset="0"/>
                        </a:rPr>
                        <a:t>     </a:t>
                      </a:r>
                      <a:r>
                        <a:rPr lang="en-US" sz="1600" dirty="0">
                          <a:solidFill>
                            <a:schemeClr val="bg1">
                              <a:lumMod val="65000"/>
                            </a:schemeClr>
                          </a:solidFill>
                          <a:effectLst/>
                          <a:latin typeface="Consolas" panose="020B0609020204030204" pitchFamily="49" charset="0"/>
                          <a:cs typeface="Consolas" panose="020B0609020204030204" pitchFamily="49" charset="0"/>
                        </a:rPr>
                        <a:t>; go to </a:t>
                      </a:r>
                      <a:r>
                        <a:rPr lang="en-US" sz="1600" dirty="0" err="1">
                          <a:solidFill>
                            <a:schemeClr val="bg1">
                              <a:lumMod val="65000"/>
                            </a:schemeClr>
                          </a:solidFill>
                          <a:effectLst/>
                          <a:latin typeface="Consolas" panose="020B0609020204030204" pitchFamily="49" charset="0"/>
                          <a:cs typeface="Consolas" panose="020B0609020204030204" pitchFamily="49" charset="0"/>
                        </a:rPr>
                        <a:t>endif</a:t>
                      </a:r>
                      <a:r>
                        <a:rPr lang="en-US" sz="1600" dirty="0">
                          <a:solidFill>
                            <a:schemeClr val="bg1">
                              <a:lumMod val="65000"/>
                            </a:schemeClr>
                          </a:solidFill>
                          <a:effectLst/>
                          <a:latin typeface="Consolas" panose="020B0609020204030204" pitchFamily="49" charset="0"/>
                          <a:cs typeface="Consolas" panose="020B0609020204030204" pitchFamily="49" charset="0"/>
                        </a:rPr>
                        <a:t> if x &lt;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then   </a:t>
                      </a:r>
                      <a:r>
                        <a:rPr lang="en-US" sz="1600" dirty="0" err="1">
                          <a:effectLst/>
                          <a:latin typeface="Consolas" panose="020B0609020204030204" pitchFamily="49" charset="0"/>
                          <a:cs typeface="Consolas" panose="020B0609020204030204" pitchFamily="49" charset="0"/>
                        </a:rPr>
                        <a:t>MOV</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r>
                        <a:rPr lang="en-US" sz="1600" dirty="0">
                          <a:effectLst/>
                          <a:latin typeface="Consolas" panose="020B0609020204030204" pitchFamily="49" charset="0"/>
                          <a:cs typeface="Consolas" panose="020B0609020204030204" pitchFamily="49" charset="0"/>
                        </a:rPr>
                        <a:t>, #1    </a:t>
                      </a:r>
                      <a:r>
                        <a:rPr lang="en-US" sz="1600" dirty="0">
                          <a:solidFill>
                            <a:schemeClr val="bg1">
                              <a:lumMod val="65000"/>
                            </a:schemeClr>
                          </a:solidFill>
                          <a:effectLst/>
                          <a:latin typeface="Consolas" panose="020B0609020204030204" pitchFamily="49" charset="0"/>
                          <a:cs typeface="Consolas" panose="020B0609020204030204" pitchFamily="49" charset="0"/>
                        </a:rPr>
                        <a:t>; a = 1 </a:t>
                      </a:r>
                    </a:p>
                    <a:p>
                      <a:pPr marL="0" marR="0" algn="just">
                        <a:spcBef>
                          <a:spcPts val="0"/>
                        </a:spcBef>
                        <a:spcAft>
                          <a:spcPts val="0"/>
                        </a:spcAft>
                      </a:pPr>
                      <a:r>
                        <a:rPr lang="en-US" sz="1600" dirty="0" err="1">
                          <a:effectLst/>
                          <a:latin typeface="Consolas" panose="020B0609020204030204" pitchFamily="49" charset="0"/>
                          <a:cs typeface="Consolas" panose="020B0609020204030204" pitchFamily="49" charset="0"/>
                        </a:rPr>
                        <a:t>endif</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564332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If-then-else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23</a:t>
            </a:fld>
            <a:endParaRPr kumimoji="0" lang="en-US" dirty="0"/>
          </a:p>
        </p:txBody>
      </p:sp>
      <p:graphicFrame>
        <p:nvGraphicFramePr>
          <p:cNvPr id="4" name="Table 3">
            <a:extLst>
              <a:ext uri="{FF2B5EF4-FFF2-40B4-BE49-F238E27FC236}">
                <a16:creationId xmlns:a16="http://schemas.microsoft.com/office/drawing/2014/main" id="{7F82155A-10D1-2BC7-1D07-F345C9BE816C}"/>
              </a:ext>
            </a:extLst>
          </p:cNvPr>
          <p:cNvGraphicFramePr>
            <a:graphicFrameLocks noGrp="1"/>
          </p:cNvGraphicFramePr>
          <p:nvPr>
            <p:extLst>
              <p:ext uri="{D42A27DB-BD31-4B8C-83A1-F6EECF244321}">
                <p14:modId xmlns:p14="http://schemas.microsoft.com/office/powerpoint/2010/main" val="3314981232"/>
              </p:ext>
            </p:extLst>
          </p:nvPr>
        </p:nvGraphicFramePr>
        <p:xfrm>
          <a:off x="1143000" y="1342835"/>
          <a:ext cx="9448800" cy="2194560"/>
        </p:xfrm>
        <a:graphic>
          <a:graphicData uri="http://schemas.openxmlformats.org/drawingml/2006/table">
            <a:tbl>
              <a:tblPr firstRow="1" firstCol="1" bandRow="1">
                <a:tableStyleId>{5940675A-B579-460E-94D1-54222C63F5DA}</a:tableStyleId>
              </a:tblPr>
              <a:tblGrid>
                <a:gridCol w="3854117">
                  <a:extLst>
                    <a:ext uri="{9D8B030D-6E8A-4147-A177-3AD203B41FA5}">
                      <a16:colId xmlns:a16="http://schemas.microsoft.com/office/drawing/2014/main" val="20000"/>
                    </a:ext>
                  </a:extLst>
                </a:gridCol>
                <a:gridCol w="5594683">
                  <a:extLst>
                    <a:ext uri="{9D8B030D-6E8A-4147-A177-3AD203B41FA5}">
                      <a16:colId xmlns:a16="http://schemas.microsoft.com/office/drawing/2014/main" val="20001"/>
                    </a:ext>
                  </a:extLst>
                </a:gridCol>
              </a:tblGrid>
              <a:tr h="198147">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706853">
                <a:tc>
                  <a:txBody>
                    <a:bodyPr/>
                    <a:lstStyle/>
                    <a:p>
                      <a:pPr marL="0" marR="0" algn="just">
                        <a:spcBef>
                          <a:spcPts val="0"/>
                        </a:spcBef>
                        <a:spcAft>
                          <a:spcPts val="0"/>
                        </a:spcAft>
                      </a:pPr>
                      <a:r>
                        <a:rPr lang="en-US" sz="1800" dirty="0">
                          <a:solidFill>
                            <a:schemeClr val="bg1">
                              <a:lumMod val="65000"/>
                            </a:schemeClr>
                          </a:solidFill>
                          <a:effectLst/>
                          <a:latin typeface="Consolas" panose="020B0609020204030204" pitchFamily="49" charset="0"/>
                          <a:cs typeface="Consolas" panose="020B0609020204030204" pitchFamily="49" charset="0"/>
                        </a:rPr>
                        <a:t>// a</a:t>
                      </a:r>
                      <a:r>
                        <a:rPr lang="en-US" sz="1800" baseline="0" dirty="0">
                          <a:solidFill>
                            <a:schemeClr val="bg1">
                              <a:lumMod val="65000"/>
                            </a:schemeClr>
                          </a:solidFill>
                          <a:effectLst/>
                          <a:latin typeface="Consolas" panose="020B0609020204030204" pitchFamily="49" charset="0"/>
                          <a:cs typeface="Consolas" panose="020B0609020204030204" pitchFamily="49" charset="0"/>
                        </a:rPr>
                        <a:t> is signed integer</a:t>
                      </a:r>
                      <a:endParaRPr lang="en-US" sz="1800" dirty="0">
                        <a:solidFill>
                          <a:schemeClr val="bg1">
                            <a:lumMod val="65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if (a == 1)</a:t>
                      </a:r>
                    </a:p>
                    <a:p>
                      <a:pPr marL="0" marR="0" algn="just">
                        <a:spcBef>
                          <a:spcPts val="0"/>
                        </a:spcBef>
                        <a:spcAft>
                          <a:spcPts val="0"/>
                        </a:spcAft>
                      </a:pPr>
                      <a:r>
                        <a:rPr lang="en-US" sz="1800" dirty="0">
                          <a:solidFill>
                            <a:srgbClr val="0000FF"/>
                          </a:solidFill>
                          <a:effectLst/>
                          <a:latin typeface="Consolas" panose="020B0609020204030204" pitchFamily="49" charset="0"/>
                          <a:cs typeface="Consolas" panose="020B0609020204030204" pitchFamily="49" charset="0"/>
                        </a:rPr>
                        <a:t>   b = 3;</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else</a:t>
                      </a:r>
                    </a:p>
                    <a:p>
                      <a:pPr marL="0" marR="0" algn="just">
                        <a:spcBef>
                          <a:spcPts val="0"/>
                        </a:spcBef>
                        <a:spcAft>
                          <a:spcPts val="0"/>
                        </a:spcAft>
                      </a:pPr>
                      <a:r>
                        <a:rPr lang="en-US" sz="1800" dirty="0">
                          <a:solidFill>
                            <a:srgbClr val="FF0000"/>
                          </a:solidFill>
                          <a:effectLst/>
                          <a:latin typeface="Consolas" panose="020B0609020204030204" pitchFamily="49" charset="0"/>
                          <a:cs typeface="Consolas" panose="020B0609020204030204" pitchFamily="49" charset="0"/>
                        </a:rPr>
                        <a:t>   b = 4;</a:t>
                      </a:r>
                      <a:endParaRPr lang="en-US" sz="18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dirty="0">
                          <a:solidFill>
                            <a:schemeClr val="bg1">
                              <a:lumMod val="65000"/>
                            </a:schemeClr>
                          </a:solidFill>
                          <a:latin typeface="Consolas" panose="020B0609020204030204" pitchFamily="49" charset="0"/>
                          <a:cs typeface="Consolas" panose="020B0609020204030204" pitchFamily="49" charset="0"/>
                        </a:rPr>
                        <a:t>; r1 = a, r2 = b</a:t>
                      </a:r>
                    </a:p>
                    <a:p>
                      <a:r>
                        <a:rPr lang="en-US" dirty="0">
                          <a:latin typeface="Consolas" panose="020B0609020204030204" pitchFamily="49" charset="0"/>
                          <a:cs typeface="Consolas" panose="020B0609020204030204" pitchFamily="49" charset="0"/>
                        </a:rPr>
                        <a:t>CMP r1, #1   </a:t>
                      </a:r>
                      <a:r>
                        <a:rPr lang="en-US" dirty="0">
                          <a:solidFill>
                            <a:schemeClr val="bg1">
                              <a:lumMod val="65000"/>
                            </a:schemeClr>
                          </a:solidFill>
                          <a:latin typeface="Consolas" panose="020B0609020204030204" pitchFamily="49" charset="0"/>
                          <a:cs typeface="Consolas" panose="020B0609020204030204" pitchFamily="49" charset="0"/>
                        </a:rPr>
                        <a:t>; compare a and 1</a:t>
                      </a:r>
                    </a:p>
                    <a:p>
                      <a:r>
                        <a:rPr lang="en-US" dirty="0">
                          <a:latin typeface="Consolas" panose="020B0609020204030204" pitchFamily="49" charset="0"/>
                          <a:cs typeface="Consolas" panose="020B0609020204030204" pitchFamily="49" charset="0"/>
                        </a:rPr>
                        <a:t>BNE else     </a:t>
                      </a:r>
                      <a:r>
                        <a:rPr lang="en-US" dirty="0">
                          <a:solidFill>
                            <a:schemeClr val="bg1">
                              <a:lumMod val="65000"/>
                            </a:schemeClr>
                          </a:solidFill>
                          <a:latin typeface="Consolas" panose="020B0609020204030204" pitchFamily="49" charset="0"/>
                          <a:cs typeface="Consolas" panose="020B0609020204030204" pitchFamily="49" charset="0"/>
                        </a:rPr>
                        <a:t>; go to else if a ≠ 1  </a:t>
                      </a:r>
                    </a:p>
                    <a:p>
                      <a:r>
                        <a:rPr lang="en-US" dirty="0">
                          <a:latin typeface="Consolas" panose="020B0609020204030204" pitchFamily="49" charset="0"/>
                          <a:cs typeface="Consolas" panose="020B0609020204030204" pitchFamily="49" charset="0"/>
                        </a:rPr>
                        <a:t>then: </a:t>
                      </a:r>
                      <a:r>
                        <a:rPr lang="en-US" dirty="0">
                          <a:solidFill>
                            <a:srgbClr val="0000FF"/>
                          </a:solidFill>
                          <a:latin typeface="Consolas" panose="020B0609020204030204" pitchFamily="49" charset="0"/>
                          <a:cs typeface="Consolas" panose="020B0609020204030204" pitchFamily="49" charset="0"/>
                        </a:rPr>
                        <a:t>MOV r2, #3   </a:t>
                      </a:r>
                      <a:r>
                        <a:rPr lang="en-US" dirty="0">
                          <a:solidFill>
                            <a:schemeClr val="bg1">
                              <a:lumMod val="65000"/>
                            </a:schemeClr>
                          </a:solidFill>
                          <a:latin typeface="Consolas" panose="020B0609020204030204" pitchFamily="49" charset="0"/>
                          <a:cs typeface="Consolas" panose="020B0609020204030204" pitchFamily="49" charset="0"/>
                        </a:rPr>
                        <a:t>; b = 3 </a:t>
                      </a:r>
                    </a:p>
                    <a:p>
                      <a:r>
                        <a:rPr lang="en-US" dirty="0">
                          <a:latin typeface="Consolas" panose="020B0609020204030204" pitchFamily="49" charset="0"/>
                          <a:cs typeface="Consolas" panose="020B0609020204030204" pitchFamily="49" charset="0"/>
                        </a:rPr>
                        <a:t>B   endif    </a:t>
                      </a:r>
                      <a:r>
                        <a:rPr lang="en-US" dirty="0">
                          <a:solidFill>
                            <a:schemeClr val="bg1">
                              <a:lumMod val="65000"/>
                            </a:schemeClr>
                          </a:solidFill>
                          <a:latin typeface="Consolas" panose="020B0609020204030204" pitchFamily="49" charset="0"/>
                          <a:cs typeface="Consolas" panose="020B0609020204030204" pitchFamily="49" charset="0"/>
                        </a:rPr>
                        <a:t>; go to endif</a:t>
                      </a:r>
                    </a:p>
                    <a:p>
                      <a:r>
                        <a:rPr lang="en-US" dirty="0">
                          <a:latin typeface="Consolas" panose="020B0609020204030204" pitchFamily="49" charset="0"/>
                          <a:cs typeface="Consolas" panose="020B0609020204030204" pitchFamily="49" charset="0"/>
                        </a:rPr>
                        <a:t>else: </a:t>
                      </a:r>
                      <a:r>
                        <a:rPr lang="en-US" dirty="0">
                          <a:solidFill>
                            <a:srgbClr val="FF0000"/>
                          </a:solidFill>
                          <a:latin typeface="Consolas" panose="020B0609020204030204" pitchFamily="49" charset="0"/>
                          <a:cs typeface="Consolas" panose="020B0609020204030204" pitchFamily="49" charset="0"/>
                        </a:rPr>
                        <a:t>MOV r2, #4   </a:t>
                      </a:r>
                      <a:r>
                        <a:rPr lang="en-US" dirty="0">
                          <a:solidFill>
                            <a:schemeClr val="bg1">
                              <a:lumMod val="65000"/>
                            </a:schemeClr>
                          </a:solidFill>
                          <a:latin typeface="Consolas" panose="020B0609020204030204" pitchFamily="49" charset="0"/>
                          <a:cs typeface="Consolas" panose="020B0609020204030204" pitchFamily="49" charset="0"/>
                        </a:rPr>
                        <a:t>; b = 4 </a:t>
                      </a:r>
                    </a:p>
                    <a:p>
                      <a:r>
                        <a:rPr lang="en-US" dirty="0">
                          <a:latin typeface="Consolas" panose="020B0609020204030204" pitchFamily="49" charset="0"/>
                          <a:cs typeface="Consolas" panose="020B0609020204030204" pitchFamily="49" charset="0"/>
                        </a:rPr>
                        <a:t>endif: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33162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24</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3803425474"/>
              </p:ext>
            </p:extLst>
          </p:nvPr>
        </p:nvGraphicFramePr>
        <p:xfrm>
          <a:off x="3124200" y="1367817"/>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3162300" y="3657600"/>
            <a:ext cx="58674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p>
          <a:p>
            <a:r>
              <a:rPr lang="pt-BR" dirty="0">
                <a:latin typeface="Consolas" panose="020B0609020204030204" pitchFamily="49" charset="0"/>
                <a:cs typeface="Consolas" panose="020B0609020204030204" pitchFamily="49" charset="0"/>
              </a:rPr>
              <a:t>loop:</a:t>
            </a:r>
          </a:p>
          <a:p>
            <a:r>
              <a:rPr lang="pt-BR" dirty="0">
                <a:latin typeface="Consolas" panose="020B0609020204030204" pitchFamily="49" charset="0"/>
                <a:cs typeface="Consolas" panose="020B0609020204030204" pitchFamily="49" charset="0"/>
              </a:rPr>
              <a:t>    CMP     r1, #10         % i &lt; 10 ?</a:t>
            </a:r>
          </a:p>
          <a:p>
            <a:r>
              <a:rPr lang="pt-BR" dirty="0">
                <a:latin typeface="Consolas" panose="020B0609020204030204" pitchFamily="49" charset="0"/>
                <a:cs typeface="Consolas" panose="020B0609020204030204" pitchFamily="49" charset="0"/>
              </a:rPr>
              <a:t>    BGE     done            % exit if i &gt;= 10</a:t>
            </a:r>
          </a:p>
          <a:p>
            <a:r>
              <a:rPr lang="pt-BR" dirty="0">
                <a:latin typeface="Consolas" panose="020B0609020204030204" pitchFamily="49" charset="0"/>
                <a:cs typeface="Consolas" panose="020B0609020204030204" pitchFamily="49" charset="0"/>
              </a:rPr>
              <a:t>    ADD     r0, r0, r1      % sum += i</a:t>
            </a:r>
          </a:p>
          <a:p>
            <a:r>
              <a:rPr lang="pt-BR" dirty="0">
                <a:latin typeface="Consolas" panose="020B0609020204030204" pitchFamily="49" charset="0"/>
                <a:cs typeface="Consolas" panose="020B0609020204030204" pitchFamily="49" charset="0"/>
              </a:rPr>
              <a:t>    ADD     r1, r1, #1      % i++</a:t>
            </a:r>
          </a:p>
          <a:p>
            <a:r>
              <a:rPr lang="pt-BR" dirty="0">
                <a:latin typeface="Consolas" panose="020B0609020204030204" pitchFamily="49" charset="0"/>
                <a:cs typeface="Consolas" panose="020B0609020204030204" pitchFamily="49" charset="0"/>
              </a:rPr>
              <a:t>    B       loop</a:t>
            </a:r>
          </a:p>
          <a:p>
            <a:r>
              <a:rPr lang="pt-BR" dirty="0">
                <a:latin typeface="Consolas" panose="020B0609020204030204" pitchFamily="49" charset="0"/>
                <a:cs typeface="Consolas" panose="020B0609020204030204" pitchFamily="49" charset="0"/>
              </a:rPr>
              <a:t>done:           % : is optional after a label</a:t>
            </a:r>
            <a:endParaRPr lang="en-US" dirty="0">
              <a:latin typeface="Consolas" panose="020B0609020204030204" pitchFamily="49" charset="0"/>
              <a:cs typeface="Consolas" panose="020B0609020204030204" pitchFamily="49" charset="0"/>
            </a:endParaRPr>
          </a:p>
        </p:txBody>
      </p:sp>
      <p:sp>
        <p:nvSpPr>
          <p:cNvPr id="9" name="TextBox 8"/>
          <p:cNvSpPr txBox="1"/>
          <p:nvPr/>
        </p:nvSpPr>
        <p:spPr>
          <a:xfrm>
            <a:off x="1981201" y="3262867"/>
            <a:ext cx="4730975" cy="369332"/>
          </a:xfrm>
          <a:prstGeom prst="rect">
            <a:avLst/>
          </a:prstGeom>
          <a:noFill/>
        </p:spPr>
        <p:txBody>
          <a:bodyPr wrap="none" rtlCol="0">
            <a:spAutoFit/>
          </a:bodyPr>
          <a:lstStyle/>
          <a:p>
            <a:r>
              <a:rPr lang="en-US" dirty="0"/>
              <a:t>Implementation 1 (Classic compare-and-branch):</a:t>
            </a:r>
          </a:p>
        </p:txBody>
      </p:sp>
      <p:graphicFrame>
        <p:nvGraphicFramePr>
          <p:cNvPr id="6" name="Table 5">
            <a:extLst>
              <a:ext uri="{FF2B5EF4-FFF2-40B4-BE49-F238E27FC236}">
                <a16:creationId xmlns:a16="http://schemas.microsoft.com/office/drawing/2014/main" id="{CC22D971-1F5A-1D46-A09B-973DA00758B0}"/>
              </a:ext>
            </a:extLst>
          </p:cNvPr>
          <p:cNvGraphicFramePr>
            <a:graphicFrameLocks noGrp="1"/>
          </p:cNvGraphicFramePr>
          <p:nvPr>
            <p:extLst>
              <p:ext uri="{D42A27DB-BD31-4B8C-83A1-F6EECF244321}">
                <p14:modId xmlns:p14="http://schemas.microsoft.com/office/powerpoint/2010/main" val="2583440696"/>
              </p:ext>
            </p:extLst>
          </p:nvPr>
        </p:nvGraphicFramePr>
        <p:xfrm>
          <a:off x="6705600" y="1367817"/>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2089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25</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281763652"/>
              </p:ext>
            </p:extLst>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p:cNvSpPr/>
          <p:nvPr/>
        </p:nvSpPr>
        <p:spPr>
          <a:xfrm>
            <a:off x="2968810" y="3950732"/>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Check: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p:cNvSpPr txBox="1"/>
          <p:nvPr/>
        </p:nvSpPr>
        <p:spPr>
          <a:xfrm>
            <a:off x="1981201" y="3581400"/>
            <a:ext cx="1975221" cy="369332"/>
          </a:xfrm>
          <a:prstGeom prst="rect">
            <a:avLst/>
          </a:prstGeom>
          <a:noFill/>
        </p:spPr>
        <p:txBody>
          <a:bodyPr wrap="none" rtlCol="0">
            <a:spAutoFit/>
          </a:bodyPr>
          <a:lstStyle/>
          <a:p>
            <a:r>
              <a:rPr lang="en-US" dirty="0"/>
              <a:t>Implementation 2a:</a:t>
            </a:r>
          </a:p>
        </p:txBody>
      </p:sp>
      <p:graphicFrame>
        <p:nvGraphicFramePr>
          <p:cNvPr id="4" name="Table 3">
            <a:extLst>
              <a:ext uri="{FF2B5EF4-FFF2-40B4-BE49-F238E27FC236}">
                <a16:creationId xmlns:a16="http://schemas.microsoft.com/office/drawing/2014/main" id="{5A85722B-8C7E-4849-80BC-2DED8CDF9515}"/>
              </a:ext>
            </a:extLst>
          </p:cNvPr>
          <p:cNvGraphicFramePr>
            <a:graphicFrameLocks noGrp="1"/>
          </p:cNvGraphicFramePr>
          <p:nvPr>
            <p:extLst>
              <p:ext uri="{D42A27DB-BD31-4B8C-83A1-F6EECF244321}">
                <p14:modId xmlns:p14="http://schemas.microsoft.com/office/powerpoint/2010/main" val="4250353872"/>
              </p:ext>
            </p:extLst>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207256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3E81B-B755-4FF4-6A27-4703B760C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895A4A-7037-FCD6-A607-5E29CA861A4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4AB12D37-781E-3EA2-5B9B-0D713E82096F}"/>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graphicFrame>
        <p:nvGraphicFramePr>
          <p:cNvPr id="5" name="Table 4">
            <a:extLst>
              <a:ext uri="{FF2B5EF4-FFF2-40B4-BE49-F238E27FC236}">
                <a16:creationId xmlns:a16="http://schemas.microsoft.com/office/drawing/2014/main" id="{0ADA1BDE-EE41-7118-7E7E-B14D424070DB}"/>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A464CC59-3D0C-A490-2CDE-EC4627D26E12}"/>
              </a:ext>
            </a:extLst>
          </p:cNvPr>
          <p:cNvSpPr/>
          <p:nvPr/>
        </p:nvSpPr>
        <p:spPr>
          <a:xfrm>
            <a:off x="2971982" y="3956376"/>
            <a:ext cx="6400800" cy="2308324"/>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pt-BR" dirty="0">
                <a:latin typeface="Consolas" panose="020B0609020204030204" pitchFamily="49" charset="0"/>
                <a:cs typeface="Consolas" panose="020B0609020204030204" pitchFamily="49" charset="0"/>
              </a:rPr>
              <a:t>    MOV     r0, #0          % sum = 0</a:t>
            </a:r>
          </a:p>
          <a:p>
            <a:r>
              <a:rPr lang="pt-BR" dirty="0">
                <a:latin typeface="Consolas" panose="020B0609020204030204" pitchFamily="49" charset="0"/>
                <a:cs typeface="Consolas" panose="020B0609020204030204" pitchFamily="49" charset="0"/>
              </a:rPr>
              <a:t>    MOV     r1, #0          </a:t>
            </a:r>
            <a:r>
              <a:rPr lang="pt-BR" b="1" dirty="0">
                <a:latin typeface="Consolas" panose="020B0609020204030204" pitchFamily="49" charset="0"/>
                <a:cs typeface="Consolas" panose="020B0609020204030204" pitchFamily="49" charset="0"/>
              </a:rPr>
              <a:t>%</a:t>
            </a:r>
            <a:r>
              <a:rPr lang="pt-BR" dirty="0">
                <a:latin typeface="Consolas" panose="020B0609020204030204" pitchFamily="49" charset="0"/>
                <a:cs typeface="Consolas" panose="020B0609020204030204" pitchFamily="49" charset="0"/>
              </a:rPr>
              <a:t> i = 0</a:t>
            </a:r>
            <a:r>
              <a:rPr lang="en-US" dirty="0">
                <a:latin typeface="Consolas" panose="020B0609020204030204" pitchFamily="49" charset="0"/>
                <a:cs typeface="Consolas" panose="020B0609020204030204" pitchFamily="49" charset="0"/>
              </a:rPr>
              <a:t>    </a:t>
            </a:r>
          </a:p>
          <a:p>
            <a:r>
              <a:rPr lang="en-US" dirty="0">
                <a:latin typeface="Consolas" panose="020B0609020204030204" pitchFamily="49" charset="0"/>
                <a:cs typeface="Consolas" panose="020B0609020204030204" pitchFamily="49" charset="0"/>
              </a:rPr>
              <a:t>    %B   check Deleted</a:t>
            </a:r>
          </a:p>
          <a:p>
            <a:r>
              <a:rPr lang="en-US" dirty="0">
                <a:latin typeface="Consolas" panose="020B0609020204030204" pitchFamily="49" charset="0"/>
                <a:cs typeface="Consolas" panose="020B0609020204030204" pitchFamily="49" charset="0"/>
              </a:rPr>
              <a:t>Loop:  </a:t>
            </a:r>
          </a:p>
          <a:p>
            <a:r>
              <a:rPr lang="en-US" dirty="0">
                <a:latin typeface="Consolas" panose="020B0609020204030204" pitchFamily="49" charset="0"/>
                <a:cs typeface="Consolas" panose="020B0609020204030204" pitchFamily="49" charset="0"/>
              </a:rPr>
              <a:t>    ADD r0, r0, r1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r1, r1, #1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CMP r1, #10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check whether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&lt; 10</a:t>
            </a:r>
          </a:p>
          <a:p>
            <a:r>
              <a:rPr lang="en-US" dirty="0">
                <a:latin typeface="Consolas" panose="020B0609020204030204" pitchFamily="49" charset="0"/>
                <a:cs typeface="Consolas" panose="020B0609020204030204" pitchFamily="49" charset="0"/>
              </a:rPr>
              <a:t>    BLT loop        </a:t>
            </a:r>
            <a:r>
              <a:rPr lang="pt-BR" dirty="0">
                <a:latin typeface="Consolas" panose="020B0609020204030204" pitchFamily="49" charset="0"/>
                <a:cs typeface="Consolas" panose="020B0609020204030204" pitchFamily="49" charset="0"/>
              </a:rPr>
              <a:t>%</a:t>
            </a:r>
            <a:r>
              <a:rPr lang="en-US" dirty="0">
                <a:latin typeface="Consolas" panose="020B0609020204030204" pitchFamily="49" charset="0"/>
                <a:cs typeface="Consolas" panose="020B0609020204030204" pitchFamily="49" charset="0"/>
              </a:rPr>
              <a:t> loop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less than 10. </a:t>
            </a:r>
          </a:p>
        </p:txBody>
      </p:sp>
      <p:sp>
        <p:nvSpPr>
          <p:cNvPr id="9" name="TextBox 8">
            <a:extLst>
              <a:ext uri="{FF2B5EF4-FFF2-40B4-BE49-F238E27FC236}">
                <a16:creationId xmlns:a16="http://schemas.microsoft.com/office/drawing/2014/main" id="{938C6334-8AF3-C245-A043-490C963D00DE}"/>
              </a:ext>
            </a:extLst>
          </p:cNvPr>
          <p:cNvSpPr txBox="1"/>
          <p:nvPr/>
        </p:nvSpPr>
        <p:spPr>
          <a:xfrm>
            <a:off x="1981201" y="3581400"/>
            <a:ext cx="1992853" cy="369332"/>
          </a:xfrm>
          <a:prstGeom prst="rect">
            <a:avLst/>
          </a:prstGeom>
          <a:noFill/>
        </p:spPr>
        <p:txBody>
          <a:bodyPr wrap="none" rtlCol="0">
            <a:spAutoFit/>
          </a:bodyPr>
          <a:lstStyle/>
          <a:p>
            <a:r>
              <a:rPr lang="en-US" dirty="0"/>
              <a:t>Implementation 2b:</a:t>
            </a:r>
          </a:p>
        </p:txBody>
      </p:sp>
      <p:graphicFrame>
        <p:nvGraphicFramePr>
          <p:cNvPr id="4" name="Table 3">
            <a:extLst>
              <a:ext uri="{FF2B5EF4-FFF2-40B4-BE49-F238E27FC236}">
                <a16:creationId xmlns:a16="http://schemas.microsoft.com/office/drawing/2014/main" id="{54904106-3185-EC5F-ABA9-B210A8CE4425}"/>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do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while (i &lt; 10);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498011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8579D6-6AC1-DF34-E2A7-F71F04510B18}"/>
              </a:ext>
            </a:extLst>
          </p:cNvPr>
          <p:cNvSpPr>
            <a:spLocks noGrp="1"/>
          </p:cNvSpPr>
          <p:nvPr>
            <p:ph type="title"/>
          </p:nvPr>
        </p:nvSpPr>
        <p:spPr/>
        <p:txBody>
          <a:bodyPr>
            <a:normAutofit/>
          </a:bodyPr>
          <a:lstStyle/>
          <a:p>
            <a:r>
              <a:rPr lang="en-US" dirty="0"/>
              <a:t>Explanations for 2a and 2b </a:t>
            </a:r>
          </a:p>
        </p:txBody>
      </p:sp>
      <p:sp>
        <p:nvSpPr>
          <p:cNvPr id="3" name="Slide Number Placeholder 2">
            <a:extLst>
              <a:ext uri="{FF2B5EF4-FFF2-40B4-BE49-F238E27FC236}">
                <a16:creationId xmlns:a16="http://schemas.microsoft.com/office/drawing/2014/main" id="{C464A668-0AB8-96CF-5C60-2C7C4A7EC054}"/>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a:extLst>
              <a:ext uri="{FF2B5EF4-FFF2-40B4-BE49-F238E27FC236}">
                <a16:creationId xmlns:a16="http://schemas.microsoft.com/office/drawing/2014/main" id="{4DA6FD01-9EBA-97EE-ECB7-E1CEB7C5AA2D}"/>
              </a:ext>
            </a:extLst>
          </p:cNvPr>
          <p:cNvSpPr>
            <a:spLocks noGrp="1"/>
          </p:cNvSpPr>
          <p:nvPr>
            <p:ph sz="quarter" idx="1"/>
          </p:nvPr>
        </p:nvSpPr>
        <p:spPr/>
        <p:txBody>
          <a:bodyPr>
            <a:normAutofit/>
          </a:bodyPr>
          <a:lstStyle/>
          <a:p>
            <a:r>
              <a:rPr lang="en-US" dirty="0"/>
              <a:t>2a and 2b implement two different loop structures:</a:t>
            </a:r>
          </a:p>
          <a:p>
            <a:pPr lvl="1"/>
            <a:r>
              <a:rPr lang="en-US" dirty="0"/>
              <a:t> Version with “B check” is a pre-test loop (while/for): it tests </a:t>
            </a:r>
            <a:r>
              <a:rPr lang="en-US" dirty="0" err="1"/>
              <a:t>i</a:t>
            </a:r>
            <a:r>
              <a:rPr lang="en-US" dirty="0"/>
              <a:t> &lt; 10 before the first iteration, so the body may execute zero times if the condition is false initially</a:t>
            </a:r>
          </a:p>
          <a:p>
            <a:pPr lvl="1"/>
            <a:r>
              <a:rPr lang="en-US" dirty="0"/>
              <a:t>Version without “B check” is a post-test loop (do-while): it executes the body once before testing, then repeats while </a:t>
            </a:r>
            <a:r>
              <a:rPr lang="en-US" dirty="0" err="1"/>
              <a:t>i</a:t>
            </a:r>
            <a:r>
              <a:rPr lang="en-US" dirty="0"/>
              <a:t> &lt; 10</a:t>
            </a:r>
          </a:p>
          <a:p>
            <a:r>
              <a:rPr lang="en-US" dirty="0"/>
              <a:t>Because </a:t>
            </a:r>
            <a:r>
              <a:rPr lang="en-US" dirty="0" err="1"/>
              <a:t>i</a:t>
            </a:r>
            <a:r>
              <a:rPr lang="en-US" dirty="0"/>
              <a:t> starts at 0 and the condition is </a:t>
            </a:r>
            <a:r>
              <a:rPr lang="en-US" dirty="0" err="1"/>
              <a:t>i</a:t>
            </a:r>
            <a:r>
              <a:rPr lang="en-US" dirty="0"/>
              <a:t> &lt; 10, and loop iterates from </a:t>
            </a:r>
            <a:r>
              <a:rPr lang="en-US" dirty="0" err="1"/>
              <a:t>i</a:t>
            </a:r>
            <a:r>
              <a:rPr lang="en-US" dirty="0"/>
              <a:t>=0 to </a:t>
            </a:r>
            <a:r>
              <a:rPr lang="en-US" dirty="0" err="1"/>
              <a:t>i</a:t>
            </a:r>
            <a:r>
              <a:rPr lang="en-US" dirty="0"/>
              <a:t>=9, even though the control-flow order differs. If the initial condition were false, only the pre-test version would skip the loop entirely.</a:t>
            </a:r>
          </a:p>
          <a:p>
            <a:endParaRPr lang="en-US" dirty="0"/>
          </a:p>
        </p:txBody>
      </p:sp>
    </p:spTree>
    <p:extLst>
      <p:ext uri="{BB962C8B-B14F-4D97-AF65-F5344CB8AC3E}">
        <p14:creationId xmlns:p14="http://schemas.microsoft.com/office/powerpoint/2010/main" val="6206001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EDD41-7CDA-3EDD-105C-D68CB078EB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ACB093-C82E-85F3-F872-714CE2628620}"/>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A7CAB2FA-1FF5-DA47-7741-E08D60D8199E}"/>
              </a:ext>
            </a:extLst>
          </p:cNvPr>
          <p:cNvSpPr>
            <a:spLocks noGrp="1"/>
          </p:cNvSpPr>
          <p:nvPr>
            <p:ph type="sldNum" sz="quarter" idx="12"/>
          </p:nvPr>
        </p:nvSpPr>
        <p:spPr/>
        <p:txBody>
          <a:bodyPr/>
          <a:lstStyle/>
          <a:p>
            <a:fld id="{EA7C8D44-3667-46F6-9772-CC52308E2A7F}" type="slidenum">
              <a:rPr kumimoji="0" lang="en-US" smtClean="0"/>
              <a:pPr/>
              <a:t>28</a:t>
            </a:fld>
            <a:endParaRPr kumimoji="0" lang="en-US" dirty="0"/>
          </a:p>
        </p:txBody>
      </p:sp>
      <p:graphicFrame>
        <p:nvGraphicFramePr>
          <p:cNvPr id="5" name="Table 4">
            <a:extLst>
              <a:ext uri="{FF2B5EF4-FFF2-40B4-BE49-F238E27FC236}">
                <a16:creationId xmlns:a16="http://schemas.microsoft.com/office/drawing/2014/main" id="{6F2D648B-3ED5-0E4F-A7ED-98BE3DF04FA3}"/>
              </a:ext>
            </a:extLst>
          </p:cNvPr>
          <p:cNvGraphicFramePr>
            <a:graphicFrameLocks noGrp="1"/>
          </p:cNvGraphicFramePr>
          <p:nvPr>
            <p:extLst>
              <p:ext uri="{D42A27DB-BD31-4B8C-83A1-F6EECF244321}">
                <p14:modId xmlns:p14="http://schemas.microsoft.com/office/powerpoint/2010/main" val="404832185"/>
              </p:ext>
            </p:extLst>
          </p:nvPr>
        </p:nvGraphicFramePr>
        <p:xfrm>
          <a:off x="3099882" y="137791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4C1592DD-F03B-6E7A-3471-FB08A36F2965}"/>
              </a:ext>
            </a:extLst>
          </p:cNvPr>
          <p:cNvSpPr/>
          <p:nvPr/>
        </p:nvSpPr>
        <p:spPr>
          <a:xfrm>
            <a:off x="2895600" y="3771027"/>
            <a:ext cx="6400800" cy="2585323"/>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#10         % loop count = 10</a:t>
            </a:r>
          </a:p>
          <a:p>
            <a:r>
              <a:rPr lang="en-US" dirty="0">
                <a:latin typeface="Consolas" panose="020B0609020204030204" pitchFamily="49" charset="0"/>
                <a:cs typeface="Consolas" panose="020B0609020204030204" pitchFamily="49" charset="0"/>
              </a:rPr>
              <a:t>    MOV     r2,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ADD     r0, r0, r2      %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     r2, r2, #1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SUBS    r1, r1, #1      % --count, set flags</a:t>
            </a:r>
          </a:p>
          <a:p>
            <a:r>
              <a:rPr lang="en-US" dirty="0">
                <a:latin typeface="Consolas" panose="020B0609020204030204" pitchFamily="49" charset="0"/>
                <a:cs typeface="Consolas" panose="020B0609020204030204" pitchFamily="49" charset="0"/>
              </a:rPr>
              <a:t>    BNE     loop            % repeat until loop count==0</a:t>
            </a:r>
          </a:p>
        </p:txBody>
      </p:sp>
      <p:sp>
        <p:nvSpPr>
          <p:cNvPr id="9" name="TextBox 8">
            <a:extLst>
              <a:ext uri="{FF2B5EF4-FFF2-40B4-BE49-F238E27FC236}">
                <a16:creationId xmlns:a16="http://schemas.microsoft.com/office/drawing/2014/main" id="{A03229C5-4093-D4A1-3845-BC38F36FF253}"/>
              </a:ext>
            </a:extLst>
          </p:cNvPr>
          <p:cNvSpPr txBox="1"/>
          <p:nvPr/>
        </p:nvSpPr>
        <p:spPr>
          <a:xfrm>
            <a:off x="1956883" y="3272960"/>
            <a:ext cx="4821513" cy="369332"/>
          </a:xfrm>
          <a:prstGeom prst="rect">
            <a:avLst/>
          </a:prstGeom>
          <a:noFill/>
        </p:spPr>
        <p:txBody>
          <a:bodyPr wrap="none" rtlCol="0">
            <a:spAutoFit/>
          </a:bodyPr>
          <a:lstStyle/>
          <a:p>
            <a:r>
              <a:rPr lang="en-US" dirty="0"/>
              <a:t>Implementation 3 (Count-down with SUBS/BNE):</a:t>
            </a:r>
          </a:p>
        </p:txBody>
      </p:sp>
      <p:graphicFrame>
        <p:nvGraphicFramePr>
          <p:cNvPr id="4" name="Table 3">
            <a:extLst>
              <a:ext uri="{FF2B5EF4-FFF2-40B4-BE49-F238E27FC236}">
                <a16:creationId xmlns:a16="http://schemas.microsoft.com/office/drawing/2014/main" id="{65448C97-B3F4-3495-8E46-D23B540F2A4B}"/>
              </a:ext>
            </a:extLst>
          </p:cNvPr>
          <p:cNvGraphicFramePr>
            <a:graphicFrameLocks noGrp="1"/>
          </p:cNvGraphicFramePr>
          <p:nvPr>
            <p:extLst>
              <p:ext uri="{D42A27DB-BD31-4B8C-83A1-F6EECF244321}">
                <p14:modId xmlns:p14="http://schemas.microsoft.com/office/powerpoint/2010/main" val="332871376"/>
              </p:ext>
            </p:extLst>
          </p:nvPr>
        </p:nvGraphicFramePr>
        <p:xfrm>
          <a:off x="6681282" y="1128071"/>
          <a:ext cx="2514600" cy="213360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sum = 0;     // r0</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count = 10;   // r1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int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0;        // r2</a:t>
                      </a:r>
                    </a:p>
                    <a:p>
                      <a:pPr marL="0" marR="0" algn="just">
                        <a:spcBef>
                          <a:spcPts val="0"/>
                        </a:spcBef>
                        <a:spcAft>
                          <a:spcPts val="0"/>
                        </a:spcAft>
                        <a:tabLst>
                          <a:tab pos="794385" algn="ctr"/>
                        </a:tabLst>
                      </a:pPr>
                      <a:endParaRPr lang="en-US"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while (count != 0)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sum +=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a:t>
                      </a:r>
                      <a:r>
                        <a:rPr lang="en-US" sz="1400" dirty="0" err="1">
                          <a:effectLst/>
                          <a:latin typeface="Consolas" panose="020B0609020204030204" pitchFamily="49" charset="0"/>
                          <a:ea typeface="宋体"/>
                          <a:cs typeface="Consolas" panose="020B0609020204030204" pitchFamily="49" charset="0"/>
                        </a:rPr>
                        <a:t>i</a:t>
                      </a:r>
                      <a:r>
                        <a:rPr lang="en-US" sz="1400" dirty="0">
                          <a:effectLst/>
                          <a:latin typeface="Consolas" panose="020B0609020204030204" pitchFamily="49" charset="0"/>
                          <a:ea typeface="宋体"/>
                          <a:cs typeface="Consolas" panose="020B0609020204030204" pitchFamily="49" charset="0"/>
                        </a:rPr>
                        <a:t> += 1;       </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    count -= 1;</a:t>
                      </a:r>
                    </a:p>
                    <a:p>
                      <a:pPr marL="0" marR="0" algn="just">
                        <a:spcBef>
                          <a:spcPts val="0"/>
                        </a:spcBef>
                        <a:spcAft>
                          <a:spcPts val="0"/>
                        </a:spcAft>
                        <a:tabLst>
                          <a:tab pos="794385" algn="ctr"/>
                        </a:tabLst>
                      </a:pPr>
                      <a:r>
                        <a:rPr lang="en-US"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7548401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5C72B-840B-27DC-0543-D529612ADD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F9B59-1230-5E38-A012-0C84111218A1}"/>
              </a:ext>
            </a:extLst>
          </p:cNvPr>
          <p:cNvSpPr>
            <a:spLocks noGrp="1"/>
          </p:cNvSpPr>
          <p:nvPr>
            <p:ph type="title"/>
          </p:nvPr>
        </p:nvSpPr>
        <p:spPr/>
        <p:txBody>
          <a:bodyPr/>
          <a:lstStyle/>
          <a:p>
            <a:r>
              <a:rPr lang="en-US" dirty="0"/>
              <a:t>For Loop</a:t>
            </a:r>
          </a:p>
        </p:txBody>
      </p:sp>
      <p:sp>
        <p:nvSpPr>
          <p:cNvPr id="3" name="Slide Number Placeholder 2">
            <a:extLst>
              <a:ext uri="{FF2B5EF4-FFF2-40B4-BE49-F238E27FC236}">
                <a16:creationId xmlns:a16="http://schemas.microsoft.com/office/drawing/2014/main" id="{73E67F8B-FF76-AE26-1B8A-D53FC7913FCD}"/>
              </a:ext>
            </a:extLst>
          </p:cNvPr>
          <p:cNvSpPr>
            <a:spLocks noGrp="1"/>
          </p:cNvSpPr>
          <p:nvPr>
            <p:ph type="sldNum" sz="quarter" idx="12"/>
          </p:nvPr>
        </p:nvSpPr>
        <p:spPr/>
        <p:txBody>
          <a:bodyPr/>
          <a:lstStyle/>
          <a:p>
            <a:fld id="{EA7C8D44-3667-46F6-9772-CC52308E2A7F}" type="slidenum">
              <a:rPr kumimoji="0" lang="en-US" smtClean="0"/>
              <a:pPr/>
              <a:t>29</a:t>
            </a:fld>
            <a:endParaRPr kumimoji="0" lang="en-US" dirty="0"/>
          </a:p>
        </p:txBody>
      </p:sp>
      <p:graphicFrame>
        <p:nvGraphicFramePr>
          <p:cNvPr id="5" name="Table 4">
            <a:extLst>
              <a:ext uri="{FF2B5EF4-FFF2-40B4-BE49-F238E27FC236}">
                <a16:creationId xmlns:a16="http://schemas.microsoft.com/office/drawing/2014/main" id="{268911CB-1A74-0359-3203-6E34F208221E}"/>
              </a:ext>
            </a:extLst>
          </p:cNvPr>
          <p:cNvGraphicFramePr>
            <a:graphicFrameLocks noGrp="1"/>
          </p:cNvGraphicFramePr>
          <p:nvPr/>
        </p:nvGraphicFramePr>
        <p:xfrm>
          <a:off x="3124200" y="1686350"/>
          <a:ext cx="2514600" cy="128016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err="1">
                          <a:effectLst/>
                          <a:latin typeface="Consolas" panose="020B0609020204030204" pitchFamily="49" charset="0"/>
                          <a:cs typeface="Consolas" panose="020B0609020204030204" pitchFamily="49" charset="0"/>
                        </a:rPr>
                        <a:t>int</a:t>
                      </a:r>
                      <a:r>
                        <a:rPr lang="en-US" sz="1400" dirty="0">
                          <a:effectLst/>
                          <a:latin typeface="Consolas" panose="020B0609020204030204" pitchFamily="49" charset="0"/>
                          <a:cs typeface="Consolas" panose="020B0609020204030204" pitchFamily="49" charset="0"/>
                        </a:rPr>
                        <a:t> sum = 0;</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for(</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 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 &lt; 10;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  sum += </a:t>
                      </a:r>
                      <a:r>
                        <a:rPr lang="en-US" sz="1400" dirty="0" err="1">
                          <a:effectLst/>
                          <a:latin typeface="Consolas" panose="020B0609020204030204" pitchFamily="49" charset="0"/>
                          <a:cs typeface="Consolas" panose="020B0609020204030204" pitchFamily="49" charset="0"/>
                        </a:rPr>
                        <a:t>i</a:t>
                      </a:r>
                      <a:r>
                        <a:rPr lang="en-US" sz="14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EC1EA560-6C16-220F-A31C-F3027A7E493C}"/>
              </a:ext>
            </a:extLst>
          </p:cNvPr>
          <p:cNvSpPr/>
          <p:nvPr/>
        </p:nvSpPr>
        <p:spPr>
          <a:xfrm>
            <a:off x="2919918" y="4079467"/>
            <a:ext cx="6400800" cy="2031325"/>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dirty="0">
                <a:latin typeface="Consolas" panose="020B0609020204030204" pitchFamily="49" charset="0"/>
                <a:cs typeface="Consolas" panose="020B0609020204030204" pitchFamily="49" charset="0"/>
              </a:rPr>
              <a:t>    MOV     r0, #0          % sum = 0</a:t>
            </a:r>
          </a:p>
          <a:p>
            <a:r>
              <a:rPr lang="en-US" dirty="0">
                <a:latin typeface="Consolas" panose="020B0609020204030204" pitchFamily="49" charset="0"/>
                <a:cs typeface="Consolas" panose="020B0609020204030204" pitchFamily="49" charset="0"/>
              </a:rPr>
              <a:t>    MOV     r1, #0          %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 = 0</a:t>
            </a:r>
          </a:p>
          <a:p>
            <a:r>
              <a:rPr lang="en-US" dirty="0">
                <a:latin typeface="Consolas" panose="020B0609020204030204" pitchFamily="49" charset="0"/>
                <a:cs typeface="Consolas" panose="020B0609020204030204" pitchFamily="49" charset="0"/>
              </a:rPr>
              <a:t>loop:</a:t>
            </a:r>
          </a:p>
          <a:p>
            <a:r>
              <a:rPr lang="en-US" dirty="0">
                <a:latin typeface="Consolas" panose="020B0609020204030204" pitchFamily="49" charset="0"/>
                <a:cs typeface="Consolas" panose="020B0609020204030204" pitchFamily="49" charset="0"/>
              </a:rPr>
              <a:t>    CMP     r1, #10         % set flags from i-10</a:t>
            </a:r>
          </a:p>
          <a:p>
            <a:r>
              <a:rPr lang="en-US" dirty="0">
                <a:latin typeface="Consolas" panose="020B0609020204030204" pitchFamily="49" charset="0"/>
                <a:cs typeface="Consolas" panose="020B0609020204030204" pitchFamily="49" charset="0"/>
              </a:rPr>
              <a:t>    ADDLT   r0, r0, r1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sum += </a:t>
            </a:r>
            <a:r>
              <a:rPr lang="en-US" dirty="0" err="1">
                <a:latin typeface="Consolas" panose="020B0609020204030204" pitchFamily="49" charset="0"/>
                <a:cs typeface="Consolas" panose="020B0609020204030204" pitchFamily="49" charset="0"/>
              </a:rPr>
              <a:t>i</a:t>
            </a:r>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ADDLT   r1, r1, #1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BLT     loop            % if </a:t>
            </a:r>
            <a:r>
              <a:rPr lang="en-US" dirty="0" err="1">
                <a:latin typeface="Consolas" panose="020B0609020204030204" pitchFamily="49" charset="0"/>
                <a:cs typeface="Consolas" panose="020B0609020204030204" pitchFamily="49" charset="0"/>
              </a:rPr>
              <a:t>i</a:t>
            </a:r>
            <a:r>
              <a:rPr lang="en-US" dirty="0">
                <a:latin typeface="Consolas" panose="020B0609020204030204" pitchFamily="49" charset="0"/>
                <a:cs typeface="Consolas" panose="020B0609020204030204" pitchFamily="49" charset="0"/>
              </a:rPr>
              <a:t>&lt;10: loop</a:t>
            </a:r>
          </a:p>
        </p:txBody>
      </p:sp>
      <p:sp>
        <p:nvSpPr>
          <p:cNvPr id="9" name="TextBox 8">
            <a:extLst>
              <a:ext uri="{FF2B5EF4-FFF2-40B4-BE49-F238E27FC236}">
                <a16:creationId xmlns:a16="http://schemas.microsoft.com/office/drawing/2014/main" id="{915EAF87-721D-2D80-E09F-B26BA59F955F}"/>
              </a:ext>
            </a:extLst>
          </p:cNvPr>
          <p:cNvSpPr txBox="1"/>
          <p:nvPr/>
        </p:nvSpPr>
        <p:spPr>
          <a:xfrm>
            <a:off x="1981200" y="3581400"/>
            <a:ext cx="4529958" cy="369332"/>
          </a:xfrm>
          <a:prstGeom prst="rect">
            <a:avLst/>
          </a:prstGeom>
          <a:noFill/>
        </p:spPr>
        <p:txBody>
          <a:bodyPr wrap="none" rtlCol="0">
            <a:spAutoFit/>
          </a:bodyPr>
          <a:lstStyle/>
          <a:p>
            <a:r>
              <a:rPr lang="en-US" dirty="0"/>
              <a:t>Implementation 4 (Use conditional execution):</a:t>
            </a:r>
          </a:p>
        </p:txBody>
      </p:sp>
      <p:graphicFrame>
        <p:nvGraphicFramePr>
          <p:cNvPr id="6" name="Table 5">
            <a:extLst>
              <a:ext uri="{FF2B5EF4-FFF2-40B4-BE49-F238E27FC236}">
                <a16:creationId xmlns:a16="http://schemas.microsoft.com/office/drawing/2014/main" id="{5D964848-CBE2-1E6F-3041-9EF39AC0F02B}"/>
              </a:ext>
            </a:extLst>
          </p:cNvPr>
          <p:cNvGraphicFramePr>
            <a:graphicFrameLocks noGrp="1"/>
          </p:cNvGraphicFramePr>
          <p:nvPr/>
        </p:nvGraphicFramePr>
        <p:xfrm>
          <a:off x="6705600" y="1686350"/>
          <a:ext cx="2514600" cy="1706880"/>
        </p:xfrm>
        <a:graphic>
          <a:graphicData uri="http://schemas.openxmlformats.org/drawingml/2006/table">
            <a:tbl>
              <a:tblPr firstRow="1" firstCol="1" bandRow="1">
                <a:tableStyleId>{B301B821-A1FF-4177-AEE7-76D212191A09}</a:tableStyleId>
              </a:tblPr>
              <a:tblGrid>
                <a:gridCol w="2514600">
                  <a:extLst>
                    <a:ext uri="{9D8B030D-6E8A-4147-A177-3AD203B41FA5}">
                      <a16:colId xmlns:a16="http://schemas.microsoft.com/office/drawing/2014/main" val="20000"/>
                    </a:ext>
                  </a:extLst>
                </a:gridCol>
              </a:tblGrid>
              <a:tr h="0">
                <a:tc>
                  <a:txBody>
                    <a:bodyPr/>
                    <a:lstStyle/>
                    <a:p>
                      <a:pPr marL="0" marR="0" algn="just">
                        <a:spcBef>
                          <a:spcPts val="0"/>
                        </a:spcBef>
                        <a:spcAft>
                          <a:spcPts val="0"/>
                        </a:spcAft>
                      </a:pPr>
                      <a:r>
                        <a:rPr lang="en-US" sz="1400" dirty="0">
                          <a:effectLst/>
                          <a:latin typeface="Consolas" panose="020B0609020204030204" pitchFamily="49" charset="0"/>
                          <a:cs typeface="Consolas" panose="020B0609020204030204" pitchFamily="49" charset="0"/>
                        </a:rPr>
                        <a:t>C Program (equivalent)</a:t>
                      </a:r>
                      <a:endParaRPr lang="en-US" sz="14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0">
                <a:tc>
                  <a:txBody>
                    <a:bodyPr/>
                    <a:lstStyle/>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i = 0;</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int sum = 0;</a:t>
                      </a:r>
                    </a:p>
                    <a:p>
                      <a:pPr marL="0" marR="0" algn="just">
                        <a:spcBef>
                          <a:spcPts val="0"/>
                        </a:spcBef>
                        <a:spcAft>
                          <a:spcPts val="0"/>
                        </a:spcAft>
                        <a:tabLst>
                          <a:tab pos="794385" algn="ctr"/>
                        </a:tabLst>
                      </a:pPr>
                      <a:endParaRPr lang="nn-NO" sz="1400" dirty="0">
                        <a:effectLst/>
                        <a:latin typeface="Consolas" panose="020B0609020204030204" pitchFamily="49" charset="0"/>
                        <a:ea typeface="宋体"/>
                        <a:cs typeface="Consolas" panose="020B0609020204030204" pitchFamily="49" charset="0"/>
                      </a:endParaRP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while (i &lt; 10) {</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sum +=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    i++;</a:t>
                      </a:r>
                    </a:p>
                    <a:p>
                      <a:pPr marL="0" marR="0" algn="just">
                        <a:spcBef>
                          <a:spcPts val="0"/>
                        </a:spcBef>
                        <a:spcAft>
                          <a:spcPts val="0"/>
                        </a:spcAft>
                        <a:tabLst>
                          <a:tab pos="794385" algn="ctr"/>
                        </a:tabLst>
                      </a:pPr>
                      <a:r>
                        <a:rPr lang="nn-NO" sz="1400" dirty="0">
                          <a:effectLst/>
                          <a:latin typeface="Consolas" panose="020B0609020204030204" pitchFamily="49" charset="0"/>
                          <a:ea typeface="宋体"/>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168830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ChangeArrowheads="1"/>
          </p:cNvSpPr>
          <p:nvPr/>
        </p:nvSpPr>
        <p:spPr bwMode="auto">
          <a:xfrm>
            <a:off x="1752600" y="990600"/>
            <a:ext cx="8591550" cy="4953000"/>
          </a:xfrm>
          <a:prstGeom prst="rect">
            <a:avLst/>
          </a:prstGeom>
          <a:noFill/>
          <a:ln w="9525">
            <a:noFill/>
            <a:miter lim="800000"/>
            <a:headEnd/>
            <a:tailEnd/>
          </a:ln>
        </p:spPr>
        <p:txBody>
          <a:bodyPr lIns="92075" tIns="46038" rIns="92075" bIns="46038"/>
          <a:lstStyle/>
          <a:p>
            <a:endParaRPr lang="en-GB" sz="2400">
              <a:latin typeface="Times New Roman" pitchFamily="18" charset="0"/>
            </a:endParaRPr>
          </a:p>
        </p:txBody>
      </p:sp>
      <p:sp>
        <p:nvSpPr>
          <p:cNvPr id="14339" name="Rectangle 3"/>
          <p:cNvSpPr>
            <a:spLocks noGrp="1" noChangeArrowheads="1"/>
          </p:cNvSpPr>
          <p:nvPr>
            <p:ph type="title"/>
          </p:nvPr>
        </p:nvSpPr>
        <p:spPr/>
        <p:txBody>
          <a:bodyPr/>
          <a:lstStyle/>
          <a:p>
            <a:r>
              <a:rPr lang="en-US" dirty="0"/>
              <a:t>Condition Codes </a:t>
            </a:r>
          </a:p>
        </p:txBody>
      </p:sp>
      <p:sp>
        <p:nvSpPr>
          <p:cNvPr id="14341" name="Rectangle 53"/>
          <p:cNvSpPr>
            <a:spLocks noGrp="1" noChangeArrowheads="1"/>
          </p:cNvSpPr>
          <p:nvPr>
            <p:ph sz="quarter" idx="1"/>
          </p:nvPr>
        </p:nvSpPr>
        <p:spPr/>
        <p:txBody>
          <a:bodyPr anchor="t"/>
          <a:lstStyle/>
          <a:p>
            <a:r>
              <a:rPr lang="en-US" dirty="0"/>
              <a:t>The possible condition codes are listed below:</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30</a:t>
            </a:fld>
            <a:endParaRPr lang="en-US"/>
          </a:p>
        </p:txBody>
      </p:sp>
      <p:sp>
        <p:nvSpPr>
          <p:cNvPr id="2" name="Rectangle 1"/>
          <p:cNvSpPr/>
          <p:nvPr/>
        </p:nvSpPr>
        <p:spPr>
          <a:xfrm>
            <a:off x="2947974" y="6050832"/>
            <a:ext cx="6424626"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14340" name="Group 4"/>
          <p:cNvGrpSpPr>
            <a:grpSpLocks/>
          </p:cNvGrpSpPr>
          <p:nvPr/>
        </p:nvGrpSpPr>
        <p:grpSpPr bwMode="auto">
          <a:xfrm>
            <a:off x="2947974" y="1779588"/>
            <a:ext cx="6362700" cy="4241800"/>
            <a:chOff x="1488" y="1584"/>
            <a:chExt cx="2784" cy="2304"/>
          </a:xfrm>
        </p:grpSpPr>
        <p:sp>
          <p:nvSpPr>
            <p:cNvPr id="14342" name="Rectangle 5"/>
            <p:cNvSpPr>
              <a:spLocks noChangeArrowheads="1"/>
            </p:cNvSpPr>
            <p:nvPr/>
          </p:nvSpPr>
          <p:spPr bwMode="auto">
            <a:xfrm>
              <a:off x="2045" y="187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Not equal</a:t>
              </a:r>
            </a:p>
          </p:txBody>
        </p:sp>
        <p:sp>
          <p:nvSpPr>
            <p:cNvPr id="14343" name="Rectangle 6"/>
            <p:cNvSpPr>
              <a:spLocks noChangeArrowheads="1"/>
            </p:cNvSpPr>
            <p:nvPr/>
          </p:nvSpPr>
          <p:spPr bwMode="auto">
            <a:xfrm>
              <a:off x="2045" y="201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 or same</a:t>
              </a:r>
            </a:p>
          </p:txBody>
        </p:sp>
        <p:sp>
          <p:nvSpPr>
            <p:cNvPr id="14344" name="Rectangle 7"/>
            <p:cNvSpPr>
              <a:spLocks noChangeArrowheads="1"/>
            </p:cNvSpPr>
            <p:nvPr/>
          </p:nvSpPr>
          <p:spPr bwMode="auto">
            <a:xfrm>
              <a:off x="2045" y="216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lower</a:t>
              </a:r>
            </a:p>
          </p:txBody>
        </p:sp>
        <p:sp>
          <p:nvSpPr>
            <p:cNvPr id="14345" name="Rectangle 8"/>
            <p:cNvSpPr>
              <a:spLocks noChangeArrowheads="1"/>
            </p:cNvSpPr>
            <p:nvPr/>
          </p:nvSpPr>
          <p:spPr bwMode="auto">
            <a:xfrm>
              <a:off x="2045" y="2304"/>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Negative</a:t>
              </a:r>
            </a:p>
          </p:txBody>
        </p:sp>
        <p:sp>
          <p:nvSpPr>
            <p:cNvPr id="14346" name="Rectangle 9"/>
            <p:cNvSpPr>
              <a:spLocks noChangeArrowheads="1"/>
            </p:cNvSpPr>
            <p:nvPr/>
          </p:nvSpPr>
          <p:spPr bwMode="auto">
            <a:xfrm>
              <a:off x="2045" y="1728"/>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Equal</a:t>
              </a:r>
            </a:p>
          </p:txBody>
        </p:sp>
        <p:sp>
          <p:nvSpPr>
            <p:cNvPr id="14347" name="Rectangle 10"/>
            <p:cNvSpPr>
              <a:spLocks noChangeArrowheads="1"/>
            </p:cNvSpPr>
            <p:nvPr/>
          </p:nvSpPr>
          <p:spPr bwMode="auto">
            <a:xfrm>
              <a:off x="2045" y="2592"/>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Overflow</a:t>
              </a:r>
            </a:p>
          </p:txBody>
        </p:sp>
        <p:sp>
          <p:nvSpPr>
            <p:cNvPr id="14348" name="Rectangle 11"/>
            <p:cNvSpPr>
              <a:spLocks noChangeArrowheads="1"/>
            </p:cNvSpPr>
            <p:nvPr/>
          </p:nvSpPr>
          <p:spPr bwMode="auto">
            <a:xfrm>
              <a:off x="2045" y="273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No overflow</a:t>
              </a:r>
            </a:p>
          </p:txBody>
        </p:sp>
        <p:sp>
          <p:nvSpPr>
            <p:cNvPr id="14349" name="Rectangle 12"/>
            <p:cNvSpPr>
              <a:spLocks noChangeArrowheads="1"/>
            </p:cNvSpPr>
            <p:nvPr/>
          </p:nvSpPr>
          <p:spPr bwMode="auto">
            <a:xfrm>
              <a:off x="2045" y="288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higher</a:t>
              </a:r>
            </a:p>
          </p:txBody>
        </p:sp>
        <p:sp>
          <p:nvSpPr>
            <p:cNvPr id="14350" name="Rectangle 13"/>
            <p:cNvSpPr>
              <a:spLocks noChangeArrowheads="1"/>
            </p:cNvSpPr>
            <p:nvPr/>
          </p:nvSpPr>
          <p:spPr bwMode="auto">
            <a:xfrm>
              <a:off x="2045" y="302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Unsigned lower or same</a:t>
              </a:r>
            </a:p>
          </p:txBody>
        </p:sp>
        <p:sp>
          <p:nvSpPr>
            <p:cNvPr id="14351" name="Rectangle 14"/>
            <p:cNvSpPr>
              <a:spLocks noChangeArrowheads="1"/>
            </p:cNvSpPr>
            <p:nvPr/>
          </p:nvSpPr>
          <p:spPr bwMode="auto">
            <a:xfrm>
              <a:off x="2045" y="244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Positive or Zero</a:t>
              </a:r>
            </a:p>
          </p:txBody>
        </p:sp>
        <p:sp>
          <p:nvSpPr>
            <p:cNvPr id="14352" name="Rectangle 15"/>
            <p:cNvSpPr>
              <a:spLocks noChangeArrowheads="1"/>
            </p:cNvSpPr>
            <p:nvPr/>
          </p:nvSpPr>
          <p:spPr bwMode="auto">
            <a:xfrm>
              <a:off x="2045" y="3312"/>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a:t>
              </a:r>
            </a:p>
          </p:txBody>
        </p:sp>
        <p:sp>
          <p:nvSpPr>
            <p:cNvPr id="14353" name="Rectangle 16"/>
            <p:cNvSpPr>
              <a:spLocks noChangeArrowheads="1"/>
            </p:cNvSpPr>
            <p:nvPr/>
          </p:nvSpPr>
          <p:spPr bwMode="auto">
            <a:xfrm>
              <a:off x="2045" y="3456"/>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than</a:t>
              </a:r>
            </a:p>
          </p:txBody>
        </p:sp>
        <p:sp>
          <p:nvSpPr>
            <p:cNvPr id="14354" name="Rectangle 17"/>
            <p:cNvSpPr>
              <a:spLocks noChangeArrowheads="1"/>
            </p:cNvSpPr>
            <p:nvPr/>
          </p:nvSpPr>
          <p:spPr bwMode="auto">
            <a:xfrm>
              <a:off x="2045" y="3600"/>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Less than or equal</a:t>
              </a:r>
            </a:p>
          </p:txBody>
        </p:sp>
        <p:sp>
          <p:nvSpPr>
            <p:cNvPr id="14355" name="Rectangle 18"/>
            <p:cNvSpPr>
              <a:spLocks noChangeArrowheads="1"/>
            </p:cNvSpPr>
            <p:nvPr/>
          </p:nvSpPr>
          <p:spPr bwMode="auto">
            <a:xfrm>
              <a:off x="2045" y="3744"/>
              <a:ext cx="1503"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Always</a:t>
              </a:r>
            </a:p>
          </p:txBody>
        </p:sp>
        <p:sp>
          <p:nvSpPr>
            <p:cNvPr id="14356" name="Rectangle 19"/>
            <p:cNvSpPr>
              <a:spLocks noChangeArrowheads="1"/>
            </p:cNvSpPr>
            <p:nvPr/>
          </p:nvSpPr>
          <p:spPr bwMode="auto">
            <a:xfrm>
              <a:off x="2045" y="3168"/>
              <a:ext cx="1503"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Greater or equal</a:t>
              </a:r>
            </a:p>
          </p:txBody>
        </p:sp>
        <p:sp>
          <p:nvSpPr>
            <p:cNvPr id="14357" name="Rectangle 20"/>
            <p:cNvSpPr>
              <a:spLocks noChangeArrowheads="1"/>
            </p:cNvSpPr>
            <p:nvPr/>
          </p:nvSpPr>
          <p:spPr bwMode="auto">
            <a:xfrm>
              <a:off x="1488" y="172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88" y="187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88" y="201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88" y="216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88" y="244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88" y="259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88" y="288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88" y="302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88" y="3168"/>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88" y="3312"/>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88" y="345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88" y="3600"/>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88" y="374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88" y="2304"/>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88" y="2736"/>
              <a:ext cx="557" cy="144"/>
            </a:xfrm>
            <a:prstGeom prst="rect">
              <a:avLst/>
            </a:prstGeom>
            <a:noFill/>
            <a:ln w="12700">
              <a:solidFill>
                <a:schemeClr val="tx1"/>
              </a:solidFill>
              <a:miter lim="800000"/>
              <a:headEnd/>
              <a:tailEnd/>
            </a:ln>
          </p:spPr>
          <p:txBody>
            <a:bodyPr wrap="none" anchor="ctr"/>
            <a:lstStyle/>
            <a:p>
              <a:r>
                <a:rPr lang="en-US" sz="2000"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88" y="1584"/>
              <a:ext cx="557"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045" y="1584"/>
              <a:ext cx="1503"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3548" y="187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3548" y="201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3548" y="216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3548" y="172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3548" y="1584"/>
              <a:ext cx="724" cy="144"/>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3548" y="230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3548" y="244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3548" y="259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3548" y="273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3548" y="2880"/>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3548" y="3024"/>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3548" y="3168"/>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3548" y="3312"/>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3548" y="3456"/>
              <a:ext cx="724" cy="144"/>
            </a:xfrm>
            <a:prstGeom prst="rect">
              <a:avLst/>
            </a:prstGeom>
            <a:noFill/>
            <a:ln w="12700">
              <a:solidFill>
                <a:schemeClr val="tx1"/>
              </a:solidFill>
              <a:miter lim="800000"/>
              <a:headEnd/>
              <a:tailEnd/>
            </a:ln>
          </p:spPr>
          <p:txBody>
            <a:bodyPr wrap="none" anchor="ctr"/>
            <a:lstStyle/>
            <a:p>
              <a:r>
                <a:rPr lang="en-US">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3548" y="3600"/>
              <a:ext cx="724" cy="144"/>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3548" y="3744"/>
              <a:ext cx="724" cy="144"/>
            </a:xfrm>
            <a:prstGeom prst="rect">
              <a:avLst/>
            </a:prstGeom>
            <a:noFill/>
            <a:ln w="12700">
              <a:solidFill>
                <a:schemeClr val="tx1"/>
              </a:solidFill>
              <a:miter lim="800000"/>
              <a:headEnd/>
              <a:tailEnd/>
            </a:ln>
          </p:spPr>
          <p:txBody>
            <a:bodyPr wrap="none" anchor="ctr"/>
            <a:lstStyle/>
            <a:p>
              <a:endParaRPr lang="en-GB">
                <a:solidFill>
                  <a:schemeClr val="hlink"/>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809613256"/>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Conditional Execution</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910460754"/>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V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V = 0</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1 &amp; Z = 0</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C = 0 or Z = 1</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Z = 0 &amp; N = V</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Z = 1 or N = !V</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36013020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CF265-DA75-5412-44AA-C22BFCDE0014}"/>
              </a:ext>
            </a:extLst>
          </p:cNvPr>
          <p:cNvSpPr>
            <a:spLocks noGrp="1"/>
          </p:cNvSpPr>
          <p:nvPr>
            <p:ph type="title"/>
          </p:nvPr>
        </p:nvSpPr>
        <p:spPr/>
        <p:txBody>
          <a:bodyPr/>
          <a:lstStyle/>
          <a:p>
            <a:r>
              <a:rPr lang="en-US" dirty="0"/>
              <a:t>Conditional Execution Examples</a:t>
            </a:r>
          </a:p>
        </p:txBody>
      </p:sp>
      <p:sp>
        <p:nvSpPr>
          <p:cNvPr id="3" name="Slide Number Placeholder 2">
            <a:extLst>
              <a:ext uri="{FF2B5EF4-FFF2-40B4-BE49-F238E27FC236}">
                <a16:creationId xmlns:a16="http://schemas.microsoft.com/office/drawing/2014/main" id="{E5A13768-EB3E-CE96-F337-4962B888126E}"/>
              </a:ext>
            </a:extLst>
          </p:cNvPr>
          <p:cNvSpPr>
            <a:spLocks noGrp="1"/>
          </p:cNvSpPr>
          <p:nvPr>
            <p:ph type="sldNum" sz="quarter" idx="12"/>
          </p:nvPr>
        </p:nvSpPr>
        <p:spPr/>
        <p:txBody>
          <a:bodyPr/>
          <a:lstStyle/>
          <a:p>
            <a:fld id="{EA7C8D44-3667-46F6-9772-CC52308E2A7F}" type="slidenum">
              <a:rPr kumimoji="0" lang="en-US" smtClean="0"/>
              <a:pPr/>
              <a:t>32</a:t>
            </a:fld>
            <a:endParaRPr kumimoji="0" lang="en-US" dirty="0"/>
          </a:p>
        </p:txBody>
      </p:sp>
      <p:graphicFrame>
        <p:nvGraphicFramePr>
          <p:cNvPr id="5" name="Table 4">
            <a:extLst>
              <a:ext uri="{FF2B5EF4-FFF2-40B4-BE49-F238E27FC236}">
                <a16:creationId xmlns:a16="http://schemas.microsoft.com/office/drawing/2014/main" id="{36D3B1D8-F1BE-7C4B-D0AC-4EDEA5327C9E}"/>
              </a:ext>
            </a:extLst>
          </p:cNvPr>
          <p:cNvGraphicFramePr>
            <a:graphicFrameLocks noGrp="1"/>
          </p:cNvGraphicFramePr>
          <p:nvPr>
            <p:extLst>
              <p:ext uri="{D42A27DB-BD31-4B8C-83A1-F6EECF244321}">
                <p14:modId xmlns:p14="http://schemas.microsoft.com/office/powerpoint/2010/main" val="1290932328"/>
              </p:ext>
            </p:extLst>
          </p:nvPr>
        </p:nvGraphicFramePr>
        <p:xfrm>
          <a:off x="816864" y="1311924"/>
          <a:ext cx="10765536" cy="4047576"/>
        </p:xfrm>
        <a:graphic>
          <a:graphicData uri="http://schemas.openxmlformats.org/drawingml/2006/table">
            <a:tbl>
              <a:tblPr firstRow="1" firstCol="1" bandRow="1">
                <a:tableStyleId>{5940675A-B579-460E-94D1-54222C63F5DA}</a:tableStyleId>
              </a:tblPr>
              <a:tblGrid>
                <a:gridCol w="3729567">
                  <a:extLst>
                    <a:ext uri="{9D8B030D-6E8A-4147-A177-3AD203B41FA5}">
                      <a16:colId xmlns:a16="http://schemas.microsoft.com/office/drawing/2014/main" val="20000"/>
                    </a:ext>
                  </a:extLst>
                </a:gridCol>
                <a:gridCol w="7035969">
                  <a:extLst>
                    <a:ext uri="{9D8B030D-6E8A-4147-A177-3AD203B41FA5}">
                      <a16:colId xmlns:a16="http://schemas.microsoft.com/office/drawing/2014/main" val="20001"/>
                    </a:ext>
                  </a:extLst>
                </a:gridCol>
              </a:tblGrid>
              <a:tr h="243024">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0" dirty="0">
                          <a:solidFill>
                            <a:schemeClr val="bg1"/>
                          </a:solidFill>
                          <a:effectLst/>
                          <a:latin typeface="Consolas" panose="020B0609020204030204" pitchFamily="49" charset="0"/>
                          <a:cs typeface="Consolas" panose="020B0609020204030204" pitchFamily="49" charset="0"/>
                        </a:rPr>
                        <a:t>Assembly Program</a:t>
                      </a:r>
                      <a:endParaRPr lang="en-US" sz="1600" b="0"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2151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chemeClr val="bg1">
                              <a:lumMod val="65000"/>
                            </a:schemeClr>
                          </a:solidFill>
                          <a:effectLst/>
                          <a:latin typeface="Consolas" panose="020B0609020204030204" pitchFamily="49" charset="0"/>
                          <a:cs typeface="Consolas" panose="020B0609020204030204" pitchFamily="49" charset="0"/>
                        </a:rPr>
                        <a:t>//y is a signed integer</a:t>
                      </a:r>
                    </a:p>
                    <a:p>
                      <a:r>
                        <a:rPr lang="en-US" sz="1600" dirty="0">
                          <a:latin typeface="Consolas" panose="020B0609020204030204" pitchFamily="49" charset="0"/>
                          <a:cs typeface="Consolas" panose="020B0609020204030204" pitchFamily="49" charset="0"/>
                        </a:rPr>
                        <a:t>if (a &lt;= 0)  </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kumimoji="0" lang="en-US" sz="1600" kern="1200" dirty="0">
                          <a:solidFill>
                            <a:schemeClr val="bg1">
                              <a:lumMod val="65000"/>
                            </a:schemeClr>
                          </a:solidFill>
                          <a:latin typeface="Consolas" panose="020B0609020204030204" pitchFamily="49" charset="0"/>
                          <a:ea typeface="+mn-ea"/>
                          <a:cs typeface="Consolas" panose="020B0609020204030204" pitchFamily="49" charset="0"/>
                        </a:rPr>
                        <a:t>% r0 = a, r1 = y</a:t>
                      </a:r>
                    </a:p>
                    <a:p>
                      <a:r>
                        <a:rPr lang="en-US" sz="1600" dirty="0">
                          <a:latin typeface="Consolas" panose="020B0609020204030204" pitchFamily="49" charset="0"/>
                          <a:cs typeface="Consolas" panose="020B0609020204030204" pitchFamily="49" charset="0"/>
                        </a:rPr>
                        <a:t>CMP   r0, #0</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LE</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LE</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GT</a:t>
                      </a:r>
                      <a:r>
                        <a:rPr lang="en-US" sz="1600" dirty="0">
                          <a:latin typeface="Consolas" panose="020B0609020204030204" pitchFamily="49" charset="0"/>
                          <a:cs typeface="Consolas" panose="020B0609020204030204" pitchFamily="49" charset="0"/>
                        </a:rPr>
                        <a:t> r1, #1  </a:t>
                      </a:r>
                      <a:r>
                        <a:rPr lang="en-US" sz="1600" dirty="0">
                          <a:solidFill>
                            <a:schemeClr val="bg1">
                              <a:lumMod val="65000"/>
                            </a:schemeClr>
                          </a:solidFill>
                          <a:latin typeface="Consolas" panose="020B0609020204030204" pitchFamily="49" charset="0"/>
                          <a:cs typeface="Consolas" panose="020B0609020204030204" pitchFamily="49" charset="0"/>
                        </a:rPr>
                        <a:t>; executed if GT</a:t>
                      </a:r>
                    </a:p>
                  </a:txBody>
                  <a:tcPr marL="68580" marR="68580" marT="0" marB="0"/>
                </a:tc>
                <a:extLst>
                  <a:ext uri="{0D108BD9-81ED-4DB2-BD59-A6C34878D82A}">
                    <a16:rowId xmlns:a16="http://schemas.microsoft.com/office/drawing/2014/main" val="10001"/>
                  </a:ext>
                </a:extLst>
              </a:tr>
              <a:tr h="1215120">
                <a:tc>
                  <a:txBody>
                    <a:bodyPr/>
                    <a:lstStyle/>
                    <a:p>
                      <a:r>
                        <a:rPr lang="en-US" sz="1600" dirty="0">
                          <a:latin typeface="Consolas" panose="020B0609020204030204" pitchFamily="49" charset="0"/>
                          <a:cs typeface="Consolas" panose="020B0609020204030204" pitchFamily="49" charset="0"/>
                        </a:rPr>
                        <a:t>if (a==1 || a==7 || a==11)</a:t>
                      </a:r>
                    </a:p>
                    <a:p>
                      <a:r>
                        <a:rPr lang="en-US" sz="1600" dirty="0">
                          <a:latin typeface="Consolas" panose="020B0609020204030204" pitchFamily="49" charset="0"/>
                          <a:cs typeface="Consolas" panose="020B0609020204030204" pitchFamily="49" charset="0"/>
                        </a:rPr>
                        <a:t>   y = 1;</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y = -1;</a:t>
                      </a:r>
                    </a:p>
                    <a:p>
                      <a:pPr marL="0" marR="0" algn="just">
                        <a:spcBef>
                          <a:spcPts val="0"/>
                        </a:spcBef>
                        <a:spcAft>
                          <a:spcPts val="0"/>
                        </a:spcAft>
                      </a:pP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CMP   r0,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#7  </a:t>
                      </a:r>
                      <a:r>
                        <a:rPr lang="en-US" sz="1600" dirty="0">
                          <a:solidFill>
                            <a:schemeClr val="bg1">
                              <a:lumMod val="50000"/>
                            </a:schemeClr>
                          </a:solidFill>
                          <a:latin typeface="Consolas" panose="020B0609020204030204" pitchFamily="49" charset="0"/>
                          <a:cs typeface="Consolas" panose="020B0609020204030204" pitchFamily="49" charset="0"/>
                        </a:rPr>
                        <a:t>; executed if r0 != 1</a:t>
                      </a:r>
                    </a:p>
                    <a:p>
                      <a:r>
                        <a:rPr lang="en-US" sz="1600" dirty="0">
                          <a:latin typeface="Consolas" panose="020B0609020204030204" pitchFamily="49" charset="0"/>
                          <a:cs typeface="Consolas" panose="020B0609020204030204" pitchFamily="49" charset="0"/>
                        </a:rPr>
                        <a:t>CMP</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r0, #11 </a:t>
                      </a:r>
                      <a:r>
                        <a:rPr lang="en-US" sz="1600" dirty="0">
                          <a:solidFill>
                            <a:schemeClr val="bg1">
                              <a:lumMod val="50000"/>
                            </a:schemeClr>
                          </a:solidFill>
                          <a:latin typeface="Consolas" panose="020B0609020204030204" pitchFamily="49" charset="0"/>
                          <a:cs typeface="Consolas" panose="020B0609020204030204" pitchFamily="49" charset="0"/>
                        </a:rPr>
                        <a:t>; executed if r0 != 7</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EQ</a:t>
                      </a:r>
                      <a:r>
                        <a:rPr lang="en-US" sz="1600" dirty="0">
                          <a:latin typeface="Consolas" panose="020B0609020204030204" pitchFamily="49" charset="0"/>
                          <a:cs typeface="Consolas" panose="020B0609020204030204" pitchFamily="49" charset="0"/>
                        </a:rPr>
                        <a:t> r1, #1  </a:t>
                      </a:r>
                    </a:p>
                    <a:p>
                      <a:r>
                        <a:rPr lang="en-US" sz="160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NE</a:t>
                      </a:r>
                      <a:r>
                        <a:rPr lang="en-US" sz="1600" dirty="0">
                          <a:latin typeface="Consolas" panose="020B0609020204030204" pitchFamily="49" charset="0"/>
                          <a:cs typeface="Consolas" panose="020B0609020204030204" pitchFamily="49" charset="0"/>
                        </a:rPr>
                        <a:t> r1, #-1</a:t>
                      </a:r>
                      <a:endParaRPr lang="en-US" sz="1600" b="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3790576033"/>
                  </a:ext>
                </a:extLst>
              </a:tr>
              <a:tr h="1365336">
                <a:tc>
                  <a:txBody>
                    <a:bodyPr/>
                    <a:lstStyle/>
                    <a:p>
                      <a:pPr marL="0" marR="0" algn="just">
                        <a:spcBef>
                          <a:spcPts val="0"/>
                        </a:spcBef>
                        <a:spcAft>
                          <a:spcPts val="0"/>
                        </a:spcAft>
                      </a:pPr>
                      <a:r>
                        <a:rPr lang="en-US" sz="1600" dirty="0">
                          <a:solidFill>
                            <a:schemeClr val="bg1">
                              <a:lumMod val="65000"/>
                            </a:schemeClr>
                          </a:solidFill>
                          <a:effectLst/>
                          <a:latin typeface="Consolas" panose="020B0609020204030204" pitchFamily="49" charset="0"/>
                          <a:cs typeface="Consolas" panose="020B0609020204030204" pitchFamily="49" charset="0"/>
                        </a:rPr>
                        <a:t>// x is a signed integer</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if(x &lt;= 20 || x &gt;= 25){</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   a = 1;</a:t>
                      </a:r>
                    </a:p>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l">
                        <a:spcBef>
                          <a:spcPts val="0"/>
                        </a:spcBef>
                        <a:spcAft>
                          <a:spcPts val="0"/>
                        </a:spcAft>
                      </a:pPr>
                      <a:r>
                        <a:rPr lang="en-US" sz="1600" b="0" dirty="0">
                          <a:solidFill>
                            <a:schemeClr val="bg1">
                              <a:lumMod val="65000"/>
                            </a:schemeClr>
                          </a:solidFill>
                          <a:effectLst/>
                          <a:latin typeface="Consolas" panose="020B0609020204030204" pitchFamily="49" charset="0"/>
                          <a:cs typeface="Consolas" panose="020B0609020204030204" pitchFamily="49" charset="0"/>
                        </a:rPr>
                        <a:t>; r0 = x, r1 = a</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#20  </a:t>
                      </a:r>
                      <a:r>
                        <a:rPr lang="en-US" sz="1600" b="0" dirty="0">
                          <a:solidFill>
                            <a:schemeClr val="bg1">
                              <a:lumMod val="65000"/>
                            </a:schemeClr>
                          </a:solidFill>
                          <a:effectLst/>
                          <a:latin typeface="Consolas" panose="020B0609020204030204" pitchFamily="49" charset="0"/>
                          <a:cs typeface="Consolas" panose="020B0609020204030204" pitchFamily="49" charset="0"/>
                        </a:rPr>
                        <a:t>; compare x and 20</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LE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less or equal</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CMP   r0, #25  </a:t>
                      </a:r>
                      <a:r>
                        <a:rPr lang="en-US" sz="1600" b="0" dirty="0">
                          <a:solidFill>
                            <a:schemeClr val="bg1">
                              <a:lumMod val="65000"/>
                            </a:schemeClr>
                          </a:solidFill>
                          <a:effectLst/>
                          <a:latin typeface="Consolas" panose="020B0609020204030204" pitchFamily="49" charset="0"/>
                          <a:cs typeface="Consolas" panose="020B0609020204030204" pitchFamily="49" charset="0"/>
                        </a:rPr>
                        <a:t>; CMP if greater than</a:t>
                      </a:r>
                    </a:p>
                    <a:p>
                      <a:pPr marL="0" marR="0" algn="l">
                        <a:spcBef>
                          <a:spcPts val="0"/>
                        </a:spcBef>
                        <a:spcAft>
                          <a:spcPts val="0"/>
                        </a:spcAft>
                      </a:pPr>
                      <a:r>
                        <a:rPr lang="en-US" sz="1600" b="0" dirty="0">
                          <a:effectLst/>
                          <a:latin typeface="Consolas" panose="020B0609020204030204" pitchFamily="49" charset="0"/>
                          <a:cs typeface="Consolas" panose="020B0609020204030204" pitchFamily="49" charset="0"/>
                        </a:rPr>
                        <a:t>MOV</a:t>
                      </a:r>
                      <a:r>
                        <a:rPr lang="en-US" sz="1600" b="1" dirty="0">
                          <a:solidFill>
                            <a:srgbClr val="FF0000"/>
                          </a:solidFill>
                          <a:effectLst/>
                          <a:latin typeface="Consolas" panose="020B0609020204030204" pitchFamily="49" charset="0"/>
                          <a:cs typeface="Consolas" panose="020B0609020204030204" pitchFamily="49" charset="0"/>
                        </a:rPr>
                        <a:t>GE</a:t>
                      </a:r>
                      <a:r>
                        <a:rPr lang="en-US" sz="1600" b="0" dirty="0">
                          <a:effectLst/>
                          <a:latin typeface="Consolas" panose="020B0609020204030204" pitchFamily="49" charset="0"/>
                          <a:cs typeface="Consolas" panose="020B0609020204030204" pitchFamily="49" charset="0"/>
                        </a:rPr>
                        <a:t> r1, #1   </a:t>
                      </a:r>
                      <a:r>
                        <a:rPr lang="en-US" sz="1600" b="0" dirty="0">
                          <a:solidFill>
                            <a:schemeClr val="bg1">
                              <a:lumMod val="65000"/>
                            </a:schemeClr>
                          </a:solidFill>
                          <a:effectLst/>
                          <a:latin typeface="Consolas" panose="020B0609020204030204" pitchFamily="49" charset="0"/>
                          <a:cs typeface="Consolas" panose="020B0609020204030204" pitchFamily="49" charset="0"/>
                        </a:rPr>
                        <a:t>; a=1 if greater or equal</a:t>
                      </a:r>
                    </a:p>
                  </a:txBody>
                  <a:tcPr marL="68580" marR="68580" marT="0" marB="0"/>
                </a:tc>
                <a:extLst>
                  <a:ext uri="{0D108BD9-81ED-4DB2-BD59-A6C34878D82A}">
                    <a16:rowId xmlns:a16="http://schemas.microsoft.com/office/drawing/2014/main" val="4276130"/>
                  </a:ext>
                </a:extLst>
              </a:tr>
            </a:tbl>
          </a:graphicData>
        </a:graphic>
      </p:graphicFrame>
      <p:sp>
        <p:nvSpPr>
          <p:cNvPr id="6" name="TextBox 5">
            <a:extLst>
              <a:ext uri="{FF2B5EF4-FFF2-40B4-BE49-F238E27FC236}">
                <a16:creationId xmlns:a16="http://schemas.microsoft.com/office/drawing/2014/main" id="{1AA5C05D-7D53-25EE-9C42-8BF9E5E46050}"/>
              </a:ext>
            </a:extLst>
          </p:cNvPr>
          <p:cNvSpPr txBox="1"/>
          <p:nvPr/>
        </p:nvSpPr>
        <p:spPr>
          <a:xfrm>
            <a:off x="3233260" y="5710020"/>
            <a:ext cx="3065263" cy="646331"/>
          </a:xfrm>
          <a:prstGeom prst="rect">
            <a:avLst/>
          </a:prstGeom>
          <a:noFill/>
        </p:spPr>
        <p:txBody>
          <a:bodyPr wrap="none" rtlCol="0">
            <a:spAutoFit/>
          </a:bodyPr>
          <a:lstStyle/>
          <a:p>
            <a:r>
              <a:rPr lang="en-US" b="1" dirty="0">
                <a:solidFill>
                  <a:srgbClr val="FF0000"/>
                </a:solidFill>
                <a:latin typeface="Consolas" panose="020B0609020204030204" pitchFamily="49" charset="0"/>
                <a:cs typeface="Consolas" panose="020B0609020204030204" pitchFamily="49" charset="0"/>
              </a:rPr>
              <a:t>LE</a:t>
            </a:r>
            <a:r>
              <a:rPr lang="en-US" dirty="0">
                <a:latin typeface="Consolas" panose="020B0609020204030204" pitchFamily="49" charset="0"/>
                <a:cs typeface="Consolas" panose="020B0609020204030204" pitchFamily="49" charset="0"/>
              </a:rPr>
              <a:t>: </a:t>
            </a:r>
            <a:r>
              <a:rPr lang="en-US" dirty="0"/>
              <a:t>Signed Less than or Equal</a:t>
            </a:r>
          </a:p>
          <a:p>
            <a:r>
              <a:rPr lang="en-US" b="1" dirty="0">
                <a:solidFill>
                  <a:srgbClr val="FF0000"/>
                </a:solidFill>
                <a:latin typeface="Consolas" panose="020B0609020204030204" pitchFamily="49" charset="0"/>
                <a:cs typeface="Consolas" panose="020B0609020204030204" pitchFamily="49" charset="0"/>
              </a:rPr>
              <a:t>GT</a:t>
            </a:r>
            <a:r>
              <a:rPr lang="en-US" dirty="0">
                <a:latin typeface="Consolas" panose="020B0609020204030204" pitchFamily="49" charset="0"/>
                <a:cs typeface="Consolas" panose="020B0609020204030204" pitchFamily="49" charset="0"/>
              </a:rPr>
              <a:t>: </a:t>
            </a:r>
            <a:r>
              <a:rPr lang="en-US" dirty="0"/>
              <a:t>Signed Greater Than</a:t>
            </a:r>
          </a:p>
        </p:txBody>
      </p:sp>
      <p:sp>
        <p:nvSpPr>
          <p:cNvPr id="7" name="TextBox 6">
            <a:extLst>
              <a:ext uri="{FF2B5EF4-FFF2-40B4-BE49-F238E27FC236}">
                <a16:creationId xmlns:a16="http://schemas.microsoft.com/office/drawing/2014/main" id="{FFE81B0B-1A4B-FC5A-8958-6FFC88C75779}"/>
              </a:ext>
            </a:extLst>
          </p:cNvPr>
          <p:cNvSpPr txBox="1"/>
          <p:nvPr/>
        </p:nvSpPr>
        <p:spPr>
          <a:xfrm>
            <a:off x="6477000" y="5710019"/>
            <a:ext cx="1514517" cy="646331"/>
          </a:xfrm>
          <a:prstGeom prst="rect">
            <a:avLst/>
          </a:prstGeom>
          <a:noFill/>
        </p:spPr>
        <p:txBody>
          <a:bodyPr wrap="none" rtlCol="0">
            <a:spAutoFit/>
          </a:bodyPr>
          <a:lstStyle/>
          <a:p>
            <a:r>
              <a:rPr lang="en-US" dirty="0">
                <a:solidFill>
                  <a:srgbClr val="FF0000"/>
                </a:solidFill>
                <a:latin typeface="Consolas" panose="020B0609020204030204" pitchFamily="49" charset="0"/>
              </a:rPr>
              <a:t>NE</a:t>
            </a:r>
            <a:r>
              <a:rPr lang="en-US" dirty="0"/>
              <a:t>: Not Equal</a:t>
            </a:r>
          </a:p>
          <a:p>
            <a:r>
              <a:rPr lang="en-US" dirty="0" err="1">
                <a:solidFill>
                  <a:srgbClr val="FF0000"/>
                </a:solidFill>
                <a:latin typeface="Consolas" panose="020B0609020204030204" pitchFamily="49" charset="0"/>
              </a:rPr>
              <a:t>EQ</a:t>
            </a:r>
            <a:r>
              <a:rPr lang="en-US" dirty="0"/>
              <a:t>: Equal</a:t>
            </a:r>
          </a:p>
        </p:txBody>
      </p:sp>
    </p:spTree>
    <p:extLst>
      <p:ext uri="{BB962C8B-B14F-4D97-AF65-F5344CB8AC3E}">
        <p14:creationId xmlns:p14="http://schemas.microsoft.com/office/powerpoint/2010/main" val="23082057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EF74B-F835-6B09-4B91-23075FA91516}"/>
              </a:ext>
            </a:extLst>
          </p:cNvPr>
          <p:cNvSpPr>
            <a:spLocks noGrp="1"/>
          </p:cNvSpPr>
          <p:nvPr>
            <p:ph type="title"/>
          </p:nvPr>
        </p:nvSpPr>
        <p:spPr/>
        <p:txBody>
          <a:bodyPr>
            <a:normAutofit/>
          </a:bodyPr>
          <a:lstStyle/>
          <a:p>
            <a:r>
              <a:rPr lang="en-US" dirty="0"/>
              <a:t>Explanations for Compound Boolean Expression</a:t>
            </a:r>
          </a:p>
        </p:txBody>
      </p:sp>
      <p:sp>
        <p:nvSpPr>
          <p:cNvPr id="3" name="Slide Number Placeholder 2">
            <a:extLst>
              <a:ext uri="{FF2B5EF4-FFF2-40B4-BE49-F238E27FC236}">
                <a16:creationId xmlns:a16="http://schemas.microsoft.com/office/drawing/2014/main" id="{3EB478E7-A271-8C0D-4DEE-22250FEFF600}"/>
              </a:ext>
            </a:extLst>
          </p:cNvPr>
          <p:cNvSpPr>
            <a:spLocks noGrp="1"/>
          </p:cNvSpPr>
          <p:nvPr>
            <p:ph type="sldNum" sz="quarter" idx="12"/>
          </p:nvPr>
        </p:nvSpPr>
        <p:spPr/>
        <p:txBody>
          <a:bodyPr/>
          <a:lstStyle/>
          <a:p>
            <a:fld id="{EA7C8D44-3667-46F6-9772-CC52308E2A7F}" type="slidenum">
              <a:rPr kumimoji="0" lang="en-US" smtClean="0"/>
              <a:pPr/>
              <a:t>33</a:t>
            </a:fld>
            <a:endParaRPr kumimoji="0" lang="en-US" dirty="0"/>
          </a:p>
        </p:txBody>
      </p:sp>
      <p:sp>
        <p:nvSpPr>
          <p:cNvPr id="4" name="Content Placeholder 3">
            <a:extLst>
              <a:ext uri="{FF2B5EF4-FFF2-40B4-BE49-F238E27FC236}">
                <a16:creationId xmlns:a16="http://schemas.microsoft.com/office/drawing/2014/main" id="{52A8D265-BD59-8C4E-12B1-03AC7ABB6312}"/>
              </a:ext>
            </a:extLst>
          </p:cNvPr>
          <p:cNvSpPr>
            <a:spLocks noGrp="1"/>
          </p:cNvSpPr>
          <p:nvPr>
            <p:ph sz="quarter" idx="1"/>
          </p:nvPr>
        </p:nvSpPr>
        <p:spPr/>
        <p:txBody>
          <a:bodyPr>
            <a:normAutofit fontScale="85000" lnSpcReduction="20000"/>
          </a:bodyPr>
          <a:lstStyle/>
          <a:p>
            <a:r>
              <a:rPr lang="en-US" sz="2800" dirty="0">
                <a:latin typeface="Consolas" panose="020B0609020204030204" pitchFamily="49" charset="0"/>
                <a:cs typeface="Consolas" panose="020B0609020204030204" pitchFamily="49" charset="0"/>
              </a:rPr>
              <a:t>Explanations for compound condition</a:t>
            </a:r>
          </a:p>
          <a:p>
            <a:pPr lvl="1"/>
            <a:r>
              <a:rPr lang="en-US" sz="2500" dirty="0">
                <a:latin typeface="Consolas" panose="020B0609020204030204" pitchFamily="49" charset="0"/>
                <a:cs typeface="Consolas" panose="020B0609020204030204" pitchFamily="49" charset="0"/>
              </a:rPr>
              <a:t>CMP   r0,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#7  </a:t>
            </a:r>
            <a:r>
              <a:rPr lang="en-US" sz="2500" dirty="0">
                <a:solidFill>
                  <a:schemeClr val="bg1">
                    <a:lumMod val="50000"/>
                  </a:schemeClr>
                </a:solidFill>
                <a:latin typeface="Consolas" panose="020B0609020204030204" pitchFamily="49" charset="0"/>
                <a:cs typeface="Consolas" panose="020B0609020204030204" pitchFamily="49" charset="0"/>
              </a:rPr>
              <a:t>; executed if r0 != 1</a:t>
            </a:r>
          </a:p>
          <a:p>
            <a:pPr lvl="1"/>
            <a:r>
              <a:rPr lang="en-US" sz="2500" dirty="0">
                <a:latin typeface="Consolas" panose="020B0609020204030204" pitchFamily="49" charset="0"/>
                <a:cs typeface="Consolas" panose="020B0609020204030204" pitchFamily="49" charset="0"/>
              </a:rPr>
              <a:t>CMP</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r0, #11 </a:t>
            </a:r>
            <a:r>
              <a:rPr lang="en-US" sz="2500" dirty="0">
                <a:solidFill>
                  <a:schemeClr val="bg1">
                    <a:lumMod val="50000"/>
                  </a:schemeClr>
                </a:solidFill>
                <a:latin typeface="Consolas" panose="020B0609020204030204" pitchFamily="49" charset="0"/>
                <a:cs typeface="Consolas" panose="020B0609020204030204" pitchFamily="49" charset="0"/>
              </a:rPr>
              <a:t>; executed if r0 != 7</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EQ</a:t>
            </a:r>
            <a:r>
              <a:rPr lang="en-US" sz="2500" dirty="0">
                <a:latin typeface="Consolas" panose="020B0609020204030204" pitchFamily="49" charset="0"/>
                <a:cs typeface="Consolas" panose="020B0609020204030204" pitchFamily="49" charset="0"/>
              </a:rPr>
              <a:t> r1, #1  </a:t>
            </a:r>
          </a:p>
          <a:p>
            <a:pPr lvl="1"/>
            <a:r>
              <a:rPr lang="en-US" sz="2500" dirty="0">
                <a:latin typeface="Consolas" panose="020B0609020204030204" pitchFamily="49" charset="0"/>
                <a:cs typeface="Consolas" panose="020B0609020204030204" pitchFamily="49" charset="0"/>
              </a:rPr>
              <a:t>MOV</a:t>
            </a:r>
            <a:r>
              <a:rPr lang="en-US" sz="2500" b="1" dirty="0">
                <a:solidFill>
                  <a:srgbClr val="FF0000"/>
                </a:solidFill>
                <a:latin typeface="Consolas" panose="020B0609020204030204" pitchFamily="49" charset="0"/>
                <a:cs typeface="Consolas" panose="020B0609020204030204" pitchFamily="49" charset="0"/>
              </a:rPr>
              <a:t>NE</a:t>
            </a:r>
            <a:r>
              <a:rPr lang="en-US" sz="2500" dirty="0">
                <a:latin typeface="Consolas" panose="020B0609020204030204" pitchFamily="49" charset="0"/>
                <a:cs typeface="Consolas" panose="020B0609020204030204" pitchFamily="49" charset="0"/>
              </a:rPr>
              <a:t> r1, #-1</a:t>
            </a:r>
            <a:endParaRPr lang="en-US" sz="2500" dirty="0">
              <a:latin typeface="Consolas" panose="020B0609020204030204" pitchFamily="49" charset="0"/>
              <a:ea typeface="宋体"/>
              <a:cs typeface="Consolas" panose="020B0609020204030204" pitchFamily="49" charset="0"/>
            </a:endParaRPr>
          </a:p>
          <a:p>
            <a:r>
              <a:rPr lang="en-US" dirty="0"/>
              <a:t>CMP r0, #1 compares a with 1 and sets Z=1 if equal, else Z=0.</a:t>
            </a:r>
          </a:p>
          <a:p>
            <a:r>
              <a:rPr lang="en-US" dirty="0"/>
              <a:t>CMPNE r0, #7 runs only if the previous compare was not equal, and if it runs, it refreshes the flags by comparing a with 7.</a:t>
            </a:r>
          </a:p>
          <a:p>
            <a:r>
              <a:rPr lang="en-US" dirty="0"/>
              <a:t>CMPNE r0, #11 runs only if a was not 1 and not 7, and if it runs, it compares a with 11 to set Z accordingly.</a:t>
            </a:r>
          </a:p>
          <a:p>
            <a:r>
              <a:rPr lang="en-US" dirty="0"/>
              <a:t>MOVEQ r1, #1 executes only when Z=1 from any of the comparisons, so y becomes 1 if a matched 1, 7, or 11.</a:t>
            </a:r>
          </a:p>
          <a:p>
            <a:r>
              <a:rPr lang="en-US" dirty="0"/>
              <a:t>MOVNE r1, #-1 executes only when Z=0 after all relevant compares, so y becomes -1 when none of the values matched. </a:t>
            </a:r>
          </a:p>
          <a:p>
            <a:endParaRPr lang="en-US" dirty="0"/>
          </a:p>
        </p:txBody>
      </p:sp>
    </p:spTree>
    <p:extLst>
      <p:ext uri="{BB962C8B-B14F-4D97-AF65-F5344CB8AC3E}">
        <p14:creationId xmlns:p14="http://schemas.microsoft.com/office/powerpoint/2010/main" val="32771992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Branching vs. Conditional Execution</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34</a:t>
            </a:fld>
            <a:endParaRPr kumimoji="0" lang="en-US" dirty="0"/>
          </a:p>
        </p:txBody>
      </p:sp>
      <p:sp>
        <p:nvSpPr>
          <p:cNvPr id="4" name="内容占位符 2">
            <a:extLst>
              <a:ext uri="{FF2B5EF4-FFF2-40B4-BE49-F238E27FC236}">
                <a16:creationId xmlns:a16="http://schemas.microsoft.com/office/drawing/2014/main" id="{3F602F0E-B127-6CB2-8064-C83E858D3911}"/>
              </a:ext>
            </a:extLst>
          </p:cNvPr>
          <p:cNvSpPr txBox="1">
            <a:spLocks/>
          </p:cNvSpPr>
          <p:nvPr/>
        </p:nvSpPr>
        <p:spPr bwMode="auto">
          <a:xfrm>
            <a:off x="2137664" y="4200739"/>
            <a:ext cx="7602166" cy="1437802"/>
          </a:xfrm>
          <a:prstGeom prst="rect">
            <a:avLst/>
          </a:prstGeom>
          <a:solidFill>
            <a:schemeClr val="bg1">
              <a:lumMod val="85000"/>
            </a:schemeClr>
          </a:solid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style>
          <a:lnRef idx="1">
            <a:schemeClr val="dk1"/>
          </a:lnRef>
          <a:fillRef idx="2">
            <a:schemeClr val="dk1"/>
          </a:fillRef>
          <a:effectRef idx="1">
            <a:schemeClr val="dk1"/>
          </a:effectRef>
          <a:fontRef idx="minor">
            <a:schemeClr val="dk1"/>
          </a:fontRef>
        </p:style>
        <p:txBody>
          <a:bodyPr vert="horz" wrap="square" lIns="90478" tIns="44445" rIns="90478" bIns="44445" numCol="1" anchor="t" anchorCtr="0" compatLnSpc="1">
            <a:prstTxWarp prst="textNoShape">
              <a:avLst/>
            </a:prstTxWarp>
          </a:bodyPr>
          <a:lstStyle>
            <a:lvl1pPr marL="285750" indent="-285750" algn="l" rtl="0" eaLnBrk="0" fontAlgn="base" hangingPunct="0">
              <a:lnSpc>
                <a:spcPct val="90000"/>
              </a:lnSpc>
              <a:spcBef>
                <a:spcPct val="30000"/>
              </a:spcBef>
              <a:spcAft>
                <a:spcPct val="0"/>
              </a:spcAft>
              <a:buSzPct val="100000"/>
              <a:buChar char="•"/>
              <a:defRPr sz="24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2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0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pPr marL="0" indent="0">
              <a:buNone/>
            </a:pPr>
            <a:r>
              <a:rPr lang="en-US" sz="1800" b="0" kern="0" dirty="0"/>
              <a:t>BPL </a:t>
            </a:r>
            <a:r>
              <a:rPr lang="en-US" sz="1800" b="0" kern="0" dirty="0" err="1"/>
              <a:t>PosOrZ</a:t>
            </a:r>
            <a:r>
              <a:rPr lang="en-US" sz="1800" b="0" kern="0" dirty="0"/>
              <a:t>: Branch </a:t>
            </a:r>
            <a:r>
              <a:rPr lang="en-US" sz="1800" kern="0" dirty="0"/>
              <a:t>to </a:t>
            </a:r>
            <a:r>
              <a:rPr lang="en-US" sz="1800" kern="0" dirty="0" err="1"/>
              <a:t>PosOrZ</a:t>
            </a:r>
            <a:r>
              <a:rPr lang="en-US" sz="1800" kern="0" dirty="0"/>
              <a:t> </a:t>
            </a:r>
            <a:r>
              <a:rPr lang="en-US" sz="1800" b="0" kern="0" dirty="0"/>
              <a:t>if condition PL is true (N == 0 indicating Positive or Zero) for ADDS r0, r0, r1</a:t>
            </a:r>
          </a:p>
          <a:p>
            <a:pPr marL="0" indent="0">
              <a:buNone/>
            </a:pPr>
            <a:r>
              <a:rPr lang="en-US" sz="1800" b="0" kern="0" dirty="0"/>
              <a:t>MOVPL r0, #1: conditional move that executes </a:t>
            </a:r>
            <a:r>
              <a:rPr lang="en-US" sz="1800" kern="0" dirty="0"/>
              <a:t>only when condition PL is true</a:t>
            </a:r>
          </a:p>
          <a:p>
            <a:pPr marL="0" indent="0">
              <a:buNone/>
            </a:pPr>
            <a:r>
              <a:rPr lang="en-US" sz="1800" kern="0" dirty="0"/>
              <a:t>MOVMI r0, #0: conditional move that executes only when condition MI (N == 1 indicating Negative) is true</a:t>
            </a:r>
            <a:endParaRPr lang="en-US" sz="1800" b="0" kern="0" dirty="0"/>
          </a:p>
        </p:txBody>
      </p:sp>
      <p:graphicFrame>
        <p:nvGraphicFramePr>
          <p:cNvPr id="8" name="Table 7">
            <a:extLst>
              <a:ext uri="{FF2B5EF4-FFF2-40B4-BE49-F238E27FC236}">
                <a16:creationId xmlns:a16="http://schemas.microsoft.com/office/drawing/2014/main" id="{98FE3E34-A027-7F17-4DDF-8969E43EBD67}"/>
              </a:ext>
            </a:extLst>
          </p:cNvPr>
          <p:cNvGraphicFramePr>
            <a:graphicFrameLocks noGrp="1"/>
          </p:cNvGraphicFramePr>
          <p:nvPr>
            <p:extLst>
              <p:ext uri="{D42A27DB-BD31-4B8C-83A1-F6EECF244321}">
                <p14:modId xmlns:p14="http://schemas.microsoft.com/office/powerpoint/2010/main" val="3668512032"/>
              </p:ext>
            </p:extLst>
          </p:nvPr>
        </p:nvGraphicFramePr>
        <p:xfrm>
          <a:off x="816864" y="1524000"/>
          <a:ext cx="10972800" cy="1774611"/>
        </p:xfrm>
        <a:graphic>
          <a:graphicData uri="http://schemas.openxmlformats.org/drawingml/2006/table">
            <a:tbl>
              <a:tblPr firstRow="1" firstCol="1" bandRow="1">
                <a:tableStyleId>{5940675A-B579-460E-94D1-54222C63F5DA}</a:tableStyleId>
              </a:tblPr>
              <a:tblGrid>
                <a:gridCol w="2298896">
                  <a:extLst>
                    <a:ext uri="{9D8B030D-6E8A-4147-A177-3AD203B41FA5}">
                      <a16:colId xmlns:a16="http://schemas.microsoft.com/office/drawing/2014/main" val="20000"/>
                    </a:ext>
                  </a:extLst>
                </a:gridCol>
                <a:gridCol w="2806504">
                  <a:extLst>
                    <a:ext uri="{9D8B030D-6E8A-4147-A177-3AD203B41FA5}">
                      <a16:colId xmlns:a16="http://schemas.microsoft.com/office/drawing/2014/main" val="20001"/>
                    </a:ext>
                  </a:extLst>
                </a:gridCol>
                <a:gridCol w="5867400">
                  <a:extLst>
                    <a:ext uri="{9D8B030D-6E8A-4147-A177-3AD203B41FA5}">
                      <a16:colId xmlns:a16="http://schemas.microsoft.com/office/drawing/2014/main" val="3183283504"/>
                    </a:ext>
                  </a:extLst>
                </a:gridCol>
              </a:tblGrid>
              <a:tr h="246502">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C Program§</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1</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Assembly Program 2</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1528109">
                <a:tc>
                  <a:txBody>
                    <a:bodyPr/>
                    <a:lstStyle/>
                    <a:p>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x in r0, y in r1</a:t>
                      </a:r>
                    </a:p>
                    <a:p>
                      <a:r>
                        <a:rPr lang="en-US" sz="1600" dirty="0">
                          <a:latin typeface="Consolas" panose="020B0609020204030204" pitchFamily="49" charset="0"/>
                          <a:cs typeface="Consolas" panose="020B0609020204030204" pitchFamily="49" charset="0"/>
                        </a:rPr>
                        <a:t>if ( x + y &lt; 0 )</a:t>
                      </a:r>
                    </a:p>
                    <a:p>
                      <a:r>
                        <a:rPr lang="en-US" sz="1600" dirty="0">
                          <a:latin typeface="Consolas" panose="020B0609020204030204" pitchFamily="49" charset="0"/>
                          <a:cs typeface="Consolas" panose="020B0609020204030204" pitchFamily="49" charset="0"/>
                        </a:rPr>
                        <a:t>  x = 0;</a:t>
                      </a:r>
                    </a:p>
                    <a:p>
                      <a:r>
                        <a:rPr lang="en-US" sz="1600" dirty="0">
                          <a:latin typeface="Consolas" panose="020B0609020204030204" pitchFamily="49" charset="0"/>
                          <a:cs typeface="Consolas" panose="020B0609020204030204" pitchFamily="49" charset="0"/>
                        </a:rPr>
                        <a:t>else</a:t>
                      </a:r>
                    </a:p>
                    <a:p>
                      <a:r>
                        <a:rPr lang="en-US" sz="1600" dirty="0">
                          <a:latin typeface="Consolas" panose="020B0609020204030204" pitchFamily="49" charset="0"/>
                          <a:cs typeface="Consolas" panose="020B0609020204030204" pitchFamily="49" charset="0"/>
                        </a:rPr>
                        <a:t>  x = 1;</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en-US" sz="1600" dirty="0">
                          <a:latin typeface="Consolas" panose="020B0609020204030204" pitchFamily="49" charset="0"/>
                          <a:cs typeface="Consolas" panose="020B0609020204030204" pitchFamily="49" charset="0"/>
                        </a:rPr>
                        <a:t>        ADD</a:t>
                      </a:r>
                      <a:r>
                        <a:rPr lang="en-US" sz="1600" b="1" dirty="0">
                          <a:solidFill>
                            <a:srgbClr val="FF0000"/>
                          </a:solidFill>
                          <a:latin typeface="Consolas" panose="020B0609020204030204" pitchFamily="49" charset="0"/>
                          <a:cs typeface="Consolas" panose="020B0609020204030204" pitchFamily="49" charset="0"/>
                        </a:rPr>
                        <a:t>S</a:t>
                      </a:r>
                      <a:r>
                        <a:rPr lang="en-US" sz="1600" dirty="0">
                          <a:solidFill>
                            <a:srgbClr val="FF0000"/>
                          </a:solidFill>
                          <a:latin typeface="Consolas" panose="020B0609020204030204" pitchFamily="49" charset="0"/>
                          <a:cs typeface="Consolas" panose="020B0609020204030204" pitchFamily="49" charset="0"/>
                        </a:rPr>
                        <a:t> </a:t>
                      </a:r>
                      <a:r>
                        <a:rPr lang="en-US" sz="1600" dirty="0">
                          <a:latin typeface="Consolas" panose="020B0609020204030204" pitchFamily="49" charset="0"/>
                          <a:cs typeface="Consolas" panose="020B0609020204030204" pitchFamily="49" charset="0"/>
                        </a:rPr>
                        <a:t>r0, r0, r1</a:t>
                      </a:r>
                    </a:p>
                    <a:p>
                      <a:r>
                        <a:rPr lang="en-US" sz="1600" dirty="0">
                          <a:latin typeface="Consolas" panose="020B0609020204030204" pitchFamily="49" charset="0"/>
                          <a:cs typeface="Consolas" panose="020B0609020204030204" pitchFamily="49" charset="0"/>
                        </a:rPr>
                        <a:t>        B</a:t>
                      </a:r>
                      <a:r>
                        <a:rPr lang="en-US" sz="1600" b="1" dirty="0">
                          <a:solidFill>
                            <a:srgbClr val="FF0000"/>
                          </a:solidFill>
                          <a:latin typeface="Consolas" panose="020B0609020204030204" pitchFamily="49" charset="0"/>
                          <a:cs typeface="Consolas" panose="020B0609020204030204" pitchFamily="49" charset="0"/>
                        </a:rPr>
                        <a:t>PL</a:t>
                      </a:r>
                      <a:r>
                        <a:rPr lang="en-US" sz="1600" dirty="0">
                          <a:solidFill>
                            <a:srgbClr val="FF0000"/>
                          </a:solidFill>
                          <a:latin typeface="Consolas" panose="020B0609020204030204" pitchFamily="49" charset="0"/>
                          <a:cs typeface="Consolas" panose="020B0609020204030204" pitchFamily="49" charset="0"/>
                        </a:rPr>
                        <a:t>  </a:t>
                      </a:r>
                      <a:r>
                        <a:rPr lang="en-US" sz="1600" dirty="0" err="1">
                          <a:latin typeface="Consolas" panose="020B0609020204030204" pitchFamily="49" charset="0"/>
                          <a:cs typeface="Consolas" panose="020B0609020204030204" pitchFamily="49" charset="0"/>
                        </a:rPr>
                        <a:t>PosOrZ</a:t>
                      </a:r>
                      <a:endParaRPr lang="en-US" sz="1600" dirty="0">
                        <a:latin typeface="Consolas" panose="020B0609020204030204" pitchFamily="49" charset="0"/>
                        <a:cs typeface="Consolas" panose="020B0609020204030204" pitchFamily="49" charset="0"/>
                      </a:endParaRPr>
                    </a:p>
                    <a:p>
                      <a:r>
                        <a:rPr lang="en-US" sz="1600" dirty="0">
                          <a:latin typeface="Consolas" panose="020B0609020204030204" pitchFamily="49" charset="0"/>
                          <a:cs typeface="Consolas" panose="020B0609020204030204" pitchFamily="49" charset="0"/>
                        </a:rPr>
                        <a:t>        MOV  r0, #0</a:t>
                      </a:r>
                    </a:p>
                    <a:p>
                      <a:r>
                        <a:rPr lang="en-US" sz="1600" dirty="0">
                          <a:latin typeface="Consolas" panose="020B0609020204030204" pitchFamily="49" charset="0"/>
                          <a:cs typeface="Consolas" panose="020B0609020204030204" pitchFamily="49" charset="0"/>
                        </a:rPr>
                        <a:t>        B    done</a:t>
                      </a:r>
                      <a:endParaRPr lang="en-US" sz="1600" dirty="0">
                        <a:solidFill>
                          <a:srgbClr val="0000FF"/>
                        </a:solidFill>
                        <a:latin typeface="Consolas" panose="020B0609020204030204" pitchFamily="49" charset="0"/>
                        <a:cs typeface="Consolas" panose="020B0609020204030204" pitchFamily="49" charset="0"/>
                      </a:endParaRPr>
                    </a:p>
                    <a:p>
                      <a:r>
                        <a:rPr lang="en-US" sz="1600" dirty="0" err="1">
                          <a:latin typeface="Consolas" panose="020B0609020204030204" pitchFamily="49" charset="0"/>
                          <a:cs typeface="Consolas" panose="020B0609020204030204" pitchFamily="49" charset="0"/>
                        </a:rPr>
                        <a:t>PosOrZ</a:t>
                      </a:r>
                      <a:r>
                        <a:rPr lang="en-US" sz="1600" dirty="0">
                          <a:latin typeface="Consolas" panose="020B0609020204030204" pitchFamily="49" charset="0"/>
                          <a:cs typeface="Consolas" panose="020B0609020204030204" pitchFamily="49" charset="0"/>
                        </a:rPr>
                        <a:t>  MOV  r0, #1</a:t>
                      </a:r>
                    </a:p>
                    <a:p>
                      <a:r>
                        <a:rPr lang="en-US" sz="1600" dirty="0">
                          <a:latin typeface="Consolas" panose="020B0609020204030204" pitchFamily="49" charset="0"/>
                          <a:cs typeface="Consolas" panose="020B0609020204030204" pitchFamily="49" charset="0"/>
                        </a:rPr>
                        <a:t>done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r>
                        <a:rPr lang="pt-BR" sz="1600" b="0" dirty="0">
                          <a:latin typeface="Consolas" panose="020B0609020204030204" pitchFamily="49" charset="0"/>
                          <a:cs typeface="Consolas" panose="020B0609020204030204" pitchFamily="49" charset="0"/>
                        </a:rPr>
                        <a:t>ADD</a:t>
                      </a:r>
                      <a:r>
                        <a:rPr lang="pt-BR" sz="1600" b="1" dirty="0">
                          <a:solidFill>
                            <a:srgbClr val="FF0000"/>
                          </a:solidFill>
                          <a:latin typeface="Consolas" panose="020B0609020204030204" pitchFamily="49" charset="0"/>
                          <a:cs typeface="Consolas" panose="020B0609020204030204" pitchFamily="49" charset="0"/>
                        </a:rPr>
                        <a:t>S</a:t>
                      </a:r>
                      <a:r>
                        <a:rPr lang="pt-BR" sz="1600" b="0" dirty="0">
                          <a:latin typeface="Consolas" panose="020B0609020204030204" pitchFamily="49" charset="0"/>
                          <a:cs typeface="Consolas" panose="020B0609020204030204" pitchFamily="49" charset="0"/>
                        </a:rPr>
                        <a:t>	r0, r0, r1  </a:t>
                      </a:r>
                      <a:r>
                        <a:rPr kumimoji="0" lang="pt-BR" sz="1600" kern="1200" dirty="0">
                          <a:solidFill>
                            <a:schemeClr val="bg1">
                              <a:lumMod val="65000"/>
                            </a:schemeClr>
                          </a:solidFill>
                          <a:effectLst/>
                          <a:latin typeface="Consolas" panose="020B0609020204030204" pitchFamily="49" charset="0"/>
                          <a:ea typeface="+mn-ea"/>
                          <a:cs typeface="Consolas" panose="020B0609020204030204" pitchFamily="49" charset="0"/>
                        </a:rPr>
                        <a:t>;  r0 = x + y,  setting CCs</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MI</a:t>
                      </a:r>
                      <a:r>
                        <a:rPr lang="en-US" sz="1600" b="0" dirty="0">
                          <a:latin typeface="Consolas" panose="020B0609020204030204" pitchFamily="49" charset="0"/>
                          <a:cs typeface="Consolas" panose="020B0609020204030204" pitchFamily="49" charset="0"/>
                        </a:rPr>
                        <a:t> 	r0, #0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0 if n bit = 1</a:t>
                      </a:r>
                    </a:p>
                    <a:p>
                      <a:r>
                        <a:rPr lang="en-US" sz="1600" b="0" dirty="0">
                          <a:latin typeface="Consolas" panose="020B0609020204030204" pitchFamily="49" charset="0"/>
                          <a:cs typeface="Consolas" panose="020B0609020204030204" pitchFamily="49" charset="0"/>
                        </a:rPr>
                        <a:t>MOV</a:t>
                      </a:r>
                      <a:r>
                        <a:rPr lang="en-US" sz="1600" b="1" dirty="0">
                          <a:solidFill>
                            <a:srgbClr val="FF0000"/>
                          </a:solidFill>
                          <a:latin typeface="Consolas" panose="020B0609020204030204" pitchFamily="49" charset="0"/>
                          <a:cs typeface="Consolas" panose="020B0609020204030204" pitchFamily="49" charset="0"/>
                        </a:rPr>
                        <a:t>PL</a:t>
                      </a:r>
                      <a:r>
                        <a:rPr lang="en-US" sz="1600" b="0" dirty="0">
                          <a:latin typeface="Consolas" panose="020B0609020204030204" pitchFamily="49" charset="0"/>
                          <a:cs typeface="Consolas" panose="020B0609020204030204" pitchFamily="49" charset="0"/>
                        </a:rPr>
                        <a:t> 	r0, #1	    </a:t>
                      </a:r>
                      <a:r>
                        <a:rPr kumimoji="0" lang="en-US" sz="1600" kern="1200" dirty="0">
                          <a:solidFill>
                            <a:schemeClr val="bg1">
                              <a:lumMod val="65000"/>
                            </a:schemeClr>
                          </a:solidFill>
                          <a:effectLst/>
                          <a:latin typeface="Consolas" panose="020B0609020204030204" pitchFamily="49" charset="0"/>
                          <a:ea typeface="+mn-ea"/>
                          <a:cs typeface="Consolas" panose="020B0609020204030204" pitchFamily="49" charset="0"/>
                        </a:rPr>
                        <a:t>;  return 1 if n bit = 0</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5205966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Combination</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35</a:t>
            </a:fld>
            <a:endParaRPr kumimoji="0" lang="en-US"/>
          </a:p>
        </p:txBody>
      </p:sp>
      <p:sp>
        <p:nvSpPr>
          <p:cNvPr id="5" name="Content Placeholder 4"/>
          <p:cNvSpPr>
            <a:spLocks noGrp="1"/>
          </p:cNvSpPr>
          <p:nvPr>
            <p:ph sz="quarter" idx="1"/>
          </p:nvPr>
        </p:nvSpPr>
        <p:spPr>
          <a:xfrm>
            <a:off x="1981200" y="3124200"/>
            <a:ext cx="8229600" cy="3032760"/>
          </a:xfrm>
        </p:spPr>
        <p:txBody>
          <a:bodyPr>
            <a:normAutofit/>
          </a:bodyPr>
          <a:lstStyle/>
          <a:p>
            <a:r>
              <a:rPr lang="en-US" sz="2000" dirty="0"/>
              <a:t>Except that it does not change the status flags, </a:t>
            </a:r>
            <a:r>
              <a:rPr lang="en-US" sz="2000" dirty="0">
                <a:solidFill>
                  <a:srgbClr val="FF0000"/>
                </a:solidFill>
                <a:latin typeface="Consolas" panose="020B0609020204030204" pitchFamily="49" charset="0"/>
              </a:rPr>
              <a:t>CBZ </a:t>
            </a:r>
            <a:r>
              <a:rPr lang="en-US" sz="2000" dirty="0" err="1">
                <a:solidFill>
                  <a:srgbClr val="FF0000"/>
                </a:solidFill>
                <a:latin typeface="Consolas" panose="020B0609020204030204" pitchFamily="49" charset="0"/>
              </a:rPr>
              <a:t>Rn,label</a:t>
            </a:r>
            <a:r>
              <a:rPr lang="en-US" sz="2000" dirty="0">
                <a:latin typeface="Consolas" panose="020B0609020204030204" pitchFamily="49" charset="0"/>
              </a:rPr>
              <a:t> </a:t>
            </a:r>
            <a:r>
              <a:rPr lang="en-US" sz="2000" dirty="0"/>
              <a:t>is equivalent to:</a:t>
            </a:r>
          </a:p>
          <a:p>
            <a:pPr marL="274320" lvl="1" indent="0">
              <a:buNone/>
            </a:pPr>
            <a:r>
              <a:rPr lang="en-US" sz="1800" b="1" dirty="0"/>
              <a:t>    </a:t>
            </a:r>
            <a:r>
              <a:rPr lang="en-US" sz="1800" b="1" dirty="0">
                <a:latin typeface="Consolas" panose="020B0609020204030204" pitchFamily="49" charset="0"/>
                <a:cs typeface="Consolas" panose="020B0609020204030204" pitchFamily="49" charset="0"/>
              </a:rPr>
              <a:t>CMP Rn, #0</a:t>
            </a:r>
          </a:p>
          <a:p>
            <a:pPr marL="274320" lvl="1" indent="0">
              <a:buNone/>
            </a:pPr>
            <a:r>
              <a:rPr lang="en-US" sz="1800" b="1" dirty="0">
                <a:latin typeface="Consolas" panose="020B0609020204030204" pitchFamily="49" charset="0"/>
                <a:cs typeface="Consolas" panose="020B0609020204030204" pitchFamily="49" charset="0"/>
              </a:rPr>
              <a:t>  BEQ label</a:t>
            </a:r>
          </a:p>
          <a:p>
            <a:r>
              <a:rPr lang="en-US" sz="2000" dirty="0"/>
              <a:t>Except that it does not change the status flags, </a:t>
            </a:r>
            <a:r>
              <a:rPr lang="en-US" sz="2000" dirty="0">
                <a:solidFill>
                  <a:srgbClr val="FF0000"/>
                </a:solidFill>
                <a:latin typeface="Consolas" panose="020B0609020204030204" pitchFamily="49" charset="0"/>
              </a:rPr>
              <a:t>CBNZ </a:t>
            </a:r>
            <a:r>
              <a:rPr lang="en-US" sz="2000" dirty="0" err="1">
                <a:solidFill>
                  <a:srgbClr val="FF0000"/>
                </a:solidFill>
                <a:latin typeface="Consolas" panose="020B0609020204030204" pitchFamily="49" charset="0"/>
              </a:rPr>
              <a:t>Rn,label</a:t>
            </a:r>
            <a:r>
              <a:rPr lang="en-US" sz="2000" dirty="0">
                <a:solidFill>
                  <a:srgbClr val="FF0000"/>
                </a:solidFill>
                <a:latin typeface="Consolas" panose="020B0609020204030204" pitchFamily="49" charset="0"/>
              </a:rPr>
              <a:t> </a:t>
            </a:r>
            <a:r>
              <a:rPr lang="en-US" sz="2000" dirty="0"/>
              <a:t>is equivalent to:</a:t>
            </a:r>
          </a:p>
          <a:p>
            <a:pPr marL="274320" lvl="1" indent="0">
              <a:buNone/>
            </a:pPr>
            <a:r>
              <a:rPr lang="en-US" sz="1800" b="1" dirty="0">
                <a:latin typeface="Consolas" panose="020B0609020204030204" pitchFamily="49" charset="0"/>
                <a:cs typeface="Consolas" panose="020B0609020204030204" pitchFamily="49" charset="0"/>
              </a:rPr>
              <a:t>  CMP  Rn, #0</a:t>
            </a:r>
          </a:p>
          <a:p>
            <a:pPr marL="274320" lvl="1" indent="0">
              <a:buNone/>
            </a:pPr>
            <a:r>
              <a:rPr lang="en-US" sz="1800" b="1" dirty="0">
                <a:latin typeface="Consolas" panose="020B0609020204030204" pitchFamily="49" charset="0"/>
                <a:cs typeface="Consolas" panose="020B0609020204030204" pitchFamily="49" charset="0"/>
              </a:rPr>
              <a:t>  BNE  label</a:t>
            </a:r>
          </a:p>
        </p:txBody>
      </p:sp>
      <p:graphicFrame>
        <p:nvGraphicFramePr>
          <p:cNvPr id="3" name="Table 2"/>
          <p:cNvGraphicFramePr>
            <a:graphicFrameLocks noGrp="1"/>
          </p:cNvGraphicFramePr>
          <p:nvPr>
            <p:extLst>
              <p:ext uri="{D42A27DB-BD31-4B8C-83A1-F6EECF244321}">
                <p14:modId xmlns:p14="http://schemas.microsoft.com/office/powerpoint/2010/main" val="2316428214"/>
              </p:ext>
            </p:extLst>
          </p:nvPr>
        </p:nvGraphicFramePr>
        <p:xfrm>
          <a:off x="2890908" y="1342391"/>
          <a:ext cx="6410185" cy="1454733"/>
        </p:xfrm>
        <a:graphic>
          <a:graphicData uri="http://schemas.openxmlformats.org/drawingml/2006/table">
            <a:tbl>
              <a:tblPr firstRow="1" bandRow="1">
                <a:tableStyleId>{5C22544A-7EE6-4342-B048-85BDC9FD1C3A}</a:tableStyleId>
              </a:tblPr>
              <a:tblGrid>
                <a:gridCol w="1331577">
                  <a:extLst>
                    <a:ext uri="{9D8B030D-6E8A-4147-A177-3AD203B41FA5}">
                      <a16:colId xmlns:a16="http://schemas.microsoft.com/office/drawing/2014/main" val="20000"/>
                    </a:ext>
                  </a:extLst>
                </a:gridCol>
                <a:gridCol w="1640223">
                  <a:extLst>
                    <a:ext uri="{9D8B030D-6E8A-4147-A177-3AD203B41FA5}">
                      <a16:colId xmlns:a16="http://schemas.microsoft.com/office/drawing/2014/main" val="20001"/>
                    </a:ext>
                  </a:extLst>
                </a:gridCol>
                <a:gridCol w="3438385">
                  <a:extLst>
                    <a:ext uri="{9D8B030D-6E8A-4147-A177-3AD203B41FA5}">
                      <a16:colId xmlns:a16="http://schemas.microsoft.com/office/drawing/2014/main" val="20002"/>
                    </a:ext>
                  </a:extLst>
                </a:gridCol>
              </a:tblGrid>
              <a:tr h="484911">
                <a:tc>
                  <a:txBody>
                    <a:bodyPr/>
                    <a:lstStyle/>
                    <a:p>
                      <a:pPr marL="0" marR="0" algn="ctr">
                        <a:lnSpc>
                          <a:spcPct val="115000"/>
                        </a:lnSpc>
                        <a:spcBef>
                          <a:spcPts val="0"/>
                        </a:spcBef>
                        <a:spcAft>
                          <a:spcPts val="0"/>
                        </a:spcAft>
                      </a:pPr>
                      <a:r>
                        <a:rPr lang="en-US" sz="1800" dirty="0">
                          <a:effectLst/>
                        </a:rPr>
                        <a:t>Instruction</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Operands</a:t>
                      </a:r>
                      <a:endParaRPr lang="en-US" sz="1800" dirty="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Brief description</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0"/>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Rn, label</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1"/>
                  </a:ext>
                </a:extLst>
              </a:tr>
              <a:tr h="484911">
                <a:tc>
                  <a:txBody>
                    <a:bodyPr/>
                    <a:lstStyle/>
                    <a:p>
                      <a:pPr marL="0" marR="0" algn="ctr">
                        <a:lnSpc>
                          <a:spcPct val="115000"/>
                        </a:lnSpc>
                        <a:spcBef>
                          <a:spcPts val="0"/>
                        </a:spcBef>
                        <a:spcAft>
                          <a:spcPts val="0"/>
                        </a:spcAft>
                      </a:pPr>
                      <a:r>
                        <a:rPr lang="en-US" sz="1800" b="1" dirty="0">
                          <a:solidFill>
                            <a:srgbClr val="FF0000"/>
                          </a:solidFill>
                          <a:effectLst/>
                          <a:latin typeface="Consolas" panose="020B0609020204030204" pitchFamily="49" charset="0"/>
                        </a:rPr>
                        <a:t>CBNZ</a:t>
                      </a:r>
                      <a:endParaRPr lang="en-US" sz="1800" b="1" dirty="0">
                        <a:solidFill>
                          <a:srgbClr val="FF0000"/>
                        </a:solidFill>
                        <a:effectLst/>
                        <a:latin typeface="Consolas" panose="020B0609020204030204" pitchFamily="49" charset="0"/>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a:effectLst/>
                        </a:rPr>
                        <a:t>Rn, label</a:t>
                      </a:r>
                      <a:endParaRPr lang="en-US" sz="1800">
                        <a:effectLst/>
                        <a:latin typeface="Calibri"/>
                        <a:ea typeface="宋体"/>
                        <a:cs typeface="Times New Roman"/>
                      </a:endParaRPr>
                    </a:p>
                  </a:txBody>
                  <a:tcPr marL="68580" marR="68580" marT="0" marB="0" anchor="ctr"/>
                </a:tc>
                <a:tc>
                  <a:txBody>
                    <a:bodyPr/>
                    <a:lstStyle/>
                    <a:p>
                      <a:pPr marL="0" marR="0" algn="ctr">
                        <a:lnSpc>
                          <a:spcPct val="115000"/>
                        </a:lnSpc>
                        <a:spcBef>
                          <a:spcPts val="0"/>
                        </a:spcBef>
                        <a:spcAft>
                          <a:spcPts val="0"/>
                        </a:spcAft>
                      </a:pPr>
                      <a:r>
                        <a:rPr lang="en-US" sz="1800" dirty="0">
                          <a:effectLst/>
                        </a:rPr>
                        <a:t>Compare and Branch if Non Zero</a:t>
                      </a:r>
                      <a:endParaRPr lang="en-US" sz="1800" dirty="0">
                        <a:effectLst/>
                        <a:latin typeface="Calibri"/>
                        <a:ea typeface="宋体"/>
                        <a:cs typeface="Times New Roman"/>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1844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vs. Continue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36</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46676030"/>
              </p:ext>
            </p:extLst>
          </p:nvPr>
        </p:nvGraphicFramePr>
        <p:xfrm>
          <a:off x="1954427" y="1895475"/>
          <a:ext cx="8256373" cy="2905125"/>
        </p:xfrm>
        <a:graphic>
          <a:graphicData uri="http://schemas.openxmlformats.org/drawingml/2006/table">
            <a:tbl>
              <a:tblPr firstRow="1" firstCol="1" bandRow="1">
                <a:tableStyleId>{5940675A-B579-460E-94D1-54222C63F5DA}</a:tableStyleId>
              </a:tblPr>
              <a:tblGrid>
                <a:gridCol w="4138744">
                  <a:extLst>
                    <a:ext uri="{9D8B030D-6E8A-4147-A177-3AD203B41FA5}">
                      <a16:colId xmlns:a16="http://schemas.microsoft.com/office/drawing/2014/main" val="20000"/>
                    </a:ext>
                  </a:extLst>
                </a:gridCol>
                <a:gridCol w="4117629">
                  <a:extLst>
                    <a:ext uri="{9D8B030D-6E8A-4147-A177-3AD203B41FA5}">
                      <a16:colId xmlns:a16="http://schemas.microsoft.com/office/drawing/2014/main" val="20001"/>
                    </a:ext>
                  </a:extLst>
                </a:gridCol>
              </a:tblGrid>
              <a:tr h="477555">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break</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2000" b="1" dirty="0">
                          <a:solidFill>
                            <a:schemeClr val="bg1"/>
                          </a:solidFill>
                          <a:effectLst/>
                          <a:latin typeface="Consolas" panose="020B0609020204030204" pitchFamily="49" charset="0"/>
                          <a:cs typeface="Consolas" panose="020B0609020204030204" pitchFamily="49" charset="0"/>
                        </a:rPr>
                        <a:t>Example code for continue</a:t>
                      </a:r>
                      <a:endParaRPr lang="en-US" sz="20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1910219">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break</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for(</a:t>
                      </a:r>
                      <a:r>
                        <a:rPr lang="en-US" sz="2000" dirty="0" err="1">
                          <a:effectLst/>
                          <a:latin typeface="Consolas" panose="020B0609020204030204" pitchFamily="49" charset="0"/>
                          <a:cs typeface="Consolas" panose="020B0609020204030204" pitchFamily="49" charset="0"/>
                        </a:rPr>
                        <a:t>int</a:t>
                      </a: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0;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&lt; 5;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if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 == 2) </a:t>
                      </a:r>
                      <a:r>
                        <a:rPr lang="en-US" sz="2000" b="1" dirty="0">
                          <a:solidFill>
                            <a:srgbClr val="C00000"/>
                          </a:solidFill>
                          <a:effectLst/>
                          <a:latin typeface="Consolas" panose="020B0609020204030204" pitchFamily="49" charset="0"/>
                          <a:cs typeface="Consolas" panose="020B0609020204030204" pitchFamily="49" charset="0"/>
                        </a:rPr>
                        <a:t>continue</a:t>
                      </a:r>
                      <a:r>
                        <a:rPr lang="en-US" sz="2000" dirty="0">
                          <a:effectLst/>
                          <a:latin typeface="Consolas" panose="020B0609020204030204" pitchFamily="49" charset="0"/>
                          <a:cs typeface="Consolas" panose="020B0609020204030204" pitchFamily="49" charset="0"/>
                        </a:rPr>
                        <a:t>;</a:t>
                      </a:r>
                    </a:p>
                    <a:p>
                      <a:pPr marL="0" marR="0" indent="123825" algn="just">
                        <a:spcBef>
                          <a:spcPts val="0"/>
                        </a:spcBef>
                        <a:spcAft>
                          <a:spcPts val="0"/>
                        </a:spcAft>
                      </a:pPr>
                      <a:r>
                        <a:rPr lang="en-US" sz="2000" dirty="0">
                          <a:effectLst/>
                          <a:latin typeface="Consolas" panose="020B0609020204030204" pitchFamily="49" charset="0"/>
                          <a:cs typeface="Consolas" panose="020B0609020204030204" pitchFamily="49" charset="0"/>
                        </a:rPr>
                        <a:t>  </a:t>
                      </a:r>
                      <a:r>
                        <a:rPr lang="en-US" sz="2000" dirty="0" err="1">
                          <a:effectLst/>
                          <a:latin typeface="Consolas" panose="020B0609020204030204" pitchFamily="49" charset="0"/>
                          <a:cs typeface="Consolas" panose="020B0609020204030204" pitchFamily="49" charset="0"/>
                        </a:rPr>
                        <a:t>printf</a:t>
                      </a:r>
                      <a:r>
                        <a:rPr lang="en-US" sz="2000" dirty="0">
                          <a:effectLst/>
                          <a:latin typeface="Consolas" panose="020B0609020204030204" pitchFamily="49" charset="0"/>
                          <a:cs typeface="Consolas" panose="020B0609020204030204" pitchFamily="49" charset="0"/>
                        </a:rPr>
                        <a:t>(“%d, ”, </a:t>
                      </a:r>
                      <a:r>
                        <a:rPr lang="en-US" sz="2000" dirty="0" err="1">
                          <a:effectLst/>
                          <a:latin typeface="Consolas" panose="020B0609020204030204" pitchFamily="49" charset="0"/>
                          <a:cs typeface="Consolas" panose="020B0609020204030204" pitchFamily="49" charset="0"/>
                        </a:rPr>
                        <a:t>i</a:t>
                      </a:r>
                      <a:r>
                        <a:rPr lang="en-US" sz="20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a:t>
                      </a:r>
                      <a:endParaRPr lang="en-US" sz="2000" dirty="0">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1"/>
                  </a:ext>
                </a:extLst>
              </a:tr>
              <a:tr h="517351">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b="0" dirty="0">
                          <a:solidFill>
                            <a:srgbClr val="FF0000"/>
                          </a:solidFill>
                          <a:effectLst/>
                          <a:latin typeface="Consolas" panose="020B0609020204030204" pitchFamily="49" charset="0"/>
                          <a:cs typeface="Consolas" panose="020B0609020204030204" pitchFamily="49" charset="0"/>
                        </a:rPr>
                        <a:t>0, 1</a:t>
                      </a:r>
                      <a:endParaRPr lang="en-US" sz="2000" b="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2000" dirty="0">
                          <a:effectLst/>
                          <a:latin typeface="Consolas" panose="020B0609020204030204" pitchFamily="49" charset="0"/>
                          <a:cs typeface="Consolas" panose="020B0609020204030204" pitchFamily="49" charset="0"/>
                        </a:rPr>
                        <a:t>Output: </a:t>
                      </a:r>
                      <a:r>
                        <a:rPr lang="en-US" sz="2000" dirty="0">
                          <a:solidFill>
                            <a:srgbClr val="FF0000"/>
                          </a:solidFill>
                          <a:effectLst/>
                          <a:latin typeface="Consolas" panose="020B0609020204030204" pitchFamily="49" charset="0"/>
                          <a:cs typeface="Consolas" panose="020B0609020204030204" pitchFamily="49" charset="0"/>
                        </a:rPr>
                        <a:t>0, 1, 3, 4</a:t>
                      </a:r>
                      <a:endParaRPr lang="en-US" sz="2000" dirty="0">
                        <a:solidFill>
                          <a:srgbClr val="FF0000"/>
                        </a:solidFill>
                        <a:effectLst/>
                        <a:latin typeface="Consolas" panose="020B0609020204030204" pitchFamily="49" charset="0"/>
                        <a:ea typeface="宋体"/>
                        <a:cs typeface="Consolas" panose="020B0609020204030204" pitchFamily="49" charset="0"/>
                      </a:endParaRPr>
                    </a:p>
                  </a:txBody>
                  <a:tcPr marL="68580" marR="6858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2379007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11341-D21B-827F-647D-98C768F8D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04EBD-B88F-9F62-0BFB-92E3BC08A27F}"/>
              </a:ext>
            </a:extLst>
          </p:cNvPr>
          <p:cNvSpPr>
            <a:spLocks noGrp="1"/>
          </p:cNvSpPr>
          <p:nvPr>
            <p:ph type="title"/>
          </p:nvPr>
        </p:nvSpPr>
        <p:spPr/>
        <p:txBody>
          <a:bodyPr/>
          <a:lstStyle/>
          <a:p>
            <a:r>
              <a:rPr lang="en-US" dirty="0"/>
              <a:t>Break Example</a:t>
            </a:r>
          </a:p>
        </p:txBody>
      </p:sp>
      <p:sp>
        <p:nvSpPr>
          <p:cNvPr id="3" name="Slide Number Placeholder 2">
            <a:extLst>
              <a:ext uri="{FF2B5EF4-FFF2-40B4-BE49-F238E27FC236}">
                <a16:creationId xmlns:a16="http://schemas.microsoft.com/office/drawing/2014/main" id="{CE18427F-5082-AA25-B304-788BCB17E7AC}"/>
              </a:ext>
            </a:extLst>
          </p:cNvPr>
          <p:cNvSpPr>
            <a:spLocks noGrp="1"/>
          </p:cNvSpPr>
          <p:nvPr>
            <p:ph type="sldNum" sz="quarter" idx="12"/>
          </p:nvPr>
        </p:nvSpPr>
        <p:spPr/>
        <p:txBody>
          <a:bodyPr/>
          <a:lstStyle/>
          <a:p>
            <a:fld id="{EA7C8D44-3667-46F6-9772-CC52308E2A7F}" type="slidenum">
              <a:rPr kumimoji="0" lang="en-US" smtClean="0"/>
              <a:pPr/>
              <a:t>37</a:t>
            </a:fld>
            <a:endParaRPr kumimoji="0" lang="en-US" dirty="0"/>
          </a:p>
        </p:txBody>
      </p:sp>
      <p:graphicFrame>
        <p:nvGraphicFramePr>
          <p:cNvPr id="5" name="Table 4">
            <a:extLst>
              <a:ext uri="{FF2B5EF4-FFF2-40B4-BE49-F238E27FC236}">
                <a16:creationId xmlns:a16="http://schemas.microsoft.com/office/drawing/2014/main" id="{3AA2C914-9DD9-E383-780A-21A36B511DD8}"/>
              </a:ext>
            </a:extLst>
          </p:cNvPr>
          <p:cNvGraphicFramePr>
            <a:graphicFrameLocks noGrp="1"/>
          </p:cNvGraphicFramePr>
          <p:nvPr>
            <p:extLst>
              <p:ext uri="{D42A27DB-BD31-4B8C-83A1-F6EECF244321}">
                <p14:modId xmlns:p14="http://schemas.microsoft.com/office/powerpoint/2010/main" val="3067588530"/>
              </p:ext>
            </p:extLst>
          </p:nvPr>
        </p:nvGraphicFramePr>
        <p:xfrm>
          <a:off x="228600" y="1371600"/>
          <a:ext cx="11734800" cy="4395551"/>
        </p:xfrm>
        <a:graphic>
          <a:graphicData uri="http://schemas.openxmlformats.org/drawingml/2006/table">
            <a:tbl>
              <a:tblPr firstRow="1" firstCol="1" bandRow="1">
                <a:tableStyleId>{5940675A-B579-460E-94D1-54222C63F5DA}</a:tableStyleId>
              </a:tblPr>
              <a:tblGrid>
                <a:gridCol w="3006438">
                  <a:extLst>
                    <a:ext uri="{9D8B030D-6E8A-4147-A177-3AD203B41FA5}">
                      <a16:colId xmlns:a16="http://schemas.microsoft.com/office/drawing/2014/main" val="20000"/>
                    </a:ext>
                  </a:extLst>
                </a:gridCol>
                <a:gridCol w="4364181">
                  <a:extLst>
                    <a:ext uri="{9D8B030D-6E8A-4147-A177-3AD203B41FA5}">
                      <a16:colId xmlns:a16="http://schemas.microsoft.com/office/drawing/2014/main" val="20001"/>
                    </a:ext>
                  </a:extLst>
                </a:gridCol>
                <a:gridCol w="4364181">
                  <a:extLst>
                    <a:ext uri="{9D8B030D-6E8A-4147-A177-3AD203B41FA5}">
                      <a16:colId xmlns:a16="http://schemas.microsoft.com/office/drawing/2014/main" val="35338413"/>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 1</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sz="1800" b="1" dirty="0">
                          <a:solidFill>
                            <a:schemeClr val="bg1"/>
                          </a:solidFill>
                          <a:effectLst/>
                          <a:latin typeface="Consolas" panose="020B0609020204030204" pitchFamily="49" charset="0"/>
                          <a:cs typeface="Consolas" panose="020B0609020204030204" pitchFamily="49" charset="0"/>
                        </a:rPr>
                        <a:t>Assembly Program 2</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Find string length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"hello";</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int</a:t>
                      </a: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str</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dirty="0" err="1">
                          <a:effectLst/>
                          <a:latin typeface="Consolas" panose="020B0609020204030204" pitchFamily="49" charset="0"/>
                          <a:cs typeface="Consolas" panose="020B0609020204030204" pitchFamily="49" charset="0"/>
                        </a:rPr>
                        <a:t>len</a:t>
                      </a:r>
                      <a:r>
                        <a:rPr lang="en-US" sz="1800" dirty="0">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b="1" dirty="0">
                          <a:solidFill>
                            <a:srgbClr val="FF0000"/>
                          </a:solidFill>
                          <a:effectLst/>
                          <a:latin typeface="Consolas" panose="020B0609020204030204" pitchFamily="49" charset="0"/>
                          <a:cs typeface="Consolas" panose="020B0609020204030204" pitchFamily="49" charset="0"/>
                        </a:rPr>
                        <a:t>        CBNZ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notZero</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a:t>
                      </a: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notZero</a:t>
                      </a:r>
                      <a:r>
                        <a:rPr lang="en-US" sz="1800" b="1"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lang="en-US" sz="1800" dirty="0">
                          <a:solidFill>
                            <a:schemeClr val="bg1">
                              <a:lumMod val="50000"/>
                            </a:schemeClr>
                          </a:solidFill>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lang="en-US" sz="1800" dirty="0">
                          <a:solidFill>
                            <a:schemeClr val="bg1">
                              <a:lumMod val="50000"/>
                            </a:schemeClr>
                          </a:solidFill>
                          <a:effectLst/>
                          <a:latin typeface="Consolas" panose="020B0609020204030204" pitchFamily="49" charset="0"/>
                          <a:cs typeface="Consolas" panose="020B0609020204030204" pitchFamily="49" charset="0"/>
                        </a:rPr>
                        <a:t>; </a:t>
                      </a:r>
                      <a:r>
                        <a:rPr lang="en-US" sz="1800" dirty="0" err="1">
                          <a:solidFill>
                            <a:schemeClr val="bg1">
                              <a:lumMod val="50000"/>
                            </a:schemeClr>
                          </a:solidFill>
                          <a:effectLst/>
                          <a:latin typeface="Consolas" panose="020B0609020204030204" pitchFamily="49" charset="0"/>
                          <a:cs typeface="Consolas" panose="020B0609020204030204" pitchFamily="49" charset="0"/>
                        </a:rPr>
                        <a:t>len</a:t>
                      </a:r>
                      <a:r>
                        <a:rPr lang="en-US" sz="1800" dirty="0">
                          <a:solidFill>
                            <a:schemeClr val="bg1">
                              <a:lumMod val="50000"/>
                            </a:schemeClr>
                          </a:solidFill>
                          <a:effectLst/>
                          <a:latin typeface="Consolas" panose="020B0609020204030204" pitchFamily="49" charset="0"/>
                          <a:cs typeface="Consolas" panose="020B0609020204030204" pitchFamily="49" charset="0"/>
                        </a:rPr>
                        <a: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dirty="0" err="1">
                          <a:effectLst/>
                          <a:latin typeface="Consolas" panose="020B0609020204030204" pitchFamily="49" charset="0"/>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;r0 = string memory address</a:t>
                      </a:r>
                    </a:p>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;r1 = string length</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solidFill>
                            <a:srgbClr val="FF0000"/>
                          </a:solidFill>
                          <a:effectLst/>
                          <a:latin typeface="Consolas" panose="020B0609020204030204" pitchFamily="49" charset="0"/>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r2, </a:t>
                      </a:r>
                      <a:r>
                        <a:rPr lang="en-US" sz="1800" b="1" dirty="0" err="1">
                          <a:solidFill>
                            <a:srgbClr val="FF0000"/>
                          </a:solidFill>
                          <a:effectLst/>
                          <a:latin typeface="Consolas" panose="020B0609020204030204" pitchFamily="49" charset="0"/>
                          <a:cs typeface="Consolas" panose="020B0609020204030204" pitchFamily="49" charset="0"/>
                        </a:rPr>
                        <a:t>endloop</a:t>
                      </a:r>
                      <a:endParaRPr lang="en-US" sz="1800" b="1" dirty="0">
                        <a:solidFill>
                          <a:srgbClr val="FF0000"/>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r0, r0,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a:t>
                      </a:r>
                      <a:endParaRPr lang="en-US" sz="1800" dirty="0">
                        <a:solidFill>
                          <a:schemeClr val="bg1">
                            <a:lumMod val="50000"/>
                          </a:schemeClr>
                        </a:solidFill>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lang="en-US" sz="1800" b="1" dirty="0" err="1">
                          <a:solidFill>
                            <a:srgbClr val="FF0000"/>
                          </a:solidFill>
                          <a:effectLst/>
                          <a:latin typeface="Consolas" panose="020B0609020204030204" pitchFamily="49" charset="0"/>
                          <a:cs typeface="Consolas" panose="020B0609020204030204" pitchFamily="49" charset="0"/>
                        </a:rPr>
                        <a:t>endloop</a:t>
                      </a:r>
                      <a:r>
                        <a:rPr lang="en-US" sz="1800" b="1" dirty="0">
                          <a:solidFill>
                            <a:srgbClr val="FF0000"/>
                          </a:solidFill>
                          <a:effectLst/>
                          <a:latin typeface="Consolas" panose="020B0609020204030204" pitchFamily="49" charset="0"/>
                          <a:cs typeface="Consolas" panose="020B0609020204030204" pitchFamily="49" charset="0"/>
                        </a:rPr>
                        <a:t>:</a:t>
                      </a:r>
                      <a:r>
                        <a:rPr lang="en-US" sz="1800" dirty="0">
                          <a:effectLst/>
                          <a:latin typeface="Consolas" panose="020B0609020204030204" pitchFamily="49" charset="0"/>
                          <a:cs typeface="Consolas" panose="020B0609020204030204" pitchFamily="49" charset="0"/>
                        </a:rPr>
                        <a:t> </a:t>
                      </a:r>
                      <a:endParaRPr lang="en-US" sz="1800" dirty="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1090160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Break and Continue Example</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38</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19102640"/>
              </p:ext>
            </p:extLst>
          </p:nvPr>
        </p:nvGraphicFramePr>
        <p:xfrm>
          <a:off x="816864" y="1231224"/>
          <a:ext cx="11070336" cy="4572000"/>
        </p:xfrm>
        <a:graphic>
          <a:graphicData uri="http://schemas.openxmlformats.org/drawingml/2006/table">
            <a:tbl>
              <a:tblPr firstRow="1" firstCol="1" bandRow="1">
                <a:tableStyleId>{5940675A-B579-460E-94D1-54222C63F5DA}</a:tableStyleId>
              </a:tblPr>
              <a:tblGrid>
                <a:gridCol w="4515532">
                  <a:extLst>
                    <a:ext uri="{9D8B030D-6E8A-4147-A177-3AD203B41FA5}">
                      <a16:colId xmlns:a16="http://schemas.microsoft.com/office/drawing/2014/main" val="20000"/>
                    </a:ext>
                  </a:extLst>
                </a:gridCol>
                <a:gridCol w="6554804">
                  <a:extLst>
                    <a:ext uri="{9D8B030D-6E8A-4147-A177-3AD203B41FA5}">
                      <a16:colId xmlns:a16="http://schemas.microsoft.com/office/drawing/2014/main" val="20001"/>
                    </a:ext>
                  </a:extLst>
                </a:gridCol>
              </a:tblGrid>
              <a:tr h="457200">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C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800" b="1" dirty="0">
                          <a:solidFill>
                            <a:schemeClr val="bg1"/>
                          </a:solidFill>
                          <a:effectLst/>
                          <a:latin typeface="Consolas" panose="020B0609020204030204" pitchFamily="49" charset="0"/>
                          <a:cs typeface="Consolas" panose="020B0609020204030204" pitchFamily="49" charset="0"/>
                        </a:rPr>
                        <a:t>Assembly Program</a:t>
                      </a:r>
                      <a:endParaRPr lang="en-US" sz="18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extLst>
                  <a:ext uri="{0D108BD9-81ED-4DB2-BD59-A6C34878D82A}">
                    <a16:rowId xmlns:a16="http://schemas.microsoft.com/office/drawing/2014/main" val="10000"/>
                  </a:ext>
                </a:extLst>
              </a:tr>
              <a:tr h="3938351">
                <a:tc>
                  <a:txBody>
                    <a:bodyPr/>
                    <a:lstStyle/>
                    <a:p>
                      <a:pPr marL="0" marR="0" algn="just">
                        <a:spcBef>
                          <a:spcPts val="0"/>
                        </a:spcBef>
                        <a:spcAft>
                          <a:spcPts val="0"/>
                        </a:spcAft>
                      </a:pPr>
                      <a:r>
                        <a:rPr lang="en-US" sz="1800" dirty="0">
                          <a:solidFill>
                            <a:schemeClr val="bg1">
                              <a:lumMod val="50000"/>
                            </a:schemeClr>
                          </a:solidFill>
                          <a:effectLst/>
                          <a:latin typeface="Consolas" panose="020B0609020204030204" pitchFamily="49" charset="0"/>
                          <a:cs typeface="Consolas" panose="020B0609020204030204" pitchFamily="49" charset="0"/>
                        </a:rPr>
                        <a:t>// Count characters that are not 'l' until the null terminator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char str[] = "hello";</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int count = 0;</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for (; ; ) {</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break;</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if (*str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continue;</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count++;</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a:t>
                      </a:r>
                    </a:p>
                  </a:txBody>
                  <a:tcPr marL="68580" marR="68580" marT="0" marB="0"/>
                </a:tc>
                <a:tc>
                  <a:txBody>
                    <a:bodyPr/>
                    <a:lstStyle/>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r0 = string address (str)</a:t>
                      </a:r>
                    </a:p>
                    <a:p>
                      <a:pPr marL="0" marR="0" algn="just" rtl="0" eaLnBrk="1" latinLnBrk="0" hangingPunct="1">
                        <a:spcBef>
                          <a:spcPts val="0"/>
                        </a:spcBef>
                        <a:spcAft>
                          <a:spcPts val="0"/>
                        </a:spcAft>
                      </a:pP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r1 = count =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ADR  r0,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MOV  r1, #0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Loop:   LDRB r2, [r0]</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lang="en-US" sz="1800" b="1" dirty="0">
                          <a:solidFill>
                            <a:srgbClr val="FF0000"/>
                          </a:solidFill>
                          <a:effectLst/>
                          <a:latin typeface="Consolas" panose="020B0609020204030204" pitchFamily="49" charset="0"/>
                          <a:cs typeface="Consolas" panose="020B0609020204030204" pitchFamily="49" charset="0"/>
                        </a:rPr>
                        <a:t>CBZ</a:t>
                      </a:r>
                      <a:r>
                        <a:rPr lang="en-US" sz="1800" dirty="0">
                          <a:effectLst/>
                          <a:latin typeface="Consolas" panose="020B0609020204030204" pitchFamily="49" charset="0"/>
                          <a:cs typeface="Consolas" panose="020B0609020204030204" pitchFamily="49" charset="0"/>
                        </a:rPr>
                        <a:t>  r2,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'\0' =&gt; break</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CMP  r2, #’l’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if char == 'l'</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BEQ</a:t>
                      </a:r>
                      <a:r>
                        <a:rPr lang="en-US" sz="1800" dirty="0">
                          <a:effectLst/>
                          <a:latin typeface="Consolas" panose="020B0609020204030204" pitchFamily="49" charset="0"/>
                          <a:cs typeface="Consolas" panose="020B0609020204030204" pitchFamily="49" charset="0"/>
                        </a:rPr>
                        <a:t>  </a:t>
                      </a: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lang="en-US" sz="1800" dirty="0">
                          <a:effectLst/>
                          <a:latin typeface="Consolas" panose="020B0609020204030204" pitchFamily="49" charset="0"/>
                          <a:cs typeface="Consolas" panose="020B0609020204030204" pitchFamily="49" charset="0"/>
                        </a:rPr>
                        <a:t>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continue and skip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ADD  r1, r1,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count++</a:t>
                      </a:r>
                    </a:p>
                    <a:p>
                      <a:pPr marL="0" marR="0" algn="just">
                        <a:spcBef>
                          <a:spcPts val="0"/>
                        </a:spcBef>
                        <a:spcAft>
                          <a:spcPts val="0"/>
                        </a:spcAft>
                      </a:pPr>
                      <a:endParaRPr lang="en-US" sz="1800" dirty="0">
                        <a:effectLst/>
                        <a:latin typeface="Consolas" panose="020B0609020204030204" pitchFamily="49" charset="0"/>
                        <a:cs typeface="Consolas" panose="020B0609020204030204" pitchFamily="49" charset="0"/>
                      </a:endParaRP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contLoop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 </a:t>
                      </a:r>
                      <a:r>
                        <a:rPr lang="en-US" sz="1800" dirty="0">
                          <a:effectLst/>
                          <a:latin typeface="Consolas" panose="020B0609020204030204" pitchFamily="49" charset="0"/>
                          <a:cs typeface="Consolas" panose="020B0609020204030204" pitchFamily="49" charset="0"/>
                        </a:rPr>
                        <a:t>ADD  r0, r0, #1     </a:t>
                      </a:r>
                      <a:r>
                        <a:rPr kumimoji="0" lang="en-US" sz="1800" kern="1200" dirty="0">
                          <a:solidFill>
                            <a:schemeClr val="bg1">
                              <a:lumMod val="50000"/>
                            </a:schemeClr>
                          </a:solidFill>
                          <a:effectLst/>
                          <a:latin typeface="Consolas" panose="020B0609020204030204" pitchFamily="49" charset="0"/>
                          <a:ea typeface="+mn-ea"/>
                          <a:cs typeface="Consolas" panose="020B0609020204030204" pitchFamily="49" charset="0"/>
                        </a:rPr>
                        <a:t>; str++</a:t>
                      </a:r>
                    </a:p>
                    <a:p>
                      <a:pPr marL="0" marR="0" algn="just">
                        <a:spcBef>
                          <a:spcPts val="0"/>
                        </a:spcBef>
                        <a:spcAft>
                          <a:spcPts val="0"/>
                        </a:spcAft>
                      </a:pPr>
                      <a:r>
                        <a:rPr lang="en-US" sz="1800" dirty="0">
                          <a:effectLst/>
                          <a:latin typeface="Consolas" panose="020B0609020204030204" pitchFamily="49" charset="0"/>
                          <a:cs typeface="Consolas" panose="020B0609020204030204" pitchFamily="49" charset="0"/>
                        </a:rPr>
                        <a:t>        B       loop</a:t>
                      </a:r>
                    </a:p>
                    <a:p>
                      <a:pPr marL="0" marR="0" algn="just">
                        <a:spcBef>
                          <a:spcPts val="0"/>
                        </a:spcBef>
                        <a:spcAft>
                          <a:spcPts val="0"/>
                        </a:spcAft>
                      </a:pPr>
                      <a:r>
                        <a:rPr kumimoji="0" lang="en-US" sz="1800" b="1" kern="1200" dirty="0" err="1">
                          <a:solidFill>
                            <a:srgbClr val="FF0000"/>
                          </a:solidFill>
                          <a:effectLst/>
                          <a:latin typeface="Consolas" panose="020B0609020204030204" pitchFamily="49" charset="0"/>
                          <a:ea typeface="+mn-ea"/>
                          <a:cs typeface="Consolas" panose="020B0609020204030204" pitchFamily="49" charset="0"/>
                        </a:rPr>
                        <a:t>endloop</a:t>
                      </a:r>
                      <a:r>
                        <a:rPr kumimoji="0" lang="en-US" sz="1800" b="1" kern="1200" dirty="0">
                          <a:solidFill>
                            <a:srgbClr val="FF0000"/>
                          </a:solidFill>
                          <a:effectLst/>
                          <a:latin typeface="Consolas" panose="020B0609020204030204" pitchFamily="49" charset="0"/>
                          <a:ea typeface="+mn-ea"/>
                          <a:cs typeface="Consolas" panose="020B0609020204030204" pitchFamily="49" charset="0"/>
                        </a:rPr>
                        <a:t>:</a:t>
                      </a:r>
                    </a:p>
                  </a:txBody>
                  <a:tcPr marL="68580" marR="68580" marT="0" marB="0"/>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2918461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IT (If-Then) instruction </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39</a:t>
            </a:fld>
            <a:endParaRPr kumimoji="0" lang="en-US" dirty="0"/>
          </a:p>
        </p:txBody>
      </p:sp>
      <p:sp>
        <p:nvSpPr>
          <p:cNvPr id="4" name="Content Placeholder 3"/>
          <p:cNvSpPr>
            <a:spLocks noGrp="1"/>
          </p:cNvSpPr>
          <p:nvPr>
            <p:ph sz="quarter" idx="1"/>
          </p:nvPr>
        </p:nvSpPr>
        <p:spPr>
          <a:xfrm>
            <a:off x="609600" y="1158248"/>
            <a:ext cx="11049000" cy="2994085"/>
          </a:xfrm>
        </p:spPr>
        <p:txBody>
          <a:bodyPr>
            <a:noAutofit/>
          </a:bodyPr>
          <a:lstStyle/>
          <a:p>
            <a:r>
              <a:rPr lang="en-US" sz="2000" dirty="0"/>
              <a:t>"IT" (If-Then) instruction in the ARM Thumb-2 instruction set (16 bits) allows conditional execution of up to four instructions based on a condition flag (like EQ, NE, etc.).</a:t>
            </a:r>
          </a:p>
          <a:p>
            <a:r>
              <a:rPr lang="en-US" sz="2000" b="1" dirty="0">
                <a:solidFill>
                  <a:srgbClr val="0000FF"/>
                </a:solidFill>
              </a:rPr>
              <a:t>IT{x{y{z}}} {</a:t>
            </a:r>
            <a:r>
              <a:rPr lang="en-US" sz="2000" b="1" dirty="0" err="1">
                <a:solidFill>
                  <a:srgbClr val="0000FF"/>
                </a:solidFill>
              </a:rPr>
              <a:t>cond</a:t>
            </a:r>
            <a:r>
              <a:rPr lang="en-US" sz="2000" b="1" dirty="0">
                <a:solidFill>
                  <a:srgbClr val="0000FF"/>
                </a:solidFill>
              </a:rPr>
              <a:t>}, </a:t>
            </a:r>
            <a:r>
              <a:rPr lang="en-US" sz="2000" dirty="0"/>
              <a:t>where x, y, and z specify the existence of the optional second, third, and fourth conditional instruction respectively.  x, y, and z are either </a:t>
            </a:r>
            <a:r>
              <a:rPr lang="en-US" sz="2000" dirty="0">
                <a:solidFill>
                  <a:srgbClr val="FF0000"/>
                </a:solidFill>
              </a:rPr>
              <a:t>T</a:t>
            </a:r>
            <a:r>
              <a:rPr lang="en-US" sz="2000" dirty="0"/>
              <a:t> (Then) or </a:t>
            </a:r>
            <a:r>
              <a:rPr lang="en-US" sz="2000" dirty="0">
                <a:solidFill>
                  <a:srgbClr val="FF0000"/>
                </a:solidFill>
              </a:rPr>
              <a:t>E </a:t>
            </a:r>
            <a:r>
              <a:rPr lang="en-US" sz="2000" dirty="0"/>
              <a:t>(Else). T = execute the following instruction if condition is True; E = execute the following instruction if condition is False</a:t>
            </a:r>
          </a:p>
          <a:p>
            <a:pPr lvl="1"/>
            <a:r>
              <a:rPr lang="en-US" sz="1600" dirty="0"/>
              <a:t>IT — 1 following instruction (If)</a:t>
            </a:r>
          </a:p>
          <a:p>
            <a:pPr lvl="1"/>
            <a:r>
              <a:rPr lang="en-US" sz="1600" dirty="0"/>
              <a:t>ITT — 2 following instructions (If-Then)</a:t>
            </a:r>
          </a:p>
          <a:p>
            <a:pPr lvl="1"/>
            <a:r>
              <a:rPr lang="en-US" sz="1600" dirty="0"/>
              <a:t>ITE — 2 following instructions (If-Else)</a:t>
            </a:r>
          </a:p>
          <a:p>
            <a:pPr lvl="1"/>
            <a:r>
              <a:rPr lang="en-US" sz="1600" dirty="0"/>
              <a:t>ITTE, ITEEE, etc. — up to 4 instructions total</a:t>
            </a:r>
          </a:p>
        </p:txBody>
      </p:sp>
      <p:sp>
        <p:nvSpPr>
          <p:cNvPr id="5" name="Rectangle 4"/>
          <p:cNvSpPr/>
          <p:nvPr/>
        </p:nvSpPr>
        <p:spPr>
          <a:xfrm>
            <a:off x="1600200" y="4267200"/>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dirty="0">
                <a:solidFill>
                  <a:srgbClr val="FF0000"/>
                </a:solidFill>
              </a:rPr>
              <a:t>ITTE</a:t>
            </a:r>
            <a:r>
              <a:rPr lang="en-US" sz="1400" dirty="0"/>
              <a:t> NE      ; If-Then-Then-Else</a:t>
            </a:r>
          </a:p>
          <a:p>
            <a:r>
              <a:rPr lang="en-US" sz="1400" dirty="0"/>
              <a:t>    ANDNE r0,r0,r1  ; executed if Not Equal</a:t>
            </a:r>
          </a:p>
          <a:p>
            <a:r>
              <a:rPr lang="en-US" sz="1400" dirty="0"/>
              <a:t>    ADDNE r2,r2,#1  ; executed if Not Equal</a:t>
            </a:r>
          </a:p>
          <a:p>
            <a:r>
              <a:rPr lang="en-US" sz="1400" dirty="0"/>
              <a:t>    MOVEQ r2,r3     ; executed if Equal</a:t>
            </a:r>
          </a:p>
        </p:txBody>
      </p:sp>
      <p:sp>
        <p:nvSpPr>
          <p:cNvPr id="6" name="Rectangle 5"/>
          <p:cNvSpPr/>
          <p:nvPr/>
        </p:nvSpPr>
        <p:spPr>
          <a:xfrm>
            <a:off x="5366746" y="5273383"/>
            <a:ext cx="5237648" cy="1169551"/>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AL             ; AL (Always) condition executes two 16-bit instructions unconditionally; the last ADD is outside the IT block.</a:t>
            </a:r>
          </a:p>
          <a:p>
            <a:r>
              <a:rPr lang="en-US" sz="1400" dirty="0"/>
              <a:t>    ADDAL  r0,r0,r1  ; 16-bit ADD, not ADDS</a:t>
            </a:r>
          </a:p>
          <a:p>
            <a:r>
              <a:rPr lang="en-US" sz="1400" dirty="0"/>
              <a:t>    SUBAL  r2,r2,#1  ; 16-bit SUB, not SUB</a:t>
            </a:r>
          </a:p>
          <a:p>
            <a:r>
              <a:rPr lang="en-US" sz="1400" dirty="0"/>
              <a:t>    ADD     r0,r0,r1   ; expands into 32-bit ADD, and is not in  IT block</a:t>
            </a:r>
          </a:p>
        </p:txBody>
      </p:sp>
      <p:sp>
        <p:nvSpPr>
          <p:cNvPr id="7" name="Rectangle 6"/>
          <p:cNvSpPr/>
          <p:nvPr/>
        </p:nvSpPr>
        <p:spPr>
          <a:xfrm>
            <a:off x="5366746" y="4267200"/>
            <a:ext cx="5237648"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BEQ    </a:t>
            </a:r>
            <a:r>
              <a:rPr lang="en-US" sz="1400" dirty="0" err="1"/>
              <a:t>dloop</a:t>
            </a:r>
            <a:r>
              <a:rPr lang="en-US" sz="1400" dirty="0"/>
              <a:t>     ; branch at end of IT block is permitted</a:t>
            </a:r>
          </a:p>
        </p:txBody>
      </p:sp>
      <p:sp>
        <p:nvSpPr>
          <p:cNvPr id="8" name="Rectangle 7"/>
          <p:cNvSpPr/>
          <p:nvPr/>
        </p:nvSpPr>
        <p:spPr>
          <a:xfrm>
            <a:off x="1600200" y="5280318"/>
            <a:ext cx="3614147" cy="954107"/>
          </a:xfrm>
          <a:prstGeom prst="rect">
            <a:avLst/>
          </a:prstGeom>
        </p:spPr>
        <p:style>
          <a:lnRef idx="2">
            <a:schemeClr val="accent1"/>
          </a:lnRef>
          <a:fillRef idx="1">
            <a:schemeClr val="lt1"/>
          </a:fillRef>
          <a:effectRef idx="0">
            <a:schemeClr val="accent1"/>
          </a:effectRef>
          <a:fontRef idx="minor">
            <a:schemeClr val="dk1"/>
          </a:fontRef>
        </p:style>
        <p:txBody>
          <a:bodyPr wrap="square">
            <a:spAutoFit/>
          </a:bodyPr>
          <a:lstStyle/>
          <a:p>
            <a:r>
              <a:rPr lang="en-US" sz="1400" dirty="0"/>
              <a:t>    </a:t>
            </a:r>
            <a:r>
              <a:rPr lang="en-US" sz="1400" b="1" dirty="0">
                <a:solidFill>
                  <a:srgbClr val="FF0000"/>
                </a:solidFill>
              </a:rPr>
              <a:t>ITT</a:t>
            </a:r>
            <a:r>
              <a:rPr lang="en-US" sz="1400" dirty="0"/>
              <a:t>    EQ ; Executes both instructions only if Equal condition is true</a:t>
            </a:r>
          </a:p>
          <a:p>
            <a:r>
              <a:rPr lang="en-US" sz="1400" dirty="0"/>
              <a:t>    MOVEQ  r0,r1</a:t>
            </a:r>
          </a:p>
          <a:p>
            <a:r>
              <a:rPr lang="en-US" sz="1400" dirty="0"/>
              <a:t>    ADDEQ  r0,r0,#1 </a:t>
            </a:r>
          </a:p>
        </p:txBody>
      </p:sp>
      <p:sp>
        <p:nvSpPr>
          <p:cNvPr id="11" name="TextBox 10">
            <a:extLst>
              <a:ext uri="{FF2B5EF4-FFF2-40B4-BE49-F238E27FC236}">
                <a16:creationId xmlns:a16="http://schemas.microsoft.com/office/drawing/2014/main" id="{5068A1AF-722F-F81B-ABAF-811986421AAA}"/>
              </a:ext>
            </a:extLst>
          </p:cNvPr>
          <p:cNvSpPr txBox="1"/>
          <p:nvPr/>
        </p:nvSpPr>
        <p:spPr>
          <a:xfrm>
            <a:off x="6134100" y="2967335"/>
            <a:ext cx="5257800" cy="92333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dirty="0">
                <a:solidFill>
                  <a:schemeClr val="tx1"/>
                </a:solidFill>
              </a:rPr>
              <a:t>You do not need to write IT instructions in your code. </a:t>
            </a:r>
          </a:p>
          <a:p>
            <a:r>
              <a:rPr lang="en-US" dirty="0">
                <a:solidFill>
                  <a:schemeClr val="tx1"/>
                </a:solidFill>
              </a:rPr>
              <a:t>The assembler generates them for you automatically according to the conditions specified.</a:t>
            </a:r>
          </a:p>
        </p:txBody>
      </p:sp>
    </p:spTree>
    <p:extLst>
      <p:ext uri="{BB962C8B-B14F-4D97-AF65-F5344CB8AC3E}">
        <p14:creationId xmlns:p14="http://schemas.microsoft.com/office/powerpoint/2010/main" val="2075995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3"/>
          <p:cNvSpPr>
            <a:spLocks noGrp="1" noChangeArrowheads="1"/>
          </p:cNvSpPr>
          <p:nvPr>
            <p:ph type="title"/>
          </p:nvPr>
        </p:nvSpPr>
        <p:spPr/>
        <p:txBody>
          <a:bodyPr>
            <a:normAutofit/>
          </a:bodyPr>
          <a:lstStyle/>
          <a:p>
            <a:r>
              <a:rPr lang="en-US" dirty="0"/>
              <a:t>Summary: Condition Codes </a:t>
            </a:r>
          </a:p>
        </p:txBody>
      </p:sp>
      <p:sp>
        <p:nvSpPr>
          <p:cNvPr id="54" name="Slide Number Placeholder 53"/>
          <p:cNvSpPr>
            <a:spLocks noGrp="1"/>
          </p:cNvSpPr>
          <p:nvPr>
            <p:ph type="sldNum" sz="quarter" idx="12"/>
          </p:nvPr>
        </p:nvSpPr>
        <p:spPr/>
        <p:txBody>
          <a:bodyPr/>
          <a:lstStyle/>
          <a:p>
            <a:fld id="{AEE14D4A-FE32-40AF-B06D-E9622816B101}" type="slidenum">
              <a:rPr lang="en-US" smtClean="0"/>
              <a:pPr/>
              <a:t>40</a:t>
            </a:fld>
            <a:endParaRPr lang="en-US"/>
          </a:p>
        </p:txBody>
      </p:sp>
      <p:sp>
        <p:nvSpPr>
          <p:cNvPr id="2" name="Rectangle 1"/>
          <p:cNvSpPr/>
          <p:nvPr/>
        </p:nvSpPr>
        <p:spPr>
          <a:xfrm>
            <a:off x="2914650" y="5765381"/>
            <a:ext cx="6358825" cy="307777"/>
          </a:xfrm>
          <a:prstGeom prst="rect">
            <a:avLst/>
          </a:prstGeom>
        </p:spPr>
        <p:txBody>
          <a:bodyPr wrap="square">
            <a:spAutoFit/>
          </a:bodyPr>
          <a:lstStyle/>
          <a:p>
            <a:pPr lvl="2"/>
            <a:r>
              <a:rPr lang="en-US" sz="1400" i="1" dirty="0"/>
              <a:t>Note AL is the default and does not need to be specified </a:t>
            </a:r>
            <a:endParaRPr lang="en-GB" sz="1400" i="1" dirty="0"/>
          </a:p>
        </p:txBody>
      </p:sp>
      <p:grpSp>
        <p:nvGrpSpPr>
          <p:cNvPr id="4" name="Group 3"/>
          <p:cNvGrpSpPr/>
          <p:nvPr/>
        </p:nvGrpSpPr>
        <p:grpSpPr>
          <a:xfrm>
            <a:off x="2914650" y="1412357"/>
            <a:ext cx="6362700" cy="4241801"/>
            <a:chOff x="1423974" y="1779588"/>
            <a:chExt cx="6362700" cy="4241801"/>
          </a:xfrm>
        </p:grpSpPr>
        <p:sp>
          <p:nvSpPr>
            <p:cNvPr id="14342" name="Rectangle 5"/>
            <p:cNvSpPr>
              <a:spLocks noChangeArrowheads="1"/>
            </p:cNvSpPr>
            <p:nvPr/>
          </p:nvSpPr>
          <p:spPr bwMode="auto">
            <a:xfrm>
              <a:off x="2696971" y="2309813"/>
              <a:ext cx="3435035" cy="265113"/>
            </a:xfrm>
            <a:prstGeom prst="rect">
              <a:avLst/>
            </a:prstGeom>
            <a:noFill/>
            <a:ln w="12700">
              <a:solidFill>
                <a:schemeClr val="tx1"/>
              </a:solidFill>
              <a:miter lim="800000"/>
              <a:headEnd/>
              <a:tailEnd/>
            </a:ln>
          </p:spPr>
          <p:txBody>
            <a:bodyPr wrap="none" anchor="ctr"/>
            <a:lstStyle/>
            <a:p>
              <a:r>
                <a:rPr lang="en-US" b="1" dirty="0">
                  <a:solidFill>
                    <a:srgbClr val="FF0000"/>
                  </a:solidFill>
                  <a:latin typeface="Consolas" panose="020B0609020204030204" pitchFamily="49" charset="0"/>
                  <a:cs typeface="Consolas" panose="020B0609020204030204" pitchFamily="49" charset="0"/>
                </a:rPr>
                <a:t>N</a:t>
              </a:r>
              <a:r>
                <a:rPr lang="en-US" dirty="0">
                  <a:latin typeface="Consolas" panose="020B0609020204030204" pitchFamily="49" charset="0"/>
                  <a:cs typeface="Consolas" panose="020B0609020204030204" pitchFamily="49" charset="0"/>
                </a:rPr>
                <a:t>ot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43" name="Rectangle 6"/>
            <p:cNvSpPr>
              <a:spLocks noChangeArrowheads="1"/>
            </p:cNvSpPr>
            <p:nvPr/>
          </p:nvSpPr>
          <p:spPr bwMode="auto">
            <a:xfrm>
              <a:off x="2696971" y="25749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H</a:t>
              </a:r>
              <a:r>
                <a:rPr lang="en-US" dirty="0">
                  <a:latin typeface="Consolas" panose="020B0609020204030204" pitchFamily="49" charset="0"/>
                  <a:cs typeface="Consolas" panose="020B0609020204030204" pitchFamily="49" charset="0"/>
                </a:rPr>
                <a:t>igher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44" name="Rectangle 7"/>
            <p:cNvSpPr>
              <a:spLocks noChangeArrowheads="1"/>
            </p:cNvSpPr>
            <p:nvPr/>
          </p:nvSpPr>
          <p:spPr bwMode="auto">
            <a:xfrm>
              <a:off x="2696971" y="28400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LO</a:t>
              </a:r>
              <a:r>
                <a:rPr lang="en-US" dirty="0" err="1">
                  <a:latin typeface="Consolas" panose="020B0609020204030204" pitchFamily="49" charset="0"/>
                  <a:cs typeface="Consolas" panose="020B0609020204030204" pitchFamily="49" charset="0"/>
                </a:rPr>
                <a:t>wer</a:t>
              </a:r>
              <a:endParaRPr lang="en-US" dirty="0">
                <a:latin typeface="Consolas" panose="020B0609020204030204" pitchFamily="49" charset="0"/>
                <a:cs typeface="Consolas" panose="020B0609020204030204" pitchFamily="49" charset="0"/>
              </a:endParaRPr>
            </a:p>
          </p:txBody>
        </p:sp>
        <p:sp>
          <p:nvSpPr>
            <p:cNvPr id="14345" name="Rectangle 8"/>
            <p:cNvSpPr>
              <a:spLocks noChangeArrowheads="1"/>
            </p:cNvSpPr>
            <p:nvPr/>
          </p:nvSpPr>
          <p:spPr bwMode="auto">
            <a:xfrm>
              <a:off x="2696971" y="310515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MI</a:t>
              </a:r>
              <a:r>
                <a:rPr lang="en-US" dirty="0" err="1">
                  <a:latin typeface="Consolas" panose="020B0609020204030204" pitchFamily="49" charset="0"/>
                  <a:cs typeface="Consolas" panose="020B0609020204030204" pitchFamily="49" charset="0"/>
                </a:rPr>
                <a:t>nus</a:t>
              </a:r>
              <a:r>
                <a:rPr lang="en-US" dirty="0">
                  <a:latin typeface="Consolas" panose="020B0609020204030204" pitchFamily="49" charset="0"/>
                  <a:cs typeface="Consolas" panose="020B0609020204030204" pitchFamily="49" charset="0"/>
                </a:rPr>
                <a:t> (Negative)</a:t>
              </a:r>
            </a:p>
          </p:txBody>
        </p:sp>
        <p:sp>
          <p:nvSpPr>
            <p:cNvPr id="14346" name="Rectangle 9"/>
            <p:cNvSpPr>
              <a:spLocks noChangeArrowheads="1"/>
            </p:cNvSpPr>
            <p:nvPr/>
          </p:nvSpPr>
          <p:spPr bwMode="auto">
            <a:xfrm>
              <a:off x="2696971" y="2044701"/>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EQ</a:t>
              </a:r>
              <a:r>
                <a:rPr lang="en-US" dirty="0" err="1">
                  <a:latin typeface="Consolas" panose="020B0609020204030204" pitchFamily="49" charset="0"/>
                  <a:cs typeface="Consolas" panose="020B0609020204030204" pitchFamily="49" charset="0"/>
                </a:rPr>
                <a:t>ual</a:t>
              </a:r>
              <a:endParaRPr lang="en-US" dirty="0">
                <a:latin typeface="Consolas" panose="020B0609020204030204" pitchFamily="49" charset="0"/>
                <a:cs typeface="Consolas" panose="020B0609020204030204" pitchFamily="49" charset="0"/>
              </a:endParaRPr>
            </a:p>
          </p:txBody>
        </p:sp>
        <p:sp>
          <p:nvSpPr>
            <p:cNvPr id="14347" name="Rectangle 10"/>
            <p:cNvSpPr>
              <a:spLocks noChangeArrowheads="1"/>
            </p:cNvSpPr>
            <p:nvPr/>
          </p:nvSpPr>
          <p:spPr bwMode="auto">
            <a:xfrm>
              <a:off x="2696971" y="3635376"/>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et</a:t>
              </a:r>
            </a:p>
          </p:txBody>
        </p:sp>
        <p:sp>
          <p:nvSpPr>
            <p:cNvPr id="14348" name="Rectangle 11"/>
            <p:cNvSpPr>
              <a:spLocks noChangeArrowheads="1"/>
            </p:cNvSpPr>
            <p:nvPr/>
          </p:nvSpPr>
          <p:spPr bwMode="auto">
            <a:xfrm>
              <a:off x="2696971" y="3900488"/>
              <a:ext cx="3435035" cy="265113"/>
            </a:xfrm>
            <a:prstGeom prst="rect">
              <a:avLst/>
            </a:prstGeom>
            <a:noFill/>
            <a:ln w="12700">
              <a:solidFill>
                <a:schemeClr val="tx1"/>
              </a:solidFill>
              <a:miter lim="800000"/>
              <a:headEnd/>
              <a:tailEnd/>
            </a:ln>
          </p:spPr>
          <p:txBody>
            <a:bodyPr wrap="none" anchor="ctr"/>
            <a:lstStyle/>
            <a:p>
              <a:r>
                <a:rPr lang="en-US" dirty="0" err="1">
                  <a:latin typeface="Consolas" panose="020B0609020204030204" pitchFamily="49" charset="0"/>
                  <a:cs typeface="Consolas" panose="020B0609020204030204" pitchFamily="49" charset="0"/>
                </a:rPr>
                <a:t>o</a:t>
              </a:r>
              <a:r>
                <a:rPr lang="en-US" b="1" dirty="0" err="1">
                  <a:solidFill>
                    <a:srgbClr val="FF0000"/>
                  </a:solidFill>
                  <a:latin typeface="Consolas" panose="020B0609020204030204" pitchFamily="49" charset="0"/>
                  <a:cs typeface="Consolas" panose="020B0609020204030204" pitchFamily="49" charset="0"/>
                </a:rPr>
                <a:t>V</a:t>
              </a:r>
              <a:r>
                <a:rPr lang="en-US" dirty="0" err="1">
                  <a:latin typeface="Consolas" panose="020B0609020204030204" pitchFamily="49" charset="0"/>
                  <a:cs typeface="Consolas" panose="020B0609020204030204" pitchFamily="49" charset="0"/>
                </a:rPr>
                <a:t>erflow</a:t>
              </a:r>
              <a:r>
                <a:rPr lang="en-US" dirty="0">
                  <a:latin typeface="Consolas" panose="020B0609020204030204" pitchFamily="49" charset="0"/>
                  <a:cs typeface="Consolas" panose="020B0609020204030204" pitchFamily="49" charset="0"/>
                </a:rPr>
                <a:t> </a:t>
              </a:r>
              <a:r>
                <a:rPr lang="en-US" b="1" dirty="0">
                  <a:solidFill>
                    <a:srgbClr val="FF0000"/>
                  </a:solidFill>
                  <a:latin typeface="Consolas" panose="020B0609020204030204" pitchFamily="49" charset="0"/>
                  <a:cs typeface="Consolas" panose="020B0609020204030204" pitchFamily="49" charset="0"/>
                </a:rPr>
                <a:t>C</a:t>
              </a:r>
              <a:r>
                <a:rPr lang="en-US" dirty="0">
                  <a:latin typeface="Consolas" panose="020B0609020204030204" pitchFamily="49" charset="0"/>
                  <a:cs typeface="Consolas" panose="020B0609020204030204" pitchFamily="49" charset="0"/>
                </a:rPr>
                <a:t>leared</a:t>
              </a:r>
            </a:p>
          </p:txBody>
        </p:sp>
        <p:sp>
          <p:nvSpPr>
            <p:cNvPr id="14349" name="Rectangle 12"/>
            <p:cNvSpPr>
              <a:spLocks noChangeArrowheads="1"/>
            </p:cNvSpPr>
            <p:nvPr/>
          </p:nvSpPr>
          <p:spPr bwMode="auto">
            <a:xfrm>
              <a:off x="2696971" y="416560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err="1">
                  <a:solidFill>
                    <a:srgbClr val="FF0000"/>
                  </a:solidFill>
                  <a:latin typeface="Consolas" panose="020B0609020204030204" pitchFamily="49" charset="0"/>
                  <a:cs typeface="Consolas" panose="020B0609020204030204" pitchFamily="49" charset="0"/>
                </a:rPr>
                <a:t>HI</a:t>
              </a:r>
              <a:r>
                <a:rPr lang="en-US" dirty="0" err="1">
                  <a:latin typeface="Consolas" panose="020B0609020204030204" pitchFamily="49" charset="0"/>
                  <a:cs typeface="Consolas" panose="020B0609020204030204" pitchFamily="49" charset="0"/>
                </a:rPr>
                <a:t>gher</a:t>
              </a:r>
              <a:endParaRPr lang="en-US" dirty="0">
                <a:latin typeface="Consolas" panose="020B0609020204030204" pitchFamily="49" charset="0"/>
                <a:cs typeface="Consolas" panose="020B0609020204030204" pitchFamily="49" charset="0"/>
              </a:endParaRPr>
            </a:p>
          </p:txBody>
        </p:sp>
        <p:sp>
          <p:nvSpPr>
            <p:cNvPr id="14350" name="Rectangle 13"/>
            <p:cNvSpPr>
              <a:spLocks noChangeArrowheads="1"/>
            </p:cNvSpPr>
            <p:nvPr/>
          </p:nvSpPr>
          <p:spPr bwMode="auto">
            <a:xfrm>
              <a:off x="2696971" y="443071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Unsigned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ower or </a:t>
              </a:r>
              <a:r>
                <a:rPr lang="en-US" b="1" dirty="0">
                  <a:solidFill>
                    <a:srgbClr val="FF0000"/>
                  </a:solidFill>
                  <a:latin typeface="Consolas" panose="020B0609020204030204" pitchFamily="49" charset="0"/>
                  <a:cs typeface="Consolas" panose="020B0609020204030204" pitchFamily="49" charset="0"/>
                </a:rPr>
                <a:t>S</a:t>
              </a:r>
              <a:r>
                <a:rPr lang="en-US" dirty="0">
                  <a:latin typeface="Consolas" panose="020B0609020204030204" pitchFamily="49" charset="0"/>
                  <a:cs typeface="Consolas" panose="020B0609020204030204" pitchFamily="49" charset="0"/>
                </a:rPr>
                <a:t>ame</a:t>
              </a:r>
            </a:p>
          </p:txBody>
        </p:sp>
        <p:sp>
          <p:nvSpPr>
            <p:cNvPr id="14351" name="Rectangle 14"/>
            <p:cNvSpPr>
              <a:spLocks noChangeArrowheads="1"/>
            </p:cNvSpPr>
            <p:nvPr/>
          </p:nvSpPr>
          <p:spPr bwMode="auto">
            <a:xfrm>
              <a:off x="2696971" y="3370263"/>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PL</a:t>
              </a:r>
              <a:r>
                <a:rPr lang="en-US" dirty="0" err="1">
                  <a:latin typeface="Consolas" panose="020B0609020204030204" pitchFamily="49" charset="0"/>
                  <a:cs typeface="Consolas" panose="020B0609020204030204" pitchFamily="49" charset="0"/>
                </a:rPr>
                <a:t>us</a:t>
              </a:r>
              <a:r>
                <a:rPr lang="en-US" dirty="0">
                  <a:latin typeface="Consolas" panose="020B0609020204030204" pitchFamily="49" charset="0"/>
                  <a:cs typeface="Consolas" panose="020B0609020204030204" pitchFamily="49" charset="0"/>
                </a:rPr>
                <a:t> (Positive or Zero)</a:t>
              </a:r>
            </a:p>
          </p:txBody>
        </p:sp>
        <p:sp>
          <p:nvSpPr>
            <p:cNvPr id="14352" name="Rectangle 15"/>
            <p:cNvSpPr>
              <a:spLocks noChangeArrowheads="1"/>
            </p:cNvSpPr>
            <p:nvPr/>
          </p:nvSpPr>
          <p:spPr bwMode="auto">
            <a:xfrm>
              <a:off x="2696971" y="4960938"/>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3" name="Rectangle 16"/>
            <p:cNvSpPr>
              <a:spLocks noChangeArrowheads="1"/>
            </p:cNvSpPr>
            <p:nvPr/>
          </p:nvSpPr>
          <p:spPr bwMode="auto">
            <a:xfrm>
              <a:off x="2696971" y="5226051"/>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a:t>
              </a:r>
              <a:r>
                <a:rPr lang="en-US" b="1" dirty="0">
                  <a:solidFill>
                    <a:srgbClr val="FF0000"/>
                  </a:solidFill>
                  <a:latin typeface="Consolas" panose="020B0609020204030204" pitchFamily="49" charset="0"/>
                  <a:cs typeface="Consolas" panose="020B0609020204030204" pitchFamily="49" charset="0"/>
                </a:rPr>
                <a:t>T</a:t>
              </a:r>
              <a:r>
                <a:rPr lang="en-US" dirty="0">
                  <a:latin typeface="Consolas" panose="020B0609020204030204" pitchFamily="49" charset="0"/>
                  <a:cs typeface="Consolas" panose="020B0609020204030204" pitchFamily="49" charset="0"/>
                </a:rPr>
                <a:t>han</a:t>
              </a:r>
            </a:p>
          </p:txBody>
        </p:sp>
        <p:sp>
          <p:nvSpPr>
            <p:cNvPr id="14354" name="Rectangle 17"/>
            <p:cNvSpPr>
              <a:spLocks noChangeArrowheads="1"/>
            </p:cNvSpPr>
            <p:nvPr/>
          </p:nvSpPr>
          <p:spPr bwMode="auto">
            <a:xfrm>
              <a:off x="2696971" y="5491163"/>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L</a:t>
              </a:r>
              <a:r>
                <a:rPr lang="en-US" dirty="0">
                  <a:latin typeface="Consolas" panose="020B0609020204030204" pitchFamily="49" charset="0"/>
                  <a:cs typeface="Consolas" panose="020B0609020204030204" pitchFamily="49" charset="0"/>
                </a:rPr>
                <a:t>ess than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5" name="Rectangle 18"/>
            <p:cNvSpPr>
              <a:spLocks noChangeArrowheads="1"/>
            </p:cNvSpPr>
            <p:nvPr/>
          </p:nvSpPr>
          <p:spPr bwMode="auto">
            <a:xfrm>
              <a:off x="2696971" y="5756276"/>
              <a:ext cx="3435035" cy="265113"/>
            </a:xfrm>
            <a:prstGeom prst="rect">
              <a:avLst/>
            </a:prstGeom>
            <a:noFill/>
            <a:ln w="12700">
              <a:solidFill>
                <a:schemeClr val="tx1"/>
              </a:solidFill>
              <a:miter lim="800000"/>
              <a:headEnd/>
              <a:tailEnd/>
            </a:ln>
          </p:spPr>
          <p:txBody>
            <a:bodyPr wrap="none" anchor="ctr"/>
            <a:lstStyle/>
            <a:p>
              <a:r>
                <a:rPr lang="en-US" b="1" dirty="0" err="1">
                  <a:solidFill>
                    <a:srgbClr val="FF0000"/>
                  </a:solidFill>
                  <a:latin typeface="Consolas" panose="020B0609020204030204" pitchFamily="49" charset="0"/>
                  <a:cs typeface="Consolas" panose="020B0609020204030204" pitchFamily="49" charset="0"/>
                </a:rPr>
                <a:t>AL</a:t>
              </a:r>
              <a:r>
                <a:rPr lang="en-US" dirty="0" err="1">
                  <a:latin typeface="Consolas" panose="020B0609020204030204" pitchFamily="49" charset="0"/>
                  <a:cs typeface="Consolas" panose="020B0609020204030204" pitchFamily="49" charset="0"/>
                </a:rPr>
                <a:t>ways</a:t>
              </a:r>
              <a:endParaRPr lang="en-US" dirty="0">
                <a:latin typeface="Consolas" panose="020B0609020204030204" pitchFamily="49" charset="0"/>
                <a:cs typeface="Consolas" panose="020B0609020204030204" pitchFamily="49" charset="0"/>
              </a:endParaRPr>
            </a:p>
          </p:txBody>
        </p:sp>
        <p:sp>
          <p:nvSpPr>
            <p:cNvPr id="14356" name="Rectangle 19"/>
            <p:cNvSpPr>
              <a:spLocks noChangeArrowheads="1"/>
            </p:cNvSpPr>
            <p:nvPr/>
          </p:nvSpPr>
          <p:spPr bwMode="auto">
            <a:xfrm>
              <a:off x="2696971" y="4695826"/>
              <a:ext cx="3435035" cy="265113"/>
            </a:xfrm>
            <a:prstGeom prst="rect">
              <a:avLst/>
            </a:prstGeom>
            <a:noFill/>
            <a:ln w="12700">
              <a:solidFill>
                <a:schemeClr val="tx1"/>
              </a:solidFill>
              <a:miter lim="800000"/>
              <a:headEnd/>
              <a:tailEnd/>
            </a:ln>
          </p:spPr>
          <p:txBody>
            <a:bodyPr wrap="none" anchor="ctr"/>
            <a:lstStyle/>
            <a:p>
              <a:r>
                <a:rPr lang="en-US" dirty="0">
                  <a:latin typeface="Consolas" panose="020B0609020204030204" pitchFamily="49" charset="0"/>
                  <a:cs typeface="Consolas" panose="020B0609020204030204" pitchFamily="49" charset="0"/>
                </a:rPr>
                <a:t>Signed </a:t>
              </a:r>
              <a:r>
                <a:rPr lang="en-US" b="1" dirty="0">
                  <a:solidFill>
                    <a:srgbClr val="FF0000"/>
                  </a:solidFill>
                  <a:latin typeface="Consolas" panose="020B0609020204030204" pitchFamily="49" charset="0"/>
                  <a:cs typeface="Consolas" panose="020B0609020204030204" pitchFamily="49" charset="0"/>
                </a:rPr>
                <a:t>G</a:t>
              </a:r>
              <a:r>
                <a:rPr lang="en-US" dirty="0">
                  <a:latin typeface="Consolas" panose="020B0609020204030204" pitchFamily="49" charset="0"/>
                  <a:cs typeface="Consolas" panose="020B0609020204030204" pitchFamily="49" charset="0"/>
                </a:rPr>
                <a:t>reater or </a:t>
              </a:r>
              <a:r>
                <a:rPr lang="en-US" b="1" dirty="0">
                  <a:solidFill>
                    <a:srgbClr val="FF0000"/>
                  </a:solidFill>
                  <a:latin typeface="Consolas" panose="020B0609020204030204" pitchFamily="49" charset="0"/>
                  <a:cs typeface="Consolas" panose="020B0609020204030204" pitchFamily="49" charset="0"/>
                </a:rPr>
                <a:t>E</a:t>
              </a:r>
              <a:r>
                <a:rPr lang="en-US" dirty="0">
                  <a:latin typeface="Consolas" panose="020B0609020204030204" pitchFamily="49" charset="0"/>
                  <a:cs typeface="Consolas" panose="020B0609020204030204" pitchFamily="49" charset="0"/>
                </a:rPr>
                <a:t>qual</a:t>
              </a:r>
            </a:p>
          </p:txBody>
        </p:sp>
        <p:sp>
          <p:nvSpPr>
            <p:cNvPr id="14357" name="Rectangle 20"/>
            <p:cNvSpPr>
              <a:spLocks noChangeArrowheads="1"/>
            </p:cNvSpPr>
            <p:nvPr/>
          </p:nvSpPr>
          <p:spPr bwMode="auto">
            <a:xfrm>
              <a:off x="1423974" y="20447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EQ</a:t>
              </a:r>
            </a:p>
          </p:txBody>
        </p:sp>
        <p:sp>
          <p:nvSpPr>
            <p:cNvPr id="14358" name="Rectangle 21"/>
            <p:cNvSpPr>
              <a:spLocks noChangeArrowheads="1"/>
            </p:cNvSpPr>
            <p:nvPr/>
          </p:nvSpPr>
          <p:spPr bwMode="auto">
            <a:xfrm>
              <a:off x="1423974" y="23098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NE</a:t>
              </a:r>
            </a:p>
          </p:txBody>
        </p:sp>
        <p:sp>
          <p:nvSpPr>
            <p:cNvPr id="14359" name="Rectangle 22"/>
            <p:cNvSpPr>
              <a:spLocks noChangeArrowheads="1"/>
            </p:cNvSpPr>
            <p:nvPr/>
          </p:nvSpPr>
          <p:spPr bwMode="auto">
            <a:xfrm>
              <a:off x="1423974" y="25749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CS/HS</a:t>
              </a:r>
            </a:p>
          </p:txBody>
        </p:sp>
        <p:sp>
          <p:nvSpPr>
            <p:cNvPr id="14360" name="Rectangle 23"/>
            <p:cNvSpPr>
              <a:spLocks noChangeArrowheads="1"/>
            </p:cNvSpPr>
            <p:nvPr/>
          </p:nvSpPr>
          <p:spPr bwMode="auto">
            <a:xfrm>
              <a:off x="1423974" y="28400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CC/LO</a:t>
              </a:r>
            </a:p>
          </p:txBody>
        </p:sp>
        <p:sp>
          <p:nvSpPr>
            <p:cNvPr id="14361" name="Rectangle 24"/>
            <p:cNvSpPr>
              <a:spLocks noChangeArrowheads="1"/>
            </p:cNvSpPr>
            <p:nvPr/>
          </p:nvSpPr>
          <p:spPr bwMode="auto">
            <a:xfrm>
              <a:off x="1423974" y="33702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PL</a:t>
              </a:r>
            </a:p>
          </p:txBody>
        </p:sp>
        <p:sp>
          <p:nvSpPr>
            <p:cNvPr id="14362" name="Rectangle 25"/>
            <p:cNvSpPr>
              <a:spLocks noChangeArrowheads="1"/>
            </p:cNvSpPr>
            <p:nvPr/>
          </p:nvSpPr>
          <p:spPr bwMode="auto">
            <a:xfrm>
              <a:off x="1423974" y="36353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VS</a:t>
              </a:r>
            </a:p>
          </p:txBody>
        </p:sp>
        <p:sp>
          <p:nvSpPr>
            <p:cNvPr id="14363" name="Rectangle 26"/>
            <p:cNvSpPr>
              <a:spLocks noChangeArrowheads="1"/>
            </p:cNvSpPr>
            <p:nvPr/>
          </p:nvSpPr>
          <p:spPr bwMode="auto">
            <a:xfrm>
              <a:off x="1423974" y="416560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HI</a:t>
              </a:r>
            </a:p>
          </p:txBody>
        </p:sp>
        <p:sp>
          <p:nvSpPr>
            <p:cNvPr id="14364" name="Rectangle 27"/>
            <p:cNvSpPr>
              <a:spLocks noChangeArrowheads="1"/>
            </p:cNvSpPr>
            <p:nvPr/>
          </p:nvSpPr>
          <p:spPr bwMode="auto">
            <a:xfrm>
              <a:off x="1423974" y="443071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LS</a:t>
              </a:r>
            </a:p>
          </p:txBody>
        </p:sp>
        <p:sp>
          <p:nvSpPr>
            <p:cNvPr id="14365" name="Rectangle 28"/>
            <p:cNvSpPr>
              <a:spLocks noChangeArrowheads="1"/>
            </p:cNvSpPr>
            <p:nvPr/>
          </p:nvSpPr>
          <p:spPr bwMode="auto">
            <a:xfrm>
              <a:off x="1423974" y="469582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GE</a:t>
              </a:r>
            </a:p>
          </p:txBody>
        </p:sp>
        <p:sp>
          <p:nvSpPr>
            <p:cNvPr id="14366" name="Rectangle 29"/>
            <p:cNvSpPr>
              <a:spLocks noChangeArrowheads="1"/>
            </p:cNvSpPr>
            <p:nvPr/>
          </p:nvSpPr>
          <p:spPr bwMode="auto">
            <a:xfrm>
              <a:off x="1423974" y="496093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LT</a:t>
              </a:r>
            </a:p>
          </p:txBody>
        </p:sp>
        <p:sp>
          <p:nvSpPr>
            <p:cNvPr id="14367" name="Rectangle 30"/>
            <p:cNvSpPr>
              <a:spLocks noChangeArrowheads="1"/>
            </p:cNvSpPr>
            <p:nvPr/>
          </p:nvSpPr>
          <p:spPr bwMode="auto">
            <a:xfrm>
              <a:off x="1423974" y="52260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GT</a:t>
              </a:r>
            </a:p>
          </p:txBody>
        </p:sp>
        <p:sp>
          <p:nvSpPr>
            <p:cNvPr id="14368" name="Rectangle 31"/>
            <p:cNvSpPr>
              <a:spLocks noChangeArrowheads="1"/>
            </p:cNvSpPr>
            <p:nvPr/>
          </p:nvSpPr>
          <p:spPr bwMode="auto">
            <a:xfrm>
              <a:off x="1423974" y="5491163"/>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LE</a:t>
              </a:r>
            </a:p>
          </p:txBody>
        </p:sp>
        <p:sp>
          <p:nvSpPr>
            <p:cNvPr id="14369" name="Rectangle 32"/>
            <p:cNvSpPr>
              <a:spLocks noChangeArrowheads="1"/>
            </p:cNvSpPr>
            <p:nvPr/>
          </p:nvSpPr>
          <p:spPr bwMode="auto">
            <a:xfrm>
              <a:off x="1423974" y="5756276"/>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AL</a:t>
              </a:r>
            </a:p>
          </p:txBody>
        </p:sp>
        <p:sp>
          <p:nvSpPr>
            <p:cNvPr id="14370" name="Rectangle 33"/>
            <p:cNvSpPr>
              <a:spLocks noChangeArrowheads="1"/>
            </p:cNvSpPr>
            <p:nvPr/>
          </p:nvSpPr>
          <p:spPr bwMode="auto">
            <a:xfrm>
              <a:off x="1423974" y="3105151"/>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MI</a:t>
              </a:r>
            </a:p>
          </p:txBody>
        </p:sp>
        <p:sp>
          <p:nvSpPr>
            <p:cNvPr id="14371" name="Rectangle 34"/>
            <p:cNvSpPr>
              <a:spLocks noChangeArrowheads="1"/>
            </p:cNvSpPr>
            <p:nvPr/>
          </p:nvSpPr>
          <p:spPr bwMode="auto">
            <a:xfrm>
              <a:off x="1423974" y="3900488"/>
              <a:ext cx="1272997" cy="265113"/>
            </a:xfrm>
            <a:prstGeom prst="rect">
              <a:avLst/>
            </a:prstGeom>
            <a:noFill/>
            <a:ln w="12700">
              <a:solidFill>
                <a:schemeClr val="tx1"/>
              </a:solidFill>
              <a:miter lim="800000"/>
              <a:headEnd/>
              <a:tailEnd/>
            </a:ln>
          </p:spPr>
          <p:txBody>
            <a:bodyPr wrap="none" anchor="ctr"/>
            <a:lstStyle/>
            <a:p>
              <a:pPr algn="ctr"/>
              <a:r>
                <a:rPr lang="en-US" sz="2000" b="1" dirty="0">
                  <a:solidFill>
                    <a:srgbClr val="FF0000"/>
                  </a:solidFill>
                  <a:latin typeface="Consolas" panose="020B0609020204030204" pitchFamily="49" charset="0"/>
                  <a:cs typeface="Consolas" panose="020B0609020204030204" pitchFamily="49" charset="0"/>
                </a:rPr>
                <a:t>VC</a:t>
              </a:r>
            </a:p>
          </p:txBody>
        </p:sp>
        <p:sp>
          <p:nvSpPr>
            <p:cNvPr id="14372" name="Rectangle 35"/>
            <p:cNvSpPr>
              <a:spLocks noChangeArrowheads="1"/>
            </p:cNvSpPr>
            <p:nvPr/>
          </p:nvSpPr>
          <p:spPr bwMode="auto">
            <a:xfrm>
              <a:off x="1423974" y="1779588"/>
              <a:ext cx="1272997" cy="265113"/>
            </a:xfrm>
            <a:prstGeom prst="rect">
              <a:avLst/>
            </a:prstGeom>
            <a:solidFill>
              <a:schemeClr val="accent1"/>
            </a:solidFill>
            <a:ln w="12700">
              <a:solidFill>
                <a:schemeClr val="tx1"/>
              </a:solidFill>
              <a:miter lim="800000"/>
              <a:headEnd/>
              <a:tailEnd/>
            </a:ln>
          </p:spPr>
          <p:txBody>
            <a:bodyPr wrap="none" anchor="ctr"/>
            <a:lstStyle/>
            <a:p>
              <a:pPr algn="ctr"/>
              <a:r>
                <a:rPr lang="en-US" b="1" dirty="0">
                  <a:solidFill>
                    <a:schemeClr val="bg1"/>
                  </a:solidFill>
                  <a:latin typeface="Consolas" panose="020B0609020204030204" pitchFamily="49" charset="0"/>
                  <a:cs typeface="Consolas" panose="020B0609020204030204" pitchFamily="49" charset="0"/>
                </a:rPr>
                <a:t>Suffix</a:t>
              </a:r>
            </a:p>
          </p:txBody>
        </p:sp>
        <p:sp>
          <p:nvSpPr>
            <p:cNvPr id="14373" name="Rectangle 36"/>
            <p:cNvSpPr>
              <a:spLocks noChangeArrowheads="1"/>
            </p:cNvSpPr>
            <p:nvPr/>
          </p:nvSpPr>
          <p:spPr bwMode="auto">
            <a:xfrm>
              <a:off x="2696971" y="1779588"/>
              <a:ext cx="3435035"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Description</a:t>
              </a:r>
            </a:p>
          </p:txBody>
        </p:sp>
        <p:sp>
          <p:nvSpPr>
            <p:cNvPr id="14374" name="Rectangle 37"/>
            <p:cNvSpPr>
              <a:spLocks noChangeArrowheads="1"/>
            </p:cNvSpPr>
            <p:nvPr/>
          </p:nvSpPr>
          <p:spPr bwMode="auto">
            <a:xfrm>
              <a:off x="6132006" y="230981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Z=0</a:t>
              </a:r>
            </a:p>
          </p:txBody>
        </p:sp>
        <p:sp>
          <p:nvSpPr>
            <p:cNvPr id="14375" name="Rectangle 38"/>
            <p:cNvSpPr>
              <a:spLocks noChangeArrowheads="1"/>
            </p:cNvSpPr>
            <p:nvPr/>
          </p:nvSpPr>
          <p:spPr bwMode="auto">
            <a:xfrm>
              <a:off x="6132006" y="257492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a:t>
              </a:r>
            </a:p>
          </p:txBody>
        </p:sp>
        <p:sp>
          <p:nvSpPr>
            <p:cNvPr id="14376" name="Rectangle 39"/>
            <p:cNvSpPr>
              <a:spLocks noChangeArrowheads="1"/>
            </p:cNvSpPr>
            <p:nvPr/>
          </p:nvSpPr>
          <p:spPr bwMode="auto">
            <a:xfrm>
              <a:off x="6132006" y="284003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C=0</a:t>
              </a:r>
            </a:p>
          </p:txBody>
        </p:sp>
        <p:sp>
          <p:nvSpPr>
            <p:cNvPr id="14377" name="Rectangle 40"/>
            <p:cNvSpPr>
              <a:spLocks noChangeArrowheads="1"/>
            </p:cNvSpPr>
            <p:nvPr/>
          </p:nvSpPr>
          <p:spPr bwMode="auto">
            <a:xfrm>
              <a:off x="6132006" y="20447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a:t>
              </a:r>
            </a:p>
          </p:txBody>
        </p:sp>
        <p:sp>
          <p:nvSpPr>
            <p:cNvPr id="14378" name="Rectangle 41"/>
            <p:cNvSpPr>
              <a:spLocks noChangeArrowheads="1"/>
            </p:cNvSpPr>
            <p:nvPr/>
          </p:nvSpPr>
          <p:spPr bwMode="auto">
            <a:xfrm>
              <a:off x="6132006" y="1779588"/>
              <a:ext cx="1654668" cy="265113"/>
            </a:xfrm>
            <a:prstGeom prst="rect">
              <a:avLst/>
            </a:prstGeom>
            <a:solidFill>
              <a:schemeClr val="accent1"/>
            </a:solidFill>
            <a:ln w="12700">
              <a:solidFill>
                <a:schemeClr val="tx1"/>
              </a:solidFill>
              <a:miter lim="800000"/>
              <a:headEnd/>
              <a:tailEnd/>
            </a:ln>
          </p:spPr>
          <p:txBody>
            <a:bodyPr wrap="none" anchor="ctr"/>
            <a:lstStyle/>
            <a:p>
              <a:r>
                <a:rPr lang="en-US" b="1" dirty="0">
                  <a:solidFill>
                    <a:schemeClr val="bg1"/>
                  </a:solidFill>
                  <a:latin typeface="Consolas" panose="020B0609020204030204" pitchFamily="49" charset="0"/>
                  <a:cs typeface="Consolas" panose="020B0609020204030204" pitchFamily="49" charset="0"/>
                </a:rPr>
                <a:t>Flags tested</a:t>
              </a:r>
            </a:p>
          </p:txBody>
        </p:sp>
        <p:sp>
          <p:nvSpPr>
            <p:cNvPr id="14379" name="Rectangle 42"/>
            <p:cNvSpPr>
              <a:spLocks noChangeArrowheads="1"/>
            </p:cNvSpPr>
            <p:nvPr/>
          </p:nvSpPr>
          <p:spPr bwMode="auto">
            <a:xfrm>
              <a:off x="6132006" y="310515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N=1</a:t>
              </a:r>
            </a:p>
          </p:txBody>
        </p:sp>
        <p:sp>
          <p:nvSpPr>
            <p:cNvPr id="14380" name="Rectangle 43"/>
            <p:cNvSpPr>
              <a:spLocks noChangeArrowheads="1"/>
            </p:cNvSpPr>
            <p:nvPr/>
          </p:nvSpPr>
          <p:spPr bwMode="auto">
            <a:xfrm>
              <a:off x="6132006" y="33702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N=0</a:t>
              </a:r>
            </a:p>
          </p:txBody>
        </p:sp>
        <p:sp>
          <p:nvSpPr>
            <p:cNvPr id="14381" name="Rectangle 44"/>
            <p:cNvSpPr>
              <a:spLocks noChangeArrowheads="1"/>
            </p:cNvSpPr>
            <p:nvPr/>
          </p:nvSpPr>
          <p:spPr bwMode="auto">
            <a:xfrm>
              <a:off x="6132006" y="3635376"/>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V=1</a:t>
              </a:r>
            </a:p>
          </p:txBody>
        </p:sp>
        <p:sp>
          <p:nvSpPr>
            <p:cNvPr id="14382" name="Rectangle 45"/>
            <p:cNvSpPr>
              <a:spLocks noChangeArrowheads="1"/>
            </p:cNvSpPr>
            <p:nvPr/>
          </p:nvSpPr>
          <p:spPr bwMode="auto">
            <a:xfrm>
              <a:off x="6132006" y="3900488"/>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V=0</a:t>
              </a:r>
            </a:p>
          </p:txBody>
        </p:sp>
        <p:sp>
          <p:nvSpPr>
            <p:cNvPr id="14383" name="Rectangle 46"/>
            <p:cNvSpPr>
              <a:spLocks noChangeArrowheads="1"/>
            </p:cNvSpPr>
            <p:nvPr/>
          </p:nvSpPr>
          <p:spPr bwMode="auto">
            <a:xfrm>
              <a:off x="6132006" y="4165601"/>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C=1 &amp; Z=0</a:t>
              </a:r>
            </a:p>
          </p:txBody>
        </p:sp>
        <p:sp>
          <p:nvSpPr>
            <p:cNvPr id="14384" name="Rectangle 47"/>
            <p:cNvSpPr>
              <a:spLocks noChangeArrowheads="1"/>
            </p:cNvSpPr>
            <p:nvPr/>
          </p:nvSpPr>
          <p:spPr bwMode="auto">
            <a:xfrm>
              <a:off x="6132006" y="4430713"/>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C=0 or Z=1</a:t>
              </a:r>
            </a:p>
          </p:txBody>
        </p:sp>
        <p:sp>
          <p:nvSpPr>
            <p:cNvPr id="14385" name="Rectangle 48"/>
            <p:cNvSpPr>
              <a:spLocks noChangeArrowheads="1"/>
            </p:cNvSpPr>
            <p:nvPr/>
          </p:nvSpPr>
          <p:spPr bwMode="auto">
            <a:xfrm>
              <a:off x="6132006" y="4695826"/>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6" name="Rectangle 49"/>
            <p:cNvSpPr>
              <a:spLocks noChangeArrowheads="1"/>
            </p:cNvSpPr>
            <p:nvPr/>
          </p:nvSpPr>
          <p:spPr bwMode="auto">
            <a:xfrm>
              <a:off x="6132006" y="4960938"/>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N!=V</a:t>
              </a:r>
            </a:p>
          </p:txBody>
        </p:sp>
        <p:sp>
          <p:nvSpPr>
            <p:cNvPr id="14387" name="Rectangle 50"/>
            <p:cNvSpPr>
              <a:spLocks noChangeArrowheads="1"/>
            </p:cNvSpPr>
            <p:nvPr/>
          </p:nvSpPr>
          <p:spPr bwMode="auto">
            <a:xfrm>
              <a:off x="6132006" y="5226051"/>
              <a:ext cx="1654668" cy="265113"/>
            </a:xfrm>
            <a:prstGeom prst="rect">
              <a:avLst/>
            </a:prstGeom>
            <a:noFill/>
            <a:ln w="12700">
              <a:solidFill>
                <a:schemeClr val="tx1"/>
              </a:solidFill>
              <a:miter lim="800000"/>
              <a:headEnd/>
              <a:tailEnd/>
            </a:ln>
          </p:spPr>
          <p:txBody>
            <a:bodyPr wrap="none" anchor="ctr"/>
            <a:lstStyle/>
            <a:p>
              <a:r>
                <a:rPr lang="en-US" b="1">
                  <a:solidFill>
                    <a:srgbClr val="0000FF"/>
                  </a:solidFill>
                  <a:latin typeface="Consolas" panose="020B0609020204030204" pitchFamily="49" charset="0"/>
                  <a:cs typeface="Consolas" panose="020B0609020204030204" pitchFamily="49" charset="0"/>
                </a:rPr>
                <a:t>Z=0 &amp; N=V</a:t>
              </a:r>
            </a:p>
          </p:txBody>
        </p:sp>
        <p:sp>
          <p:nvSpPr>
            <p:cNvPr id="14388" name="Rectangle 51"/>
            <p:cNvSpPr>
              <a:spLocks noChangeArrowheads="1"/>
            </p:cNvSpPr>
            <p:nvPr/>
          </p:nvSpPr>
          <p:spPr bwMode="auto">
            <a:xfrm>
              <a:off x="6132006" y="5491163"/>
              <a:ext cx="1654668" cy="265113"/>
            </a:xfrm>
            <a:prstGeom prst="rect">
              <a:avLst/>
            </a:prstGeom>
            <a:noFill/>
            <a:ln w="12700">
              <a:solidFill>
                <a:schemeClr val="tx1"/>
              </a:solidFill>
              <a:miter lim="800000"/>
              <a:headEnd/>
              <a:tailEnd/>
            </a:ln>
          </p:spPr>
          <p:txBody>
            <a:bodyPr wrap="none" anchor="ctr"/>
            <a:lstStyle/>
            <a:p>
              <a:r>
                <a:rPr lang="en-US" b="1" dirty="0">
                  <a:solidFill>
                    <a:srgbClr val="0000FF"/>
                  </a:solidFill>
                  <a:latin typeface="Consolas" panose="020B0609020204030204" pitchFamily="49" charset="0"/>
                  <a:cs typeface="Consolas" panose="020B0609020204030204" pitchFamily="49" charset="0"/>
                </a:rPr>
                <a:t>Z=1 or N!=V</a:t>
              </a:r>
            </a:p>
          </p:txBody>
        </p:sp>
        <p:sp>
          <p:nvSpPr>
            <p:cNvPr id="14389" name="Rectangle 52"/>
            <p:cNvSpPr>
              <a:spLocks noChangeArrowheads="1"/>
            </p:cNvSpPr>
            <p:nvPr/>
          </p:nvSpPr>
          <p:spPr bwMode="auto">
            <a:xfrm>
              <a:off x="6132006" y="5756276"/>
              <a:ext cx="1654668" cy="265113"/>
            </a:xfrm>
            <a:prstGeom prst="rect">
              <a:avLst/>
            </a:prstGeom>
            <a:noFill/>
            <a:ln w="12700">
              <a:solidFill>
                <a:schemeClr val="tx1"/>
              </a:solidFill>
              <a:miter lim="800000"/>
              <a:headEnd/>
              <a:tailEnd/>
            </a:ln>
          </p:spPr>
          <p:txBody>
            <a:bodyPr wrap="none" anchor="ctr"/>
            <a:lstStyle/>
            <a:p>
              <a:endParaRPr lang="en-GB" b="1">
                <a:solidFill>
                  <a:srgbClr val="0000FF"/>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2171254142"/>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Branch Instructions</a:t>
            </a:r>
          </a:p>
        </p:txBody>
      </p:sp>
      <p:sp>
        <p:nvSpPr>
          <p:cNvPr id="3" name="Slide Number Placeholder 2"/>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41</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1569944596"/>
              </p:ext>
            </p:extLst>
          </p:nvPr>
        </p:nvGraphicFramePr>
        <p:xfrm>
          <a:off x="1981200" y="1251568"/>
          <a:ext cx="8382000" cy="4996215"/>
        </p:xfrm>
        <a:graphic>
          <a:graphicData uri="http://schemas.openxmlformats.org/drawingml/2006/table">
            <a:tbl>
              <a:tblPr firstRow="1" firstCol="1" bandRow="1">
                <a:tableStyleId>{5C22544A-7EE6-4342-B048-85BDC9FD1C3A}</a:tableStyleId>
              </a:tblPr>
              <a:tblGrid>
                <a:gridCol w="1504463">
                  <a:extLst>
                    <a:ext uri="{9D8B030D-6E8A-4147-A177-3AD203B41FA5}">
                      <a16:colId xmlns:a16="http://schemas.microsoft.com/office/drawing/2014/main" val="20000"/>
                    </a:ext>
                  </a:extLst>
                </a:gridCol>
                <a:gridCol w="1732151">
                  <a:extLst>
                    <a:ext uri="{9D8B030D-6E8A-4147-A177-3AD203B41FA5}">
                      <a16:colId xmlns:a16="http://schemas.microsoft.com/office/drawing/2014/main" val="20001"/>
                    </a:ext>
                  </a:extLst>
                </a:gridCol>
                <a:gridCol w="3240386">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293895">
                <a:tc>
                  <a:txBody>
                    <a:bodyPr/>
                    <a:lstStyle/>
                    <a:p>
                      <a:pPr marL="0" marR="0" algn="just">
                        <a:spcBef>
                          <a:spcPts val="0"/>
                        </a:spcBef>
                        <a:spcAft>
                          <a:spcPts val="0"/>
                        </a:spcAft>
                      </a:pPr>
                      <a:r>
                        <a:rPr lang="en-US" sz="1600" dirty="0">
                          <a:effectLst/>
                        </a:rPr>
                        <a:t>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rPr>
                        <a:t>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Description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Flags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0"/>
                  </a:ext>
                </a:extLst>
              </a:tr>
              <a:tr h="587790">
                <a:tc>
                  <a:txBody>
                    <a:bodyPr/>
                    <a:lstStyle/>
                    <a:p>
                      <a:pPr marL="0" marR="0" algn="just">
                        <a:spcBef>
                          <a:spcPts val="0"/>
                        </a:spcBef>
                        <a:spcAft>
                          <a:spcPts val="0"/>
                        </a:spcAft>
                      </a:pPr>
                      <a:r>
                        <a:rPr lang="en-US" sz="1600">
                          <a:effectLst/>
                        </a:rPr>
                        <a:t>Unconditional Branch</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to label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effectLst/>
                        </a:rPr>
                        <a:t> </a:t>
                      </a:r>
                      <a:endParaRPr lang="en-US" sz="1600">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293895">
                <a:tc rowSpan="14">
                  <a:txBody>
                    <a:bodyPr/>
                    <a:lstStyle/>
                    <a:p>
                      <a:pPr marL="0" marR="0" algn="just">
                        <a:spcBef>
                          <a:spcPts val="0"/>
                        </a:spcBef>
                        <a:spcAft>
                          <a:spcPts val="0"/>
                        </a:spcAft>
                      </a:pPr>
                      <a:r>
                        <a:rPr lang="en-US" sz="1600" dirty="0">
                          <a:effectLst/>
                        </a:rPr>
                        <a:t>Conditional Branch </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BEQ</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EQ</a:t>
                      </a:r>
                      <a:r>
                        <a:rPr lang="en-US" sz="1600" dirty="0" err="1">
                          <a:effectLst/>
                        </a:rPr>
                        <a:t>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BNE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a:solidFill>
                            <a:srgbClr val="FF0000"/>
                          </a:solidFill>
                          <a:effectLst/>
                        </a:rPr>
                        <a:t>N</a:t>
                      </a:r>
                      <a:r>
                        <a:rPr lang="en-US" sz="1600" dirty="0">
                          <a:effectLst/>
                        </a:rPr>
                        <a:t>ot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BCS</a:t>
                      </a:r>
                      <a:r>
                        <a:rPr lang="en-US" sz="1600" dirty="0">
                          <a:effectLst/>
                          <a:latin typeface="Consolas" panose="020B0609020204030204" pitchFamily="49" charset="0"/>
                        </a:rPr>
                        <a:t>/</a:t>
                      </a:r>
                      <a:r>
                        <a:rPr lang="en-US" sz="1600" b="1" dirty="0">
                          <a:solidFill>
                            <a:srgbClr val="FF0000"/>
                          </a:solidFill>
                          <a:effectLst/>
                          <a:latin typeface="Consolas" panose="020B0609020204030204" pitchFamily="49" charset="0"/>
                        </a:rPr>
                        <a:t>BHS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H</a:t>
                      </a:r>
                      <a:r>
                        <a:rPr lang="en-US" sz="1600" dirty="0">
                          <a:effectLst/>
                        </a:rPr>
                        <a:t>igher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BCC</a:t>
                      </a:r>
                      <a:r>
                        <a:rPr lang="en-US" sz="1600" dirty="0">
                          <a:effectLst/>
                          <a:latin typeface="Consolas" panose="020B0609020204030204" pitchFamily="49" charset="0"/>
                        </a:rPr>
                        <a:t>/</a:t>
                      </a:r>
                      <a:r>
                        <a:rPr lang="en-US" sz="1600" b="1" dirty="0" err="1">
                          <a:solidFill>
                            <a:srgbClr val="FF0000"/>
                          </a:solidFill>
                          <a:effectLst/>
                          <a:latin typeface="Consolas" panose="020B0609020204030204" pitchFamily="49" charset="0"/>
                        </a:rPr>
                        <a:t>BLO</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LO</a:t>
                      </a:r>
                      <a:r>
                        <a:rPr lang="en-US" sz="1600" dirty="0" err="1">
                          <a:effectLst/>
                        </a:rPr>
                        <a:t>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BMI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b="0" i="1" dirty="0">
                        <a:solidFill>
                          <a:schemeClr val="tx1"/>
                        </a:solidFill>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MI</a:t>
                      </a:r>
                      <a:r>
                        <a:rPr lang="en-US" sz="1600" dirty="0" err="1">
                          <a:effectLst/>
                        </a:rPr>
                        <a:t>nus</a:t>
                      </a:r>
                      <a:r>
                        <a:rPr lang="en-US" sz="1600" dirty="0">
                          <a:effectLst/>
                        </a:rPr>
                        <a:t> (Negative)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BPL</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b="1" dirty="0" err="1">
                          <a:solidFill>
                            <a:srgbClr val="FF0000"/>
                          </a:solidFill>
                          <a:effectLst/>
                        </a:rPr>
                        <a:t>PL</a:t>
                      </a:r>
                      <a:r>
                        <a:rPr lang="en-US" sz="1600" dirty="0" err="1">
                          <a:effectLst/>
                        </a:rPr>
                        <a:t>us</a:t>
                      </a:r>
                      <a:r>
                        <a:rPr lang="en-US" sz="1600" dirty="0">
                          <a:effectLst/>
                        </a:rPr>
                        <a:t> (Positive or Zero)</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S</a:t>
                      </a:r>
                      <a:r>
                        <a:rPr lang="en-US" sz="1600" dirty="0">
                          <a:effectLst/>
                        </a:rPr>
                        <a:t>et</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BVC</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a:t>
                      </a:r>
                      <a:r>
                        <a:rPr lang="en-US" sz="1600" dirty="0" err="1">
                          <a:effectLst/>
                        </a:rPr>
                        <a:t>o</a:t>
                      </a:r>
                      <a:r>
                        <a:rPr lang="en-US" sz="1600" b="1" dirty="0" err="1">
                          <a:solidFill>
                            <a:srgbClr val="FF0000"/>
                          </a:solidFill>
                          <a:effectLst/>
                        </a:rPr>
                        <a:t>V</a:t>
                      </a:r>
                      <a:r>
                        <a:rPr lang="en-US" sz="1600" dirty="0" err="1">
                          <a:effectLst/>
                        </a:rPr>
                        <a:t>erflow</a:t>
                      </a:r>
                      <a:r>
                        <a:rPr lang="en-US" sz="1600" dirty="0">
                          <a:effectLst/>
                        </a:rPr>
                        <a:t> </a:t>
                      </a:r>
                      <a:r>
                        <a:rPr lang="en-US" sz="1600" b="1" dirty="0">
                          <a:solidFill>
                            <a:srgbClr val="FF0000"/>
                          </a:solidFill>
                          <a:effectLst/>
                        </a:rPr>
                        <a:t>C</a:t>
                      </a:r>
                      <a:r>
                        <a:rPr lang="en-US" sz="1600" dirty="0">
                          <a:effectLst/>
                        </a:rPr>
                        <a:t>lear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V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BHI</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err="1">
                          <a:solidFill>
                            <a:srgbClr val="FF0000"/>
                          </a:solidFill>
                          <a:effectLst/>
                        </a:rPr>
                        <a:t>HI</a:t>
                      </a:r>
                      <a:r>
                        <a:rPr lang="en-US" sz="1600" dirty="0" err="1">
                          <a:effectLst/>
                        </a:rPr>
                        <a:t>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1 &amp; Z = 0</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BLS</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unsigned </a:t>
                      </a:r>
                      <a:r>
                        <a:rPr lang="en-US" sz="1600" b="1" dirty="0">
                          <a:solidFill>
                            <a:srgbClr val="FF0000"/>
                          </a:solidFill>
                          <a:effectLst/>
                        </a:rPr>
                        <a:t>L</a:t>
                      </a:r>
                      <a:r>
                        <a:rPr lang="en-US" sz="1600" dirty="0">
                          <a:effectLst/>
                        </a:rPr>
                        <a:t>ower or </a:t>
                      </a:r>
                      <a:r>
                        <a:rPr lang="en-US" sz="1600" b="1" dirty="0">
                          <a:solidFill>
                            <a:srgbClr val="FF0000"/>
                          </a:solidFill>
                          <a:effectLst/>
                        </a:rPr>
                        <a:t>S</a:t>
                      </a:r>
                      <a:r>
                        <a:rPr lang="en-US" sz="1600" dirty="0">
                          <a:effectLst/>
                        </a:rPr>
                        <a:t>ame</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C = 0 or Z = 1</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BGE</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tabLst>
                          <a:tab pos="1265555" algn="l"/>
                        </a:tabLst>
                      </a:pPr>
                      <a:r>
                        <a:rPr lang="en-US" sz="1600" dirty="0">
                          <a:effectLst/>
                        </a:rPr>
                        <a:t>Branch if signed </a:t>
                      </a:r>
                      <a:r>
                        <a:rPr lang="en-US" sz="1600" b="1" dirty="0">
                          <a:solidFill>
                            <a:srgbClr val="FF0000"/>
                          </a:solidFill>
                          <a:effectLst/>
                        </a:rPr>
                        <a:t>G</a:t>
                      </a:r>
                      <a:r>
                        <a:rPr lang="en-US" sz="1600" dirty="0">
                          <a:effectLst/>
                        </a:rPr>
                        <a:t>reater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293895">
                <a:tc vMerge="1">
                  <a:txBody>
                    <a:bodyPr/>
                    <a:lstStyle/>
                    <a:p>
                      <a:endParaRPr lang="en-US"/>
                    </a:p>
                  </a:txBody>
                  <a:tcPr/>
                </a:tc>
                <a:tc>
                  <a:txBody>
                    <a:bodyPr/>
                    <a:lstStyle/>
                    <a:p>
                      <a:pPr marL="0" marR="0" algn="just">
                        <a:spcBef>
                          <a:spcPts val="0"/>
                        </a:spcBef>
                        <a:spcAft>
                          <a:spcPts val="0"/>
                        </a:spcAft>
                      </a:pPr>
                      <a:r>
                        <a:rPr lang="en-US" sz="1600" b="1" dirty="0">
                          <a:solidFill>
                            <a:srgbClr val="FF0000"/>
                          </a:solidFill>
                          <a:effectLst/>
                          <a:latin typeface="Consolas" panose="020B0609020204030204" pitchFamily="49" charset="0"/>
                        </a:rPr>
                        <a:t>BLT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BGT</a:t>
                      </a:r>
                      <a:r>
                        <a:rPr lang="en-US" sz="1600" dirty="0">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G</a:t>
                      </a:r>
                      <a:r>
                        <a:rPr lang="en-US" sz="1600" dirty="0">
                          <a:effectLst/>
                        </a:rPr>
                        <a:t>reater </a:t>
                      </a:r>
                      <a:r>
                        <a:rPr lang="en-US" sz="1600" b="1" dirty="0">
                          <a:solidFill>
                            <a:srgbClr val="FF0000"/>
                          </a:solidFill>
                          <a:effectLst/>
                        </a:rPr>
                        <a:t>T</a:t>
                      </a:r>
                      <a:r>
                        <a:rPr lang="en-US" sz="1600" dirty="0">
                          <a:effectLst/>
                        </a:rPr>
                        <a: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a:solidFill>
                            <a:srgbClr val="0000FF"/>
                          </a:solidFill>
                          <a:effectLst/>
                          <a:latin typeface="Consolas" panose="020B0609020204030204" pitchFamily="49" charset="0"/>
                          <a:cs typeface="Consolas" panose="020B0609020204030204" pitchFamily="49" charset="0"/>
                        </a:rPr>
                        <a:t>Z = 0 &amp; N = V</a:t>
                      </a:r>
                      <a:endParaRPr lang="en-US" sz="1600" b="1">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r h="293895">
                <a:tc vMerge="1">
                  <a:txBody>
                    <a:bodyPr/>
                    <a:lstStyle/>
                    <a:p>
                      <a:endParaRPr lang="en-US"/>
                    </a:p>
                  </a:txBody>
                  <a:tcPr/>
                </a:tc>
                <a:tc>
                  <a:txBody>
                    <a:bodyPr/>
                    <a:lstStyle/>
                    <a:p>
                      <a:pPr marL="0" marR="0" algn="just">
                        <a:spcBef>
                          <a:spcPts val="0"/>
                        </a:spcBef>
                        <a:spcAft>
                          <a:spcPts val="0"/>
                        </a:spcAft>
                      </a:pPr>
                      <a:r>
                        <a:rPr lang="en-US" sz="1600" b="1" dirty="0" err="1">
                          <a:solidFill>
                            <a:srgbClr val="FF0000"/>
                          </a:solidFill>
                          <a:effectLst/>
                          <a:latin typeface="Consolas" panose="020B0609020204030204" pitchFamily="49" charset="0"/>
                        </a:rPr>
                        <a:t>BLE</a:t>
                      </a:r>
                      <a:r>
                        <a:rPr lang="en-US" sz="1600" b="1" dirty="0">
                          <a:solidFill>
                            <a:srgbClr val="FF0000"/>
                          </a:solidFill>
                          <a:effectLst/>
                          <a:latin typeface="Consolas" panose="020B0609020204030204" pitchFamily="49" charset="0"/>
                        </a:rPr>
                        <a:t> </a:t>
                      </a:r>
                      <a:r>
                        <a:rPr lang="en-US" sz="1600" i="1" dirty="0">
                          <a:effectLst/>
                          <a:latin typeface="Consolas" panose="020B0609020204030204" pitchFamily="49" charset="0"/>
                        </a:rPr>
                        <a:t>label</a:t>
                      </a:r>
                      <a:endParaRPr lang="en-US" sz="1600" i="1"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effectLst/>
                        </a:rPr>
                        <a:t>Branch if signed </a:t>
                      </a:r>
                      <a:r>
                        <a:rPr lang="en-US" sz="1600" b="1" dirty="0">
                          <a:solidFill>
                            <a:srgbClr val="FF0000"/>
                          </a:solidFill>
                          <a:effectLst/>
                        </a:rPr>
                        <a:t>L</a:t>
                      </a:r>
                      <a:r>
                        <a:rPr lang="en-US" sz="1600" dirty="0">
                          <a:effectLst/>
                        </a:rPr>
                        <a:t>ess than or </a:t>
                      </a:r>
                      <a:r>
                        <a:rPr lang="en-US" sz="1600" b="1" dirty="0">
                          <a:solidFill>
                            <a:srgbClr val="FF0000"/>
                          </a:solidFill>
                          <a:effectLst/>
                        </a:rPr>
                        <a:t>E</a:t>
                      </a:r>
                      <a:r>
                        <a:rPr lang="en-US" sz="1600" dirty="0">
                          <a:effectLst/>
                        </a:rPr>
                        <a:t>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b="1" dirty="0">
                          <a:solidFill>
                            <a:srgbClr val="0000FF"/>
                          </a:solidFill>
                          <a:effectLst/>
                          <a:latin typeface="Consolas" panose="020B0609020204030204" pitchFamily="49" charset="0"/>
                          <a:cs typeface="Consolas" panose="020B0609020204030204" pitchFamily="49" charset="0"/>
                        </a:rPr>
                        <a:t>Z = 1 or N = !V</a:t>
                      </a:r>
                      <a:endParaRPr lang="en-US" sz="1600" b="1"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38299866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Summary: Conditionally Executed</a:t>
            </a:r>
          </a:p>
        </p:txBody>
      </p:sp>
      <p:sp>
        <p:nvSpPr>
          <p:cNvPr id="3" name="Slide Number Placeholder 2"/>
          <p:cNvSpPr>
            <a:spLocks noGrp="1"/>
          </p:cNvSpPr>
          <p:nvPr>
            <p:ph type="sldNum" sz="quarter" idx="12"/>
          </p:nvPr>
        </p:nvSpPr>
        <p:spPr/>
        <p:txBody>
          <a:bodyPr/>
          <a:lstStyle/>
          <a:p>
            <a:fld id="{EA7C8D44-3667-46F6-9772-CC52308E2A7F}" type="slidenum">
              <a:rPr kumimoji="0" lang="en-US" smtClean="0"/>
              <a:pPr/>
              <a:t>42</a:t>
            </a:fld>
            <a:endParaRPr kumimoji="0" lang="en-US" dirty="0"/>
          </a:p>
        </p:txBody>
      </p:sp>
      <p:graphicFrame>
        <p:nvGraphicFramePr>
          <p:cNvPr id="5" name="Table 4"/>
          <p:cNvGraphicFramePr>
            <a:graphicFrameLocks noGrp="1"/>
          </p:cNvGraphicFramePr>
          <p:nvPr>
            <p:extLst>
              <p:ext uri="{D42A27DB-BD31-4B8C-83A1-F6EECF244321}">
                <p14:modId xmlns:p14="http://schemas.microsoft.com/office/powerpoint/2010/main" val="2998225169"/>
              </p:ext>
            </p:extLst>
          </p:nvPr>
        </p:nvGraphicFramePr>
        <p:xfrm>
          <a:off x="1828800" y="1447800"/>
          <a:ext cx="8534400" cy="4572000"/>
        </p:xfrm>
        <a:graphic>
          <a:graphicData uri="http://schemas.openxmlformats.org/drawingml/2006/table">
            <a:tbl>
              <a:tblPr firstRow="1" firstCol="1" bandRow="1">
                <a:tableStyleId>{5940675A-B579-460E-94D1-54222C63F5DA}</a:tableStyleId>
              </a:tblPr>
              <a:tblGrid>
                <a:gridCol w="2057399">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2667001">
                  <a:extLst>
                    <a:ext uri="{9D8B030D-6E8A-4147-A177-3AD203B41FA5}">
                      <a16:colId xmlns:a16="http://schemas.microsoft.com/office/drawing/2014/main" val="20002"/>
                    </a:ext>
                  </a:extLst>
                </a:gridCol>
              </a:tblGrid>
              <a:tr h="304800">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Add instruction</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nchor="ctr">
                    <a:solidFill>
                      <a:schemeClr val="accent1"/>
                    </a:solidFill>
                  </a:tcPr>
                </a:tc>
                <a:tc>
                  <a:txBody>
                    <a:bodyPr/>
                    <a:lstStyle/>
                    <a:p>
                      <a:pPr marL="0" marR="0" algn="just">
                        <a:spcBef>
                          <a:spcPts val="0"/>
                        </a:spcBef>
                        <a:spcAft>
                          <a:spcPts val="0"/>
                        </a:spcAft>
                      </a:pPr>
                      <a:r>
                        <a:rPr lang="en-US" sz="1600" b="1">
                          <a:solidFill>
                            <a:schemeClr val="bg1"/>
                          </a:solidFill>
                          <a:effectLst/>
                          <a:latin typeface="Consolas" panose="020B0609020204030204" pitchFamily="49" charset="0"/>
                          <a:cs typeface="Consolas" panose="020B0609020204030204" pitchFamily="49" charset="0"/>
                        </a:rPr>
                        <a:t>Condition</a:t>
                      </a:r>
                      <a:endParaRPr lang="en-US" sz="1600" b="1">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tc>
                  <a:txBody>
                    <a:bodyPr/>
                    <a:lstStyle/>
                    <a:p>
                      <a:pPr marL="0" marR="0" algn="just">
                        <a:spcBef>
                          <a:spcPts val="0"/>
                        </a:spcBef>
                        <a:spcAft>
                          <a:spcPts val="0"/>
                        </a:spcAft>
                      </a:pPr>
                      <a:r>
                        <a:rPr lang="en-US" sz="1600" b="1" dirty="0">
                          <a:solidFill>
                            <a:schemeClr val="bg1"/>
                          </a:solidFill>
                          <a:effectLst/>
                          <a:latin typeface="Consolas" panose="020B0609020204030204" pitchFamily="49" charset="0"/>
                          <a:cs typeface="Consolas" panose="020B0609020204030204" pitchFamily="49" charset="0"/>
                        </a:rPr>
                        <a:t>Flag tested</a:t>
                      </a:r>
                      <a:endParaRPr lang="en-US" sz="1600" b="1" dirty="0">
                        <a:solidFill>
                          <a:schemeClr val="bg1"/>
                        </a:solidFill>
                        <a:effectLst/>
                        <a:latin typeface="Consolas" panose="020B0609020204030204" pitchFamily="49" charset="0"/>
                        <a:ea typeface="宋体"/>
                        <a:cs typeface="Consolas" panose="020B0609020204030204" pitchFamily="49" charset="0"/>
                      </a:endParaRPr>
                    </a:p>
                  </a:txBody>
                  <a:tcPr marL="68580" marR="68580" marT="0" marB="0">
                    <a:solidFill>
                      <a:schemeClr val="accent1"/>
                    </a:solidFill>
                  </a:tcPr>
                </a:tc>
                <a:extLst>
                  <a:ext uri="{0D108BD9-81ED-4DB2-BD59-A6C34878D82A}">
                    <a16:rowId xmlns:a16="http://schemas.microsoft.com/office/drawing/2014/main" val="1000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ADDEQ</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ADDNE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Not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Higher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3"/>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ADDLO</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LOwer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4"/>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ADDMI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Minus (Negative)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5"/>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ADDPL</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PLus (Positive or Zero)</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6"/>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Set</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V = 1</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7"/>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ADDVC</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oVerflow Clear</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V = 0</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8"/>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ADDHI</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Unsigned </a:t>
                      </a:r>
                      <a:r>
                        <a:rPr lang="en-US" sz="1600" dirty="0" err="1">
                          <a:effectLst/>
                          <a:latin typeface="Consolas" panose="020B0609020204030204" pitchFamily="49" charset="0"/>
                          <a:cs typeface="Consolas" panose="020B0609020204030204" pitchFamily="49" charset="0"/>
                        </a:rPr>
                        <a:t>HIgher</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a:solidFill>
                            <a:srgbClr val="0000FF"/>
                          </a:solidFill>
                          <a:effectLst/>
                          <a:latin typeface="Consolas" panose="020B0609020204030204" pitchFamily="49" charset="0"/>
                          <a:cs typeface="Consolas" panose="020B0609020204030204" pitchFamily="49" charset="0"/>
                        </a:rPr>
                        <a:t>Add if C = 1 &amp; Z = 0</a:t>
                      </a:r>
                      <a:endParaRPr lang="en-US" sz="160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09"/>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ADDLS</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Unsigned Lower or Same</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C = 0 or Z = 1</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0"/>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tabLst>
                          <a:tab pos="1265555" algn="l"/>
                        </a:tabLst>
                      </a:pPr>
                      <a:r>
                        <a:rPr lang="en-US" sz="1600">
                          <a:effectLst/>
                          <a:latin typeface="Consolas" panose="020B0609020204030204" pitchFamily="49" charset="0"/>
                          <a:cs typeface="Consolas" panose="020B0609020204030204" pitchFamily="49" charset="0"/>
                        </a:rPr>
                        <a:t>Add if Signed Greater or Equal</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1"/>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ADDLT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a:effectLst/>
                          <a:latin typeface="Consolas" panose="020B0609020204030204" pitchFamily="49" charset="0"/>
                          <a:cs typeface="Consolas" panose="020B0609020204030204" pitchFamily="49" charset="0"/>
                        </a:rPr>
                        <a:t>Add if Signed Less Than</a:t>
                      </a:r>
                      <a:endParaRPr lang="en-US" sz="160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2"/>
                  </a:ext>
                </a:extLst>
              </a:tr>
              <a:tr h="304800">
                <a:tc>
                  <a:txBody>
                    <a:bodyPr/>
                    <a:lstStyle/>
                    <a:p>
                      <a:pPr marL="0" marR="0" algn="just">
                        <a:spcBef>
                          <a:spcPts val="0"/>
                        </a:spcBef>
                        <a:spcAft>
                          <a:spcPts val="0"/>
                        </a:spcAft>
                      </a:pPr>
                      <a:r>
                        <a:rPr lang="en-US" sz="1600" b="1" dirty="0" err="1">
                          <a:solidFill>
                            <a:srgbClr val="C00000"/>
                          </a:solidFill>
                          <a:effectLst/>
                          <a:latin typeface="Consolas" panose="020B0609020204030204" pitchFamily="49" charset="0"/>
                          <a:cs typeface="Consolas" panose="020B0609020204030204" pitchFamily="49" charset="0"/>
                        </a:rPr>
                        <a:t>ADDGT</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Greater Than</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0 &amp;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3"/>
                  </a:ext>
                </a:extLst>
              </a:tr>
              <a:tr h="304800">
                <a:tc>
                  <a:txBody>
                    <a:bodyPr/>
                    <a:lstStyle/>
                    <a:p>
                      <a:pPr marL="0" marR="0" algn="just">
                        <a:spcBef>
                          <a:spcPts val="0"/>
                        </a:spcBef>
                        <a:spcAft>
                          <a:spcPts val="0"/>
                        </a:spcAft>
                      </a:pPr>
                      <a:r>
                        <a:rPr lang="en-US" sz="1600" b="1" dirty="0">
                          <a:solidFill>
                            <a:srgbClr val="C00000"/>
                          </a:solidFill>
                          <a:effectLst/>
                          <a:latin typeface="Consolas" panose="020B0609020204030204" pitchFamily="49" charset="0"/>
                          <a:cs typeface="Consolas" panose="020B0609020204030204" pitchFamily="49" charset="0"/>
                        </a:rPr>
                        <a:t>ADDLE</a:t>
                      </a:r>
                      <a:r>
                        <a:rPr lang="en-US" sz="1600" dirty="0">
                          <a:solidFill>
                            <a:srgbClr val="C00000"/>
                          </a:solidFill>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r3</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r2</a:t>
                      </a:r>
                      <a:r>
                        <a:rPr lang="en-US" sz="1600" dirty="0">
                          <a:effectLst/>
                          <a:latin typeface="Consolas" panose="020B0609020204030204" pitchFamily="49" charset="0"/>
                          <a:cs typeface="Consolas" panose="020B0609020204030204" pitchFamily="49" charset="0"/>
                        </a:rPr>
                        <a:t>, </a:t>
                      </a:r>
                      <a:r>
                        <a:rPr lang="en-US" sz="1600" dirty="0" err="1">
                          <a:effectLst/>
                          <a:latin typeface="Consolas" panose="020B0609020204030204" pitchFamily="49" charset="0"/>
                          <a:cs typeface="Consolas" panose="020B0609020204030204" pitchFamily="49" charset="0"/>
                        </a:rPr>
                        <a:t>r1</a:t>
                      </a:r>
                      <a:endParaRPr lang="en-US" sz="1600" dirty="0">
                        <a:effectLst/>
                        <a:latin typeface="Consolas" panose="020B0609020204030204" pitchFamily="49" charset="0"/>
                        <a:ea typeface="宋体"/>
                        <a:cs typeface="Consolas" panose="020B0609020204030204" pitchFamily="49" charset="0"/>
                      </a:endParaRPr>
                    </a:p>
                  </a:txBody>
                  <a:tcPr marL="68580" marR="68580" marT="0" marB="0" anchor="ctr"/>
                </a:tc>
                <a:tc>
                  <a:txBody>
                    <a:bodyPr/>
                    <a:lstStyle/>
                    <a:p>
                      <a:pPr marL="0" marR="0" algn="just">
                        <a:spcBef>
                          <a:spcPts val="0"/>
                        </a:spcBef>
                        <a:spcAft>
                          <a:spcPts val="0"/>
                        </a:spcAft>
                      </a:pPr>
                      <a:r>
                        <a:rPr lang="en-US" sz="1600" dirty="0">
                          <a:effectLst/>
                          <a:latin typeface="Consolas" panose="020B0609020204030204" pitchFamily="49" charset="0"/>
                          <a:cs typeface="Consolas" panose="020B0609020204030204" pitchFamily="49" charset="0"/>
                        </a:rPr>
                        <a:t>Add if Signed Less than or Equal</a:t>
                      </a:r>
                      <a:endParaRPr lang="en-US" sz="1600" dirty="0">
                        <a:effectLst/>
                        <a:latin typeface="Consolas" panose="020B0609020204030204" pitchFamily="49" charset="0"/>
                        <a:ea typeface="宋体"/>
                        <a:cs typeface="Consolas" panose="020B0609020204030204" pitchFamily="49" charset="0"/>
                      </a:endParaRPr>
                    </a:p>
                  </a:txBody>
                  <a:tcPr marL="68580" marR="68580" marT="0" marB="0"/>
                </a:tc>
                <a:tc>
                  <a:txBody>
                    <a:bodyPr/>
                    <a:lstStyle/>
                    <a:p>
                      <a:pPr marL="0" marR="0" algn="just">
                        <a:spcBef>
                          <a:spcPts val="0"/>
                        </a:spcBef>
                        <a:spcAft>
                          <a:spcPts val="0"/>
                        </a:spcAft>
                      </a:pPr>
                      <a:r>
                        <a:rPr lang="en-US" sz="1600" dirty="0">
                          <a:solidFill>
                            <a:srgbClr val="0000FF"/>
                          </a:solidFill>
                          <a:effectLst/>
                          <a:latin typeface="Consolas" panose="020B0609020204030204" pitchFamily="49" charset="0"/>
                          <a:cs typeface="Consolas" panose="020B0609020204030204" pitchFamily="49" charset="0"/>
                        </a:rPr>
                        <a:t>Add if Z = 1 or N = !V</a:t>
                      </a:r>
                      <a:endParaRPr lang="en-US" sz="1600" dirty="0">
                        <a:solidFill>
                          <a:srgbClr val="0000FF"/>
                        </a:solidFill>
                        <a:effectLst/>
                        <a:latin typeface="Consolas" panose="020B0609020204030204" pitchFamily="49" charset="0"/>
                        <a:ea typeface="宋体"/>
                        <a:cs typeface="Consolas" panose="020B0609020204030204" pitchFamily="49" charset="0"/>
                      </a:endParaRPr>
                    </a:p>
                  </a:txBody>
                  <a:tcPr marL="68580" marR="68580" marT="0" marB="0"/>
                </a:tc>
                <a:extLst>
                  <a:ext uri="{0D108BD9-81ED-4DB2-BD59-A6C34878D82A}">
                    <a16:rowId xmlns:a16="http://schemas.microsoft.com/office/drawing/2014/main" val="10014"/>
                  </a:ext>
                </a:extLst>
              </a:tr>
            </a:tbl>
          </a:graphicData>
        </a:graphic>
      </p:graphicFrame>
    </p:spTree>
    <p:extLst>
      <p:ext uri="{BB962C8B-B14F-4D97-AF65-F5344CB8AC3E}">
        <p14:creationId xmlns:p14="http://schemas.microsoft.com/office/powerpoint/2010/main" val="15584148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78535-4966-806D-563F-E30D5DC6011F}"/>
              </a:ext>
            </a:extLst>
          </p:cNvPr>
          <p:cNvSpPr>
            <a:spLocks noGrp="1"/>
          </p:cNvSpPr>
          <p:nvPr>
            <p:ph type="title"/>
          </p:nvPr>
        </p:nvSpPr>
        <p:spPr/>
        <p:txBody>
          <a:bodyPr/>
          <a:lstStyle/>
          <a:p>
            <a:r>
              <a:rPr lang="en-US" dirty="0"/>
              <a:t>References</a:t>
            </a:r>
          </a:p>
        </p:txBody>
      </p:sp>
      <p:sp>
        <p:nvSpPr>
          <p:cNvPr id="3" name="Slide Number Placeholder 2">
            <a:extLst>
              <a:ext uri="{FF2B5EF4-FFF2-40B4-BE49-F238E27FC236}">
                <a16:creationId xmlns:a16="http://schemas.microsoft.com/office/drawing/2014/main" id="{6B0D3C31-9770-F6CE-008C-3E0F8A77160D}"/>
              </a:ext>
            </a:extLst>
          </p:cNvPr>
          <p:cNvSpPr>
            <a:spLocks noGrp="1"/>
          </p:cNvSpPr>
          <p:nvPr>
            <p:ph type="sldNum" sz="quarter" idx="12"/>
          </p:nvPr>
        </p:nvSpPr>
        <p:spPr/>
        <p:txBody>
          <a:bodyPr/>
          <a:lstStyle/>
          <a:p>
            <a:fld id="{EA7C8D44-3667-46F6-9772-CC52308E2A7F}" type="slidenum">
              <a:rPr kumimoji="0" lang="en-US" smtClean="0"/>
              <a:pPr/>
              <a:t>43</a:t>
            </a:fld>
            <a:endParaRPr kumimoji="0" lang="en-US" dirty="0"/>
          </a:p>
        </p:txBody>
      </p:sp>
      <p:sp>
        <p:nvSpPr>
          <p:cNvPr id="4" name="Content Placeholder 3">
            <a:extLst>
              <a:ext uri="{FF2B5EF4-FFF2-40B4-BE49-F238E27FC236}">
                <a16:creationId xmlns:a16="http://schemas.microsoft.com/office/drawing/2014/main" id="{54CC50AA-36EF-23F3-1FFB-A84D8ABC47C2}"/>
              </a:ext>
            </a:extLst>
          </p:cNvPr>
          <p:cNvSpPr>
            <a:spLocks noGrp="1"/>
          </p:cNvSpPr>
          <p:nvPr>
            <p:ph sz="quarter" idx="1"/>
          </p:nvPr>
        </p:nvSpPr>
        <p:spPr/>
        <p:txBody>
          <a:bodyPr/>
          <a:lstStyle/>
          <a:p>
            <a:r>
              <a:rPr lang="en-US" dirty="0"/>
              <a:t>Lecture 27. Branch instructions</a:t>
            </a:r>
          </a:p>
          <a:p>
            <a:pPr lvl="1"/>
            <a:r>
              <a:rPr lang="en-US" dirty="0">
                <a:hlinkClick r:id="rId2"/>
              </a:rPr>
              <a:t>https://www.youtube.com/watch?v=_QKD7f1cmRI&amp;list=PLRJhV4hUhIymmp5CCeIFPyxbknsdcXCc8&amp;index=27</a:t>
            </a:r>
            <a:endParaRPr lang="en-US" dirty="0"/>
          </a:p>
          <a:p>
            <a:r>
              <a:rPr lang="en-US" dirty="0"/>
              <a:t>Lecture 28. Conditional Execution</a:t>
            </a:r>
          </a:p>
          <a:p>
            <a:pPr lvl="1"/>
            <a:r>
              <a:rPr lang="en-US" dirty="0">
                <a:hlinkClick r:id="rId3"/>
              </a:rPr>
              <a:t>https://www.youtube.com/watch?v=9hlxG8L5-G4&amp;list=PLRJhV4hUhIymmp5CCeIFPyxbknsdcXCc8&amp;index=28</a:t>
            </a:r>
            <a:endParaRPr lang="en-US" dirty="0"/>
          </a:p>
          <a:p>
            <a:endParaRPr lang="en-US" dirty="0"/>
          </a:p>
          <a:p>
            <a:endParaRPr lang="en-US" dirty="0"/>
          </a:p>
        </p:txBody>
      </p:sp>
    </p:spTree>
    <p:extLst>
      <p:ext uri="{BB962C8B-B14F-4D97-AF65-F5344CB8AC3E}">
        <p14:creationId xmlns:p14="http://schemas.microsoft.com/office/powerpoint/2010/main" val="98130098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3514</TotalTime>
  <Words>8157</Words>
  <Application>Microsoft Office PowerPoint</Application>
  <PresentationFormat>Widescreen</PresentationFormat>
  <Paragraphs>1271</Paragraphs>
  <Slides>43</Slides>
  <Notes>14</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43</vt:i4>
      </vt:variant>
    </vt:vector>
  </HeadingPairs>
  <TitlesOfParts>
    <vt:vector size="58" baseType="lpstr">
      <vt:lpstr>Arial Unicode MS</vt:lpstr>
      <vt:lpstr>Bookman Old Style (Headings)</vt:lpstr>
      <vt:lpstr>Gill Sans Light</vt:lpstr>
      <vt:lpstr>Arial</vt:lpstr>
      <vt:lpstr>Bookman Old Style</vt:lpstr>
      <vt:lpstr>Calibri</vt:lpstr>
      <vt:lpstr>Cambria Math</vt:lpstr>
      <vt:lpstr>Consolas</vt:lpstr>
      <vt:lpstr>Courier New</vt:lpstr>
      <vt:lpstr>Gill Sans MT</vt:lpstr>
      <vt:lpstr>Tahoma</vt:lpstr>
      <vt:lpstr>Times New Roman</vt:lpstr>
      <vt:lpstr>Wingdings</vt:lpstr>
      <vt:lpstr>Wingdings 3</vt:lpstr>
      <vt:lpstr>Origin</vt:lpstr>
      <vt:lpstr>Z. Gu</vt:lpstr>
      <vt:lpstr>Three Control Structures</vt:lpstr>
      <vt:lpstr>Combined Program Status Registers (xPSR)</vt:lpstr>
      <vt:lpstr>Condition Flags</vt:lpstr>
      <vt:lpstr>Carry and Overflow Flags w/ Arithmetic Instructions</vt:lpstr>
      <vt:lpstr>Updating Condition Flags</vt:lpstr>
      <vt:lpstr>Updating Condition Flags</vt:lpstr>
      <vt:lpstr>Example of CMP</vt:lpstr>
      <vt:lpstr>Updating Condition Flags: TST and TEQ</vt:lpstr>
      <vt:lpstr>Example of TEQ</vt:lpstr>
      <vt:lpstr>Unconditional Branch Instructions</vt:lpstr>
      <vt:lpstr>Unconditional Branch Instructions: A Simple Example</vt:lpstr>
      <vt:lpstr>Signed vs. Unsigned Comparison</vt:lpstr>
      <vt:lpstr>Branch Instructions</vt:lpstr>
      <vt:lpstr>Condition Codes </vt:lpstr>
      <vt:lpstr>Signed Comparison</vt:lpstr>
      <vt:lpstr>Signed Comparison</vt:lpstr>
      <vt:lpstr>Signed Comparison Example</vt:lpstr>
      <vt:lpstr>Signed vs. Unsigned Comparison</vt:lpstr>
      <vt:lpstr>Number Interpretation</vt:lpstr>
      <vt:lpstr>Which is Greater: 0xFFFFFFFF or 0x00000001?</vt:lpstr>
      <vt:lpstr>If-then Statement</vt:lpstr>
      <vt:lpstr>If-then-else</vt:lpstr>
      <vt:lpstr>For Loop</vt:lpstr>
      <vt:lpstr>For Loop</vt:lpstr>
      <vt:lpstr>For Loop</vt:lpstr>
      <vt:lpstr>Explanations for 2a and 2b </vt:lpstr>
      <vt:lpstr>For Loop</vt:lpstr>
      <vt:lpstr>For Loop</vt:lpstr>
      <vt:lpstr>Condition Codes </vt:lpstr>
      <vt:lpstr>Conditional Execution</vt:lpstr>
      <vt:lpstr>Conditional Execution Examples</vt:lpstr>
      <vt:lpstr>Explanations for Compound Boolean Expression</vt:lpstr>
      <vt:lpstr>Branching vs. Conditional Execution</vt:lpstr>
      <vt:lpstr>Combination</vt:lpstr>
      <vt:lpstr>Break vs. Continue</vt:lpstr>
      <vt:lpstr>Break Example</vt:lpstr>
      <vt:lpstr>Break and Continue Example</vt:lpstr>
      <vt:lpstr>IT (If-Then) instruction </vt:lpstr>
      <vt:lpstr>Summary: Condition Codes </vt:lpstr>
      <vt:lpstr>Summary: Branch Instructions</vt:lpstr>
      <vt:lpstr>Summary: Conditionally Executed</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229</cp:revision>
  <cp:lastPrinted>2018-02-28T12:51:32Z</cp:lastPrinted>
  <dcterms:created xsi:type="dcterms:W3CDTF">2014-02-09T17:12:51Z</dcterms:created>
  <dcterms:modified xsi:type="dcterms:W3CDTF">2025-10-05T01:29:40Z</dcterms:modified>
</cp:coreProperties>
</file>