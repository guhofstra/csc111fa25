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tiff" ContentType="image/tif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ink/ink1.xml" ContentType="application/inkml+xml"/>
  <Override PartName="/ppt/ink/ink2.xml" ContentType="application/inkml+xml"/>
  <Override PartName="/ppt/notesSlides/notesSlide43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79"/>
  </p:notesMasterIdLst>
  <p:sldIdLst>
    <p:sldId id="756" r:id="rId2"/>
    <p:sldId id="743" r:id="rId3"/>
    <p:sldId id="732" r:id="rId4"/>
    <p:sldId id="736" r:id="rId5"/>
    <p:sldId id="737" r:id="rId6"/>
    <p:sldId id="744" r:id="rId7"/>
    <p:sldId id="733" r:id="rId8"/>
    <p:sldId id="734" r:id="rId9"/>
    <p:sldId id="739" r:id="rId10"/>
    <p:sldId id="740" r:id="rId11"/>
    <p:sldId id="742" r:id="rId12"/>
    <p:sldId id="272" r:id="rId13"/>
    <p:sldId id="281" r:id="rId14"/>
    <p:sldId id="282" r:id="rId15"/>
    <p:sldId id="355" r:id="rId16"/>
    <p:sldId id="328" r:id="rId17"/>
    <p:sldId id="360" r:id="rId18"/>
    <p:sldId id="741" r:id="rId19"/>
    <p:sldId id="738" r:id="rId20"/>
    <p:sldId id="745" r:id="rId21"/>
    <p:sldId id="284" r:id="rId22"/>
    <p:sldId id="285" r:id="rId23"/>
    <p:sldId id="291" r:id="rId24"/>
    <p:sldId id="750" r:id="rId25"/>
    <p:sldId id="292" r:id="rId26"/>
    <p:sldId id="313" r:id="rId27"/>
    <p:sldId id="312" r:id="rId28"/>
    <p:sldId id="286" r:id="rId29"/>
    <p:sldId id="287" r:id="rId30"/>
    <p:sldId id="288" r:id="rId31"/>
    <p:sldId id="289" r:id="rId32"/>
    <p:sldId id="307" r:id="rId33"/>
    <p:sldId id="293" r:id="rId34"/>
    <p:sldId id="326" r:id="rId35"/>
    <p:sldId id="315" r:id="rId36"/>
    <p:sldId id="316" r:id="rId37"/>
    <p:sldId id="317" r:id="rId38"/>
    <p:sldId id="318" r:id="rId39"/>
    <p:sldId id="320" r:id="rId40"/>
    <p:sldId id="295" r:id="rId41"/>
    <p:sldId id="277" r:id="rId42"/>
    <p:sldId id="330" r:id="rId43"/>
    <p:sldId id="735" r:id="rId44"/>
    <p:sldId id="337" r:id="rId45"/>
    <p:sldId id="279" r:id="rId46"/>
    <p:sldId id="332" r:id="rId47"/>
    <p:sldId id="351" r:id="rId48"/>
    <p:sldId id="348" r:id="rId49"/>
    <p:sldId id="352" r:id="rId50"/>
    <p:sldId id="331" r:id="rId51"/>
    <p:sldId id="746" r:id="rId52"/>
    <p:sldId id="747" r:id="rId53"/>
    <p:sldId id="748" r:id="rId54"/>
    <p:sldId id="749" r:id="rId55"/>
    <p:sldId id="354" r:id="rId56"/>
    <p:sldId id="359" r:id="rId57"/>
    <p:sldId id="358" r:id="rId58"/>
    <p:sldId id="334" r:id="rId59"/>
    <p:sldId id="336" r:id="rId60"/>
    <p:sldId id="341" r:id="rId61"/>
    <p:sldId id="344" r:id="rId62"/>
    <p:sldId id="342" r:id="rId63"/>
    <p:sldId id="345" r:id="rId64"/>
    <p:sldId id="346" r:id="rId65"/>
    <p:sldId id="343" r:id="rId66"/>
    <p:sldId id="751" r:id="rId67"/>
    <p:sldId id="752" r:id="rId68"/>
    <p:sldId id="753" r:id="rId69"/>
    <p:sldId id="754" r:id="rId70"/>
    <p:sldId id="755" r:id="rId71"/>
    <p:sldId id="553" r:id="rId72"/>
    <p:sldId id="759" r:id="rId73"/>
    <p:sldId id="761" r:id="rId74"/>
    <p:sldId id="762" r:id="rId75"/>
    <p:sldId id="763" r:id="rId76"/>
    <p:sldId id="764" r:id="rId77"/>
    <p:sldId id="347" r:id="rId7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C1559B8B-B625-4BEC-8066-1A3ABDC8FEDD}" v="906" dt="2025-10-30T20:52:47.531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BC89EF96-8CEA-46FF-86C4-4CE0E7609802}" styleName="Light Style 3 - Accent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69CF1AB2-1976-4502-BF36-3FF5EA218861}" styleName="Medium Style 4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B301B821-A1FF-4177-AEE7-76D212191A09}" styleName="Medium Style 1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211" autoAdjust="0"/>
    <p:restoredTop sz="92549" autoAdjust="0"/>
  </p:normalViewPr>
  <p:slideViewPr>
    <p:cSldViewPr>
      <p:cViewPr varScale="1">
        <p:scale>
          <a:sx n="76" d="100"/>
          <a:sy n="76" d="100"/>
        </p:scale>
        <p:origin x="350" y="62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50" d="100"/>
        <a:sy n="150" d="100"/>
      </p:scale>
      <p:origin x="0" y="-44414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microsoft.com/office/2016/11/relationships/changesInfo" Target="changesInfos/changesInfo1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77" Type="http://schemas.openxmlformats.org/officeDocument/2006/relationships/slide" Target="slides/slide76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80" Type="http://schemas.openxmlformats.org/officeDocument/2006/relationships/presProps" Target="presProps.xml"/><Relationship Id="rId85" Type="http://schemas.microsoft.com/office/2015/10/relationships/revisionInfo" Target="revisionInfo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83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61" Type="http://schemas.openxmlformats.org/officeDocument/2006/relationships/slide" Target="slides/slide60.xml"/><Relationship Id="rId82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Zonghua Gu" userId="9a7e1853e1951ef5" providerId="LiveId" clId="{CF1FAA12-072C-4ED5-BA76-0FFFAEFDB88A}"/>
    <pc:docChg chg="undo custSel addSld delSld modSld">
      <pc:chgData name="Zonghua Gu" userId="9a7e1853e1951ef5" providerId="LiveId" clId="{CF1FAA12-072C-4ED5-BA76-0FFFAEFDB88A}" dt="2025-10-30T20:52:47.531" v="2795" actId="20577"/>
      <pc:docMkLst>
        <pc:docMk/>
      </pc:docMkLst>
      <pc:sldChg chg="modSp mod">
        <pc:chgData name="Zonghua Gu" userId="9a7e1853e1951ef5" providerId="LiveId" clId="{CF1FAA12-072C-4ED5-BA76-0FFFAEFDB88A}" dt="2025-10-16T20:56:39.045" v="2459" actId="108"/>
        <pc:sldMkLst>
          <pc:docMk/>
          <pc:sldMk cId="2785807384" sldId="307"/>
        </pc:sldMkLst>
        <pc:spChg chg="mod">
          <ac:chgData name="Zonghua Gu" userId="9a7e1853e1951ef5" providerId="LiveId" clId="{CF1FAA12-072C-4ED5-BA76-0FFFAEFDB88A}" dt="2025-10-16T20:56:39.045" v="2459" actId="108"/>
          <ac:spMkLst>
            <pc:docMk/>
            <pc:sldMk cId="2785807384" sldId="307"/>
            <ac:spMk id="4" creationId="{00000000-0000-0000-0000-000000000000}"/>
          </ac:spMkLst>
        </pc:spChg>
      </pc:sldChg>
      <pc:sldChg chg="modSp mod">
        <pc:chgData name="Zonghua Gu" userId="9a7e1853e1951ef5" providerId="LiveId" clId="{CF1FAA12-072C-4ED5-BA76-0FFFAEFDB88A}" dt="2025-10-30T20:52:34.786" v="2785" actId="20577"/>
        <pc:sldMkLst>
          <pc:docMk/>
          <pc:sldMk cId="1913135421" sldId="334"/>
        </pc:sldMkLst>
        <pc:spChg chg="mod">
          <ac:chgData name="Zonghua Gu" userId="9a7e1853e1951ef5" providerId="LiveId" clId="{CF1FAA12-072C-4ED5-BA76-0FFFAEFDB88A}" dt="2025-10-30T20:52:34.786" v="2785" actId="20577"/>
          <ac:spMkLst>
            <pc:docMk/>
            <pc:sldMk cId="1913135421" sldId="334"/>
            <ac:spMk id="9" creationId="{12BA289E-808A-917F-A191-D39BD9F8BFF1}"/>
          </ac:spMkLst>
        </pc:spChg>
        <pc:spChg chg="mod">
          <ac:chgData name="Zonghua Gu" userId="9a7e1853e1951ef5" providerId="LiveId" clId="{CF1FAA12-072C-4ED5-BA76-0FFFAEFDB88A}" dt="2025-10-02T23:49:24.831" v="285" actId="6549"/>
          <ac:spMkLst>
            <pc:docMk/>
            <pc:sldMk cId="1913135421" sldId="334"/>
            <ac:spMk id="11" creationId="{00000000-0000-0000-0000-000000000000}"/>
          </ac:spMkLst>
        </pc:spChg>
      </pc:sldChg>
      <pc:sldChg chg="modSp mod">
        <pc:chgData name="Zonghua Gu" userId="9a7e1853e1951ef5" providerId="LiveId" clId="{CF1FAA12-072C-4ED5-BA76-0FFFAEFDB88A}" dt="2025-10-30T20:52:47.531" v="2795" actId="20577"/>
        <pc:sldMkLst>
          <pc:docMk/>
          <pc:sldMk cId="3525808290" sldId="336"/>
        </pc:sldMkLst>
        <pc:spChg chg="mod">
          <ac:chgData name="Zonghua Gu" userId="9a7e1853e1951ef5" providerId="LiveId" clId="{CF1FAA12-072C-4ED5-BA76-0FFFAEFDB88A}" dt="2025-10-30T20:52:47.531" v="2795" actId="20577"/>
          <ac:spMkLst>
            <pc:docMk/>
            <pc:sldMk cId="3525808290" sldId="336"/>
            <ac:spMk id="12" creationId="{2B31AEA0-3A73-FCD5-EF10-BAE134D99964}"/>
          </ac:spMkLst>
        </pc:spChg>
      </pc:sldChg>
      <pc:sldChg chg="addSp modSp mod">
        <pc:chgData name="Zonghua Gu" userId="9a7e1853e1951ef5" providerId="LiveId" clId="{CF1FAA12-072C-4ED5-BA76-0FFFAEFDB88A}" dt="2025-10-02T23:42:09.101" v="225" actId="6549"/>
        <pc:sldMkLst>
          <pc:docMk/>
          <pc:sldMk cId="3398840445" sldId="343"/>
        </pc:sldMkLst>
        <pc:spChg chg="add mod">
          <ac:chgData name="Zonghua Gu" userId="9a7e1853e1951ef5" providerId="LiveId" clId="{CF1FAA12-072C-4ED5-BA76-0FFFAEFDB88A}" dt="2025-10-02T23:41:57.603" v="223" actId="20577"/>
          <ac:spMkLst>
            <pc:docMk/>
            <pc:sldMk cId="3398840445" sldId="343"/>
            <ac:spMk id="4" creationId="{BBA7D860-B129-1899-73C5-E4BCF54515D8}"/>
          </ac:spMkLst>
        </pc:spChg>
        <pc:spChg chg="mod">
          <ac:chgData name="Zonghua Gu" userId="9a7e1853e1951ef5" providerId="LiveId" clId="{CF1FAA12-072C-4ED5-BA76-0FFFAEFDB88A}" dt="2025-10-02T23:42:09.101" v="225" actId="6549"/>
          <ac:spMkLst>
            <pc:docMk/>
            <pc:sldMk cId="3398840445" sldId="343"/>
            <ac:spMk id="16" creationId="{00000000-0000-0000-0000-000000000000}"/>
          </ac:spMkLst>
        </pc:spChg>
      </pc:sldChg>
      <pc:sldChg chg="addSp delSp modSp mod delAnim modAnim">
        <pc:chgData name="Zonghua Gu" userId="9a7e1853e1951ef5" providerId="LiveId" clId="{CF1FAA12-072C-4ED5-BA76-0FFFAEFDB88A}" dt="2025-10-02T23:47:40.771" v="275" actId="478"/>
        <pc:sldMkLst>
          <pc:docMk/>
          <pc:sldMk cId="1330855799" sldId="344"/>
        </pc:sldMkLst>
        <pc:spChg chg="mod">
          <ac:chgData name="Zonghua Gu" userId="9a7e1853e1951ef5" providerId="LiveId" clId="{CF1FAA12-072C-4ED5-BA76-0FFFAEFDB88A}" dt="2025-10-02T23:47:33.489" v="273" actId="1076"/>
          <ac:spMkLst>
            <pc:docMk/>
            <pc:sldMk cId="1330855799" sldId="344"/>
            <ac:spMk id="5" creationId="{00000000-0000-0000-0000-000000000000}"/>
          </ac:spMkLst>
        </pc:spChg>
        <pc:spChg chg="add mod">
          <ac:chgData name="Zonghua Gu" userId="9a7e1853e1951ef5" providerId="LiveId" clId="{CF1FAA12-072C-4ED5-BA76-0FFFAEFDB88A}" dt="2025-10-02T23:47:38.505" v="274" actId="1076"/>
          <ac:spMkLst>
            <pc:docMk/>
            <pc:sldMk cId="1330855799" sldId="344"/>
            <ac:spMk id="12" creationId="{020D3BDD-F764-1CF5-0EBC-0F858F50E8D7}"/>
          </ac:spMkLst>
        </pc:spChg>
        <pc:spChg chg="add mod">
          <ac:chgData name="Zonghua Gu" userId="9a7e1853e1951ef5" providerId="LiveId" clId="{CF1FAA12-072C-4ED5-BA76-0FFFAEFDB88A}" dt="2025-10-02T23:47:38.505" v="274" actId="1076"/>
          <ac:spMkLst>
            <pc:docMk/>
            <pc:sldMk cId="1330855799" sldId="344"/>
            <ac:spMk id="13" creationId="{EEDFC2C3-B93E-557B-4902-EF4CD3C54B3F}"/>
          </ac:spMkLst>
        </pc:spChg>
        <pc:spChg chg="add mod">
          <ac:chgData name="Zonghua Gu" userId="9a7e1853e1951ef5" providerId="LiveId" clId="{CF1FAA12-072C-4ED5-BA76-0FFFAEFDB88A}" dt="2025-10-02T23:47:38.505" v="274" actId="1076"/>
          <ac:spMkLst>
            <pc:docMk/>
            <pc:sldMk cId="1330855799" sldId="344"/>
            <ac:spMk id="14" creationId="{0E17B54E-F932-4B41-B8B6-0B5C07BC368A}"/>
          </ac:spMkLst>
        </pc:spChg>
      </pc:sldChg>
      <pc:sldChg chg="addSp delSp modSp mod modAnim">
        <pc:chgData name="Zonghua Gu" userId="9a7e1853e1951ef5" providerId="LiveId" clId="{CF1FAA12-072C-4ED5-BA76-0FFFAEFDB88A}" dt="2025-10-02T23:48:17.745" v="278" actId="478"/>
        <pc:sldMkLst>
          <pc:docMk/>
          <pc:sldMk cId="3251034726" sldId="345"/>
        </pc:sldMkLst>
        <pc:spChg chg="add mod">
          <ac:chgData name="Zonghua Gu" userId="9a7e1853e1951ef5" providerId="LiveId" clId="{CF1FAA12-072C-4ED5-BA76-0FFFAEFDB88A}" dt="2025-10-02T23:41:34.055" v="215" actId="6549"/>
          <ac:spMkLst>
            <pc:docMk/>
            <pc:sldMk cId="3251034726" sldId="345"/>
            <ac:spMk id="6" creationId="{26DDDBB7-D107-1051-64FD-2F16D99B635D}"/>
          </ac:spMkLst>
        </pc:spChg>
        <pc:spChg chg="mod">
          <ac:chgData name="Zonghua Gu" userId="9a7e1853e1951ef5" providerId="LiveId" clId="{CF1FAA12-072C-4ED5-BA76-0FFFAEFDB88A}" dt="2025-10-02T23:41:28.650" v="212" actId="6549"/>
          <ac:spMkLst>
            <pc:docMk/>
            <pc:sldMk cId="3251034726" sldId="345"/>
            <ac:spMk id="15" creationId="{00000000-0000-0000-0000-000000000000}"/>
          </ac:spMkLst>
        </pc:spChg>
        <pc:spChg chg="mod">
          <ac:chgData name="Zonghua Gu" userId="9a7e1853e1951ef5" providerId="LiveId" clId="{CF1FAA12-072C-4ED5-BA76-0FFFAEFDB88A}" dt="2025-10-02T23:41:31.626" v="214" actId="6549"/>
          <ac:spMkLst>
            <pc:docMk/>
            <pc:sldMk cId="3251034726" sldId="345"/>
            <ac:spMk id="16" creationId="{00000000-0000-0000-0000-000000000000}"/>
          </ac:spMkLst>
        </pc:spChg>
        <pc:spChg chg="mod">
          <ac:chgData name="Zonghua Gu" userId="9a7e1853e1951ef5" providerId="LiveId" clId="{CF1FAA12-072C-4ED5-BA76-0FFFAEFDB88A}" dt="2025-10-02T23:41:20.609" v="207" actId="6549"/>
          <ac:spMkLst>
            <pc:docMk/>
            <pc:sldMk cId="3251034726" sldId="345"/>
            <ac:spMk id="18" creationId="{00000000-0000-0000-0000-000000000000}"/>
          </ac:spMkLst>
        </pc:spChg>
      </pc:sldChg>
      <pc:sldChg chg="modSp mod">
        <pc:chgData name="Zonghua Gu" userId="9a7e1853e1951ef5" providerId="LiveId" clId="{CF1FAA12-072C-4ED5-BA76-0FFFAEFDB88A}" dt="2025-10-07T20:10:44.785" v="1651" actId="20577"/>
        <pc:sldMkLst>
          <pc:docMk/>
          <pc:sldMk cId="692106391" sldId="347"/>
        </pc:sldMkLst>
        <pc:spChg chg="mod">
          <ac:chgData name="Zonghua Gu" userId="9a7e1853e1951ef5" providerId="LiveId" clId="{CF1FAA12-072C-4ED5-BA76-0FFFAEFDB88A}" dt="2025-10-07T20:10:44.785" v="1651" actId="20577"/>
          <ac:spMkLst>
            <pc:docMk/>
            <pc:sldMk cId="692106391" sldId="347"/>
            <ac:spMk id="4" creationId="{7C0C4192-D05B-82AA-36C0-2927E4161106}"/>
          </ac:spMkLst>
        </pc:spChg>
      </pc:sldChg>
      <pc:sldChg chg="addSp delSp modSp add mod modAnim modNotesTx">
        <pc:chgData name="Zonghua Gu" userId="9a7e1853e1951ef5" providerId="LiveId" clId="{CF1FAA12-072C-4ED5-BA76-0FFFAEFDB88A}" dt="2025-10-14T23:11:01.487" v="2379" actId="1076"/>
        <pc:sldMkLst>
          <pc:docMk/>
          <pc:sldMk cId="1202265337" sldId="553"/>
        </pc:sldMkLst>
        <pc:spChg chg="mod">
          <ac:chgData name="Zonghua Gu" userId="9a7e1853e1951ef5" providerId="LiveId" clId="{CF1FAA12-072C-4ED5-BA76-0FFFAEFDB88A}" dt="2025-10-14T23:11:01.487" v="2379" actId="1076"/>
          <ac:spMkLst>
            <pc:docMk/>
            <pc:sldMk cId="1202265337" sldId="553"/>
            <ac:spMk id="38914" creationId="{00000000-0000-0000-0000-000000000000}"/>
          </ac:spMkLst>
        </pc:spChg>
        <pc:spChg chg="mod">
          <ac:chgData name="Zonghua Gu" userId="9a7e1853e1951ef5" providerId="LiveId" clId="{CF1FAA12-072C-4ED5-BA76-0FFFAEFDB88A}" dt="2025-10-14T22:39:51.380" v="2378"/>
          <ac:spMkLst>
            <pc:docMk/>
            <pc:sldMk cId="1202265337" sldId="553"/>
            <ac:spMk id="38917" creationId="{00000000-0000-0000-0000-000000000000}"/>
          </ac:spMkLst>
        </pc:spChg>
        <pc:graphicFrameChg chg="mod modGraphic">
          <ac:chgData name="Zonghua Gu" userId="9a7e1853e1951ef5" providerId="LiveId" clId="{CF1FAA12-072C-4ED5-BA76-0FFFAEFDB88A}" dt="2025-10-07T20:24:17.346" v="1679" actId="1076"/>
          <ac:graphicFrameMkLst>
            <pc:docMk/>
            <pc:sldMk cId="1202265337" sldId="553"/>
            <ac:graphicFrameMk id="2" creationId="{00000000-0000-0000-0000-000000000000}"/>
          </ac:graphicFrameMkLst>
        </pc:graphicFrameChg>
      </pc:sldChg>
      <pc:sldChg chg="modSp">
        <pc:chgData name="Zonghua Gu" userId="9a7e1853e1951ef5" providerId="LiveId" clId="{CF1FAA12-072C-4ED5-BA76-0FFFAEFDB88A}" dt="2025-10-09T23:22:10.289" v="2371" actId="20577"/>
        <pc:sldMkLst>
          <pc:docMk/>
          <pc:sldMk cId="638370877" sldId="746"/>
        </pc:sldMkLst>
        <pc:spChg chg="mod">
          <ac:chgData name="Zonghua Gu" userId="9a7e1853e1951ef5" providerId="LiveId" clId="{CF1FAA12-072C-4ED5-BA76-0FFFAEFDB88A}" dt="2025-10-09T23:22:10.289" v="2371" actId="20577"/>
          <ac:spMkLst>
            <pc:docMk/>
            <pc:sldMk cId="638370877" sldId="746"/>
            <ac:spMk id="5" creationId="{00000000-0000-0000-0000-000000000000}"/>
          </ac:spMkLst>
        </pc:spChg>
      </pc:sldChg>
      <pc:sldChg chg="modSp">
        <pc:chgData name="Zonghua Gu" userId="9a7e1853e1951ef5" providerId="LiveId" clId="{CF1FAA12-072C-4ED5-BA76-0FFFAEFDB88A}" dt="2025-10-09T23:22:26.498" v="2372" actId="20577"/>
        <pc:sldMkLst>
          <pc:docMk/>
          <pc:sldMk cId="605818005" sldId="749"/>
        </pc:sldMkLst>
        <pc:spChg chg="mod">
          <ac:chgData name="Zonghua Gu" userId="9a7e1853e1951ef5" providerId="LiveId" clId="{CF1FAA12-072C-4ED5-BA76-0FFFAEFDB88A}" dt="2025-10-09T23:22:26.498" v="2372" actId="20577"/>
          <ac:spMkLst>
            <pc:docMk/>
            <pc:sldMk cId="605818005" sldId="749"/>
            <ac:spMk id="4" creationId="{00000000-0000-0000-0000-000000000000}"/>
          </ac:spMkLst>
        </pc:spChg>
      </pc:sldChg>
      <pc:sldChg chg="modSp mod">
        <pc:chgData name="Zonghua Gu" userId="9a7e1853e1951ef5" providerId="LiveId" clId="{CF1FAA12-072C-4ED5-BA76-0FFFAEFDB88A}" dt="2025-10-07T21:17:24.060" v="2277" actId="1076"/>
        <pc:sldMkLst>
          <pc:docMk/>
          <pc:sldMk cId="3985735849" sldId="756"/>
        </pc:sldMkLst>
        <pc:spChg chg="mod">
          <ac:chgData name="Zonghua Gu" userId="9a7e1853e1951ef5" providerId="LiveId" clId="{CF1FAA12-072C-4ED5-BA76-0FFFAEFDB88A}" dt="2025-10-07T21:17:24.060" v="2277" actId="1076"/>
          <ac:spMkLst>
            <pc:docMk/>
            <pc:sldMk cId="3985735849" sldId="756"/>
            <ac:spMk id="4" creationId="{00000000-0000-0000-0000-000000000000}"/>
          </ac:spMkLst>
        </pc:spChg>
        <pc:spChg chg="mod">
          <ac:chgData name="Zonghua Gu" userId="9a7e1853e1951ef5" providerId="LiveId" clId="{CF1FAA12-072C-4ED5-BA76-0FFFAEFDB88A}" dt="2025-10-07T21:17:24.060" v="2277" actId="1076"/>
          <ac:spMkLst>
            <pc:docMk/>
            <pc:sldMk cId="3985735849" sldId="756"/>
            <ac:spMk id="5" creationId="{00000000-0000-0000-0000-000000000000}"/>
          </ac:spMkLst>
        </pc:spChg>
      </pc:sldChg>
      <pc:sldChg chg="addSp delSp modSp add mod">
        <pc:chgData name="Zonghua Gu" userId="9a7e1853e1951ef5" providerId="LiveId" clId="{CF1FAA12-072C-4ED5-BA76-0FFFAEFDB88A}" dt="2025-10-07T21:02:21.160" v="2174"/>
        <pc:sldMkLst>
          <pc:docMk/>
          <pc:sldMk cId="318776835" sldId="759"/>
        </pc:sldMkLst>
        <pc:spChg chg="mod">
          <ac:chgData name="Zonghua Gu" userId="9a7e1853e1951ef5" providerId="LiveId" clId="{CF1FAA12-072C-4ED5-BA76-0FFFAEFDB88A}" dt="2025-10-07T21:02:21.160" v="2174"/>
          <ac:spMkLst>
            <pc:docMk/>
            <pc:sldMk cId="318776835" sldId="759"/>
            <ac:spMk id="17" creationId="{658B7139-5799-44B4-1A44-150FA6D124BE}"/>
          </ac:spMkLst>
        </pc:spChg>
        <pc:graphicFrameChg chg="modGraphic">
          <ac:chgData name="Zonghua Gu" userId="9a7e1853e1951ef5" providerId="LiveId" clId="{CF1FAA12-072C-4ED5-BA76-0FFFAEFDB88A}" dt="2025-10-07T20:03:45.457" v="1572" actId="122"/>
          <ac:graphicFrameMkLst>
            <pc:docMk/>
            <pc:sldMk cId="318776835" sldId="759"/>
            <ac:graphicFrameMk id="7" creationId="{D38D1C5D-70ED-DB91-3E47-11F805CC6D31}"/>
          </ac:graphicFrameMkLst>
        </pc:graphicFrameChg>
      </pc:sldChg>
      <pc:sldChg chg="addSp delSp modSp add mod">
        <pc:chgData name="Zonghua Gu" userId="9a7e1853e1951ef5" providerId="LiveId" clId="{CF1FAA12-072C-4ED5-BA76-0FFFAEFDB88A}" dt="2025-10-07T21:02:41.601" v="2184" actId="20577"/>
        <pc:sldMkLst>
          <pc:docMk/>
          <pc:sldMk cId="2712133478" sldId="761"/>
        </pc:sldMkLst>
        <pc:spChg chg="mod">
          <ac:chgData name="Zonghua Gu" userId="9a7e1853e1951ef5" providerId="LiveId" clId="{CF1FAA12-072C-4ED5-BA76-0FFFAEFDB88A}" dt="2025-10-07T19:21:30.829" v="854" actId="20577"/>
          <ac:spMkLst>
            <pc:docMk/>
            <pc:sldMk cId="2712133478" sldId="761"/>
            <ac:spMk id="14" creationId="{1FF76F53-5DA3-D6CF-8F8F-9324B627C10B}"/>
          </ac:spMkLst>
        </pc:spChg>
        <pc:spChg chg="mod">
          <ac:chgData name="Zonghua Gu" userId="9a7e1853e1951ef5" providerId="LiveId" clId="{CF1FAA12-072C-4ED5-BA76-0FFFAEFDB88A}" dt="2025-10-07T19:21:33.302" v="856" actId="20577"/>
          <ac:spMkLst>
            <pc:docMk/>
            <pc:sldMk cId="2712133478" sldId="761"/>
            <ac:spMk id="15" creationId="{FE0D15DC-646A-21C1-D6F0-DE4BAC6CF37C}"/>
          </ac:spMkLst>
        </pc:spChg>
        <pc:spChg chg="mod">
          <ac:chgData name="Zonghua Gu" userId="9a7e1853e1951ef5" providerId="LiveId" clId="{CF1FAA12-072C-4ED5-BA76-0FFFAEFDB88A}" dt="2025-10-07T19:21:36.868" v="857" actId="20577"/>
          <ac:spMkLst>
            <pc:docMk/>
            <pc:sldMk cId="2712133478" sldId="761"/>
            <ac:spMk id="16" creationId="{5A108FE9-588E-77EE-BD79-E4558D660349}"/>
          </ac:spMkLst>
        </pc:spChg>
        <pc:spChg chg="mod">
          <ac:chgData name="Zonghua Gu" userId="9a7e1853e1951ef5" providerId="LiveId" clId="{CF1FAA12-072C-4ED5-BA76-0FFFAEFDB88A}" dt="2025-10-07T21:02:41.601" v="2184" actId="20577"/>
          <ac:spMkLst>
            <pc:docMk/>
            <pc:sldMk cId="2712133478" sldId="761"/>
            <ac:spMk id="17" creationId="{F1EE9D29-0EC8-C282-D9A8-61D934AF61E2}"/>
          </ac:spMkLst>
        </pc:spChg>
        <pc:graphicFrameChg chg="modGraphic">
          <ac:chgData name="Zonghua Gu" userId="9a7e1853e1951ef5" providerId="LiveId" clId="{CF1FAA12-072C-4ED5-BA76-0FFFAEFDB88A}" dt="2025-10-07T20:03:41.692" v="1571" actId="122"/>
          <ac:graphicFrameMkLst>
            <pc:docMk/>
            <pc:sldMk cId="2712133478" sldId="761"/>
            <ac:graphicFrameMk id="7" creationId="{1C989774-40F6-4ECA-BFC8-71C9B5169472}"/>
          </ac:graphicFrameMkLst>
        </pc:graphicFrameChg>
      </pc:sldChg>
      <pc:sldChg chg="addSp delSp modSp add mod">
        <pc:chgData name="Zonghua Gu" userId="9a7e1853e1951ef5" providerId="LiveId" clId="{CF1FAA12-072C-4ED5-BA76-0FFFAEFDB88A}" dt="2025-10-07T21:06:27.882" v="2268" actId="1076"/>
        <pc:sldMkLst>
          <pc:docMk/>
          <pc:sldMk cId="482610726" sldId="762"/>
        </pc:sldMkLst>
        <pc:spChg chg="mod">
          <ac:chgData name="Zonghua Gu" userId="9a7e1853e1951ef5" providerId="LiveId" clId="{CF1FAA12-072C-4ED5-BA76-0FFFAEFDB88A}" dt="2025-10-07T19:27:27.529" v="944" actId="20577"/>
          <ac:spMkLst>
            <pc:docMk/>
            <pc:sldMk cId="482610726" sldId="762"/>
            <ac:spMk id="14" creationId="{13A27D9B-9EBF-08B8-4E8F-09D45776E8CB}"/>
          </ac:spMkLst>
        </pc:spChg>
        <pc:spChg chg="mod">
          <ac:chgData name="Zonghua Gu" userId="9a7e1853e1951ef5" providerId="LiveId" clId="{CF1FAA12-072C-4ED5-BA76-0FFFAEFDB88A}" dt="2025-10-07T19:28:05.751" v="969" actId="404"/>
          <ac:spMkLst>
            <pc:docMk/>
            <pc:sldMk cId="482610726" sldId="762"/>
            <ac:spMk id="15" creationId="{67DCB79A-ACA6-590E-3592-3F2243A23EFD}"/>
          </ac:spMkLst>
        </pc:spChg>
        <pc:spChg chg="mod">
          <ac:chgData name="Zonghua Gu" userId="9a7e1853e1951ef5" providerId="LiveId" clId="{CF1FAA12-072C-4ED5-BA76-0FFFAEFDB88A}" dt="2025-10-07T19:28:22.252" v="972" actId="20577"/>
          <ac:spMkLst>
            <pc:docMk/>
            <pc:sldMk cId="482610726" sldId="762"/>
            <ac:spMk id="16" creationId="{7CF8F5E2-238C-2AD4-FEDA-207B99D98563}"/>
          </ac:spMkLst>
        </pc:spChg>
        <pc:spChg chg="mod">
          <ac:chgData name="Zonghua Gu" userId="9a7e1853e1951ef5" providerId="LiveId" clId="{CF1FAA12-072C-4ED5-BA76-0FFFAEFDB88A}" dt="2025-10-07T21:06:27.882" v="2268" actId="1076"/>
          <ac:spMkLst>
            <pc:docMk/>
            <pc:sldMk cId="482610726" sldId="762"/>
            <ac:spMk id="17" creationId="{624BD3A1-CEAD-729E-A0ED-B1CE1475FB6C}"/>
          </ac:spMkLst>
        </pc:spChg>
        <pc:graphicFrameChg chg="modGraphic">
          <ac:chgData name="Zonghua Gu" userId="9a7e1853e1951ef5" providerId="LiveId" clId="{CF1FAA12-072C-4ED5-BA76-0FFFAEFDB88A}" dt="2025-10-07T20:03:23.225" v="1570" actId="122"/>
          <ac:graphicFrameMkLst>
            <pc:docMk/>
            <pc:sldMk cId="482610726" sldId="762"/>
            <ac:graphicFrameMk id="7" creationId="{E7B1EB4D-9D56-E473-23EC-2DCBC92C1FA8}"/>
          </ac:graphicFrameMkLst>
        </pc:graphicFrameChg>
      </pc:sldChg>
      <pc:sldChg chg="addSp delSp modSp add mod modNotesTx">
        <pc:chgData name="Zonghua Gu" userId="9a7e1853e1951ef5" providerId="LiveId" clId="{CF1FAA12-072C-4ED5-BA76-0FFFAEFDB88A}" dt="2025-10-07T21:07:03.948" v="2271" actId="14100"/>
        <pc:sldMkLst>
          <pc:docMk/>
          <pc:sldMk cId="3741490578" sldId="763"/>
        </pc:sldMkLst>
        <pc:spChg chg="mod">
          <ac:chgData name="Zonghua Gu" userId="9a7e1853e1951ef5" providerId="LiveId" clId="{CF1FAA12-072C-4ED5-BA76-0FFFAEFDB88A}" dt="2025-10-07T19:47:40.968" v="1303" actId="20577"/>
          <ac:spMkLst>
            <pc:docMk/>
            <pc:sldMk cId="3741490578" sldId="763"/>
            <ac:spMk id="11" creationId="{35702EE7-77AE-83EC-DBDD-6F6BFDB540CB}"/>
          </ac:spMkLst>
        </pc:spChg>
        <pc:spChg chg="mod">
          <ac:chgData name="Zonghua Gu" userId="9a7e1853e1951ef5" providerId="LiveId" clId="{CF1FAA12-072C-4ED5-BA76-0FFFAEFDB88A}" dt="2025-10-07T19:47:43.192" v="1305" actId="20577"/>
          <ac:spMkLst>
            <pc:docMk/>
            <pc:sldMk cId="3741490578" sldId="763"/>
            <ac:spMk id="14" creationId="{E7DE8F13-E87B-85C0-3E66-3A282E155966}"/>
          </ac:spMkLst>
        </pc:spChg>
        <pc:spChg chg="mod">
          <ac:chgData name="Zonghua Gu" userId="9a7e1853e1951ef5" providerId="LiveId" clId="{CF1FAA12-072C-4ED5-BA76-0FFFAEFDB88A}" dt="2025-10-07T19:48:14.634" v="1322" actId="20577"/>
          <ac:spMkLst>
            <pc:docMk/>
            <pc:sldMk cId="3741490578" sldId="763"/>
            <ac:spMk id="15" creationId="{246E3F86-0810-DA82-7EA1-5E17D0846E2F}"/>
          </ac:spMkLst>
        </pc:spChg>
        <pc:spChg chg="mod">
          <ac:chgData name="Zonghua Gu" userId="9a7e1853e1951ef5" providerId="LiveId" clId="{CF1FAA12-072C-4ED5-BA76-0FFFAEFDB88A}" dt="2025-10-07T19:51:32.505" v="1395" actId="20577"/>
          <ac:spMkLst>
            <pc:docMk/>
            <pc:sldMk cId="3741490578" sldId="763"/>
            <ac:spMk id="16" creationId="{96317C32-947E-A6F4-BC8E-C46284D01C24}"/>
          </ac:spMkLst>
        </pc:spChg>
        <pc:spChg chg="mod">
          <ac:chgData name="Zonghua Gu" userId="9a7e1853e1951ef5" providerId="LiveId" clId="{CF1FAA12-072C-4ED5-BA76-0FFFAEFDB88A}" dt="2025-10-07T21:07:03.948" v="2271" actId="14100"/>
          <ac:spMkLst>
            <pc:docMk/>
            <pc:sldMk cId="3741490578" sldId="763"/>
            <ac:spMk id="17" creationId="{4AB0EB01-AB9A-79D1-E864-47FEB2A8BB2A}"/>
          </ac:spMkLst>
        </pc:spChg>
        <pc:graphicFrameChg chg="mod modGraphic">
          <ac:chgData name="Zonghua Gu" userId="9a7e1853e1951ef5" providerId="LiveId" clId="{CF1FAA12-072C-4ED5-BA76-0FFFAEFDB88A}" dt="2025-10-07T19:51:14.504" v="1394" actId="20577"/>
          <ac:graphicFrameMkLst>
            <pc:docMk/>
            <pc:sldMk cId="3741490578" sldId="763"/>
            <ac:graphicFrameMk id="7" creationId="{C0675F8E-EB20-E461-4C15-CD0B7BF942DE}"/>
          </ac:graphicFrameMkLst>
        </pc:graphicFrameChg>
      </pc:sldChg>
      <pc:sldChg chg="addSp delSp modSp new mod">
        <pc:chgData name="Zonghua Gu" userId="9a7e1853e1951ef5" providerId="LiveId" clId="{CF1FAA12-072C-4ED5-BA76-0FFFAEFDB88A}" dt="2025-10-07T20:00:57.561" v="1552" actId="1076"/>
        <pc:sldMkLst>
          <pc:docMk/>
          <pc:sldMk cId="220632585" sldId="764"/>
        </pc:sldMkLst>
        <pc:picChg chg="add mod">
          <ac:chgData name="Zonghua Gu" userId="9a7e1853e1951ef5" providerId="LiveId" clId="{CF1FAA12-072C-4ED5-BA76-0FFFAEFDB88A}" dt="2025-10-07T20:00:57.561" v="1552" actId="1076"/>
          <ac:picMkLst>
            <pc:docMk/>
            <pc:sldMk cId="220632585" sldId="764"/>
            <ac:picMk id="11" creationId="{62D51E8B-70F1-53EE-AD4B-F18641609879}"/>
          </ac:picMkLst>
        </pc:picChg>
        <pc:picChg chg="add mod">
          <ac:chgData name="Zonghua Gu" userId="9a7e1853e1951ef5" providerId="LiveId" clId="{CF1FAA12-072C-4ED5-BA76-0FFFAEFDB88A}" dt="2025-10-07T20:00:52.874" v="1551" actId="1076"/>
          <ac:picMkLst>
            <pc:docMk/>
            <pc:sldMk cId="220632585" sldId="764"/>
            <ac:picMk id="13" creationId="{52270794-1CFF-336B-C8A3-71E6232C6BEB}"/>
          </ac:picMkLst>
        </pc:picChg>
        <pc:picChg chg="add mod">
          <ac:chgData name="Zonghua Gu" userId="9a7e1853e1951ef5" providerId="LiveId" clId="{CF1FAA12-072C-4ED5-BA76-0FFFAEFDB88A}" dt="2025-10-07T20:00:57.561" v="1552" actId="1076"/>
          <ac:picMkLst>
            <pc:docMk/>
            <pc:sldMk cId="220632585" sldId="764"/>
            <ac:picMk id="15" creationId="{CF5B4FC4-7E21-DCE8-0AA2-1E2E416AE0D5}"/>
          </ac:picMkLst>
        </pc:picChg>
        <pc:picChg chg="add mod">
          <ac:chgData name="Zonghua Gu" userId="9a7e1853e1951ef5" providerId="LiveId" clId="{CF1FAA12-072C-4ED5-BA76-0FFFAEFDB88A}" dt="2025-10-07T20:00:52.874" v="1551" actId="1076"/>
          <ac:picMkLst>
            <pc:docMk/>
            <pc:sldMk cId="220632585" sldId="764"/>
            <ac:picMk id="17" creationId="{C8D4E74F-BA44-C4D4-025B-1B21C4165DAE}"/>
          </ac:picMkLst>
        </pc:picChg>
      </pc:sldChg>
    </pc:docChg>
  </pc:docChgLst>
</pc:chgInfo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5-09-09T23:11:40.555"/>
    </inkml:context>
    <inkml:brush xml:id="br0">
      <inkml:brushProperty name="width" value="0.05" units="cm"/>
      <inkml:brushProperty name="height" value="0.05" units="cm"/>
      <inkml:brushProperty name="ignorePressure" value="1"/>
    </inkml:brush>
  </inkml:definitions>
  <inkml:trace contextRef="#ctx0" brushRef="#br0">0 1,'0'0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5-09-09T23:11:41.335"/>
    </inkml:context>
    <inkml:brush xml:id="br0">
      <inkml:brushProperty name="width" value="0.05" units="cm"/>
      <inkml:brushProperty name="height" value="0.05" units="cm"/>
      <inkml:brushProperty name="ignorePressure" value="1"/>
    </inkml:brush>
  </inkml:definitions>
  <inkml:trace contextRef="#ctx0" brushRef="#br0">0 1,'0'0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AC3A17A-95E8-4381-B66B-5D6DE2B3048A}" type="datetimeFigureOut">
              <a:rPr lang="en-US" smtClean="0"/>
              <a:pPr/>
              <a:t>10/30/2025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B0C9D69-9831-4844-8B1E-062B2DA58B0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639043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8" Type="http://schemas.openxmlformats.org/officeDocument/2006/relationships/hyperlink" Target="https://web.cs.umass.edu/~weems/homepage/335-Notes/ewExternalFiles/Lecture%2015.pdf" TargetMode="External"/><Relationship Id="rId3" Type="http://schemas.openxmlformats.org/officeDocument/2006/relationships/hyperlink" Target="https://developer.arm.com/documentation/ddi0597/latest/Base-Instructions/RSB--RSBS--register---Reverse-Subtract--register--" TargetMode="External"/><Relationship Id="rId7" Type="http://schemas.openxmlformats.org/officeDocument/2006/relationships/hyperlink" Target="https://iitd-plos.github.io/col718/ref/arm-instructionset.pdf" TargetMode="External"/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Relationship Id="rId6" Type="http://schemas.openxmlformats.org/officeDocument/2006/relationships/hyperlink" Target="https://www.csie.ntu.edu.tw/~cyy/courses/assembly/12fall/lectures/handouts/lec09_ARMisa.pdf" TargetMode="External"/><Relationship Id="rId11" Type="http://schemas.openxmlformats.org/officeDocument/2006/relationships/hyperlink" Target="https://salmanarif.bitbucket.io/visual/supported_instructions.html" TargetMode="External"/><Relationship Id="rId5" Type="http://schemas.openxmlformats.org/officeDocument/2006/relationships/hyperlink" Target="https://stackoverflow.com/questions/42042832/what-does-this-rsb-instruction-do-with-an-extra-lsl-1-operand" TargetMode="External"/><Relationship Id="rId10" Type="http://schemas.openxmlformats.org/officeDocument/2006/relationships/hyperlink" Target="https://keleshev.com/compiling-to-assembly-from-scratch/07-arm-assembly-programming" TargetMode="External"/><Relationship Id="rId4" Type="http://schemas.openxmlformats.org/officeDocument/2006/relationships/hyperlink" Target="https://developer.arm.com/documentation/dui0231/latest/arm-instruction-reference/arm-general-data-processing-instructions/add--sub--rsb--adc--sbc--and-rsc" TargetMode="External"/><Relationship Id="rId9" Type="http://schemas.openxmlformats.org/officeDocument/2006/relationships/hyperlink" Target="https://cseweb.ucsd.edu/classes/wi14/cse30-c/lectures/PI_WI_14_CSE30_lecture_8_post.pdf" TargetMode="Externa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1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81F4C3A-4FFF-4769-A3DC-CFCC34F8DA1C}" type="slidenum">
              <a:rPr lang="en-US" smtClean="0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808500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81F4C3A-4FFF-4769-A3DC-CFCC34F8DA1C}" type="slidenum">
              <a:rPr lang="en-US" smtClean="0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353919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81F4C3A-4FFF-4769-A3DC-CFCC34F8DA1C}" type="slidenum">
              <a:rPr lang="en-US" smtClean="0"/>
              <a:pPr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142345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81F4C3A-4FFF-4769-A3DC-CFCC34F8DA1C}" type="slidenum">
              <a:rPr lang="en-US" smtClean="0"/>
              <a:pPr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3660476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81F4C3A-4FFF-4769-A3DC-CFCC34F8DA1C}" type="slidenum">
              <a:rPr lang="en-US" smtClean="0"/>
              <a:pPr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0421795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81F4C3A-4FFF-4769-A3DC-CFCC34F8DA1C}" type="slidenum">
              <a:rPr lang="en-US" smtClean="0"/>
              <a:pPr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159222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81F4C3A-4FFF-4769-A3DC-CFCC34F8DA1C}" type="slidenum">
              <a:rPr lang="en-US" smtClean="0"/>
              <a:pPr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387076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81F4C3A-4FFF-4769-A3DC-CFCC34F8DA1C}" type="slidenum">
              <a:rPr lang="en-US" smtClean="0"/>
              <a:pPr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913220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81F4C3A-4FFF-4769-A3DC-CFCC34F8DA1C}" type="slidenum">
              <a:rPr lang="en-US" smtClean="0"/>
              <a:pPr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7948084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81F4C3A-4FFF-4769-A3DC-CFCC34F8DA1C}" type="slidenum">
              <a:rPr lang="en-US" smtClean="0"/>
              <a:pPr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045277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130" name="Rectangle 2"/>
          <p:cNvSpPr>
            <a:spLocks noGrp="1" noChangeArrowheads="1"/>
          </p:cNvSpPr>
          <p:nvPr>
            <p:ph type="body" idx="1"/>
          </p:nvPr>
        </p:nvSpPr>
        <p:spPr>
          <a:xfrm>
            <a:off x="912557" y="4360439"/>
            <a:ext cx="5032887" cy="4128999"/>
          </a:xfrm>
          <a:solidFill>
            <a:srgbClr val="FFFFFF"/>
          </a:solidFill>
          <a:ln>
            <a:solidFill>
              <a:srgbClr val="000000"/>
            </a:solidFill>
          </a:ln>
        </p:spPr>
        <p:txBody>
          <a:bodyPr lIns="91303" tIns="45651" rIns="91303" bIns="45651"/>
          <a:lstStyle/>
          <a:p>
            <a:r>
              <a:rPr lang="en-US" dirty="0"/>
              <a:t>BIC	bit clear</a:t>
            </a:r>
          </a:p>
          <a:p>
            <a:r>
              <a:rPr lang="en-US" dirty="0"/>
              <a:t>ORR	bit set</a:t>
            </a:r>
          </a:p>
          <a:p>
            <a:r>
              <a:rPr lang="en-US" dirty="0"/>
              <a:t>AND	bit mask</a:t>
            </a:r>
          </a:p>
          <a:p>
            <a:r>
              <a:rPr lang="en-US" dirty="0"/>
              <a:t>EOR	bit invert</a:t>
            </a:r>
          </a:p>
          <a:p>
            <a:endParaRPr lang="en-US" dirty="0"/>
          </a:p>
          <a:p>
            <a:r>
              <a:rPr lang="en-US" dirty="0"/>
              <a:t>Comparisons produce no results - just set condition codes.</a:t>
            </a:r>
          </a:p>
          <a:p>
            <a:r>
              <a:rPr lang="en-US" dirty="0"/>
              <a:t>CMP	like SUB</a:t>
            </a:r>
          </a:p>
          <a:p>
            <a:r>
              <a:rPr lang="en-US" dirty="0"/>
              <a:t>CMN	like ADD (subtract of a negative number is the same as add)</a:t>
            </a:r>
          </a:p>
          <a:p>
            <a:r>
              <a:rPr lang="en-US" dirty="0"/>
              <a:t>TST	like AND</a:t>
            </a:r>
          </a:p>
          <a:p>
            <a:r>
              <a:rPr lang="en-US" dirty="0"/>
              <a:t>TEQ	like EOR (</a:t>
            </a:r>
            <a:r>
              <a:rPr lang="en-US" dirty="0" err="1"/>
              <a:t>eor</a:t>
            </a:r>
            <a:r>
              <a:rPr lang="en-US" dirty="0"/>
              <a:t> of identical numbers gives result of zero)</a:t>
            </a:r>
          </a:p>
          <a:p>
            <a:endParaRPr lang="en-US" dirty="0"/>
          </a:p>
          <a:p>
            <a:r>
              <a:rPr lang="en-US" dirty="0"/>
              <a:t>Generally single-cycle execution (except write to PC and register-controlled shift).  Mention ARM NOP &amp; Thumb NOP.</a:t>
            </a:r>
          </a:p>
          <a:p>
            <a:r>
              <a:rPr lang="en-US" dirty="0"/>
              <a:t>Explain RSB and RSC which do subtract in other order (e.g. y-x not x-y)</a:t>
            </a:r>
          </a:p>
          <a:p>
            <a:r>
              <a:rPr lang="en-US" dirty="0"/>
              <a:t>Does not include multiply (separate </a:t>
            </a:r>
            <a:r>
              <a:rPr lang="en-US" dirty="0" err="1"/>
              <a:t>instr</a:t>
            </a:r>
            <a:r>
              <a:rPr lang="en-US" dirty="0"/>
              <a:t> format).  No divide - compiler uses run-time library or barrel shifter to perform division.</a:t>
            </a:r>
          </a:p>
          <a:p>
            <a:r>
              <a:rPr lang="en-US" dirty="0"/>
              <a:t>Can combine “S” bit with conditional execution, e.g.</a:t>
            </a:r>
          </a:p>
          <a:p>
            <a:r>
              <a:rPr lang="en-US" dirty="0"/>
              <a:t>	ADDEQS r0, r1, r2</a:t>
            </a:r>
          </a:p>
        </p:txBody>
      </p:sp>
      <p:sp>
        <p:nvSpPr>
          <p:cNvPr id="48131" name="Rectangle 3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528638" y="855663"/>
            <a:ext cx="5811837" cy="3270250"/>
          </a:xfrm>
          <a:ln/>
        </p:spPr>
      </p:sp>
    </p:spTree>
    <p:extLst>
      <p:ext uri="{BB962C8B-B14F-4D97-AF65-F5344CB8AC3E}">
        <p14:creationId xmlns:p14="http://schemas.microsoft.com/office/powerpoint/2010/main" val="326167265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007715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688912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dirty="0">
                <a:solidFill>
                  <a:prstClr val="black"/>
                </a:solidFill>
                <a:latin typeface="+mn-lt"/>
              </a:rPr>
              <a:t>Every arithmetic, logical, or shifting operation sets </a:t>
            </a:r>
            <a:r>
              <a:rPr lang="en-US" sz="1200" dirty="0" err="1">
                <a:solidFill>
                  <a:prstClr val="black"/>
                </a:solidFill>
                <a:latin typeface="+mn-lt"/>
              </a:rPr>
              <a:t>xPSR</a:t>
            </a:r>
            <a:r>
              <a:rPr lang="en-US" sz="1200" dirty="0">
                <a:solidFill>
                  <a:prstClr val="black"/>
                </a:solidFill>
                <a:latin typeface="+mn-lt"/>
              </a:rPr>
              <a:t> bits: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B0C9D69-9831-4844-8B1E-062B2DA58B0D}" type="slidenum">
              <a:rPr lang="en-US" smtClean="0"/>
              <a:pPr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7142843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B0C9D69-9831-4844-8B1E-062B2DA58B0D}" type="slidenum">
              <a:rPr lang="en-US" smtClean="0"/>
              <a:pPr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5461490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Combined Program Status Register (</a:t>
            </a:r>
            <a:r>
              <a:rPr lang="en-US" dirty="0" err="1"/>
              <a:t>xPSR</a:t>
            </a:r>
            <a:r>
              <a:rPr lang="en-US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84353863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3901193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586580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29567668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76696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28419516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423559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2471493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5771027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81F4C3A-4FFF-4769-A3DC-CFCC34F8DA1C}" type="slidenum">
              <a:rPr lang="en-US" smtClean="0"/>
              <a:pPr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27249155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dirty="0"/>
              <a:t>Since multiplication is a slow operation, we can shift i’s value left two bit positions.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r0 + r0 &lt;&lt; 3 = r0 + 8 × r0  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B0C9D69-9831-4844-8B1E-062B2DA58B0D}" type="slidenum">
              <a:rPr lang="en-US" smtClean="0"/>
              <a:pPr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9077906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154" name="Rectangle 1026"/>
          <p:cNvSpPr>
            <a:spLocks noGrp="1" noChangeArrowheads="1"/>
          </p:cNvSpPr>
          <p:nvPr>
            <p:ph type="body" idx="1"/>
          </p:nvPr>
        </p:nvSpPr>
        <p:spPr>
          <a:xfrm>
            <a:off x="912557" y="4360439"/>
            <a:ext cx="5032887" cy="4128999"/>
          </a:xfrm>
          <a:solidFill>
            <a:srgbClr val="FFFFFF"/>
          </a:solidFill>
          <a:ln>
            <a:solidFill>
              <a:srgbClr val="000000"/>
            </a:solidFill>
          </a:ln>
        </p:spPr>
        <p:txBody>
          <a:bodyPr lIns="91303" tIns="45651" rIns="91303" bIns="45651"/>
          <a:lstStyle/>
          <a:p>
            <a:endParaRPr lang="en-US" dirty="0"/>
          </a:p>
        </p:txBody>
      </p:sp>
      <p:sp>
        <p:nvSpPr>
          <p:cNvPr id="49155" name="Rectangle 1027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528638" y="855663"/>
            <a:ext cx="5811837" cy="3270250"/>
          </a:xfrm>
          <a:ln/>
        </p:spPr>
      </p:sp>
    </p:spTree>
    <p:extLst>
      <p:ext uri="{BB962C8B-B14F-4D97-AF65-F5344CB8AC3E}">
        <p14:creationId xmlns:p14="http://schemas.microsoft.com/office/powerpoint/2010/main" val="2389135582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>
                <a:latin typeface="Gill Sans Light"/>
              </a:rPr>
              <a:t>Useful for multiword shifts and certain crypto/bit-</a:t>
            </a:r>
            <a:r>
              <a:rPr lang="en-US" dirty="0" err="1">
                <a:latin typeface="Gill Sans Light"/>
              </a:rPr>
              <a:t>manip</a:t>
            </a:r>
            <a:r>
              <a:rPr lang="en-US" dirty="0">
                <a:latin typeface="Gill Sans Light"/>
              </a:rPr>
              <a:t> patterns</a:t>
            </a:r>
          </a:p>
          <a:p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LSR (used here)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Always fills with zeros, converting the negative value to a large positive number</a:t>
            </a:r>
          </a:p>
          <a:p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ASR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Would preserve the sign bit, maintaining the negative value (-4096)</a:t>
            </a:r>
          </a:p>
          <a:p>
            <a:r>
              <a:rPr lang="en-US" dirty="0"/>
              <a:t>The carry flag captures the last bit shifted out of the register during shift operations, when the instruction explicitly updates flags (using S suffix like MOVS, LSLS, ASRS)</a:t>
            </a:r>
          </a:p>
          <a:p>
            <a:pPr lvl="1"/>
            <a:r>
              <a:rPr lang="en-US" dirty="0"/>
              <a:t>LSLS (Logical Shift Left): Carry = the last bit shifted out from the MSB position (bit 31) </a:t>
            </a:r>
          </a:p>
          <a:p>
            <a:pPr lvl="1"/>
            <a:r>
              <a:rPr lang="en-US" dirty="0"/>
              <a:t>LSRS (Logical Shift Right),  ASRS (Arithmetic Shift Right): Carry = the last bit shifted out from the LSB position (bit 0) </a:t>
            </a:r>
          </a:p>
          <a:p>
            <a:pPr lvl="1"/>
            <a:r>
              <a:rPr lang="en-US" dirty="0"/>
              <a:t>RORS (Rotate Right): Carry = bit that was rotated from bit 0 to bit 31</a:t>
            </a:r>
          </a:p>
          <a:p>
            <a:endParaRPr 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B0C9D69-9831-4844-8B1E-062B2DA58B0D}" type="slidenum">
              <a:rPr lang="en-US" smtClean="0"/>
              <a:pPr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64105016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https://www.davespace.co.uk/arm/introduction-to-arm/barrel-shifter.html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B0C9D69-9831-4844-8B1E-062B2DA58B0D}" type="slidenum">
              <a:rPr lang="en-US" smtClean="0"/>
              <a:pPr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6481652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154" name="Rectangle 1026"/>
          <p:cNvSpPr>
            <a:spLocks noGrp="1" noChangeArrowheads="1"/>
          </p:cNvSpPr>
          <p:nvPr>
            <p:ph type="body" idx="1"/>
          </p:nvPr>
        </p:nvSpPr>
        <p:spPr>
          <a:xfrm>
            <a:off x="973395" y="4578461"/>
            <a:ext cx="5368413" cy="4335449"/>
          </a:xfrm>
          <a:solidFill>
            <a:srgbClr val="FFFFFF"/>
          </a:solidFill>
          <a:ln>
            <a:solidFill>
              <a:srgbClr val="000000"/>
            </a:solidFill>
          </a:ln>
        </p:spPr>
        <p:txBody>
          <a:bodyPr lIns="96516" tIns="48258" rIns="96516" bIns="48258"/>
          <a:lstStyle/>
          <a:p>
            <a:endParaRPr lang="en-US" dirty="0"/>
          </a:p>
        </p:txBody>
      </p:sp>
      <p:sp>
        <p:nvSpPr>
          <p:cNvPr id="49155" name="Rectangle 1027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612775" y="898525"/>
            <a:ext cx="6102350" cy="3433763"/>
          </a:xfrm>
          <a:ln/>
        </p:spPr>
      </p:sp>
    </p:spTree>
    <p:extLst>
      <p:ext uri="{BB962C8B-B14F-4D97-AF65-F5344CB8AC3E}">
        <p14:creationId xmlns:p14="http://schemas.microsoft.com/office/powerpoint/2010/main" val="2260415247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154" name="Rectangle 1026"/>
          <p:cNvSpPr>
            <a:spLocks noGrp="1" noChangeArrowheads="1"/>
          </p:cNvSpPr>
          <p:nvPr>
            <p:ph type="body" idx="1"/>
          </p:nvPr>
        </p:nvSpPr>
        <p:spPr>
          <a:xfrm>
            <a:off x="973395" y="4578461"/>
            <a:ext cx="5368413" cy="4335449"/>
          </a:xfrm>
          <a:solidFill>
            <a:srgbClr val="FFFFFF"/>
          </a:solidFill>
          <a:ln>
            <a:solidFill>
              <a:srgbClr val="000000"/>
            </a:solidFill>
          </a:ln>
        </p:spPr>
        <p:txBody>
          <a:bodyPr lIns="96516" tIns="48258" rIns="96516" bIns="48258"/>
          <a:lstStyle/>
          <a:p>
            <a:endParaRPr lang="en-US" dirty="0"/>
          </a:p>
        </p:txBody>
      </p:sp>
      <p:sp>
        <p:nvSpPr>
          <p:cNvPr id="49155" name="Rectangle 1027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612775" y="898525"/>
            <a:ext cx="6102350" cy="3433763"/>
          </a:xfrm>
          <a:ln/>
        </p:spPr>
      </p:sp>
    </p:spTree>
    <p:extLst>
      <p:ext uri="{BB962C8B-B14F-4D97-AF65-F5344CB8AC3E}">
        <p14:creationId xmlns:p14="http://schemas.microsoft.com/office/powerpoint/2010/main" val="308398702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154" name="Rectangle 1026"/>
          <p:cNvSpPr>
            <a:spLocks noGrp="1" noChangeArrowheads="1"/>
          </p:cNvSpPr>
          <p:nvPr>
            <p:ph type="body" idx="1"/>
          </p:nvPr>
        </p:nvSpPr>
        <p:spPr>
          <a:xfrm>
            <a:off x="973395" y="4578461"/>
            <a:ext cx="5368413" cy="4335449"/>
          </a:xfrm>
          <a:solidFill>
            <a:srgbClr val="FFFFFF"/>
          </a:solidFill>
          <a:ln>
            <a:solidFill>
              <a:srgbClr val="000000"/>
            </a:solidFill>
          </a:ln>
        </p:spPr>
        <p:txBody>
          <a:bodyPr lIns="96516" tIns="48258" rIns="96516" bIns="48258"/>
          <a:lstStyle/>
          <a:p>
            <a:endParaRPr lang="en-US" dirty="0"/>
          </a:p>
        </p:txBody>
      </p:sp>
      <p:sp>
        <p:nvSpPr>
          <p:cNvPr id="49155" name="Rectangle 1027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612775" y="898525"/>
            <a:ext cx="6102350" cy="3433763"/>
          </a:xfrm>
          <a:ln/>
        </p:spPr>
      </p:sp>
    </p:spTree>
    <p:extLst>
      <p:ext uri="{BB962C8B-B14F-4D97-AF65-F5344CB8AC3E}">
        <p14:creationId xmlns:p14="http://schemas.microsoft.com/office/powerpoint/2010/main" val="3210189706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154" name="Rectangle 1026"/>
          <p:cNvSpPr>
            <a:spLocks noGrp="1" noChangeArrowheads="1"/>
          </p:cNvSpPr>
          <p:nvPr>
            <p:ph type="body" idx="1"/>
          </p:nvPr>
        </p:nvSpPr>
        <p:spPr>
          <a:xfrm>
            <a:off x="973395" y="4578461"/>
            <a:ext cx="5368413" cy="4335449"/>
          </a:xfrm>
          <a:solidFill>
            <a:srgbClr val="FFFFFF"/>
          </a:solidFill>
          <a:ln>
            <a:solidFill>
              <a:srgbClr val="000000"/>
            </a:solidFill>
          </a:ln>
        </p:spPr>
        <p:txBody>
          <a:bodyPr lIns="96516" tIns="48258" rIns="96516" bIns="48258"/>
          <a:lstStyle/>
          <a:p>
            <a:endParaRPr lang="en-US" dirty="0"/>
          </a:p>
        </p:txBody>
      </p:sp>
      <p:sp>
        <p:nvSpPr>
          <p:cNvPr id="49155" name="Rectangle 1027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612775" y="898525"/>
            <a:ext cx="6102350" cy="3433763"/>
          </a:xfrm>
          <a:ln/>
        </p:spPr>
      </p:sp>
    </p:spTree>
    <p:extLst>
      <p:ext uri="{BB962C8B-B14F-4D97-AF65-F5344CB8AC3E}">
        <p14:creationId xmlns:p14="http://schemas.microsoft.com/office/powerpoint/2010/main" val="1436145725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154" name="Rectangle 1026"/>
          <p:cNvSpPr>
            <a:spLocks noGrp="1" noChangeArrowheads="1"/>
          </p:cNvSpPr>
          <p:nvPr>
            <p:ph type="body" idx="1"/>
          </p:nvPr>
        </p:nvSpPr>
        <p:spPr>
          <a:xfrm>
            <a:off x="973395" y="4578461"/>
            <a:ext cx="5368413" cy="4335449"/>
          </a:xfrm>
          <a:solidFill>
            <a:srgbClr val="FFFFFF"/>
          </a:solidFill>
          <a:ln>
            <a:solidFill>
              <a:srgbClr val="000000"/>
            </a:solidFill>
          </a:ln>
        </p:spPr>
        <p:txBody>
          <a:bodyPr lIns="96516" tIns="48258" rIns="96516" bIns="48258"/>
          <a:lstStyle/>
          <a:p>
            <a:endParaRPr lang="en-US" dirty="0"/>
          </a:p>
        </p:txBody>
      </p:sp>
      <p:sp>
        <p:nvSpPr>
          <p:cNvPr id="49155" name="Rectangle 1027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612775" y="898525"/>
            <a:ext cx="6102350" cy="3433763"/>
          </a:xfrm>
          <a:ln/>
        </p:spPr>
      </p:sp>
    </p:spTree>
    <p:extLst>
      <p:ext uri="{BB962C8B-B14F-4D97-AF65-F5344CB8AC3E}">
        <p14:creationId xmlns:p14="http://schemas.microsoft.com/office/powerpoint/2010/main" val="809714024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Subtract using barrel shifter on 2nd operand, giving </a:t>
            </a:r>
            <a:r>
              <a:rPr lang="pt-BR" dirty="0"/>
              <a:t>r5 − (r5 &gt;&gt; n)</a:t>
            </a:r>
          </a:p>
          <a:p>
            <a:endParaRPr lang="en-US" dirty="0"/>
          </a:p>
          <a:p>
            <a:r>
              <a:rPr lang="en-US" dirty="0"/>
              <a:t>RSB r5, r5, r5, LSL #5 computes a reverse-subtract using the barrel shifter on the second operand, giving r5 = (r5 &lt;&lt; 5) − r5.</a:t>
            </a:r>
          </a:p>
          <a:p>
            <a:r>
              <a:rPr lang="en-US" dirty="0"/>
              <a:t>RSB is “Reverse </a:t>
            </a:r>
            <a:r>
              <a:rPr lang="en-US" dirty="0" err="1"/>
              <a:t>SuBtract</a:t>
            </a:r>
            <a:r>
              <a:rPr lang="en-US" dirty="0"/>
              <a:t>”: result = Operand2 − Rn, not Rn − Operand2.</a:t>
            </a:r>
          </a:p>
          <a:p>
            <a:r>
              <a:rPr lang="en-US" dirty="0"/>
              <a:t>Here, Rn is r5, and Operand2 is r5 logically shifted left by 5 bits.</a:t>
            </a:r>
          </a:p>
          <a:p>
            <a:r>
              <a:rPr lang="en-US" dirty="0"/>
              <a:t>Thus Operand2 = r5 × 2^5 = 32·r5, so the operation is r5 = 32·r5 − r5 = 31·r5.</a:t>
            </a:r>
          </a:p>
          <a:p>
            <a:r>
              <a:rPr lang="en-US" dirty="0"/>
              <a:t>No flags are updated because there is no S suffix.</a:t>
            </a:r>
          </a:p>
          <a:p>
            <a:r>
              <a:rPr lang="en-US" dirty="0"/>
              <a:t>Intuition and uses</a:t>
            </a:r>
          </a:p>
          <a:p>
            <a:r>
              <a:rPr lang="en-US" dirty="0"/>
              <a:t>It’s a strength-reduction trick: multiply by 31 using one instruction by combining a shift and a subtract in the ALU’s flexible operand path.</a:t>
            </a:r>
          </a:p>
          <a:p>
            <a:r>
              <a:rPr lang="en-US" dirty="0"/>
              <a:t>Equivalent sequences:</a:t>
            </a:r>
          </a:p>
          <a:p>
            <a:pPr lvl="1"/>
            <a:r>
              <a:rPr lang="en-US" dirty="0"/>
              <a:t>SUB r5, r5, r5, LSR #? is different; SUB would compute r5 − (r5 &gt;&gt; n).</a:t>
            </a:r>
          </a:p>
          <a:p>
            <a:pPr lvl="1"/>
            <a:r>
              <a:rPr lang="en-US" dirty="0"/>
              <a:t>RSB r5, r5, r5, LSL #k generally yields r5 = (2^k − 1)·r5. For k=5, multiplier is 31.</a:t>
            </a:r>
          </a:p>
          <a:p>
            <a:r>
              <a:rPr lang="en-US" dirty="0">
                <a:hlinkClick r:id="rId3"/>
              </a:rPr>
              <a:t>https://developer.arm.com/documentation/ddi0597/latest/Base-Instructions/RSB--RSBS--register---Reverse-Subtract--register--</a:t>
            </a:r>
            <a:endParaRPr lang="en-US" dirty="0"/>
          </a:p>
          <a:p>
            <a:r>
              <a:rPr lang="en-US" dirty="0">
                <a:hlinkClick r:id="rId4"/>
              </a:rPr>
              <a:t>https://developer.arm.com/documentation/dui0231/latest/arm-instruction-reference/arm-general-data-processing-instructions/add--sub--rsb--adc--sbc--and-rsc</a:t>
            </a:r>
            <a:endParaRPr lang="en-US" dirty="0"/>
          </a:p>
          <a:p>
            <a:r>
              <a:rPr lang="en-US" dirty="0">
                <a:hlinkClick r:id="rId5"/>
              </a:rPr>
              <a:t>https://stackoverflow.com/questions/42042832/what-does-this-rsb-instruction-do-with-an-extra-lsl-1-operand</a:t>
            </a:r>
            <a:endParaRPr lang="en-US" dirty="0"/>
          </a:p>
          <a:p>
            <a:r>
              <a:rPr lang="en-US" dirty="0">
                <a:hlinkClick r:id="rId6"/>
              </a:rPr>
              <a:t>https://www.csie.ntu.edu.tw/~cyy/courses/assembly/12fall/lectures/handouts/lec09_ARMisa.pdf</a:t>
            </a:r>
            <a:endParaRPr lang="en-US" dirty="0"/>
          </a:p>
          <a:p>
            <a:r>
              <a:rPr lang="en-US" dirty="0">
                <a:hlinkClick r:id="rId7"/>
              </a:rPr>
              <a:t>https://iitd-plos.github.io/col718/ref/arm-instructionset.pdf</a:t>
            </a:r>
            <a:endParaRPr lang="en-US" dirty="0"/>
          </a:p>
          <a:p>
            <a:r>
              <a:rPr lang="en-US" dirty="0">
                <a:hlinkClick r:id="rId8"/>
              </a:rPr>
              <a:t>https://web.cs.umass.edu/~weems/homepage/335-Notes/ewExternalFiles/Lecture%2015.pdf</a:t>
            </a:r>
            <a:endParaRPr lang="en-US" dirty="0"/>
          </a:p>
          <a:p>
            <a:r>
              <a:rPr lang="en-US" dirty="0">
                <a:hlinkClick r:id="rId9"/>
              </a:rPr>
              <a:t>https://cseweb.ucsd.edu/classes/wi14/cse30-c/lectures/PI_WI_14_CSE30_lecture_8_post.pdf</a:t>
            </a:r>
            <a:endParaRPr lang="en-US" dirty="0"/>
          </a:p>
          <a:p>
            <a:r>
              <a:rPr lang="en-US" dirty="0">
                <a:hlinkClick r:id="rId10"/>
              </a:rPr>
              <a:t>https://keleshev.com/compiling-to-assembly-from-scratch/07-arm-assembly-programming</a:t>
            </a:r>
            <a:endParaRPr lang="en-US" dirty="0"/>
          </a:p>
          <a:p>
            <a:r>
              <a:rPr lang="en-US" dirty="0">
                <a:hlinkClick r:id="rId11"/>
              </a:rPr>
              <a:t>https://salmanarif.bitbucket.io/visual/supported_instructions.html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B0C9D69-9831-4844-8B1E-062B2DA58B0D}" type="slidenum">
              <a:rPr lang="en-US" smtClean="0"/>
              <a:pPr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0987327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The fundamental difference is that RSB reverses the order of the operands in the subtraction operation.</a:t>
            </a:r>
          </a:p>
          <a:p>
            <a:r>
              <a:rPr lang="pt-BR" dirty="0"/>
              <a:t>@ Negation</a:t>
            </a:r>
          </a:p>
          <a:p>
            <a:r>
              <a:rPr lang="pt-BR" dirty="0"/>
              <a:t>RSB R0, R0, #0          @ R0 = -R0</a:t>
            </a:r>
          </a:p>
          <a:p>
            <a:endParaRPr lang="pt-BR" dirty="0"/>
          </a:p>
          <a:p>
            <a:r>
              <a:rPr lang="pt-BR" dirty="0"/>
              <a:t>@ Subtract from constant  </a:t>
            </a:r>
          </a:p>
          <a:p>
            <a:r>
              <a:rPr lang="pt-BR" dirty="0"/>
              <a:t>RSB R2, R4, #100        @ R2 = 100 - R4</a:t>
            </a:r>
          </a:p>
          <a:p>
            <a:endParaRPr lang="pt-BR" dirty="0"/>
          </a:p>
          <a:p>
            <a:r>
              <a:rPr lang="pt-BR" dirty="0"/>
              <a:t>@ Shift and subtract</a:t>
            </a:r>
          </a:p>
          <a:p>
            <a:r>
              <a:rPr lang="pt-BR" dirty="0"/>
              <a:t>RSB R1, R2, R3, LSL #2  @ R1 = (R3 &lt;&lt; 2) - R2</a:t>
            </a:r>
          </a:p>
          <a:p>
            <a:endParaRPr lang="pt-BR" dirty="0"/>
          </a:p>
          <a:p>
            <a:r>
              <a:rPr lang="pt-BR" dirty="0"/>
              <a:t>@ Compare with SUB equivalent</a:t>
            </a:r>
          </a:p>
          <a:p>
            <a:r>
              <a:rPr lang="pt-BR" dirty="0"/>
              <a:t>SUB R5, R3, #10         @ R5 = R3 - 10</a:t>
            </a:r>
          </a:p>
          <a:p>
            <a:r>
              <a:rPr lang="pt-BR" dirty="0"/>
              <a:t>RSB R5, R3, #10         @ R5 = 10 - R3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B0C9D69-9831-4844-8B1E-062B2DA58B0D}" type="slidenum">
              <a:rPr lang="en-US" smtClean="0"/>
              <a:pPr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7967498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B0C9D69-9831-4844-8B1E-062B2DA58B0D}" type="slidenum">
              <a:rPr lang="en-US" smtClean="0"/>
              <a:pPr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4855958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, logical operations don't affect overflow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B0C9D69-9831-4844-8B1E-062B2DA58B0D}" type="slidenum">
              <a:rPr lang="en-US" smtClean="0"/>
              <a:pPr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7961925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Here we can remove the S suffix for all instructions, unless the flags are used by later instructions.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B0C9D69-9831-4844-8B1E-062B2DA58B0D}" type="slidenum">
              <a:rPr lang="en-US" smtClean="0"/>
              <a:pPr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942270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 sz="1200" baseline="0" dirty="0"/>
              <a:t>A bit can be ‘toggled’ (changed) – without knowing its initial value – by </a:t>
            </a:r>
            <a:r>
              <a:rPr lang="en-US" sz="1200" baseline="0" dirty="0" err="1"/>
              <a:t>XORing</a:t>
            </a:r>
            <a:r>
              <a:rPr lang="en-US" sz="1200" baseline="0"/>
              <a:t> it with a “1”.</a:t>
            </a: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B0C9D69-9831-4844-8B1E-062B2DA58B0D}" type="slidenum">
              <a:rPr lang="en-US" smtClean="0"/>
              <a:pPr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53340418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 sz="1200" baseline="0" dirty="0"/>
              <a:t>A bit can be ‘toggled’ (changed) – without knowing its initial value – by </a:t>
            </a:r>
            <a:r>
              <a:rPr lang="en-US" sz="1200" baseline="0" dirty="0" err="1"/>
              <a:t>XORing</a:t>
            </a:r>
            <a:r>
              <a:rPr lang="en-US" sz="1200" baseline="0"/>
              <a:t> it with a “1”.</a:t>
            </a: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B0C9D69-9831-4844-8B1E-062B2DA58B0D}" type="slidenum">
              <a:rPr lang="en-US" smtClean="0"/>
              <a:pPr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2347594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610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24611" name="Rectangle 3"/>
              <p:cNvSpPr>
                <a:spLocks noGrp="1" noChangeArrowheads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n-US" dirty="0"/>
                  <a:t>Convert subtraction to addition with Two’s complement. If two operands have same sign, and the result has opposite sign, then V = 1; else V = 0.”</a:t>
                </a:r>
              </a:p>
              <a:p>
                <a:pPr>
                  <a:defRPr/>
                </a:pPr>
                <a:endParaRPr lang="en-US" sz="1200" dirty="0">
                  <a:solidFill>
                    <a:prstClr val="black"/>
                  </a:solidFill>
                  <a:cs typeface="Times New Roman" pitchFamily="18" charset="0"/>
                </a:endParaRPr>
              </a:p>
              <a:p>
                <a:pPr>
                  <a:defRPr/>
                </a:pPr>
                <a:r>
                  <a:rPr lang="en-US" sz="1200" dirty="0">
                    <a:solidFill>
                      <a:prstClr val="black"/>
                    </a:solidFill>
                    <a:latin typeface="Gill Sans MT"/>
                    <a:cs typeface="Times New Roman" pitchFamily="18" charset="0"/>
                  </a:rPr>
                  <a:t>convert subtraction to addition with Two’s complement. </a:t>
                </a:r>
                <a:r>
                  <a:rPr lang="en-US" sz="1200" dirty="0">
                    <a:solidFill>
                      <a:prstClr val="black"/>
                    </a:solidFill>
                    <a:cs typeface="Times New Roman" pitchFamily="18" charset="0"/>
                  </a:rPr>
                  <a:t>If two operands have same sign, and the result has opposite sign, then V = 1; for all other cases, V = 0</a:t>
                </a:r>
                <a:endParaRPr lang="en-US" sz="1200" dirty="0">
                  <a:solidFill>
                    <a:prstClr val="black"/>
                  </a:solidFill>
                  <a:latin typeface="Gill Sans MT"/>
                  <a:cs typeface="Times New Roman" pitchFamily="18" charset="0"/>
                </a:endParaRPr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ill Sans MT"/>
                  <a:ea typeface="+mn-ea"/>
                  <a:cs typeface="+mn-cs"/>
                </a:endParaRPr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rPr>
                  <a:t>C is cleared </a:t>
                </a:r>
                <a:r>
                  <a:rPr kumimoji="0" lang="en-US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Gill Sans MT"/>
                    <a:ea typeface="+mn-ea"/>
                    <a:cs typeface="Times New Roman" pitchFamily="18" charset="0"/>
                  </a:rPr>
                  <a:t>upon </a:t>
                </a:r>
                <a:r>
                  <a:rPr kumimoji="0" lang="en-US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rPr>
                  <a:t>an </a:t>
                </a:r>
                <a:r>
                  <a:rPr kumimoji="0" lang="en-US" sz="1200" b="1" i="0" u="sng" strike="noStrike" kern="1200" cap="none" spc="0" normalizeH="0" baseline="0" noProof="0" dirty="0">
                    <a:ln>
                      <a:noFill/>
                    </a:ln>
                    <a:solidFill>
                      <a:srgbClr val="800000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rPr>
                  <a:t>unsigned</a:t>
                </a:r>
                <a:r>
                  <a:rPr kumimoji="0" lang="en-US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rPr>
                  <a:t> subtract if the answer is wrong</a:t>
                </a:r>
                <a:endParaRPr kumimoji="0" lang="en-US" sz="3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ill Sans MT"/>
                  <a:ea typeface="+mn-ea"/>
                  <a:cs typeface="+mn-cs"/>
                </a:endParaRPr>
              </a:p>
              <a:p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The carry flag (CF) is set differently for unsigned addition and subtraction:</a:t>
                </a:r>
              </a:p>
              <a:p>
                <a:r>
                  <a:rPr lang="en-US" sz="2800" dirty="0">
                    <a:solidFill>
                      <a:prstClr val="black"/>
                    </a:solidFill>
                  </a:rPr>
                  <a:t>When adding or subtracting two signed numbers in an </a:t>
                </a:r>
                <a:r>
                  <a:rPr lang="en-US" sz="2800" i="1" dirty="0">
                    <a:solidFill>
                      <a:prstClr val="black"/>
                    </a:solidFill>
                  </a:rPr>
                  <a:t>n</a:t>
                </a:r>
                <a:r>
                  <a:rPr lang="en-US" sz="2800" dirty="0">
                    <a:solidFill>
                      <a:prstClr val="black"/>
                    </a:solidFill>
                  </a:rPr>
                  <a:t>-bit system, an overflow occurs if </a:t>
                </a:r>
                <a:r>
                  <a:rPr lang="en-US" sz="2800" dirty="0">
                    <a:solidFill>
                      <a:srgbClr val="C00000"/>
                    </a:solidFill>
                  </a:rPr>
                  <a:t>the true result is larger than the maximum signed integer </a:t>
                </a:r>
                <a:r>
                  <a:rPr lang="en-US" sz="2800" dirty="0">
                    <a:solidFill>
                      <a:prstClr val="black"/>
                    </a:solidFill>
                  </a:rPr>
                  <a:t>(</a:t>
                </a:r>
                <a:r>
                  <a:rPr lang="en-US" sz="2800" i="1" dirty="0">
                    <a:solidFill>
                      <a:prstClr val="black"/>
                    </a:solidFill>
                  </a:rPr>
                  <a:t>i.e.</a:t>
                </a:r>
                <a:r>
                  <a:rPr lang="en-US" sz="2800" dirty="0">
                    <a:solidFill>
                      <a:prstClr val="black"/>
                    </a:solidFill>
                  </a:rPr>
                  <a:t>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800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800" i="1">
                            <a:solidFill>
                              <a:prstClr val="black"/>
                            </a:solidFill>
                            <a:latin typeface="Cambria Math"/>
                          </a:rPr>
                          <m:t>2</m:t>
                        </m:r>
                      </m:e>
                      <m:sup>
                        <m:r>
                          <a:rPr lang="en-US" sz="2800" i="1">
                            <a:solidFill>
                              <a:prstClr val="black"/>
                            </a:solidFill>
                            <a:latin typeface="Cambria Math"/>
                          </a:rPr>
                          <m:t>𝑛</m:t>
                        </m:r>
                        <m:r>
                          <a:rPr lang="en-US" sz="2800" b="0" i="1" smtClean="0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2800" b="0" i="1" smtClean="0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  <m:r>
                      <a:rPr lang="en-US" sz="2800" i="1">
                        <a:solidFill>
                          <a:prstClr val="black"/>
                        </a:solidFill>
                        <a:latin typeface="Cambria Math"/>
                      </a:rPr>
                      <m:t>−</m:t>
                    </m:r>
                    <m:r>
                      <a:rPr lang="en-US" sz="2800" i="1">
                        <a:solidFill>
                          <a:prstClr val="black"/>
                        </a:solidFill>
                        <a:latin typeface="Cambria Math"/>
                      </a:rPr>
                      <m:t>1</m:t>
                    </m:r>
                  </m:oMath>
                </a14:m>
                <a:r>
                  <a:rPr lang="en-US" sz="2800" dirty="0">
                    <a:solidFill>
                      <a:prstClr val="black"/>
                    </a:solidFill>
                  </a:rPr>
                  <a:t>) </a:t>
                </a:r>
                <a:r>
                  <a:rPr lang="en-US" sz="2800" dirty="0">
                    <a:solidFill>
                      <a:srgbClr val="C00000"/>
                    </a:solidFill>
                  </a:rPr>
                  <a:t>or smaller than the minimum signed integer </a:t>
                </a:r>
                <a:r>
                  <a:rPr lang="en-US" sz="2800" dirty="0">
                    <a:solidFill>
                      <a:prstClr val="black"/>
                    </a:solidFill>
                  </a:rPr>
                  <a:t>(</a:t>
                </a:r>
                <a:r>
                  <a:rPr lang="en-US" sz="2800" i="1" dirty="0">
                    <a:solidFill>
                      <a:prstClr val="black"/>
                    </a:solidFill>
                  </a:rPr>
                  <a:t>i.e.</a:t>
                </a:r>
                <a:r>
                  <a:rPr lang="en-US" sz="2800" dirty="0">
                    <a:solidFill>
                      <a:prstClr val="black"/>
                    </a:solidFill>
                  </a:rPr>
                  <a:t>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800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800" b="0" i="1" smtClean="0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2800" i="1">
                            <a:solidFill>
                              <a:prstClr val="black"/>
                            </a:solidFill>
                            <a:latin typeface="Cambria Math"/>
                          </a:rPr>
                          <m:t>2</m:t>
                        </m:r>
                      </m:e>
                      <m:sup>
                        <m:r>
                          <a:rPr lang="en-US" sz="2800" i="1">
                            <a:solidFill>
                              <a:prstClr val="black"/>
                            </a:solidFill>
                            <a:latin typeface="Cambria Math"/>
                          </a:rPr>
                          <m:t>𝑛</m:t>
                        </m:r>
                        <m:r>
                          <a:rPr lang="en-US" sz="2800" b="0" i="1" smtClean="0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2800" b="0" i="1" smtClean="0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</m:oMath>
                </a14:m>
                <a:r>
                  <a:rPr lang="en-US" sz="2800" dirty="0">
                    <a:solidFill>
                      <a:prstClr val="black"/>
                    </a:solidFill>
                  </a:rPr>
                  <a:t>) that can be represented</a:t>
                </a:r>
              </a:p>
              <a:p>
                <a:endParaRPr lang="en-US" dirty="0"/>
              </a:p>
              <a:p>
                <a:r>
                  <a:rPr lang="en-US" dirty="0"/>
                  <a:t>Overflow may occur when adding 2 operands with the same sign, or subtracting 2 operands with different signs, including: </a:t>
                </a:r>
              </a:p>
              <a:p>
                <a:pPr marL="731520" lvl="1" indent="-457200">
                  <a:buFont typeface="+mj-lt"/>
                  <a:buAutoNum type="arabicPeriod"/>
                </a:pPr>
                <a:r>
                  <a:rPr lang="en-US" dirty="0"/>
                  <a:t>adding two positive numbers</a:t>
                </a:r>
              </a:p>
              <a:p>
                <a:pPr marL="731520" lvl="1" indent="-457200">
                  <a:buFont typeface="+mj-lt"/>
                  <a:buAutoNum type="arabicPeriod"/>
                </a:pPr>
                <a:r>
                  <a:rPr lang="en-US" dirty="0"/>
                  <a:t>adding two negative numbers</a:t>
                </a:r>
              </a:p>
              <a:p>
                <a:pPr marL="731520" lvl="1" indent="-457200">
                  <a:buFont typeface="+mj-lt"/>
                  <a:buAutoNum type="arabicPeriod"/>
                </a:pPr>
                <a:r>
                  <a:rPr lang="en-US" dirty="0"/>
                  <a:t>subtracting a positive number from a negative number</a:t>
                </a:r>
              </a:p>
              <a:p>
                <a:pPr marL="731520" lvl="1" indent="-457200">
                  <a:buFont typeface="+mj-lt"/>
                  <a:buAutoNum type="arabicPeriod"/>
                </a:pPr>
                <a:r>
                  <a:rPr lang="en-US" dirty="0"/>
                  <a:t>subtracting a negative number from a positive number</a:t>
                </a:r>
              </a:p>
              <a:p>
                <a:endParaRPr lang="en-US" dirty="0"/>
              </a:p>
              <a:p>
                <a:r>
                  <a:rPr lang="en-US" dirty="0"/>
                  <a:t>Overflow cannot occur when adding 2 operands with different signs or when subtracting 2 operands with the same sign.</a:t>
                </a:r>
              </a:p>
              <a:p>
                <a:pPr lvl="1"/>
                <a:r>
                  <a:rPr lang="en-US" dirty="0"/>
                  <a:t>Why?</a:t>
                </a:r>
              </a:p>
              <a:p>
                <a:endParaRPr lang="en-US" sz="1200" b="1" i="0" kern="1200" dirty="0">
                  <a:solidFill>
                    <a:schemeClr val="tx1"/>
                  </a:solidFill>
                  <a:effectLst/>
                  <a:latin typeface="+mn-lt"/>
                  <a:ea typeface="+mn-ea"/>
                  <a:cs typeface="+mn-cs"/>
                </a:endParaRPr>
              </a:p>
              <a:p>
                <a:endParaRPr lang="en-US" sz="1200" b="1" i="0" kern="1200" dirty="0">
                  <a:solidFill>
                    <a:schemeClr val="tx1"/>
                  </a:solidFill>
                  <a:effectLst/>
                  <a:latin typeface="+mn-lt"/>
                  <a:ea typeface="+mn-ea"/>
                  <a:cs typeface="+mn-cs"/>
                </a:endParaRPr>
              </a:p>
              <a:p>
                <a:r>
                  <a:rPr lang="en-US" sz="1200" b="1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Unsigned Addition:</a:t>
                </a:r>
              </a:p>
              <a:p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The carry flag is set to 1 if there is a </a:t>
                </a:r>
                <a:r>
                  <a:rPr lang="en-US" sz="1200" b="1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carry out</a:t>
                </a:r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 from the most significant bit (MSB) during the addition.</a:t>
                </a:r>
              </a:p>
              <a:p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This means the sum exceeds the maximum value that can be represented in the given number of bits.</a:t>
                </a:r>
              </a:p>
              <a:p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Example: Adding two 8-bit numbers resulting in a value greater than 255 will set CF = 1.</a:t>
                </a:r>
              </a:p>
              <a:p>
                <a:r>
                  <a:rPr lang="en-US" sz="1200" b="1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Unsigned Subtraction:</a:t>
                </a:r>
              </a:p>
              <a:p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The carry flag acts as a </a:t>
                </a:r>
                <a:r>
                  <a:rPr lang="en-US" sz="1200" b="1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borrow indicator</a:t>
                </a:r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 for subtraction.</a:t>
                </a:r>
              </a:p>
              <a:p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CF is cleared (set to 0) if a borrow is needed (i.e., if the minuend is less than the subtrahend).</a:t>
                </a:r>
              </a:p>
              <a:p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CF is set to 1 if no borrow is needed, meaning the subtraction did not underflow.</a:t>
                </a:r>
              </a:p>
              <a:p>
                <a:r>
                  <a:rPr lang="en-US" sz="1200" b="1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Summary:</a:t>
                </a:r>
              </a:p>
              <a:p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For </a:t>
                </a:r>
                <a:r>
                  <a:rPr lang="en-US" sz="1200" b="1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unsigned addition</a:t>
                </a:r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, CF = 1 means an overflow beyond the MSB (carry out).</a:t>
                </a:r>
              </a:p>
              <a:p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For </a:t>
                </a:r>
                <a:r>
                  <a:rPr lang="en-US" sz="1200" b="1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unsigned subtraction</a:t>
                </a:r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, CF = 0 means a borrow (underflow), CF = 1 means no borrow.</a:t>
                </a:r>
              </a:p>
              <a:p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The carry flag thus helps detect unsigned overflow or underflow conditions.</a:t>
                </a:r>
              </a:p>
              <a:p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This behavior contrasts with signed arithmetic, where the overflow flag (OF) signals signed overflow, and the carry flag is generally not used.</a:t>
                </a:r>
              </a:p>
              <a:p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References from teaching and documentation explain this clearly: The carry flag signals actual carry for addition and borrow for subtraction in unsigned arithmetic scenarios.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24611" name="Rectangle 3"/>
              <p:cNvSpPr>
                <a:spLocks noGrp="1" noChangeArrowheads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rPr>
                  <a:t>C is cleared </a:t>
                </a:r>
                <a:r>
                  <a:rPr kumimoji="0" lang="en-US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Gill Sans MT"/>
                    <a:ea typeface="+mn-ea"/>
                    <a:cs typeface="Times New Roman" pitchFamily="18" charset="0"/>
                  </a:rPr>
                  <a:t>upon </a:t>
                </a:r>
                <a:r>
                  <a:rPr kumimoji="0" lang="en-US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rPr>
                  <a:t>an </a:t>
                </a:r>
                <a:r>
                  <a:rPr kumimoji="0" lang="en-US" sz="1200" b="1" i="0" u="sng" strike="noStrike" kern="1200" cap="none" spc="0" normalizeH="0" baseline="0" noProof="0" dirty="0">
                    <a:ln>
                      <a:noFill/>
                    </a:ln>
                    <a:solidFill>
                      <a:srgbClr val="800000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rPr>
                  <a:t>unsigned</a:t>
                </a:r>
                <a:r>
                  <a:rPr kumimoji="0" lang="en-US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rPr>
                  <a:t> subtract if the answer is wrong</a:t>
                </a:r>
                <a:endParaRPr kumimoji="0" lang="en-US" sz="3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ill Sans MT"/>
                  <a:ea typeface="+mn-ea"/>
                  <a:cs typeface="+mn-cs"/>
                </a:endParaRPr>
              </a:p>
              <a:p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The carry flag (CF) is set differently for unsigned addition and subtraction:</a:t>
                </a:r>
              </a:p>
              <a:p>
                <a:r>
                  <a:rPr lang="en-US" sz="2800" dirty="0">
                    <a:solidFill>
                      <a:prstClr val="black"/>
                    </a:solidFill>
                  </a:rPr>
                  <a:t>When adding or subtracting two signed numbers in an </a:t>
                </a:r>
                <a:r>
                  <a:rPr lang="en-US" sz="2800" i="1" dirty="0">
                    <a:solidFill>
                      <a:prstClr val="black"/>
                    </a:solidFill>
                  </a:rPr>
                  <a:t>n</a:t>
                </a:r>
                <a:r>
                  <a:rPr lang="en-US" sz="2800" dirty="0">
                    <a:solidFill>
                      <a:prstClr val="black"/>
                    </a:solidFill>
                  </a:rPr>
                  <a:t>-bit system, an overflow occurs if </a:t>
                </a:r>
                <a:r>
                  <a:rPr lang="en-US" sz="2800" dirty="0">
                    <a:solidFill>
                      <a:srgbClr val="C00000"/>
                    </a:solidFill>
                  </a:rPr>
                  <a:t>the true result is larger than the maximum signed integer </a:t>
                </a:r>
                <a:r>
                  <a:rPr lang="en-US" sz="2800" dirty="0">
                    <a:solidFill>
                      <a:prstClr val="black"/>
                    </a:solidFill>
                  </a:rPr>
                  <a:t>(</a:t>
                </a:r>
                <a:r>
                  <a:rPr lang="en-US" sz="2800" i="1" dirty="0">
                    <a:solidFill>
                      <a:prstClr val="black"/>
                    </a:solidFill>
                  </a:rPr>
                  <a:t>i.e.</a:t>
                </a:r>
                <a:r>
                  <a:rPr lang="en-US" sz="2800" dirty="0">
                    <a:solidFill>
                      <a:prstClr val="black"/>
                    </a:solidFill>
                  </a:rPr>
                  <a:t> </a:t>
                </a:r>
                <a:r>
                  <a:rPr lang="en-US" sz="2800" i="0">
                    <a:solidFill>
                      <a:prstClr val="black"/>
                    </a:solidFill>
                    <a:latin typeface="Cambria Math"/>
                  </a:rPr>
                  <a:t>2</a:t>
                </a:r>
                <a:r>
                  <a:rPr lang="en-US" sz="2800" i="0">
                    <a:solidFill>
                      <a:prstClr val="black"/>
                    </a:solidFill>
                    <a:latin typeface="Cambria Math" panose="02040503050406030204" pitchFamily="18" charset="0"/>
                  </a:rPr>
                  <a:t>^(</a:t>
                </a:r>
                <a:r>
                  <a:rPr lang="en-US" sz="2800" i="0">
                    <a:solidFill>
                      <a:prstClr val="black"/>
                    </a:solidFill>
                    <a:latin typeface="Cambria Math"/>
                  </a:rPr>
                  <a:t>𝑛</a:t>
                </a:r>
                <a:r>
                  <a:rPr lang="en-US" sz="2800" b="0" i="0">
                    <a:solidFill>
                      <a:prstClr val="black"/>
                    </a:solidFill>
                    <a:latin typeface="Cambria Math" panose="02040503050406030204" pitchFamily="18" charset="0"/>
                  </a:rPr>
                  <a:t>−1)</a:t>
                </a:r>
                <a:r>
                  <a:rPr lang="en-US" sz="2800" i="0">
                    <a:solidFill>
                      <a:prstClr val="black"/>
                    </a:solidFill>
                    <a:latin typeface="Cambria Math"/>
                  </a:rPr>
                  <a:t>−1</a:t>
                </a:r>
                <a:r>
                  <a:rPr lang="en-US" sz="2800" dirty="0">
                    <a:solidFill>
                      <a:prstClr val="black"/>
                    </a:solidFill>
                  </a:rPr>
                  <a:t>) </a:t>
                </a:r>
                <a:r>
                  <a:rPr lang="en-US" sz="2800" dirty="0">
                    <a:solidFill>
                      <a:srgbClr val="C00000"/>
                    </a:solidFill>
                  </a:rPr>
                  <a:t>or smaller than the minimum signed integer </a:t>
                </a:r>
                <a:r>
                  <a:rPr lang="en-US" sz="2800" dirty="0">
                    <a:solidFill>
                      <a:prstClr val="black"/>
                    </a:solidFill>
                  </a:rPr>
                  <a:t>(</a:t>
                </a:r>
                <a:r>
                  <a:rPr lang="en-US" sz="2800" i="1" dirty="0">
                    <a:solidFill>
                      <a:prstClr val="black"/>
                    </a:solidFill>
                  </a:rPr>
                  <a:t>i.e.</a:t>
                </a:r>
                <a:r>
                  <a:rPr lang="en-US" sz="2800" dirty="0">
                    <a:solidFill>
                      <a:prstClr val="black"/>
                    </a:solidFill>
                  </a:rPr>
                  <a:t> </a:t>
                </a:r>
                <a:r>
                  <a:rPr lang="en-US" sz="2800" i="0">
                    <a:solidFill>
                      <a:prstClr val="black"/>
                    </a:solidFill>
                    <a:latin typeface="Cambria Math" panose="02040503050406030204" pitchFamily="18" charset="0"/>
                  </a:rPr>
                  <a:t>〖</a:t>
                </a:r>
                <a:r>
                  <a:rPr lang="en-US" sz="2800" b="0" i="0">
                    <a:solidFill>
                      <a:prstClr val="black"/>
                    </a:solidFill>
                    <a:latin typeface="Cambria Math" panose="02040503050406030204" pitchFamily="18" charset="0"/>
                  </a:rPr>
                  <a:t>−</a:t>
                </a:r>
                <a:r>
                  <a:rPr lang="en-US" sz="2800" i="0">
                    <a:solidFill>
                      <a:prstClr val="black"/>
                    </a:solidFill>
                    <a:latin typeface="Cambria Math"/>
                  </a:rPr>
                  <a:t>2</a:t>
                </a:r>
                <a:r>
                  <a:rPr lang="en-US" sz="2800" i="0">
                    <a:solidFill>
                      <a:prstClr val="black"/>
                    </a:solidFill>
                    <a:latin typeface="Cambria Math" panose="02040503050406030204" pitchFamily="18" charset="0"/>
                  </a:rPr>
                  <a:t>〗^(</a:t>
                </a:r>
                <a:r>
                  <a:rPr lang="en-US" sz="2800" i="0">
                    <a:solidFill>
                      <a:prstClr val="black"/>
                    </a:solidFill>
                    <a:latin typeface="Cambria Math"/>
                  </a:rPr>
                  <a:t>𝑛</a:t>
                </a:r>
                <a:r>
                  <a:rPr lang="en-US" sz="2800" b="0" i="0">
                    <a:solidFill>
                      <a:prstClr val="black"/>
                    </a:solidFill>
                    <a:latin typeface="Cambria Math" panose="02040503050406030204" pitchFamily="18" charset="0"/>
                  </a:rPr>
                  <a:t>−1)</a:t>
                </a:r>
                <a:r>
                  <a:rPr lang="en-US" sz="2800" dirty="0">
                    <a:solidFill>
                      <a:prstClr val="black"/>
                    </a:solidFill>
                  </a:rPr>
                  <a:t>) that can be represented</a:t>
                </a:r>
              </a:p>
              <a:p>
                <a:endParaRPr lang="en-US" dirty="0"/>
              </a:p>
              <a:p>
                <a:r>
                  <a:rPr lang="en-US" dirty="0"/>
                  <a:t>Overflow may occur when adding 2 operands with the same sign, or subtracting 2 operands with different signs, including: </a:t>
                </a:r>
              </a:p>
              <a:p>
                <a:pPr marL="731520" lvl="1" indent="-457200">
                  <a:buFont typeface="+mj-lt"/>
                  <a:buAutoNum type="arabicPeriod"/>
                </a:pPr>
                <a:r>
                  <a:rPr lang="en-US" dirty="0"/>
                  <a:t>adding two positive numbers</a:t>
                </a:r>
              </a:p>
              <a:p>
                <a:pPr marL="731520" lvl="1" indent="-457200">
                  <a:buFont typeface="+mj-lt"/>
                  <a:buAutoNum type="arabicPeriod"/>
                </a:pPr>
                <a:r>
                  <a:rPr lang="en-US" dirty="0"/>
                  <a:t>adding two negative numbers</a:t>
                </a:r>
              </a:p>
              <a:p>
                <a:pPr marL="731520" lvl="1" indent="-457200">
                  <a:buFont typeface="+mj-lt"/>
                  <a:buAutoNum type="arabicPeriod"/>
                </a:pPr>
                <a:r>
                  <a:rPr lang="en-US" dirty="0"/>
                  <a:t>subtracting a positive number from a negative number</a:t>
                </a:r>
              </a:p>
              <a:p>
                <a:pPr marL="731520" lvl="1" indent="-457200">
                  <a:buFont typeface="+mj-lt"/>
                  <a:buAutoNum type="arabicPeriod"/>
                </a:pPr>
                <a:r>
                  <a:rPr lang="en-US" dirty="0"/>
                  <a:t>subtracting a negative number from a positive number</a:t>
                </a:r>
              </a:p>
              <a:p>
                <a:endParaRPr lang="en-US" dirty="0"/>
              </a:p>
              <a:p>
                <a:r>
                  <a:rPr lang="en-US" dirty="0"/>
                  <a:t>Overflow cannot occur when adding 2 operands with different signs or when subtracting 2 operands with the same sign.</a:t>
                </a:r>
              </a:p>
              <a:p>
                <a:pPr lvl="1"/>
                <a:r>
                  <a:rPr lang="en-US" dirty="0"/>
                  <a:t>Why?</a:t>
                </a:r>
              </a:p>
              <a:p>
                <a:endParaRPr lang="en-US" sz="1200" b="1" i="0" kern="1200" dirty="0">
                  <a:solidFill>
                    <a:schemeClr val="tx1"/>
                  </a:solidFill>
                  <a:effectLst/>
                  <a:latin typeface="+mn-lt"/>
                  <a:ea typeface="+mn-ea"/>
                  <a:cs typeface="+mn-cs"/>
                </a:endParaRPr>
              </a:p>
              <a:p>
                <a:endParaRPr lang="en-US" sz="1200" b="1" i="0" kern="1200" dirty="0">
                  <a:solidFill>
                    <a:schemeClr val="tx1"/>
                  </a:solidFill>
                  <a:effectLst/>
                  <a:latin typeface="+mn-lt"/>
                  <a:ea typeface="+mn-ea"/>
                  <a:cs typeface="+mn-cs"/>
                </a:endParaRPr>
              </a:p>
              <a:p>
                <a:r>
                  <a:rPr lang="en-US" sz="1200" b="1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Unsigned Addition:</a:t>
                </a:r>
              </a:p>
              <a:p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The carry flag is set to 1 if there is a </a:t>
                </a:r>
                <a:r>
                  <a:rPr lang="en-US" sz="1200" b="1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carry out</a:t>
                </a:r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 from the most significant bit (MSB) during the addition.</a:t>
                </a:r>
              </a:p>
              <a:p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This means the sum exceeds the maximum value that can be represented in the given number of bits.</a:t>
                </a:r>
              </a:p>
              <a:p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Example: Adding two 8-bit numbers resulting in a value greater than 255 will set CF = 1.</a:t>
                </a:r>
              </a:p>
              <a:p>
                <a:r>
                  <a:rPr lang="en-US" sz="1200" b="1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Unsigned Subtraction:</a:t>
                </a:r>
              </a:p>
              <a:p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The carry flag acts as a </a:t>
                </a:r>
                <a:r>
                  <a:rPr lang="en-US" sz="1200" b="1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borrow indicator</a:t>
                </a:r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 for subtraction.</a:t>
                </a:r>
              </a:p>
              <a:p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CF is cleared (set to 0) if a borrow is needed (i.e., if the minuend is less than the subtrahend).</a:t>
                </a:r>
              </a:p>
              <a:p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CF is set to 1 if no borrow is needed, meaning the subtraction did not underflow.</a:t>
                </a:r>
              </a:p>
              <a:p>
                <a:r>
                  <a:rPr lang="en-US" sz="1200" b="1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Summary:</a:t>
                </a:r>
              </a:p>
              <a:p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For </a:t>
                </a:r>
                <a:r>
                  <a:rPr lang="en-US" sz="1200" b="1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unsigned addition</a:t>
                </a:r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, CF = 1 means an overflow beyond the MSB (carry out).</a:t>
                </a:r>
              </a:p>
              <a:p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For </a:t>
                </a:r>
                <a:r>
                  <a:rPr lang="en-US" sz="1200" b="1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unsigned subtraction</a:t>
                </a:r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, CF = 0 means a borrow (underflow), CF = 1 means no borrow.</a:t>
                </a:r>
              </a:p>
              <a:p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The carry flag thus helps detect unsigned overflow or underflow conditions.</a:t>
                </a:r>
              </a:p>
              <a:p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This behavior contrasts with signed arithmetic, where the overflow flag (OF) signals signed overflow, and the carry flag is generally not used.</a:t>
                </a:r>
              </a:p>
              <a:p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References from teaching and documentation explain this clearly: The carry flag signals actual carry for addition and borrow for subtraction in unsigned arithmetic scenarios.</a:t>
                </a:r>
              </a:p>
              <a:p>
                <a:endParaRPr lang="en-US" dirty="0"/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160037527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01110001 in decimal0x62 = 01100010, its negation TC(01100010) = 10011110 = 0x9E 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B0C9D69-9831-4844-8B1E-062B2DA58B0D}" type="slidenum">
              <a:rPr lang="en-US" smtClean="0"/>
              <a:pPr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497930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ctrTitle"/>
          </p:nvPr>
        </p:nvSpPr>
        <p:spPr>
          <a:xfrm>
            <a:off x="1625600" y="3886200"/>
            <a:ext cx="9144000" cy="990600"/>
          </a:xfrm>
        </p:spPr>
        <p:txBody>
          <a:bodyPr anchor="t" anchorCtr="0"/>
          <a:lstStyle>
            <a:lvl1pPr algn="r">
              <a:defRPr sz="3200">
                <a:solidFill>
                  <a:schemeClr val="tx1"/>
                </a:solidFill>
              </a:defRPr>
            </a:lvl1pPr>
          </a:lstStyle>
          <a:p>
            <a:r>
              <a:rPr kumimoji="0" lang="en-US"/>
              <a:t>Click to edit Master title style</a:t>
            </a:r>
          </a:p>
        </p:txBody>
      </p:sp>
      <p:sp>
        <p:nvSpPr>
          <p:cNvPr id="9" name="Subtitle 8"/>
          <p:cNvSpPr>
            <a:spLocks noGrp="1"/>
          </p:cNvSpPr>
          <p:nvPr>
            <p:ph type="subTitle" idx="1"/>
          </p:nvPr>
        </p:nvSpPr>
        <p:spPr>
          <a:xfrm>
            <a:off x="1625600" y="5124450"/>
            <a:ext cx="9144000" cy="533400"/>
          </a:xfrm>
        </p:spPr>
        <p:txBody>
          <a:bodyPr/>
          <a:lstStyle>
            <a:lvl1pPr marL="0" indent="0" algn="r">
              <a:buNone/>
              <a:defRPr sz="20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marL="457200" indent="0" algn="ctr">
              <a:buNone/>
            </a:lvl2pPr>
            <a:lvl3pPr marL="914400" indent="0" algn="ctr">
              <a:buNone/>
            </a:lvl3pPr>
            <a:lvl4pPr marL="1371600" indent="0" algn="ctr">
              <a:buNone/>
            </a:lvl4pPr>
            <a:lvl5pPr marL="1828800" indent="0" algn="ctr">
              <a:buNone/>
            </a:lvl5pPr>
            <a:lvl6pPr marL="2286000" indent="0" algn="ctr">
              <a:buNone/>
            </a:lvl6pPr>
            <a:lvl7pPr marL="2743200" indent="0" algn="ctr">
              <a:buNone/>
            </a:lvl7pPr>
            <a:lvl8pPr marL="3200400" indent="0" algn="ctr">
              <a:buNone/>
            </a:lvl8pPr>
            <a:lvl9pPr marL="3657600" indent="0" algn="ctr">
              <a:buNone/>
            </a:lvl9pPr>
          </a:lstStyle>
          <a:p>
            <a:r>
              <a:rPr kumimoji="0" lang="en-US"/>
              <a:t>Click to edit Master subtitle style</a:t>
            </a:r>
          </a:p>
        </p:txBody>
      </p:sp>
      <p:sp>
        <p:nvSpPr>
          <p:cNvPr id="28" name="Date Placeholder 27"/>
          <p:cNvSpPr>
            <a:spLocks noGrp="1"/>
          </p:cNvSpPr>
          <p:nvPr>
            <p:ph type="dt" sz="half" idx="10"/>
          </p:nvPr>
        </p:nvSpPr>
        <p:spPr>
          <a:xfrm>
            <a:off x="8534400" y="6355080"/>
            <a:ext cx="3048000" cy="365760"/>
          </a:xfrm>
        </p:spPr>
        <p:txBody>
          <a:bodyPr/>
          <a:lstStyle>
            <a:lvl1pPr>
              <a:defRPr sz="1400"/>
            </a:lvl1pPr>
          </a:lstStyle>
          <a:p>
            <a:pPr eaLnBrk="1" latinLnBrk="0" hangingPunct="1"/>
            <a:fld id="{966FEA0E-C2DF-4252-97AD-54F2B7E07EAC}" type="datetime1">
              <a:rPr lang="en-US" smtClean="0"/>
              <a:pPr eaLnBrk="1" latinLnBrk="0" hangingPunct="1"/>
              <a:t>10/30/2025</a:t>
            </a:fld>
            <a:endParaRPr lang="en-US" sz="1600" dirty="0"/>
          </a:p>
        </p:txBody>
      </p:sp>
      <p:sp>
        <p:nvSpPr>
          <p:cNvPr id="17" name="Footer Placeholder 16"/>
          <p:cNvSpPr>
            <a:spLocks noGrp="1"/>
          </p:cNvSpPr>
          <p:nvPr>
            <p:ph type="ftr" sz="quarter" idx="11"/>
          </p:nvPr>
        </p:nvSpPr>
        <p:spPr>
          <a:xfrm>
            <a:off x="3864864" y="6355080"/>
            <a:ext cx="4632960" cy="365760"/>
          </a:xfrm>
        </p:spPr>
        <p:txBody>
          <a:bodyPr/>
          <a:lstStyle/>
          <a:p>
            <a:endParaRPr kumimoji="0" lang="en-US" dirty="0"/>
          </a:p>
        </p:txBody>
      </p:sp>
      <p:sp>
        <p:nvSpPr>
          <p:cNvPr id="29" name="Slide Number Placeholder 28"/>
          <p:cNvSpPr>
            <a:spLocks noGrp="1"/>
          </p:cNvSpPr>
          <p:nvPr>
            <p:ph type="sldNum" sz="quarter" idx="12"/>
          </p:nvPr>
        </p:nvSpPr>
        <p:spPr>
          <a:xfrm>
            <a:off x="1621536" y="6355080"/>
            <a:ext cx="1625600" cy="365760"/>
          </a:xfrm>
        </p:spPr>
        <p:txBody>
          <a:bodyPr/>
          <a:lstStyle/>
          <a:p>
            <a:fld id="{EA7C8D44-3667-46F6-9772-CC52308E2A7F}" type="slidenum">
              <a:rPr kumimoji="0" lang="en-US" smtClean="0"/>
              <a:pPr/>
              <a:t>‹#›</a:t>
            </a:fld>
            <a:endParaRPr kumimoji="0" lang="en-US" dirty="0"/>
          </a:p>
        </p:txBody>
      </p:sp>
      <p:sp>
        <p:nvSpPr>
          <p:cNvPr id="21" name="Rectangle 20"/>
          <p:cNvSpPr/>
          <p:nvPr/>
        </p:nvSpPr>
        <p:spPr>
          <a:xfrm>
            <a:off x="1206500" y="3648075"/>
            <a:ext cx="9753600" cy="1280160"/>
          </a:xfrm>
          <a:prstGeom prst="rect">
            <a:avLst/>
          </a:prstGeom>
          <a:noFill/>
          <a:ln w="6350" cap="rnd" cmpd="sng" algn="ctr">
            <a:solidFill>
              <a:schemeClr val="accent1"/>
            </a:solidFill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 sz="1800"/>
          </a:p>
        </p:txBody>
      </p:sp>
      <p:sp>
        <p:nvSpPr>
          <p:cNvPr id="33" name="Rectangle 32"/>
          <p:cNvSpPr/>
          <p:nvPr/>
        </p:nvSpPr>
        <p:spPr>
          <a:xfrm>
            <a:off x="1219200" y="5048250"/>
            <a:ext cx="9753600" cy="685800"/>
          </a:xfrm>
          <a:prstGeom prst="rect">
            <a:avLst/>
          </a:prstGeom>
          <a:noFill/>
          <a:ln w="6350" cap="rnd" cmpd="sng" algn="ctr">
            <a:solidFill>
              <a:schemeClr val="accent2"/>
            </a:solidFill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 sz="1800"/>
          </a:p>
        </p:txBody>
      </p:sp>
      <p:sp>
        <p:nvSpPr>
          <p:cNvPr id="22" name="Rectangle 21"/>
          <p:cNvSpPr/>
          <p:nvPr/>
        </p:nvSpPr>
        <p:spPr>
          <a:xfrm>
            <a:off x="1206500" y="3648075"/>
            <a:ext cx="304800" cy="1280160"/>
          </a:xfrm>
          <a:prstGeom prst="rect">
            <a:avLst/>
          </a:prstGeom>
          <a:solidFill>
            <a:schemeClr val="accent1"/>
          </a:solidFill>
          <a:ln w="635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 sz="1800"/>
          </a:p>
        </p:txBody>
      </p:sp>
      <p:sp>
        <p:nvSpPr>
          <p:cNvPr id="32" name="Rectangle 31"/>
          <p:cNvSpPr/>
          <p:nvPr/>
        </p:nvSpPr>
        <p:spPr>
          <a:xfrm>
            <a:off x="1219200" y="5048250"/>
            <a:ext cx="304800" cy="685800"/>
          </a:xfrm>
          <a:prstGeom prst="rect">
            <a:avLst/>
          </a:prstGeom>
          <a:solidFill>
            <a:schemeClr val="accent2"/>
          </a:solidFill>
          <a:ln w="635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 sz="180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0" lang="en-US"/>
              <a:t>Click to edit Master 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eaLnBrk="1" latinLnBrk="0" hangingPunct="1"/>
            <a:fld id="{0CD88620-7329-4FC3-B65D-4EA691138F1B}" type="datetime1">
              <a:rPr lang="en-US" smtClean="0"/>
              <a:pPr eaLnBrk="1" latinLnBrk="0" hangingPunct="1"/>
              <a:t>10/30/2025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0"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‹#›</a:t>
            </a:fld>
            <a:endParaRPr kumimoji="0" lang="en-US" dirty="0"/>
          </a:p>
        </p:txBody>
      </p:sp>
      <p:sp>
        <p:nvSpPr>
          <p:cNvPr id="8" name="Content Placeholder 7"/>
          <p:cNvSpPr>
            <a:spLocks noGrp="1"/>
          </p:cNvSpPr>
          <p:nvPr>
            <p:ph sz="quarter" idx="1"/>
          </p:nvPr>
        </p:nvSpPr>
        <p:spPr>
          <a:xfrm>
            <a:off x="609600" y="1219200"/>
            <a:ext cx="10972800" cy="4937760"/>
          </a:xfrm>
        </p:spPr>
        <p:txBody>
          <a:bodyPr/>
          <a:lstStyle/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25600" y="2971800"/>
            <a:ext cx="9144000" cy="1066800"/>
          </a:xfrm>
        </p:spPr>
        <p:txBody>
          <a:bodyPr anchor="t" anchorCtr="0"/>
          <a:lstStyle>
            <a:lvl1pPr algn="r">
              <a:buNone/>
              <a:defRPr sz="3200" b="0" cap="none" baseline="0"/>
            </a:lvl1pPr>
          </a:lstStyle>
          <a:p>
            <a:r>
              <a:rPr kumimoji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727200" y="4267200"/>
            <a:ext cx="9042400" cy="1143000"/>
          </a:xfrm>
        </p:spPr>
        <p:txBody>
          <a:bodyPr anchor="t" anchorCtr="0"/>
          <a:lstStyle>
            <a:lvl1pPr marL="0" indent="0" algn="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</a:lstStyle>
          <a:p>
            <a:pPr lvl="0" eaLnBrk="1" latinLnBrk="0" hangingPunct="1"/>
            <a:r>
              <a:rPr kumimoji="0"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534400" y="6355080"/>
            <a:ext cx="3048000" cy="365760"/>
          </a:xfrm>
        </p:spPr>
        <p:txBody>
          <a:bodyPr/>
          <a:lstStyle/>
          <a:p>
            <a:pPr eaLnBrk="1" latinLnBrk="0" hangingPunct="1"/>
            <a:fld id="{0E46F3A1-5653-427D-9F78-56077401431A}" type="datetime1">
              <a:rPr lang="en-US" smtClean="0"/>
              <a:pPr eaLnBrk="1" latinLnBrk="0" hangingPunct="1"/>
              <a:t>10/30/2025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864864" y="6355080"/>
            <a:ext cx="4632960" cy="365760"/>
          </a:xfrm>
        </p:spPr>
        <p:txBody>
          <a:bodyPr/>
          <a:lstStyle/>
          <a:p>
            <a:endParaRPr kumimoji="0"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426464" y="6355080"/>
            <a:ext cx="2027936" cy="365760"/>
          </a:xfrm>
        </p:spPr>
        <p:txBody>
          <a:bodyPr/>
          <a:lstStyle/>
          <a:p>
            <a:fld id="{EA7C8D44-3667-46F6-9772-CC52308E2A7F}" type="slidenum">
              <a:rPr kumimoji="0" lang="en-US" smtClean="0"/>
              <a:pPr/>
              <a:t>‹#›</a:t>
            </a:fld>
            <a:endParaRPr kumimoji="0" lang="en-US" dirty="0"/>
          </a:p>
        </p:txBody>
      </p:sp>
      <p:sp>
        <p:nvSpPr>
          <p:cNvPr id="7" name="Rectangle 6"/>
          <p:cNvSpPr/>
          <p:nvPr/>
        </p:nvSpPr>
        <p:spPr>
          <a:xfrm>
            <a:off x="1219200" y="2819400"/>
            <a:ext cx="9753600" cy="1280160"/>
          </a:xfrm>
          <a:prstGeom prst="rect">
            <a:avLst/>
          </a:prstGeom>
          <a:noFill/>
          <a:ln w="6350" cap="rnd" cmpd="sng" algn="ctr">
            <a:solidFill>
              <a:schemeClr val="accent1"/>
            </a:solidFill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 sz="1800"/>
          </a:p>
        </p:txBody>
      </p:sp>
      <p:sp>
        <p:nvSpPr>
          <p:cNvPr id="8" name="Rectangle 7"/>
          <p:cNvSpPr/>
          <p:nvPr/>
        </p:nvSpPr>
        <p:spPr>
          <a:xfrm>
            <a:off x="1219200" y="2819400"/>
            <a:ext cx="304800" cy="1280160"/>
          </a:xfrm>
          <a:prstGeom prst="rect">
            <a:avLst/>
          </a:prstGeom>
          <a:solidFill>
            <a:schemeClr val="accent1"/>
          </a:solidFill>
          <a:ln w="635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 sz="1800"/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0" y="228600"/>
            <a:ext cx="10972800" cy="914400"/>
          </a:xfrm>
        </p:spPr>
        <p:txBody>
          <a:bodyPr/>
          <a:lstStyle/>
          <a:p>
            <a:r>
              <a:rPr kumimoji="0" lang="en-US"/>
              <a:t>Click to edit Master title style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eaLnBrk="1" latinLnBrk="0" hangingPunct="1"/>
            <a:fld id="{CB67FC03-415A-45F0-B002-DF181377F7DC}" type="datetime1">
              <a:rPr lang="en-US" smtClean="0"/>
              <a:pPr eaLnBrk="1" latinLnBrk="0" hangingPunct="1"/>
              <a:t>10/30/2025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0"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‹#›</a:t>
            </a:fld>
            <a:endParaRPr kumimoji="0" lang="en-US"/>
          </a:p>
        </p:txBody>
      </p:sp>
      <p:sp>
        <p:nvSpPr>
          <p:cNvPr id="9" name="Content Placeholder 8"/>
          <p:cNvSpPr>
            <a:spLocks noGrp="1"/>
          </p:cNvSpPr>
          <p:nvPr>
            <p:ph sz="quarter" idx="1"/>
          </p:nvPr>
        </p:nvSpPr>
        <p:spPr>
          <a:xfrm>
            <a:off x="609600" y="1219200"/>
            <a:ext cx="5388864" cy="4937760"/>
          </a:xfrm>
        </p:spPr>
        <p:txBody>
          <a:bodyPr/>
          <a:lstStyle/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  <p:sp>
        <p:nvSpPr>
          <p:cNvPr id="11" name="Content Placeholder 10"/>
          <p:cNvSpPr>
            <a:spLocks noGrp="1"/>
          </p:cNvSpPr>
          <p:nvPr>
            <p:ph sz="quarter" idx="2"/>
          </p:nvPr>
        </p:nvSpPr>
        <p:spPr>
          <a:xfrm>
            <a:off x="6176264" y="1216152"/>
            <a:ext cx="5388864" cy="4937760"/>
          </a:xfrm>
        </p:spPr>
        <p:txBody>
          <a:bodyPr/>
          <a:lstStyle/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0" y="228600"/>
            <a:ext cx="10972800" cy="914400"/>
          </a:xfrm>
        </p:spPr>
        <p:txBody>
          <a:bodyPr anchor="ctr"/>
          <a:lstStyle>
            <a:lvl1pPr>
              <a:defRPr/>
            </a:lvl1pPr>
          </a:lstStyle>
          <a:p>
            <a:r>
              <a:rPr kumimoji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285875"/>
            <a:ext cx="5386917" cy="685800"/>
          </a:xfrm>
          <a:noFill/>
          <a:ln>
            <a:noFill/>
          </a:ln>
        </p:spPr>
        <p:txBody>
          <a:bodyPr lIns="91440" anchor="b" anchorCtr="0">
            <a:noAutofit/>
          </a:bodyPr>
          <a:lstStyle>
            <a:lvl1pPr marL="0" indent="0">
              <a:buNone/>
              <a:defRPr sz="2400" b="1">
                <a:solidFill>
                  <a:schemeClr val="accent2"/>
                </a:solidFill>
              </a:defRPr>
            </a:lvl1pPr>
            <a:lvl2pPr>
              <a:buNone/>
              <a:defRPr sz="2000" b="1"/>
            </a:lvl2pPr>
            <a:lvl3pPr>
              <a:buNone/>
              <a:defRPr sz="1800" b="1"/>
            </a:lvl3pPr>
            <a:lvl4pPr>
              <a:buNone/>
              <a:defRPr sz="1600" b="1"/>
            </a:lvl4pPr>
            <a:lvl5pPr>
              <a:buNone/>
              <a:defRPr sz="1600" b="1"/>
            </a:lvl5pPr>
          </a:lstStyle>
          <a:p>
            <a:pPr lvl="0" eaLnBrk="1" latinLnBrk="0" hangingPunct="1"/>
            <a:r>
              <a:rPr kumimoji="0"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3"/>
          </p:nvPr>
        </p:nvSpPr>
        <p:spPr>
          <a:xfrm>
            <a:off x="6197601" y="1295400"/>
            <a:ext cx="5389033" cy="685800"/>
          </a:xfrm>
          <a:noFill/>
          <a:ln>
            <a:noFill/>
          </a:ln>
        </p:spPr>
        <p:txBody>
          <a:bodyPr lIns="91440" anchor="b" anchorCtr="0"/>
          <a:lstStyle>
            <a:lvl1pPr marL="0" indent="0">
              <a:buNone/>
              <a:defRPr sz="2400" b="1">
                <a:solidFill>
                  <a:schemeClr val="accent2"/>
                </a:solidFill>
              </a:defRPr>
            </a:lvl1pPr>
            <a:lvl2pPr>
              <a:buNone/>
              <a:defRPr sz="2000" b="1"/>
            </a:lvl2pPr>
            <a:lvl3pPr>
              <a:buNone/>
              <a:defRPr sz="1800" b="1"/>
            </a:lvl3pPr>
            <a:lvl4pPr>
              <a:buNone/>
              <a:defRPr sz="1600" b="1"/>
            </a:lvl4pPr>
            <a:lvl5pPr>
              <a:buNone/>
              <a:defRPr sz="1600" b="1"/>
            </a:lvl5pPr>
          </a:lstStyle>
          <a:p>
            <a:pPr lvl="0" eaLnBrk="1" latinLnBrk="0" hangingPunct="1"/>
            <a:r>
              <a:rPr kumimoji="0" lang="en-US"/>
              <a:t>Click to edit Master text styles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eaLnBrk="1" latinLnBrk="0" hangingPunct="1"/>
            <a:fld id="{1B6FC726-A0B4-4FC7-90F5-F17415A5C1A3}" type="datetime1">
              <a:rPr lang="en-US" smtClean="0"/>
              <a:pPr eaLnBrk="1" latinLnBrk="0" hangingPunct="1"/>
              <a:t>10/30/2025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0"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‹#›</a:t>
            </a:fld>
            <a:endParaRPr kumimoji="0" lang="en-US"/>
          </a:p>
        </p:txBody>
      </p:sp>
      <p:sp>
        <p:nvSpPr>
          <p:cNvPr id="11" name="Content Placeholder 10"/>
          <p:cNvSpPr>
            <a:spLocks noGrp="1"/>
          </p:cNvSpPr>
          <p:nvPr>
            <p:ph sz="quarter" idx="2"/>
          </p:nvPr>
        </p:nvSpPr>
        <p:spPr>
          <a:xfrm>
            <a:off x="609600" y="2133600"/>
            <a:ext cx="5384800" cy="4038600"/>
          </a:xfrm>
        </p:spPr>
        <p:txBody>
          <a:bodyPr/>
          <a:lstStyle/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  <p:sp>
        <p:nvSpPr>
          <p:cNvPr id="13" name="Content Placeholder 12"/>
          <p:cNvSpPr>
            <a:spLocks noGrp="1"/>
          </p:cNvSpPr>
          <p:nvPr>
            <p:ph sz="quarter" idx="4"/>
          </p:nvPr>
        </p:nvSpPr>
        <p:spPr>
          <a:xfrm>
            <a:off x="6197600" y="2133600"/>
            <a:ext cx="5384800" cy="4038600"/>
          </a:xfrm>
        </p:spPr>
        <p:txBody>
          <a:bodyPr/>
          <a:lstStyle/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0" y="228600"/>
            <a:ext cx="10972800" cy="914400"/>
          </a:xfrm>
        </p:spPr>
        <p:txBody>
          <a:bodyPr/>
          <a:lstStyle/>
          <a:p>
            <a:r>
              <a:rPr kumimoji="0"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eaLnBrk="1" latinLnBrk="0" hangingPunct="1"/>
            <a:fld id="{BE217211-C3F9-4892-9CC3-C7105638567D}" type="datetime1">
              <a:rPr lang="en-US" smtClean="0"/>
              <a:pPr eaLnBrk="1" latinLnBrk="0" hangingPunct="1"/>
              <a:t>10/30/2025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0"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‹#›</a:t>
            </a:fld>
            <a:endParaRPr kumimoji="0" lang="en-US"/>
          </a:p>
        </p:txBody>
      </p:sp>
      <p:sp>
        <p:nvSpPr>
          <p:cNvPr id="6" name="Isosceles Triangle 5"/>
          <p:cNvSpPr>
            <a:spLocks noChangeAspect="1"/>
          </p:cNvSpPr>
          <p:nvPr/>
        </p:nvSpPr>
        <p:spPr>
          <a:xfrm rot="5400000">
            <a:off x="590609" y="6447423"/>
            <a:ext cx="190849" cy="160419"/>
          </a:xfrm>
          <a:prstGeom prst="triangle">
            <a:avLst>
              <a:gd name="adj" fmla="val 50000"/>
            </a:avLst>
          </a:prstGeom>
          <a:solidFill>
            <a:schemeClr val="accent2"/>
          </a:solidFill>
          <a:ln w="254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 sz="180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eaLnBrk="1" latinLnBrk="0" hangingPunct="1"/>
            <a:fld id="{BA713E6A-6B26-4373-A75B-EF395DC64F9E}" type="datetime1">
              <a:rPr lang="en-US" smtClean="0"/>
              <a:pPr eaLnBrk="1" latinLnBrk="0" hangingPunct="1"/>
              <a:t>10/30/2025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0"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‹#›</a:t>
            </a:fld>
            <a:endParaRPr kumimoji="0" lang="en-US"/>
          </a:p>
        </p:txBody>
      </p:sp>
      <p:sp>
        <p:nvSpPr>
          <p:cNvPr id="5" name="Straight Connector 4"/>
          <p:cNvSpPr>
            <a:spLocks noChangeShapeType="1"/>
          </p:cNvSpPr>
          <p:nvPr/>
        </p:nvSpPr>
        <p:spPr bwMode="auto">
          <a:xfrm>
            <a:off x="609600" y="6353175"/>
            <a:ext cx="1097280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 sz="1800"/>
          </a:p>
        </p:txBody>
      </p:sp>
      <p:sp>
        <p:nvSpPr>
          <p:cNvPr id="6" name="Isosceles Triangle 5"/>
          <p:cNvSpPr>
            <a:spLocks noChangeAspect="1"/>
          </p:cNvSpPr>
          <p:nvPr/>
        </p:nvSpPr>
        <p:spPr>
          <a:xfrm rot="5400000">
            <a:off x="590609" y="6447423"/>
            <a:ext cx="190849" cy="160419"/>
          </a:xfrm>
          <a:prstGeom prst="triangle">
            <a:avLst>
              <a:gd name="adj" fmla="val 50000"/>
            </a:avLst>
          </a:prstGeom>
          <a:solidFill>
            <a:schemeClr val="accent2"/>
          </a:solidFill>
          <a:ln w="254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 sz="180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32800" y="304800"/>
            <a:ext cx="3352800" cy="838200"/>
          </a:xfrm>
        </p:spPr>
        <p:txBody>
          <a:bodyPr anchor="b" anchorCtr="0">
            <a:noAutofit/>
          </a:bodyPr>
          <a:lstStyle>
            <a:lvl1pPr algn="l">
              <a:buNone/>
              <a:defRPr sz="2000" b="1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rPr kumimoji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2"/>
          </p:nvPr>
        </p:nvSpPr>
        <p:spPr>
          <a:xfrm>
            <a:off x="8432800" y="1219201"/>
            <a:ext cx="3352800" cy="4843463"/>
          </a:xfrm>
        </p:spPr>
        <p:txBody>
          <a:bodyPr/>
          <a:lstStyle>
            <a:lvl1pPr marL="0" indent="0">
              <a:lnSpc>
                <a:spcPts val="2200"/>
              </a:lnSpc>
              <a:spcAft>
                <a:spcPts val="1000"/>
              </a:spcAft>
              <a:buNone/>
              <a:defRPr sz="1600">
                <a:solidFill>
                  <a:schemeClr val="tx2"/>
                </a:solidFill>
              </a:defRPr>
            </a:lvl1pPr>
            <a:lvl2pPr>
              <a:buNone/>
              <a:defRPr sz="1200"/>
            </a:lvl2pPr>
            <a:lvl3pPr>
              <a:buNone/>
              <a:defRPr sz="1000"/>
            </a:lvl3pPr>
            <a:lvl4pPr>
              <a:buNone/>
              <a:defRPr sz="900"/>
            </a:lvl4pPr>
            <a:lvl5pPr>
              <a:buNone/>
              <a:defRPr sz="900"/>
            </a:lvl5pPr>
          </a:lstStyle>
          <a:p>
            <a:pPr lvl="0" eaLnBrk="1" latinLnBrk="0" hangingPunct="1"/>
            <a:r>
              <a:rPr kumimoji="0"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eaLnBrk="1" latinLnBrk="0" hangingPunct="1"/>
            <a:fld id="{57EB41EF-4260-415A-8DD6-FEDCC46E7EFC}" type="datetime1">
              <a:rPr lang="en-US" smtClean="0"/>
              <a:pPr eaLnBrk="1" latinLnBrk="0" hangingPunct="1"/>
              <a:t>10/30/2025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0"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‹#›</a:t>
            </a:fld>
            <a:endParaRPr kumimoji="0" lang="en-US"/>
          </a:p>
        </p:txBody>
      </p:sp>
      <p:sp>
        <p:nvSpPr>
          <p:cNvPr id="8" name="Straight Connector 7"/>
          <p:cNvSpPr>
            <a:spLocks noChangeShapeType="1"/>
          </p:cNvSpPr>
          <p:nvPr/>
        </p:nvSpPr>
        <p:spPr bwMode="auto">
          <a:xfrm>
            <a:off x="609600" y="6353175"/>
            <a:ext cx="1097280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 sz="1800"/>
          </a:p>
        </p:txBody>
      </p:sp>
      <p:sp>
        <p:nvSpPr>
          <p:cNvPr id="10" name="Straight Connector 9"/>
          <p:cNvSpPr>
            <a:spLocks noChangeShapeType="1"/>
          </p:cNvSpPr>
          <p:nvPr/>
        </p:nvSpPr>
        <p:spPr bwMode="auto">
          <a:xfrm rot="5400000">
            <a:off x="5220033" y="3324225"/>
            <a:ext cx="603504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 sz="1800" dirty="0"/>
          </a:p>
        </p:txBody>
      </p:sp>
      <p:sp>
        <p:nvSpPr>
          <p:cNvPr id="9" name="Isosceles Triangle 8"/>
          <p:cNvSpPr>
            <a:spLocks noChangeAspect="1"/>
          </p:cNvSpPr>
          <p:nvPr/>
        </p:nvSpPr>
        <p:spPr>
          <a:xfrm rot="5400000">
            <a:off x="590609" y="6447423"/>
            <a:ext cx="190849" cy="160419"/>
          </a:xfrm>
          <a:prstGeom prst="triangle">
            <a:avLst>
              <a:gd name="adj" fmla="val 50000"/>
            </a:avLst>
          </a:prstGeom>
          <a:solidFill>
            <a:schemeClr val="accent2"/>
          </a:solidFill>
          <a:ln w="254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 sz="1800"/>
          </a:p>
        </p:txBody>
      </p:sp>
      <p:sp>
        <p:nvSpPr>
          <p:cNvPr id="12" name="Content Placeholder 11"/>
          <p:cNvSpPr>
            <a:spLocks noGrp="1"/>
          </p:cNvSpPr>
          <p:nvPr>
            <p:ph sz="quarter" idx="1"/>
          </p:nvPr>
        </p:nvSpPr>
        <p:spPr>
          <a:xfrm>
            <a:off x="406400" y="304800"/>
            <a:ext cx="7620000" cy="5715000"/>
          </a:xfrm>
        </p:spPr>
        <p:txBody>
          <a:bodyPr/>
          <a:lstStyle/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0" y="500856"/>
            <a:ext cx="10972800" cy="674688"/>
          </a:xfrm>
          <a:ln>
            <a:solidFill>
              <a:schemeClr val="accent1"/>
            </a:solidFill>
          </a:ln>
        </p:spPr>
        <p:txBody>
          <a:bodyPr lIns="274320" anchor="ctr"/>
          <a:lstStyle>
            <a:lvl1pPr algn="r">
              <a:buNone/>
              <a:defRPr sz="2000" b="0">
                <a:solidFill>
                  <a:schemeClr val="tx1"/>
                </a:solidFill>
              </a:defRPr>
            </a:lvl1pPr>
          </a:lstStyle>
          <a:p>
            <a:r>
              <a:rPr kumimoji="0"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609600" y="1905000"/>
            <a:ext cx="10972800" cy="4270248"/>
          </a:xfrm>
          <a:solidFill>
            <a:schemeClr val="tx1">
              <a:shade val="50000"/>
            </a:schemeClr>
          </a:solidFill>
          <a:ln>
            <a:noFill/>
          </a:ln>
          <a:effectLst/>
        </p:spPr>
        <p:txBody>
          <a:bodyPr/>
          <a:lstStyle>
            <a:lvl1pPr marL="0" indent="0">
              <a:spcBef>
                <a:spcPts val="600"/>
              </a:spcBef>
              <a:buNone/>
              <a:defRPr sz="3200"/>
            </a:lvl1pPr>
          </a:lstStyle>
          <a:p>
            <a:r>
              <a:rPr kumimoji="0" lang="en-US"/>
              <a:t>Click icon to add picture</a:t>
            </a:r>
            <a:endParaRPr kumimoji="0"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0" y="1219200"/>
            <a:ext cx="10972800" cy="533400"/>
          </a:xfrm>
        </p:spPr>
        <p:txBody>
          <a:bodyPr anchor="ctr" anchorCtr="0"/>
          <a:lstStyle>
            <a:lvl1pPr marL="0" indent="0" algn="l">
              <a:buFontTx/>
              <a:buNone/>
              <a:defRPr sz="1400"/>
            </a:lvl1pPr>
            <a:lvl2pPr>
              <a:defRPr sz="1200"/>
            </a:lvl2pPr>
            <a:lvl3pPr>
              <a:defRPr sz="1000"/>
            </a:lvl3pPr>
            <a:lvl4pPr>
              <a:defRPr sz="900"/>
            </a:lvl4pPr>
            <a:lvl5pPr>
              <a:defRPr sz="900"/>
            </a:lvl5pPr>
          </a:lstStyle>
          <a:p>
            <a:pPr lvl="0" eaLnBrk="1" latinLnBrk="0" hangingPunct="1"/>
            <a:r>
              <a:rPr kumimoji="0"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eaLnBrk="1" latinLnBrk="0" hangingPunct="1"/>
            <a:fld id="{6BDA80A0-06CC-4492-94A0-E8516751045E}" type="datetime1">
              <a:rPr lang="en-US" smtClean="0"/>
              <a:pPr eaLnBrk="1" latinLnBrk="0" hangingPunct="1"/>
              <a:t>10/30/2025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0"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‹#›</a:t>
            </a:fld>
            <a:endParaRPr kumimoji="0" lang="en-US"/>
          </a:p>
        </p:txBody>
      </p:sp>
      <p:sp>
        <p:nvSpPr>
          <p:cNvPr id="8" name="Straight Connector 7"/>
          <p:cNvSpPr>
            <a:spLocks noChangeShapeType="1"/>
          </p:cNvSpPr>
          <p:nvPr/>
        </p:nvSpPr>
        <p:spPr bwMode="auto">
          <a:xfrm>
            <a:off x="609600" y="6353175"/>
            <a:ext cx="1097280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 sz="1800"/>
          </a:p>
        </p:txBody>
      </p:sp>
      <p:sp>
        <p:nvSpPr>
          <p:cNvPr id="9" name="Isosceles Triangle 8"/>
          <p:cNvSpPr>
            <a:spLocks noChangeAspect="1"/>
          </p:cNvSpPr>
          <p:nvPr/>
        </p:nvSpPr>
        <p:spPr>
          <a:xfrm rot="5400000">
            <a:off x="590609" y="6447423"/>
            <a:ext cx="190849" cy="160419"/>
          </a:xfrm>
          <a:prstGeom prst="triangle">
            <a:avLst>
              <a:gd name="adj" fmla="val 50000"/>
            </a:avLst>
          </a:prstGeom>
          <a:solidFill>
            <a:schemeClr val="accent2"/>
          </a:solidFill>
          <a:ln w="254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 sz="1800"/>
          </a:p>
        </p:txBody>
      </p:sp>
      <p:sp>
        <p:nvSpPr>
          <p:cNvPr id="10" name="Rectangle 9"/>
          <p:cNvSpPr/>
          <p:nvPr/>
        </p:nvSpPr>
        <p:spPr>
          <a:xfrm>
            <a:off x="609600" y="500856"/>
            <a:ext cx="243840" cy="685800"/>
          </a:xfrm>
          <a:prstGeom prst="rect">
            <a:avLst/>
          </a:prstGeom>
          <a:solidFill>
            <a:schemeClr val="accent1"/>
          </a:solidFill>
          <a:ln w="635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 sz="1800"/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0"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eaLnBrk="1" latinLnBrk="0" hangingPunct="1"/>
            <a:fld id="{69EF9524-0CAA-4F98-BAC2-CE6B712F5E94}" type="datetime1">
              <a:rPr lang="en-US" smtClean="0"/>
              <a:pPr eaLnBrk="1" latinLnBrk="0" hangingPunct="1"/>
              <a:t>10/30/2025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0"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‹#›</a:t>
            </a:fld>
            <a:endParaRPr kumimoji="0"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39"/>
            <a:ext cx="2743200" cy="5851525"/>
          </a:xfrm>
        </p:spPr>
        <p:txBody>
          <a:bodyPr vert="eaVert"/>
          <a:lstStyle/>
          <a:p>
            <a:r>
              <a:rPr kumimoji="0"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39"/>
            <a:ext cx="8026400" cy="5851525"/>
          </a:xfrm>
        </p:spPr>
        <p:txBody>
          <a:bodyPr vert="eaVert"/>
          <a:lstStyle/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eaLnBrk="1" latinLnBrk="0" hangingPunct="1"/>
            <a:fld id="{CB20516D-6F89-4C89-8307-32A716E22875}" type="datetime1">
              <a:rPr lang="en-US" smtClean="0"/>
              <a:pPr eaLnBrk="1" latinLnBrk="0" hangingPunct="1"/>
              <a:t>10/30/2025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0"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‹#›</a:t>
            </a:fld>
            <a:endParaRPr kumimoji="0" lang="en-US"/>
          </a:p>
        </p:txBody>
      </p:sp>
      <p:sp>
        <p:nvSpPr>
          <p:cNvPr id="7" name="Straight Connector 6"/>
          <p:cNvSpPr>
            <a:spLocks noChangeShapeType="1"/>
          </p:cNvSpPr>
          <p:nvPr/>
        </p:nvSpPr>
        <p:spPr bwMode="auto">
          <a:xfrm>
            <a:off x="609600" y="6353175"/>
            <a:ext cx="1097280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 sz="1800"/>
          </a:p>
        </p:txBody>
      </p:sp>
      <p:sp>
        <p:nvSpPr>
          <p:cNvPr id="8" name="Isosceles Triangle 7"/>
          <p:cNvSpPr>
            <a:spLocks noChangeAspect="1"/>
          </p:cNvSpPr>
          <p:nvPr/>
        </p:nvSpPr>
        <p:spPr>
          <a:xfrm rot="5400000">
            <a:off x="590609" y="6447423"/>
            <a:ext cx="190849" cy="160419"/>
          </a:xfrm>
          <a:prstGeom prst="triangle">
            <a:avLst>
              <a:gd name="adj" fmla="val 50000"/>
            </a:avLst>
          </a:prstGeom>
          <a:solidFill>
            <a:schemeClr val="accent2"/>
          </a:solidFill>
          <a:ln w="254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 sz="1800"/>
          </a:p>
        </p:txBody>
      </p:sp>
      <p:sp>
        <p:nvSpPr>
          <p:cNvPr id="9" name="Straight Connector 8"/>
          <p:cNvSpPr>
            <a:spLocks noChangeShapeType="1"/>
          </p:cNvSpPr>
          <p:nvPr/>
        </p:nvSpPr>
        <p:spPr bwMode="auto">
          <a:xfrm rot="5400000">
            <a:off x="5814836" y="3201952"/>
            <a:ext cx="585216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 sz="180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Title Placeholder 21"/>
          <p:cNvSpPr>
            <a:spLocks noGrp="1"/>
          </p:cNvSpPr>
          <p:nvPr>
            <p:ph type="title"/>
          </p:nvPr>
        </p:nvSpPr>
        <p:spPr>
          <a:xfrm>
            <a:off x="609600" y="152400"/>
            <a:ext cx="10972800" cy="990600"/>
          </a:xfrm>
          <a:prstGeom prst="rect">
            <a:avLst/>
          </a:prstGeom>
        </p:spPr>
        <p:txBody>
          <a:bodyPr vert="horz" anchor="b" anchorCtr="0">
            <a:normAutofit/>
          </a:bodyPr>
          <a:lstStyle/>
          <a:p>
            <a:r>
              <a:rPr kumimoji="0" lang="en-US"/>
              <a:t>Click to edit Master title style</a:t>
            </a:r>
          </a:p>
        </p:txBody>
      </p:sp>
      <p:sp>
        <p:nvSpPr>
          <p:cNvPr id="13" name="Text Placeholder 12"/>
          <p:cNvSpPr>
            <a:spLocks noGrp="1"/>
          </p:cNvSpPr>
          <p:nvPr>
            <p:ph type="body" idx="1"/>
          </p:nvPr>
        </p:nvSpPr>
        <p:spPr>
          <a:xfrm>
            <a:off x="609600" y="1219200"/>
            <a:ext cx="10972800" cy="4910328"/>
          </a:xfrm>
          <a:prstGeom prst="rect">
            <a:avLst/>
          </a:prstGeom>
        </p:spPr>
        <p:txBody>
          <a:bodyPr vert="horz">
            <a:normAutofit/>
          </a:bodyPr>
          <a:lstStyle/>
          <a:p>
            <a:pPr lvl="0" eaLnBrk="1" latinLnBrk="0" hangingPunct="1"/>
            <a:r>
              <a:rPr kumimoji="0" lang="en-US"/>
              <a:t>Click to edit Master text styles</a:t>
            </a:r>
          </a:p>
          <a:p>
            <a:pPr lvl="1" eaLnBrk="1" latinLnBrk="0" hangingPunct="1"/>
            <a:r>
              <a:rPr kumimoji="0" lang="en-US"/>
              <a:t>Second level</a:t>
            </a:r>
          </a:p>
          <a:p>
            <a:pPr lvl="2" eaLnBrk="1" latinLnBrk="0" hangingPunct="1"/>
            <a:r>
              <a:rPr kumimoji="0" lang="en-US"/>
              <a:t>Third level</a:t>
            </a:r>
          </a:p>
          <a:p>
            <a:pPr lvl="3" eaLnBrk="1" latinLnBrk="0" hangingPunct="1"/>
            <a:r>
              <a:rPr kumimoji="0" lang="en-US"/>
              <a:t>Fourth level</a:t>
            </a:r>
          </a:p>
          <a:p>
            <a:pPr lvl="4" eaLnBrk="1" latinLnBrk="0" hangingPunct="1"/>
            <a:r>
              <a:rPr kumimoji="0" lang="en-US"/>
              <a:t>Fifth level</a:t>
            </a:r>
          </a:p>
        </p:txBody>
      </p:sp>
      <p:sp>
        <p:nvSpPr>
          <p:cNvPr id="14" name="Date Placeholder 13"/>
          <p:cNvSpPr>
            <a:spLocks noGrp="1"/>
          </p:cNvSpPr>
          <p:nvPr>
            <p:ph type="dt" sz="half" idx="2"/>
          </p:nvPr>
        </p:nvSpPr>
        <p:spPr>
          <a:xfrm>
            <a:off x="8534400" y="6356350"/>
            <a:ext cx="3052064" cy="365760"/>
          </a:xfrm>
          <a:prstGeom prst="rect">
            <a:avLst/>
          </a:prstGeom>
        </p:spPr>
        <p:txBody>
          <a:bodyPr vert="horz"/>
          <a:lstStyle>
            <a:lvl1pPr algn="l" eaLnBrk="1" latinLnBrk="0" hangingPunct="1">
              <a:defRPr kumimoji="0" sz="1400">
                <a:solidFill>
                  <a:schemeClr val="tx2"/>
                </a:solidFill>
              </a:defRPr>
            </a:lvl1pPr>
          </a:lstStyle>
          <a:p>
            <a:pPr eaLnBrk="1" latinLnBrk="0" hangingPunct="1"/>
            <a:fld id="{A25B5B4B-57EE-495D-8E74-A657CFD8BB6C}" type="datetime1">
              <a:rPr lang="en-US" smtClean="0"/>
              <a:pPr eaLnBrk="1" latinLnBrk="0" hangingPunct="1"/>
              <a:t>10/30/2025</a:t>
            </a:fld>
            <a:endParaRPr lang="en-US" sz="1400" dirty="0">
              <a:solidFill>
                <a:schemeClr val="tx2"/>
              </a:solidFill>
            </a:endParaRPr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3"/>
          </p:nvPr>
        </p:nvSpPr>
        <p:spPr>
          <a:xfrm>
            <a:off x="3864864" y="6356350"/>
            <a:ext cx="4673600" cy="365760"/>
          </a:xfrm>
          <a:prstGeom prst="rect">
            <a:avLst/>
          </a:prstGeom>
        </p:spPr>
        <p:txBody>
          <a:bodyPr vert="horz"/>
          <a:lstStyle>
            <a:lvl1pPr algn="r" eaLnBrk="1" latinLnBrk="0" hangingPunct="1">
              <a:defRPr kumimoji="0" sz="1400">
                <a:solidFill>
                  <a:schemeClr val="tx2"/>
                </a:solidFill>
              </a:defRPr>
            </a:lvl1pPr>
          </a:lstStyle>
          <a:p>
            <a:pPr algn="r" eaLnBrk="1" latinLnBrk="0" hangingPunct="1"/>
            <a:endParaRPr kumimoji="0" lang="en-US" sz="1400" dirty="0">
              <a:solidFill>
                <a:schemeClr val="tx2"/>
              </a:solidFill>
            </a:endParaRPr>
          </a:p>
        </p:txBody>
      </p:sp>
      <p:sp>
        <p:nvSpPr>
          <p:cNvPr id="23" name="Slide Number Placeholder 22"/>
          <p:cNvSpPr>
            <a:spLocks noGrp="1"/>
          </p:cNvSpPr>
          <p:nvPr>
            <p:ph type="sldNum" sz="quarter" idx="4"/>
          </p:nvPr>
        </p:nvSpPr>
        <p:spPr>
          <a:xfrm>
            <a:off x="816864" y="6356350"/>
            <a:ext cx="2641600" cy="365760"/>
          </a:xfrm>
          <a:prstGeom prst="rect">
            <a:avLst/>
          </a:prstGeom>
        </p:spPr>
        <p:txBody>
          <a:bodyPr vert="horz"/>
          <a:lstStyle>
            <a:lvl1pPr algn="l" eaLnBrk="1" latinLnBrk="0" hangingPunct="1">
              <a:defRPr kumimoji="0" sz="1400">
                <a:solidFill>
                  <a:schemeClr val="tx2"/>
                </a:solidFill>
              </a:defRPr>
            </a:lvl1pPr>
          </a:lstStyle>
          <a:p>
            <a:pPr algn="l" eaLnBrk="1" latinLnBrk="0" hangingPunct="1"/>
            <a:fld id="{EA7C8D44-3667-46F6-9772-CC52308E2A7F}" type="slidenum">
              <a:rPr kumimoji="0" lang="en-US" smtClean="0"/>
              <a:pPr algn="l" eaLnBrk="1" latinLnBrk="0" hangingPunct="1"/>
              <a:t>‹#›</a:t>
            </a:fld>
            <a:endParaRPr kumimoji="0" lang="en-US" sz="1600" dirty="0">
              <a:solidFill>
                <a:schemeClr val="tx2"/>
              </a:solidFill>
            </a:endParaRPr>
          </a:p>
        </p:txBody>
      </p:sp>
      <p:sp>
        <p:nvSpPr>
          <p:cNvPr id="28" name="Straight Connector 27"/>
          <p:cNvSpPr>
            <a:spLocks noChangeShapeType="1"/>
          </p:cNvSpPr>
          <p:nvPr/>
        </p:nvSpPr>
        <p:spPr bwMode="auto">
          <a:xfrm>
            <a:off x="609600" y="6353175"/>
            <a:ext cx="1097280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 sz="1800"/>
          </a:p>
        </p:txBody>
      </p:sp>
      <p:sp>
        <p:nvSpPr>
          <p:cNvPr id="29" name="Straight Connector 28"/>
          <p:cNvSpPr>
            <a:spLocks noChangeShapeType="1"/>
          </p:cNvSpPr>
          <p:nvPr/>
        </p:nvSpPr>
        <p:spPr bwMode="auto">
          <a:xfrm>
            <a:off x="609600" y="1143000"/>
            <a:ext cx="1097280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 sz="1800"/>
          </a:p>
        </p:txBody>
      </p:sp>
      <p:sp>
        <p:nvSpPr>
          <p:cNvPr id="10" name="Isosceles Triangle 9"/>
          <p:cNvSpPr>
            <a:spLocks noChangeAspect="1"/>
          </p:cNvSpPr>
          <p:nvPr/>
        </p:nvSpPr>
        <p:spPr>
          <a:xfrm rot="5400000">
            <a:off x="590609" y="6447423"/>
            <a:ext cx="190849" cy="160419"/>
          </a:xfrm>
          <a:prstGeom prst="triangle">
            <a:avLst>
              <a:gd name="adj" fmla="val 50000"/>
            </a:avLst>
          </a:prstGeom>
          <a:solidFill>
            <a:schemeClr val="accent2"/>
          </a:solidFill>
          <a:ln w="254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 sz="180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hf hdr="0" ftr="0" dt="0"/>
  <p:txStyles>
    <p:titleStyle>
      <a:lvl1pPr algn="l" rtl="0" eaLnBrk="1" latinLnBrk="0" hangingPunct="1">
        <a:spcBef>
          <a:spcPct val="0"/>
        </a:spcBef>
        <a:buNone/>
        <a:defRPr kumimoji="0" sz="3200" kern="120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274320" indent="-274320" algn="l" rtl="0" eaLnBrk="1" latinLnBrk="0" hangingPunct="1">
        <a:spcBef>
          <a:spcPts val="600"/>
        </a:spcBef>
        <a:buClr>
          <a:schemeClr val="accent1"/>
        </a:buClr>
        <a:buSzPct val="76000"/>
        <a:buFont typeface="Wingdings 3"/>
        <a:buChar char=""/>
        <a:defRPr kumimoji="0" sz="2600" kern="1200">
          <a:solidFill>
            <a:schemeClr val="tx1"/>
          </a:solidFill>
          <a:latin typeface="+mn-lt"/>
          <a:ea typeface="+mn-ea"/>
          <a:cs typeface="+mn-cs"/>
        </a:defRPr>
      </a:lvl1pPr>
      <a:lvl2pPr marL="548640" indent="-274320" algn="l" rtl="0" eaLnBrk="1" latinLnBrk="0" hangingPunct="1">
        <a:spcBef>
          <a:spcPts val="500"/>
        </a:spcBef>
        <a:buClr>
          <a:schemeClr val="accent2"/>
        </a:buClr>
        <a:buSzPct val="76000"/>
        <a:buFont typeface="Wingdings 3"/>
        <a:buChar char=""/>
        <a:defRPr kumimoji="0" sz="2300" kern="1200">
          <a:solidFill>
            <a:schemeClr val="tx2"/>
          </a:solidFill>
          <a:latin typeface="+mn-lt"/>
          <a:ea typeface="+mn-ea"/>
          <a:cs typeface="+mn-cs"/>
        </a:defRPr>
      </a:lvl2pPr>
      <a:lvl3pPr marL="822960" indent="-228600" algn="l" rtl="0" eaLnBrk="1" latinLnBrk="0" hangingPunct="1">
        <a:spcBef>
          <a:spcPts val="500"/>
        </a:spcBef>
        <a:buClr>
          <a:schemeClr val="bg1">
            <a:shade val="50000"/>
          </a:schemeClr>
        </a:buClr>
        <a:buSzPct val="76000"/>
        <a:buFont typeface="Wingdings 3"/>
        <a:buChar char=""/>
        <a:defRPr kumimoji="0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097280" indent="-228600" algn="l" rtl="0" eaLnBrk="1" latinLnBrk="0" hangingPunct="1">
        <a:spcBef>
          <a:spcPts val="400"/>
        </a:spcBef>
        <a:buClr>
          <a:schemeClr val="accent2">
            <a:shade val="75000"/>
          </a:schemeClr>
        </a:buClr>
        <a:buSzPct val="70000"/>
        <a:buFont typeface="Wingdings"/>
        <a:buChar char=""/>
        <a:defRPr kumimoji="0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indent="-228600" algn="l" rtl="0" eaLnBrk="1" latinLnBrk="0" hangingPunct="1">
        <a:spcBef>
          <a:spcPts val="300"/>
        </a:spcBef>
        <a:buClr>
          <a:schemeClr val="accent2"/>
        </a:buClr>
        <a:buSzPct val="70000"/>
        <a:buFont typeface="Wingdings"/>
        <a:buChar char=""/>
        <a:defRPr kumimoji="0"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1645920" indent="-182880" algn="l" rtl="0" eaLnBrk="1" latinLnBrk="0" hangingPunct="1">
        <a:spcBef>
          <a:spcPts val="300"/>
        </a:spcBef>
        <a:buClr>
          <a:srgbClr val="9FB8CD">
            <a:shade val="75000"/>
          </a:srgbClr>
        </a:buClr>
        <a:buSzPct val="75000"/>
        <a:buFont typeface="Wingdings 3"/>
        <a:buChar char=""/>
        <a:defRPr kumimoji="0" lang="en-US" sz="1600" kern="1200" smtClean="0">
          <a:solidFill>
            <a:schemeClr val="tx1"/>
          </a:solidFill>
          <a:latin typeface="+mn-lt"/>
          <a:ea typeface="+mn-ea"/>
          <a:cs typeface="+mn-cs"/>
        </a:defRPr>
      </a:lvl6pPr>
      <a:lvl7pPr marL="1828800" indent="-182880" algn="l" rtl="0" eaLnBrk="1" latinLnBrk="0" hangingPunct="1">
        <a:spcBef>
          <a:spcPts val="300"/>
        </a:spcBef>
        <a:buClr>
          <a:srgbClr val="727CA3">
            <a:shade val="75000"/>
          </a:srgbClr>
        </a:buClr>
        <a:buSzPct val="75000"/>
        <a:buFont typeface="Wingdings 3"/>
        <a:buChar char=""/>
        <a:defRPr kumimoji="0" lang="en-US" sz="1400" kern="1200" smtClean="0">
          <a:solidFill>
            <a:schemeClr val="tx1"/>
          </a:solidFill>
          <a:latin typeface="+mn-lt"/>
          <a:ea typeface="+mn-ea"/>
          <a:cs typeface="+mn-cs"/>
        </a:defRPr>
      </a:lvl7pPr>
      <a:lvl8pPr marL="2011680" indent="-182880" algn="l" rtl="0" eaLnBrk="1" latinLnBrk="0" hangingPunct="1">
        <a:spcBef>
          <a:spcPts val="300"/>
        </a:spcBef>
        <a:buClr>
          <a:prstClr val="white">
            <a:shade val="50000"/>
          </a:prstClr>
        </a:buClr>
        <a:buSzPct val="75000"/>
        <a:buFont typeface="Wingdings 3"/>
        <a:buChar char=""/>
        <a:defRPr kumimoji="0" lang="en-US" sz="1400" kern="1200" smtClean="0">
          <a:solidFill>
            <a:schemeClr val="tx1"/>
          </a:solidFill>
          <a:latin typeface="+mn-lt"/>
          <a:ea typeface="+mn-ea"/>
          <a:cs typeface="+mn-cs"/>
        </a:defRPr>
      </a:lvl8pPr>
      <a:lvl9pPr marL="2194560" indent="-182880" algn="l" rtl="0" eaLnBrk="1" latinLnBrk="0" hangingPunct="1">
        <a:spcBef>
          <a:spcPts val="300"/>
        </a:spcBef>
        <a:buClr>
          <a:srgbClr val="9FB8CD"/>
        </a:buClr>
        <a:buSzPct val="75000"/>
        <a:buFont typeface="Wingdings 3"/>
        <a:buChar char=""/>
        <a:defRPr kumimoji="0" lang="en-US" sz="1200" kern="1200" smtClean="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lvl1pPr marL="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hyperlink" Target="https://web.eece.maine.edu/~zhu/book/" TargetMode="Externa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sv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sv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sv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7" Type="http://schemas.openxmlformats.org/officeDocument/2006/relationships/image" Target="../media/image8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emf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tiff"/><Relationship Id="rId2" Type="http://schemas.openxmlformats.org/officeDocument/2006/relationships/image" Target="../media/image12.tiff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4.tiff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7" Type="http://schemas.openxmlformats.org/officeDocument/2006/relationships/image" Target="../media/image8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20.png"/><Relationship Id="rId7" Type="http://schemas.openxmlformats.org/officeDocument/2006/relationships/image" Target="../media/image23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5.png"/><Relationship Id="rId5" Type="http://schemas.openxmlformats.org/officeDocument/2006/relationships/image" Target="../media/image22.png"/><Relationship Id="rId4" Type="http://schemas.openxmlformats.org/officeDocument/2006/relationships/image" Target="../media/image4.png"/><Relationship Id="rId9" Type="http://schemas.openxmlformats.org/officeDocument/2006/relationships/image" Target="../media/image24.png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26.png"/><Relationship Id="rId4" Type="http://schemas.openxmlformats.org/officeDocument/2006/relationships/image" Target="../media/image8.png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200.png"/><Relationship Id="rId5" Type="http://schemas.openxmlformats.org/officeDocument/2006/relationships/image" Target="../media/image190.png"/><Relationship Id="rId4" Type="http://schemas.openxmlformats.org/officeDocument/2006/relationships/image" Target="../media/image180.png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230.png"/><Relationship Id="rId5" Type="http://schemas.openxmlformats.org/officeDocument/2006/relationships/image" Target="../media/image27.png"/><Relationship Id="rId4" Type="http://schemas.openxmlformats.org/officeDocument/2006/relationships/image" Target="../media/image210.png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260.png"/><Relationship Id="rId5" Type="http://schemas.openxmlformats.org/officeDocument/2006/relationships/image" Target="../media/image250.png"/><Relationship Id="rId4" Type="http://schemas.openxmlformats.org/officeDocument/2006/relationships/image" Target="../media/image240.png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6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6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6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emf"/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emf"/><Relationship Id="rId2" Type="http://schemas.openxmlformats.org/officeDocument/2006/relationships/image" Target="../media/image27.emf"/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emf"/><Relationship Id="rId2" Type="http://schemas.openxmlformats.org/officeDocument/2006/relationships/image" Target="../media/image27.emf"/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emf"/><Relationship Id="rId2" Type="http://schemas.openxmlformats.org/officeDocument/2006/relationships/image" Target="../media/image27.emf"/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emf"/><Relationship Id="rId2" Type="http://schemas.openxmlformats.org/officeDocument/2006/relationships/image" Target="../media/image27.emf"/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3" Type="http://schemas.openxmlformats.org/officeDocument/2006/relationships/customXml" Target="../ink/ink1.xml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2.xml"/><Relationship Id="rId5" Type="http://schemas.openxmlformats.org/officeDocument/2006/relationships/customXml" Target="../ink/ink2.xml"/><Relationship Id="rId4" Type="http://schemas.openxmlformats.org/officeDocument/2006/relationships/image" Target="../media/image32.png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2.xml"/></Relationships>
</file>

<file path=ppt/slides/_rels/slide7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6.png"/><Relationship Id="rId4" Type="http://schemas.openxmlformats.org/officeDocument/2006/relationships/image" Target="../media/image35.png"/></Relationships>
</file>

<file path=ppt/slides/_rels/slide77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watch?v=H-vOP2yRUj4&amp;list=PLRJhV4hUhIymmp5CCeIFPyxbknsdcXCc8&amp;index=25" TargetMode="External"/><Relationship Id="rId2" Type="http://schemas.openxmlformats.org/officeDocument/2006/relationships/hyperlink" Target="https://www.youtube.com/watch?v=9cXe_T99nL4" TargetMode="Externa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www.youtube.com/watch?v=SGJibM1D2_A&amp;list=PLRJhV4hUhIymmp5CCeIFPyxbknsdcXCc8&amp;index=26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>
            <a:noAutofit/>
          </a:bodyPr>
          <a:lstStyle/>
          <a:p>
            <a:r>
              <a:rPr lang="en-US" sz="2000" dirty="0"/>
              <a:t>Z. Gu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Fall 2025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631425" y="392775"/>
            <a:ext cx="64770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400" b="1" dirty="0">
                <a:latin typeface="Bookman Old Style (Headings)"/>
              </a:rPr>
              <a:t>Embedded Systems with ARM Cortex-M Microcontrollers in Assembly Language and 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257800" y="1884029"/>
            <a:ext cx="5814220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2400" b="1" dirty="0">
                <a:solidFill>
                  <a:srgbClr val="C00000"/>
                </a:solidFill>
              </a:rPr>
              <a:t>Chapter 4</a:t>
            </a:r>
          </a:p>
          <a:p>
            <a:pPr algn="r"/>
            <a:r>
              <a:rPr lang="en-US" sz="2400" b="1" dirty="0">
                <a:solidFill>
                  <a:srgbClr val="C00000"/>
                </a:solidFill>
              </a:rPr>
              <a:t>ARM Arithmetic and Logic Instructions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1</a:t>
            </a:fld>
            <a:endParaRPr kumimoji="0"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4F69590-944C-2F0D-5FE5-A89C06E0D2BF}"/>
              </a:ext>
            </a:extLst>
          </p:cNvPr>
          <p:cNvSpPr txBox="1"/>
          <p:nvPr/>
        </p:nvSpPr>
        <p:spPr>
          <a:xfrm>
            <a:off x="2233138" y="6355081"/>
            <a:ext cx="7725724" cy="461665"/>
          </a:xfrm>
          <a:prstGeom prst="rect">
            <a:avLst/>
          </a:prstGeom>
          <a:ln w="9525"/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altLang="zh-CN" sz="1200" dirty="0">
                <a:solidFill>
                  <a:schemeClr val="tx1"/>
                </a:solidFill>
                <a:latin typeface="Gill Sans Light"/>
              </a:rPr>
              <a:t>Acknowledgement: Lecture slides based on Embedded Systems with ARM Cortex-M Microcontrollers in Assembly Language and C, University of Maine </a:t>
            </a:r>
            <a:r>
              <a:rPr lang="en-US" altLang="zh-CN" sz="1200" dirty="0">
                <a:solidFill>
                  <a:schemeClr val="tx1"/>
                </a:solidFill>
                <a:latin typeface="Gill Sans Light"/>
                <a:hlinkClick r:id="rId2"/>
              </a:rPr>
              <a:t>https://web.eece.maine.edu/~zhu/book/</a:t>
            </a:r>
            <a:r>
              <a:rPr lang="en-US" altLang="zh-CN" sz="1200" dirty="0">
                <a:solidFill>
                  <a:schemeClr val="tx1"/>
                </a:solidFill>
                <a:latin typeface="Gill Sans Light"/>
              </a:rPr>
              <a:t> </a:t>
            </a:r>
            <a:endParaRPr lang="en-SE" sz="1200" dirty="0">
              <a:solidFill>
                <a:schemeClr val="tx1"/>
              </a:solidFill>
              <a:latin typeface="Gill Sans Light"/>
            </a:endParaRPr>
          </a:p>
        </p:txBody>
      </p:sp>
    </p:spTree>
    <p:extLst>
      <p:ext uri="{BB962C8B-B14F-4D97-AF65-F5344CB8AC3E}">
        <p14:creationId xmlns:p14="http://schemas.microsoft.com/office/powerpoint/2010/main" val="398573584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0278C4-3EAF-C64C-84F3-A58280AE41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Adding Two Integers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E4312E3-2F7B-2C43-90A0-5CEA91E07B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2</a:t>
            </a:fld>
            <a:endParaRPr kumimoji="0" lang="en-US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BE27E09-A6EA-0344-9F3F-4EE0E475974F}"/>
              </a:ext>
            </a:extLst>
          </p:cNvPr>
          <p:cNvSpPr/>
          <p:nvPr/>
        </p:nvSpPr>
        <p:spPr>
          <a:xfrm>
            <a:off x="915572" y="4620047"/>
            <a:ext cx="2232574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z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= </a:t>
            </a:r>
            <a:r>
              <a:rPr lang="en-US" sz="2400" dirty="0">
                <a:solidFill>
                  <a:srgbClr val="0432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x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+ </a:t>
            </a:r>
            <a:r>
              <a:rPr lang="en-US" sz="2400" dirty="0">
                <a:solidFill>
                  <a:srgbClr val="0432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y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  <a:endParaRPr lang="en-US" sz="2400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E991AE1-74A7-9341-B1DF-52B509E96479}"/>
              </a:ext>
            </a:extLst>
          </p:cNvPr>
          <p:cNvSpPr/>
          <p:nvPr/>
        </p:nvSpPr>
        <p:spPr>
          <a:xfrm>
            <a:off x="660259" y="4495800"/>
            <a:ext cx="2730137" cy="7620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9ED7DC0-B2A1-334F-B723-CD4699563F56}"/>
              </a:ext>
            </a:extLst>
          </p:cNvPr>
          <p:cNvSpPr/>
          <p:nvPr/>
        </p:nvSpPr>
        <p:spPr>
          <a:xfrm>
            <a:off x="1172464" y="1800136"/>
            <a:ext cx="2563522" cy="120032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int </a:t>
            </a:r>
            <a:r>
              <a:rPr lang="en-US" sz="2400" dirty="0">
                <a:solidFill>
                  <a:srgbClr val="0432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x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= 1;  </a:t>
            </a: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int </a:t>
            </a:r>
            <a:r>
              <a:rPr lang="en-US" sz="2400" dirty="0">
                <a:solidFill>
                  <a:srgbClr val="0432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y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= 2;</a:t>
            </a: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int 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z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  <a:endParaRPr lang="en-US" sz="2400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77A10298-527B-E641-BC63-81C7BE2D72EB}"/>
              </a:ext>
            </a:extLst>
          </p:cNvPr>
          <p:cNvSpPr/>
          <p:nvPr/>
        </p:nvSpPr>
        <p:spPr>
          <a:xfrm>
            <a:off x="715264" y="1676400"/>
            <a:ext cx="2743200" cy="14478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Content Placeholder 3">
            <a:extLst>
              <a:ext uri="{FF2B5EF4-FFF2-40B4-BE49-F238E27FC236}">
                <a16:creationId xmlns:a16="http://schemas.microsoft.com/office/drawing/2014/main" id="{7CF71279-7834-EB48-80F1-138FCBFBAC13}"/>
              </a:ext>
            </a:extLst>
          </p:cNvPr>
          <p:cNvSpPr txBox="1">
            <a:spLocks/>
          </p:cNvSpPr>
          <p:nvPr/>
        </p:nvSpPr>
        <p:spPr>
          <a:xfrm>
            <a:off x="3403459" y="3546566"/>
            <a:ext cx="3017129" cy="133023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>
            <a:normAutofit fontScale="85000" lnSpcReduction="20000"/>
          </a:bodyPr>
          <a:lstStyle>
            <a:lvl1pPr marL="274320" indent="-274320" algn="l" rtl="0" eaLnBrk="1" latinLnBrk="0" hangingPunct="1">
              <a:spcBef>
                <a:spcPts val="600"/>
              </a:spcBef>
              <a:buClr>
                <a:schemeClr val="accent1"/>
              </a:buClr>
              <a:buSzPct val="76000"/>
              <a:buFont typeface="Wingdings 3"/>
              <a:buChar char=""/>
              <a:defRPr kumimoji="0" sz="2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8640" indent="-274320" algn="l" rtl="0" eaLnBrk="1" latinLnBrk="0" hangingPunct="1">
              <a:spcBef>
                <a:spcPts val="500"/>
              </a:spcBef>
              <a:buClr>
                <a:schemeClr val="accent2"/>
              </a:buClr>
              <a:buSzPct val="76000"/>
              <a:buFont typeface="Wingdings 3"/>
              <a:buChar char=""/>
              <a:defRPr kumimoji="0" sz="23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822960" indent="-228600" algn="l" rtl="0" eaLnBrk="1" latinLnBrk="0" hangingPunct="1">
              <a:spcBef>
                <a:spcPts val="500"/>
              </a:spcBef>
              <a:buClr>
                <a:schemeClr val="bg1">
                  <a:shade val="50000"/>
                </a:schemeClr>
              </a:buClr>
              <a:buSzPct val="76000"/>
              <a:buFont typeface="Wingdings 3"/>
              <a:buChar char=""/>
              <a:defRPr kumimoji="0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7280" indent="-228600" algn="l" rtl="0" eaLnBrk="1" latinLnBrk="0" hangingPunct="1">
              <a:spcBef>
                <a:spcPts val="400"/>
              </a:spcBef>
              <a:buClr>
                <a:schemeClr val="accent2">
                  <a:shade val="75000"/>
                </a:schemeClr>
              </a:buClr>
              <a:buSzPct val="70000"/>
              <a:buFont typeface="Wingdings"/>
              <a:buChar char=""/>
              <a:defRPr kumimoji="0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indent="-228600" algn="l" rtl="0" eaLnBrk="1" latinLnBrk="0" hangingPunct="1">
              <a:spcBef>
                <a:spcPts val="300"/>
              </a:spcBef>
              <a:buClr>
                <a:schemeClr val="accent2"/>
              </a:buClr>
              <a:buSzPct val="70000"/>
              <a:buFont typeface="Wingdings"/>
              <a:buChar char=""/>
              <a:defRPr kumimoji="0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645920" indent="-182880" algn="l" rtl="0" eaLnBrk="1" latinLnBrk="0" hangingPunct="1">
              <a:spcBef>
                <a:spcPts val="300"/>
              </a:spcBef>
              <a:buClr>
                <a:srgbClr val="9FB8CD">
                  <a:shade val="75000"/>
                </a:srgbClr>
              </a:buClr>
              <a:buSzPct val="75000"/>
              <a:buFont typeface="Wingdings 3"/>
              <a:buChar char=""/>
              <a:defRPr kumimoji="0"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800" indent="-182880" algn="l" rtl="0" eaLnBrk="1" latinLnBrk="0" hangingPunct="1">
              <a:spcBef>
                <a:spcPts val="300"/>
              </a:spcBef>
              <a:buClr>
                <a:srgbClr val="727CA3">
                  <a:shade val="75000"/>
                </a:srgbClr>
              </a:buClr>
              <a:buSzPct val="75000"/>
              <a:buFont typeface="Wingdings 3"/>
              <a:buChar char=""/>
              <a:defRPr kumimoji="0" lang="en-US" sz="14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011680" indent="-182880" algn="l" rtl="0" eaLnBrk="1" latinLnBrk="0" hangingPunct="1">
              <a:spcBef>
                <a:spcPts val="300"/>
              </a:spcBef>
              <a:buClr>
                <a:prstClr val="white">
                  <a:shade val="50000"/>
                </a:prstClr>
              </a:buClr>
              <a:buSzPct val="75000"/>
              <a:buFont typeface="Wingdings 3"/>
              <a:buChar char=""/>
              <a:defRPr kumimoji="0" lang="en-US" sz="14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194560" indent="-182880" algn="l" rtl="0" eaLnBrk="1" latinLnBrk="0" hangingPunct="1">
              <a:spcBef>
                <a:spcPts val="300"/>
              </a:spcBef>
              <a:buClr>
                <a:srgbClr val="9FB8CD"/>
              </a:buClr>
              <a:buSzPct val="75000"/>
              <a:buFont typeface="Wingdings 3"/>
              <a:buChar char=""/>
              <a:defRPr kumimoji="0" lang="en-US" sz="12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/>
              <a:t>If values are in registers</a:t>
            </a:r>
          </a:p>
          <a:p>
            <a:pPr lvl="1"/>
            <a:r>
              <a:rPr lang="en-US" dirty="0"/>
              <a:t>Value of </a:t>
            </a:r>
            <a:r>
              <a:rPr lang="en-US" dirty="0">
                <a:solidFill>
                  <a:srgbClr val="0432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x</a:t>
            </a:r>
            <a:r>
              <a:rPr lang="en-US" dirty="0"/>
              <a:t> in </a:t>
            </a:r>
            <a:r>
              <a:rPr lang="en-US" dirty="0">
                <a:solidFill>
                  <a:srgbClr val="0432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r0</a:t>
            </a:r>
          </a:p>
          <a:p>
            <a:pPr lvl="1"/>
            <a:r>
              <a:rPr lang="en-US" dirty="0"/>
              <a:t>Value of </a:t>
            </a:r>
            <a:r>
              <a:rPr lang="en-US" dirty="0">
                <a:solidFill>
                  <a:srgbClr val="0432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y</a:t>
            </a:r>
            <a:r>
              <a:rPr lang="en-US" dirty="0"/>
              <a:t> in </a:t>
            </a:r>
            <a:r>
              <a:rPr lang="en-US" dirty="0">
                <a:solidFill>
                  <a:srgbClr val="0432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r1</a:t>
            </a:r>
          </a:p>
          <a:p>
            <a:pPr lvl="1"/>
            <a:r>
              <a:rPr lang="en-US" dirty="0"/>
              <a:t>Value of </a:t>
            </a:r>
            <a:r>
              <a:rPr lang="en-US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z</a:t>
            </a:r>
            <a:r>
              <a:rPr lang="en-US" dirty="0"/>
              <a:t> in </a:t>
            </a:r>
            <a:r>
              <a:rPr lang="en-US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r2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FC5FD643-FD48-0C42-8E79-F52526E5C6CD}"/>
              </a:ext>
            </a:extLst>
          </p:cNvPr>
          <p:cNvSpPr/>
          <p:nvPr/>
        </p:nvSpPr>
        <p:spPr>
          <a:xfrm>
            <a:off x="6420588" y="4495800"/>
            <a:ext cx="3505200" cy="7620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5593947A-9232-4248-89B8-46DCB0885F3B}"/>
              </a:ext>
            </a:extLst>
          </p:cNvPr>
          <p:cNvCxnSpPr>
            <a:cxnSpLocks/>
            <a:stCxn id="12" idx="3"/>
            <a:endCxn id="21" idx="1"/>
          </p:cNvCxnSpPr>
          <p:nvPr/>
        </p:nvCxnSpPr>
        <p:spPr>
          <a:xfrm>
            <a:off x="3390396" y="4876800"/>
            <a:ext cx="3030192" cy="0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E8DA62C5-1C79-8F4C-97AB-667FAFD46EEA}"/>
              </a:ext>
            </a:extLst>
          </p:cNvPr>
          <p:cNvSpPr txBox="1"/>
          <p:nvPr/>
        </p:nvSpPr>
        <p:spPr>
          <a:xfrm>
            <a:off x="1344692" y="4060915"/>
            <a:ext cx="13612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 Statement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C8F18185-453A-9C4E-8D27-4AFE98751D4B}"/>
              </a:ext>
            </a:extLst>
          </p:cNvPr>
          <p:cNvSpPr txBox="1"/>
          <p:nvPr/>
        </p:nvSpPr>
        <p:spPr>
          <a:xfrm>
            <a:off x="7229809" y="4060185"/>
            <a:ext cx="208198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Assembly Statement</a:t>
            </a:r>
          </a:p>
        </p:txBody>
      </p:sp>
      <p:pic>
        <p:nvPicPr>
          <p:cNvPr id="26" name="Graphic 25" descr="Question Mark with solid fill">
            <a:extLst>
              <a:ext uri="{FF2B5EF4-FFF2-40B4-BE49-F238E27FC236}">
                <a16:creationId xmlns:a16="http://schemas.microsoft.com/office/drawing/2014/main" id="{41B280B5-FCEA-8A42-9DC5-D094F49DEAC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887011" y="4590623"/>
            <a:ext cx="572353" cy="5723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8997594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0278C4-3EAF-C64C-84F3-A58280AE41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Adding Two Integers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E4312E3-2F7B-2C43-90A0-5CEA91E07B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3</a:t>
            </a:fld>
            <a:endParaRPr kumimoji="0" lang="en-US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BE27E09-A6EA-0344-9F3F-4EE0E475974F}"/>
              </a:ext>
            </a:extLst>
          </p:cNvPr>
          <p:cNvSpPr/>
          <p:nvPr/>
        </p:nvSpPr>
        <p:spPr>
          <a:xfrm>
            <a:off x="915572" y="4620047"/>
            <a:ext cx="2232574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z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= </a:t>
            </a:r>
            <a:r>
              <a:rPr lang="en-US" sz="2400" dirty="0">
                <a:solidFill>
                  <a:srgbClr val="0432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x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+ </a:t>
            </a:r>
            <a:r>
              <a:rPr lang="en-US" sz="2400" dirty="0">
                <a:solidFill>
                  <a:srgbClr val="0432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y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  <a:endParaRPr lang="en-US" sz="2400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E991AE1-74A7-9341-B1DF-52B509E96479}"/>
              </a:ext>
            </a:extLst>
          </p:cNvPr>
          <p:cNvSpPr/>
          <p:nvPr/>
        </p:nvSpPr>
        <p:spPr>
          <a:xfrm>
            <a:off x="660259" y="4495800"/>
            <a:ext cx="2730137" cy="7620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9ED7DC0-B2A1-334F-B723-CD4699563F56}"/>
              </a:ext>
            </a:extLst>
          </p:cNvPr>
          <p:cNvSpPr/>
          <p:nvPr/>
        </p:nvSpPr>
        <p:spPr>
          <a:xfrm>
            <a:off x="1172464" y="1800136"/>
            <a:ext cx="2563522" cy="120032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int </a:t>
            </a:r>
            <a:r>
              <a:rPr lang="en-US" sz="2400" dirty="0">
                <a:solidFill>
                  <a:srgbClr val="0432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x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= 1;  </a:t>
            </a: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int </a:t>
            </a:r>
            <a:r>
              <a:rPr lang="en-US" sz="2400" dirty="0">
                <a:solidFill>
                  <a:srgbClr val="0432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y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= 2;</a:t>
            </a: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int 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z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  <a:endParaRPr lang="en-US" sz="2400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77A10298-527B-E641-BC63-81C7BE2D72EB}"/>
              </a:ext>
            </a:extLst>
          </p:cNvPr>
          <p:cNvSpPr/>
          <p:nvPr/>
        </p:nvSpPr>
        <p:spPr>
          <a:xfrm>
            <a:off x="715264" y="1676400"/>
            <a:ext cx="2743200" cy="14478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090BEE9D-2F1F-CA4D-8D2A-219E1CCF77D2}"/>
              </a:ext>
            </a:extLst>
          </p:cNvPr>
          <p:cNvSpPr/>
          <p:nvPr/>
        </p:nvSpPr>
        <p:spPr>
          <a:xfrm>
            <a:off x="6176609" y="4631772"/>
            <a:ext cx="3505200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ADD   ,   ,   </a:t>
            </a:r>
            <a:endParaRPr lang="en-US" sz="2400" dirty="0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FC5FD643-FD48-0C42-8E79-F52526E5C6CD}"/>
              </a:ext>
            </a:extLst>
          </p:cNvPr>
          <p:cNvSpPr/>
          <p:nvPr/>
        </p:nvSpPr>
        <p:spPr>
          <a:xfrm>
            <a:off x="6420588" y="4495800"/>
            <a:ext cx="3505200" cy="7620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5593947A-9232-4248-89B8-46DCB0885F3B}"/>
              </a:ext>
            </a:extLst>
          </p:cNvPr>
          <p:cNvCxnSpPr>
            <a:cxnSpLocks/>
            <a:stCxn id="12" idx="3"/>
            <a:endCxn id="21" idx="1"/>
          </p:cNvCxnSpPr>
          <p:nvPr/>
        </p:nvCxnSpPr>
        <p:spPr>
          <a:xfrm>
            <a:off x="3390396" y="4876800"/>
            <a:ext cx="3030192" cy="0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2E826E29-2BE5-7249-99F2-68AF7CE4E7D7}"/>
              </a:ext>
            </a:extLst>
          </p:cNvPr>
          <p:cNvCxnSpPr>
            <a:cxnSpLocks/>
          </p:cNvCxnSpPr>
          <p:nvPr/>
        </p:nvCxnSpPr>
        <p:spPr>
          <a:xfrm flipV="1">
            <a:off x="7873769" y="5104360"/>
            <a:ext cx="0" cy="534440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A935BF16-DA30-0040-A3F3-952D814B9134}"/>
              </a:ext>
            </a:extLst>
          </p:cNvPr>
          <p:cNvCxnSpPr>
            <a:cxnSpLocks/>
          </p:cNvCxnSpPr>
          <p:nvPr/>
        </p:nvCxnSpPr>
        <p:spPr>
          <a:xfrm flipH="1" flipV="1">
            <a:off x="8555694" y="5104360"/>
            <a:ext cx="3875" cy="915440"/>
          </a:xfrm>
          <a:prstGeom prst="line">
            <a:avLst/>
          </a:prstGeom>
          <a:ln w="28575">
            <a:solidFill>
              <a:srgbClr val="0432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A5764CC6-68A5-C044-BCA1-696806728AC8}"/>
              </a:ext>
            </a:extLst>
          </p:cNvPr>
          <p:cNvCxnSpPr>
            <a:cxnSpLocks/>
          </p:cNvCxnSpPr>
          <p:nvPr/>
        </p:nvCxnSpPr>
        <p:spPr>
          <a:xfrm>
            <a:off x="7416569" y="5638800"/>
            <a:ext cx="457200" cy="0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B862FE3A-16A8-9343-A329-7572F8B89554}"/>
              </a:ext>
            </a:extLst>
          </p:cNvPr>
          <p:cNvCxnSpPr>
            <a:cxnSpLocks/>
          </p:cNvCxnSpPr>
          <p:nvPr/>
        </p:nvCxnSpPr>
        <p:spPr>
          <a:xfrm flipV="1">
            <a:off x="9165294" y="5085113"/>
            <a:ext cx="0" cy="476967"/>
          </a:xfrm>
          <a:prstGeom prst="line">
            <a:avLst/>
          </a:prstGeom>
          <a:ln w="28575">
            <a:solidFill>
              <a:srgbClr val="0432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7350375F-5850-4B40-A618-9AFC5D7E0E7F}"/>
              </a:ext>
            </a:extLst>
          </p:cNvPr>
          <p:cNvCxnSpPr>
            <a:cxnSpLocks/>
          </p:cNvCxnSpPr>
          <p:nvPr/>
        </p:nvCxnSpPr>
        <p:spPr>
          <a:xfrm>
            <a:off x="9165294" y="5562600"/>
            <a:ext cx="457200" cy="0"/>
          </a:xfrm>
          <a:prstGeom prst="line">
            <a:avLst/>
          </a:prstGeom>
          <a:ln w="28575">
            <a:solidFill>
              <a:srgbClr val="0432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ACA90F78-6BDC-D740-B4BF-027EA3A68C27}"/>
              </a:ext>
            </a:extLst>
          </p:cNvPr>
          <p:cNvCxnSpPr>
            <a:cxnSpLocks/>
          </p:cNvCxnSpPr>
          <p:nvPr/>
        </p:nvCxnSpPr>
        <p:spPr>
          <a:xfrm>
            <a:off x="8559569" y="6019800"/>
            <a:ext cx="1062925" cy="0"/>
          </a:xfrm>
          <a:prstGeom prst="line">
            <a:avLst/>
          </a:prstGeom>
          <a:ln w="28575">
            <a:solidFill>
              <a:srgbClr val="0432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TextBox 44">
            <a:extLst>
              <a:ext uri="{FF2B5EF4-FFF2-40B4-BE49-F238E27FC236}">
                <a16:creationId xmlns:a16="http://schemas.microsoft.com/office/drawing/2014/main" id="{0E08C015-7492-3341-9D8F-DE5EFECAC711}"/>
              </a:ext>
            </a:extLst>
          </p:cNvPr>
          <p:cNvSpPr txBox="1"/>
          <p:nvPr/>
        </p:nvSpPr>
        <p:spPr>
          <a:xfrm>
            <a:off x="9602104" y="5362315"/>
            <a:ext cx="1987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0432FF"/>
                </a:solidFill>
              </a:rPr>
              <a:t>Source Operand </a:t>
            </a:r>
            <a:r>
              <a:rPr lang="en-US" dirty="0">
                <a:solidFill>
                  <a:srgbClr val="0432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2</a:t>
            </a:r>
            <a:r>
              <a:rPr lang="en-US" dirty="0">
                <a:solidFill>
                  <a:srgbClr val="0432FF"/>
                </a:solidFill>
              </a:rPr>
              <a:t> 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8BDDBA8A-1BD0-D54C-A3BC-6007AFDD4738}"/>
              </a:ext>
            </a:extLst>
          </p:cNvPr>
          <p:cNvSpPr txBox="1"/>
          <p:nvPr/>
        </p:nvSpPr>
        <p:spPr>
          <a:xfrm>
            <a:off x="9622494" y="5804544"/>
            <a:ext cx="1987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0432FF"/>
                </a:solidFill>
              </a:rPr>
              <a:t>Source Operand </a:t>
            </a:r>
            <a:r>
              <a:rPr lang="en-US" dirty="0">
                <a:solidFill>
                  <a:srgbClr val="0432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1</a:t>
            </a:r>
            <a:r>
              <a:rPr lang="en-US" dirty="0">
                <a:solidFill>
                  <a:srgbClr val="0432FF"/>
                </a:solidFill>
              </a:rPr>
              <a:t> 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25A0D524-B0B7-824D-AB49-E0588C9B77A6}"/>
              </a:ext>
            </a:extLst>
          </p:cNvPr>
          <p:cNvSpPr txBox="1"/>
          <p:nvPr/>
        </p:nvSpPr>
        <p:spPr>
          <a:xfrm>
            <a:off x="6148272" y="5468976"/>
            <a:ext cx="12682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Destination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F91715D0-00F6-8A47-8E51-2A80B626040A}"/>
              </a:ext>
            </a:extLst>
          </p:cNvPr>
          <p:cNvSpPr/>
          <p:nvPr/>
        </p:nvSpPr>
        <p:spPr>
          <a:xfrm>
            <a:off x="7595098" y="4631772"/>
            <a:ext cx="524503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r2</a:t>
            </a:r>
            <a:endParaRPr lang="en-US" sz="2400" dirty="0"/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67589AFC-EF17-A243-9734-710DC39770C4}"/>
              </a:ext>
            </a:extLst>
          </p:cNvPr>
          <p:cNvSpPr/>
          <p:nvPr/>
        </p:nvSpPr>
        <p:spPr>
          <a:xfrm>
            <a:off x="8270799" y="4622495"/>
            <a:ext cx="524503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r1</a:t>
            </a:r>
            <a:endParaRPr lang="en-US" sz="2400" dirty="0"/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E64F8AEB-B979-0041-91F3-1415210A8079}"/>
              </a:ext>
            </a:extLst>
          </p:cNvPr>
          <p:cNvSpPr/>
          <p:nvPr/>
        </p:nvSpPr>
        <p:spPr>
          <a:xfrm>
            <a:off x="8907538" y="4620046"/>
            <a:ext cx="524503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r0</a:t>
            </a:r>
            <a:endParaRPr lang="en-US" sz="24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8DA62C5-1C79-8F4C-97AB-667FAFD46EEA}"/>
              </a:ext>
            </a:extLst>
          </p:cNvPr>
          <p:cNvSpPr txBox="1"/>
          <p:nvPr/>
        </p:nvSpPr>
        <p:spPr>
          <a:xfrm>
            <a:off x="1344692" y="4060915"/>
            <a:ext cx="13612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 Statement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C8F18185-453A-9C4E-8D27-4AFE98751D4B}"/>
              </a:ext>
            </a:extLst>
          </p:cNvPr>
          <p:cNvSpPr txBox="1"/>
          <p:nvPr/>
        </p:nvSpPr>
        <p:spPr>
          <a:xfrm>
            <a:off x="7229809" y="4060185"/>
            <a:ext cx="208198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Assembly Statement</a:t>
            </a:r>
          </a:p>
        </p:txBody>
      </p:sp>
      <p:sp>
        <p:nvSpPr>
          <p:cNvPr id="26" name="Content Placeholder 3">
            <a:extLst>
              <a:ext uri="{FF2B5EF4-FFF2-40B4-BE49-F238E27FC236}">
                <a16:creationId xmlns:a16="http://schemas.microsoft.com/office/drawing/2014/main" id="{88A572CD-4ED3-4241-AFBC-A3E6A7AA7A24}"/>
              </a:ext>
            </a:extLst>
          </p:cNvPr>
          <p:cNvSpPr txBox="1">
            <a:spLocks/>
          </p:cNvSpPr>
          <p:nvPr/>
        </p:nvSpPr>
        <p:spPr>
          <a:xfrm>
            <a:off x="3403459" y="3546566"/>
            <a:ext cx="3017129" cy="133023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>
            <a:normAutofit fontScale="85000" lnSpcReduction="20000"/>
          </a:bodyPr>
          <a:lstStyle>
            <a:lvl1pPr marL="274320" indent="-274320" algn="l" rtl="0" eaLnBrk="1" latinLnBrk="0" hangingPunct="1">
              <a:spcBef>
                <a:spcPts val="600"/>
              </a:spcBef>
              <a:buClr>
                <a:schemeClr val="accent1"/>
              </a:buClr>
              <a:buSzPct val="76000"/>
              <a:buFont typeface="Wingdings 3"/>
              <a:buChar char=""/>
              <a:defRPr kumimoji="0" sz="2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8640" indent="-274320" algn="l" rtl="0" eaLnBrk="1" latinLnBrk="0" hangingPunct="1">
              <a:spcBef>
                <a:spcPts val="500"/>
              </a:spcBef>
              <a:buClr>
                <a:schemeClr val="accent2"/>
              </a:buClr>
              <a:buSzPct val="76000"/>
              <a:buFont typeface="Wingdings 3"/>
              <a:buChar char=""/>
              <a:defRPr kumimoji="0" sz="23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822960" indent="-228600" algn="l" rtl="0" eaLnBrk="1" latinLnBrk="0" hangingPunct="1">
              <a:spcBef>
                <a:spcPts val="500"/>
              </a:spcBef>
              <a:buClr>
                <a:schemeClr val="bg1">
                  <a:shade val="50000"/>
                </a:schemeClr>
              </a:buClr>
              <a:buSzPct val="76000"/>
              <a:buFont typeface="Wingdings 3"/>
              <a:buChar char=""/>
              <a:defRPr kumimoji="0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7280" indent="-228600" algn="l" rtl="0" eaLnBrk="1" latinLnBrk="0" hangingPunct="1">
              <a:spcBef>
                <a:spcPts val="400"/>
              </a:spcBef>
              <a:buClr>
                <a:schemeClr val="accent2">
                  <a:shade val="75000"/>
                </a:schemeClr>
              </a:buClr>
              <a:buSzPct val="70000"/>
              <a:buFont typeface="Wingdings"/>
              <a:buChar char=""/>
              <a:defRPr kumimoji="0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indent="-228600" algn="l" rtl="0" eaLnBrk="1" latinLnBrk="0" hangingPunct="1">
              <a:spcBef>
                <a:spcPts val="300"/>
              </a:spcBef>
              <a:buClr>
                <a:schemeClr val="accent2"/>
              </a:buClr>
              <a:buSzPct val="70000"/>
              <a:buFont typeface="Wingdings"/>
              <a:buChar char=""/>
              <a:defRPr kumimoji="0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645920" indent="-182880" algn="l" rtl="0" eaLnBrk="1" latinLnBrk="0" hangingPunct="1">
              <a:spcBef>
                <a:spcPts val="300"/>
              </a:spcBef>
              <a:buClr>
                <a:srgbClr val="9FB8CD">
                  <a:shade val="75000"/>
                </a:srgbClr>
              </a:buClr>
              <a:buSzPct val="75000"/>
              <a:buFont typeface="Wingdings 3"/>
              <a:buChar char=""/>
              <a:defRPr kumimoji="0"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800" indent="-182880" algn="l" rtl="0" eaLnBrk="1" latinLnBrk="0" hangingPunct="1">
              <a:spcBef>
                <a:spcPts val="300"/>
              </a:spcBef>
              <a:buClr>
                <a:srgbClr val="727CA3">
                  <a:shade val="75000"/>
                </a:srgbClr>
              </a:buClr>
              <a:buSzPct val="75000"/>
              <a:buFont typeface="Wingdings 3"/>
              <a:buChar char=""/>
              <a:defRPr kumimoji="0" lang="en-US" sz="14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011680" indent="-182880" algn="l" rtl="0" eaLnBrk="1" latinLnBrk="0" hangingPunct="1">
              <a:spcBef>
                <a:spcPts val="300"/>
              </a:spcBef>
              <a:buClr>
                <a:prstClr val="white">
                  <a:shade val="50000"/>
                </a:prstClr>
              </a:buClr>
              <a:buSzPct val="75000"/>
              <a:buFont typeface="Wingdings 3"/>
              <a:buChar char=""/>
              <a:defRPr kumimoji="0" lang="en-US" sz="14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194560" indent="-182880" algn="l" rtl="0" eaLnBrk="1" latinLnBrk="0" hangingPunct="1">
              <a:spcBef>
                <a:spcPts val="300"/>
              </a:spcBef>
              <a:buClr>
                <a:srgbClr val="9FB8CD"/>
              </a:buClr>
              <a:buSzPct val="75000"/>
              <a:buFont typeface="Wingdings 3"/>
              <a:buChar char=""/>
              <a:defRPr kumimoji="0" lang="en-US" sz="12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/>
              <a:t>If values are in registers</a:t>
            </a:r>
          </a:p>
          <a:p>
            <a:pPr lvl="1"/>
            <a:r>
              <a:rPr lang="en-US" dirty="0"/>
              <a:t>Value of </a:t>
            </a:r>
            <a:r>
              <a:rPr lang="en-US" dirty="0">
                <a:solidFill>
                  <a:srgbClr val="0432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x</a:t>
            </a:r>
            <a:r>
              <a:rPr lang="en-US" dirty="0"/>
              <a:t> in </a:t>
            </a:r>
            <a:r>
              <a:rPr lang="en-US" dirty="0">
                <a:solidFill>
                  <a:srgbClr val="0432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r0</a:t>
            </a:r>
          </a:p>
          <a:p>
            <a:pPr lvl="1"/>
            <a:r>
              <a:rPr lang="en-US" dirty="0"/>
              <a:t>Value of </a:t>
            </a:r>
            <a:r>
              <a:rPr lang="en-US" dirty="0">
                <a:solidFill>
                  <a:srgbClr val="0432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y</a:t>
            </a:r>
            <a:r>
              <a:rPr lang="en-US" dirty="0"/>
              <a:t> in </a:t>
            </a:r>
            <a:r>
              <a:rPr lang="en-US" dirty="0">
                <a:solidFill>
                  <a:srgbClr val="0432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r1</a:t>
            </a:r>
          </a:p>
          <a:p>
            <a:pPr lvl="1"/>
            <a:r>
              <a:rPr lang="en-US" dirty="0"/>
              <a:t>Value of </a:t>
            </a:r>
            <a:r>
              <a:rPr lang="en-US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z</a:t>
            </a:r>
            <a:r>
              <a:rPr lang="en-US" dirty="0"/>
              <a:t> in </a:t>
            </a:r>
            <a:r>
              <a:rPr lang="en-US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r2</a:t>
            </a:r>
          </a:p>
        </p:txBody>
      </p:sp>
    </p:spTree>
    <p:extLst>
      <p:ext uri="{BB962C8B-B14F-4D97-AF65-F5344CB8AC3E}">
        <p14:creationId xmlns:p14="http://schemas.microsoft.com/office/powerpoint/2010/main" val="20293088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mph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6" dur="10" fill="hold"/>
                                        <p:tgtEl>
                                          <p:spTgt spid="4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2600"/>
                                      </p:to>
                                    </p:animClr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10"/>
                            </p:stCondLst>
                            <p:childTnLst>
                              <p:par>
                                <p:cTn id="8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0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510"/>
                            </p:stCondLst>
                            <p:childTnLst>
                              <p:par>
                                <p:cTn id="12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4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1010"/>
                            </p:stCondLst>
                            <p:childTnLst>
                              <p:par>
                                <p:cTn id="16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3" presetClass="emph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21" dur="10" fill="hold"/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0432FF"/>
                                      </p:to>
                                    </p:animClr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0"/>
                            </p:stCondLst>
                            <p:childTnLst>
                              <p:par>
                                <p:cTn id="23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5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510"/>
                            </p:stCondLst>
                            <p:childTnLst>
                              <p:par>
                                <p:cTn id="27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1010"/>
                            </p:stCondLst>
                            <p:childTnLst>
                              <p:par>
                                <p:cTn id="31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1010"/>
                            </p:stCondLst>
                            <p:childTnLst>
                              <p:par>
                                <p:cTn id="34" presetID="3" presetClass="emph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35" dur="10" fill="hold"/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0432FF"/>
                                      </p:to>
                                    </p:animClr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1020"/>
                            </p:stCondLst>
                            <p:childTnLst>
                              <p:par>
                                <p:cTn id="37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9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1520"/>
                            </p:stCondLst>
                            <p:childTnLst>
                              <p:par>
                                <p:cTn id="41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3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2020"/>
                            </p:stCondLst>
                            <p:childTnLst>
                              <p:par>
                                <p:cTn id="45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5" grpId="0"/>
      <p:bldP spid="46" grpId="0"/>
      <p:bldP spid="47" grpId="0"/>
      <p:bldP spid="49" grpId="0"/>
      <p:bldP spid="50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0278C4-3EAF-C64C-84F3-A58280AE41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Adding Two Integers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E4312E3-2F7B-2C43-90A0-5CEA91E07B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4</a:t>
            </a:fld>
            <a:endParaRPr kumimoji="0" lang="en-US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BE27E09-A6EA-0344-9F3F-4EE0E475974F}"/>
              </a:ext>
            </a:extLst>
          </p:cNvPr>
          <p:cNvSpPr/>
          <p:nvPr/>
        </p:nvSpPr>
        <p:spPr>
          <a:xfrm>
            <a:off x="915572" y="4620047"/>
            <a:ext cx="2232574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z = x + y;</a:t>
            </a:r>
            <a:endParaRPr lang="en-US" sz="2400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E991AE1-74A7-9341-B1DF-52B509E96479}"/>
              </a:ext>
            </a:extLst>
          </p:cNvPr>
          <p:cNvSpPr/>
          <p:nvPr/>
        </p:nvSpPr>
        <p:spPr>
          <a:xfrm>
            <a:off x="660259" y="4495800"/>
            <a:ext cx="2730137" cy="7620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9ED7DC0-B2A1-334F-B723-CD4699563F56}"/>
              </a:ext>
            </a:extLst>
          </p:cNvPr>
          <p:cNvSpPr/>
          <p:nvPr/>
        </p:nvSpPr>
        <p:spPr>
          <a:xfrm>
            <a:off x="1023886" y="1796962"/>
            <a:ext cx="2563522" cy="120032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400" dirty="0" err="1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uint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x = 1;  </a:t>
            </a:r>
          </a:p>
          <a:p>
            <a:r>
              <a:rPr lang="en-US" sz="2400" dirty="0" err="1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uint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y = 2;</a:t>
            </a:r>
          </a:p>
          <a:p>
            <a:r>
              <a:rPr lang="en-US" sz="2400" dirty="0" err="1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uint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z;</a:t>
            </a:r>
            <a:endParaRPr lang="en-US" sz="2400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77A10298-527B-E641-BC63-81C7BE2D72EB}"/>
              </a:ext>
            </a:extLst>
          </p:cNvPr>
          <p:cNvSpPr/>
          <p:nvPr/>
        </p:nvSpPr>
        <p:spPr>
          <a:xfrm>
            <a:off x="715264" y="1676400"/>
            <a:ext cx="2743200" cy="14478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Content Placeholder 3">
            <a:extLst>
              <a:ext uri="{FF2B5EF4-FFF2-40B4-BE49-F238E27FC236}">
                <a16:creationId xmlns:a16="http://schemas.microsoft.com/office/drawing/2014/main" id="{7CF71279-7834-EB48-80F1-138FCBFBAC13}"/>
              </a:ext>
            </a:extLst>
          </p:cNvPr>
          <p:cNvSpPr txBox="1">
            <a:spLocks/>
          </p:cNvSpPr>
          <p:nvPr/>
        </p:nvSpPr>
        <p:spPr>
          <a:xfrm>
            <a:off x="3403459" y="3546566"/>
            <a:ext cx="3017127" cy="133023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>
            <a:normAutofit fontScale="85000" lnSpcReduction="20000"/>
          </a:bodyPr>
          <a:lstStyle>
            <a:lvl1pPr marL="274320" indent="-274320" algn="l" rtl="0" eaLnBrk="1" latinLnBrk="0" hangingPunct="1">
              <a:spcBef>
                <a:spcPts val="600"/>
              </a:spcBef>
              <a:buClr>
                <a:schemeClr val="accent1"/>
              </a:buClr>
              <a:buSzPct val="76000"/>
              <a:buFont typeface="Wingdings 3"/>
              <a:buChar char=""/>
              <a:defRPr kumimoji="0" sz="2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8640" indent="-274320" algn="l" rtl="0" eaLnBrk="1" latinLnBrk="0" hangingPunct="1">
              <a:spcBef>
                <a:spcPts val="500"/>
              </a:spcBef>
              <a:buClr>
                <a:schemeClr val="accent2"/>
              </a:buClr>
              <a:buSzPct val="76000"/>
              <a:buFont typeface="Wingdings 3"/>
              <a:buChar char=""/>
              <a:defRPr kumimoji="0" sz="23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822960" indent="-228600" algn="l" rtl="0" eaLnBrk="1" latinLnBrk="0" hangingPunct="1">
              <a:spcBef>
                <a:spcPts val="500"/>
              </a:spcBef>
              <a:buClr>
                <a:schemeClr val="bg1">
                  <a:shade val="50000"/>
                </a:schemeClr>
              </a:buClr>
              <a:buSzPct val="76000"/>
              <a:buFont typeface="Wingdings 3"/>
              <a:buChar char=""/>
              <a:defRPr kumimoji="0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7280" indent="-228600" algn="l" rtl="0" eaLnBrk="1" latinLnBrk="0" hangingPunct="1">
              <a:spcBef>
                <a:spcPts val="400"/>
              </a:spcBef>
              <a:buClr>
                <a:schemeClr val="accent2">
                  <a:shade val="75000"/>
                </a:schemeClr>
              </a:buClr>
              <a:buSzPct val="70000"/>
              <a:buFont typeface="Wingdings"/>
              <a:buChar char=""/>
              <a:defRPr kumimoji="0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indent="-228600" algn="l" rtl="0" eaLnBrk="1" latinLnBrk="0" hangingPunct="1">
              <a:spcBef>
                <a:spcPts val="300"/>
              </a:spcBef>
              <a:buClr>
                <a:schemeClr val="accent2"/>
              </a:buClr>
              <a:buSzPct val="70000"/>
              <a:buFont typeface="Wingdings"/>
              <a:buChar char=""/>
              <a:defRPr kumimoji="0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645920" indent="-182880" algn="l" rtl="0" eaLnBrk="1" latinLnBrk="0" hangingPunct="1">
              <a:spcBef>
                <a:spcPts val="300"/>
              </a:spcBef>
              <a:buClr>
                <a:srgbClr val="9FB8CD">
                  <a:shade val="75000"/>
                </a:srgbClr>
              </a:buClr>
              <a:buSzPct val="75000"/>
              <a:buFont typeface="Wingdings 3"/>
              <a:buChar char=""/>
              <a:defRPr kumimoji="0"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800" indent="-182880" algn="l" rtl="0" eaLnBrk="1" latinLnBrk="0" hangingPunct="1">
              <a:spcBef>
                <a:spcPts val="300"/>
              </a:spcBef>
              <a:buClr>
                <a:srgbClr val="727CA3">
                  <a:shade val="75000"/>
                </a:srgbClr>
              </a:buClr>
              <a:buSzPct val="75000"/>
              <a:buFont typeface="Wingdings 3"/>
              <a:buChar char=""/>
              <a:defRPr kumimoji="0" lang="en-US" sz="14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011680" indent="-182880" algn="l" rtl="0" eaLnBrk="1" latinLnBrk="0" hangingPunct="1">
              <a:spcBef>
                <a:spcPts val="300"/>
              </a:spcBef>
              <a:buClr>
                <a:prstClr val="white">
                  <a:shade val="50000"/>
                </a:prstClr>
              </a:buClr>
              <a:buSzPct val="75000"/>
              <a:buFont typeface="Wingdings 3"/>
              <a:buChar char=""/>
              <a:defRPr kumimoji="0" lang="en-US" sz="14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194560" indent="-182880" algn="l" rtl="0" eaLnBrk="1" latinLnBrk="0" hangingPunct="1">
              <a:spcBef>
                <a:spcPts val="300"/>
              </a:spcBef>
              <a:buClr>
                <a:srgbClr val="9FB8CD"/>
              </a:buClr>
              <a:buSzPct val="75000"/>
              <a:buFont typeface="Wingdings 3"/>
              <a:buChar char=""/>
              <a:defRPr kumimoji="0" lang="en-US" sz="12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/>
              <a:t>If values are in registers</a:t>
            </a:r>
          </a:p>
          <a:p>
            <a:pPr lvl="1"/>
            <a:r>
              <a:rPr lang="en-US" dirty="0"/>
              <a:t>Value of </a:t>
            </a:r>
            <a:r>
              <a:rPr lang="en-US" dirty="0">
                <a:solidFill>
                  <a:srgbClr val="0432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x</a:t>
            </a:r>
            <a:r>
              <a:rPr lang="en-US" dirty="0"/>
              <a:t> in </a:t>
            </a:r>
            <a:r>
              <a:rPr lang="en-US" dirty="0">
                <a:solidFill>
                  <a:srgbClr val="0432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r0</a:t>
            </a:r>
          </a:p>
          <a:p>
            <a:pPr lvl="1"/>
            <a:r>
              <a:rPr lang="en-US" dirty="0"/>
              <a:t>Value of </a:t>
            </a:r>
            <a:r>
              <a:rPr lang="en-US" dirty="0">
                <a:solidFill>
                  <a:srgbClr val="0432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y</a:t>
            </a:r>
            <a:r>
              <a:rPr lang="en-US" dirty="0"/>
              <a:t> in </a:t>
            </a:r>
            <a:r>
              <a:rPr lang="en-US" dirty="0">
                <a:solidFill>
                  <a:srgbClr val="0432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r1</a:t>
            </a:r>
          </a:p>
          <a:p>
            <a:pPr lvl="1"/>
            <a:r>
              <a:rPr lang="en-US" dirty="0"/>
              <a:t>Value of </a:t>
            </a:r>
            <a:r>
              <a:rPr lang="en-US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z</a:t>
            </a:r>
            <a:r>
              <a:rPr lang="en-US" dirty="0"/>
              <a:t> in </a:t>
            </a:r>
            <a:r>
              <a:rPr lang="en-US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r2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FC5FD643-FD48-0C42-8E79-F52526E5C6CD}"/>
              </a:ext>
            </a:extLst>
          </p:cNvPr>
          <p:cNvSpPr/>
          <p:nvPr/>
        </p:nvSpPr>
        <p:spPr>
          <a:xfrm>
            <a:off x="6420588" y="4495800"/>
            <a:ext cx="3505200" cy="7620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5593947A-9232-4248-89B8-46DCB0885F3B}"/>
              </a:ext>
            </a:extLst>
          </p:cNvPr>
          <p:cNvCxnSpPr>
            <a:cxnSpLocks/>
            <a:stCxn id="12" idx="3"/>
            <a:endCxn id="21" idx="1"/>
          </p:cNvCxnSpPr>
          <p:nvPr/>
        </p:nvCxnSpPr>
        <p:spPr>
          <a:xfrm>
            <a:off x="3390396" y="4876800"/>
            <a:ext cx="3030192" cy="0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8" name="Graphic 7" descr="Question Mark with solid fill">
            <a:extLst>
              <a:ext uri="{FF2B5EF4-FFF2-40B4-BE49-F238E27FC236}">
                <a16:creationId xmlns:a16="http://schemas.microsoft.com/office/drawing/2014/main" id="{071EC724-72E6-814C-9C63-7FF857DE09D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887011" y="4590623"/>
            <a:ext cx="572353" cy="572353"/>
          </a:xfrm>
          <a:prstGeom prst="rect">
            <a:avLst/>
          </a:prstGeom>
        </p:spPr>
      </p:pic>
      <p:sp>
        <p:nvSpPr>
          <p:cNvPr id="29" name="TextBox 28">
            <a:extLst>
              <a:ext uri="{FF2B5EF4-FFF2-40B4-BE49-F238E27FC236}">
                <a16:creationId xmlns:a16="http://schemas.microsoft.com/office/drawing/2014/main" id="{F5A4F3DF-DD76-A049-B2F3-F44E9B8BA0EF}"/>
              </a:ext>
            </a:extLst>
          </p:cNvPr>
          <p:cNvSpPr txBox="1"/>
          <p:nvPr/>
        </p:nvSpPr>
        <p:spPr>
          <a:xfrm>
            <a:off x="1344692" y="4060915"/>
            <a:ext cx="13612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 Statement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FA60DBBA-EC80-C644-A176-62165ED8FBB6}"/>
              </a:ext>
            </a:extLst>
          </p:cNvPr>
          <p:cNvSpPr txBox="1"/>
          <p:nvPr/>
        </p:nvSpPr>
        <p:spPr>
          <a:xfrm>
            <a:off x="7229809" y="4060185"/>
            <a:ext cx="208198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Assembly Statement</a:t>
            </a:r>
          </a:p>
        </p:txBody>
      </p:sp>
    </p:spTree>
    <p:extLst>
      <p:ext uri="{BB962C8B-B14F-4D97-AF65-F5344CB8AC3E}">
        <p14:creationId xmlns:p14="http://schemas.microsoft.com/office/powerpoint/2010/main" val="210108466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0278C4-3EAF-C64C-84F3-A58280AE41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Adding Two Integers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E4312E3-2F7B-2C43-90A0-5CEA91E07B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5</a:t>
            </a:fld>
            <a:endParaRPr kumimoji="0" lang="en-US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BE27E09-A6EA-0344-9F3F-4EE0E475974F}"/>
              </a:ext>
            </a:extLst>
          </p:cNvPr>
          <p:cNvSpPr/>
          <p:nvPr/>
        </p:nvSpPr>
        <p:spPr>
          <a:xfrm>
            <a:off x="915572" y="4620047"/>
            <a:ext cx="2232574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z = x + y;</a:t>
            </a:r>
            <a:endParaRPr lang="en-US" sz="2400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E991AE1-74A7-9341-B1DF-52B509E96479}"/>
              </a:ext>
            </a:extLst>
          </p:cNvPr>
          <p:cNvSpPr/>
          <p:nvPr/>
        </p:nvSpPr>
        <p:spPr>
          <a:xfrm>
            <a:off x="660259" y="4495800"/>
            <a:ext cx="2730137" cy="7620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9ED7DC0-B2A1-334F-B723-CD4699563F56}"/>
              </a:ext>
            </a:extLst>
          </p:cNvPr>
          <p:cNvSpPr/>
          <p:nvPr/>
        </p:nvSpPr>
        <p:spPr>
          <a:xfrm>
            <a:off x="1023886" y="1796962"/>
            <a:ext cx="2563522" cy="120032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400" dirty="0" err="1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uint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x = 1;  </a:t>
            </a:r>
          </a:p>
          <a:p>
            <a:r>
              <a:rPr lang="en-US" sz="2400" dirty="0" err="1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uint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y = 2;</a:t>
            </a:r>
          </a:p>
          <a:p>
            <a:r>
              <a:rPr lang="en-US" sz="2400" dirty="0" err="1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uint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z;</a:t>
            </a:r>
            <a:endParaRPr lang="en-US" sz="2400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77A10298-527B-E641-BC63-81C7BE2D72EB}"/>
              </a:ext>
            </a:extLst>
          </p:cNvPr>
          <p:cNvSpPr/>
          <p:nvPr/>
        </p:nvSpPr>
        <p:spPr>
          <a:xfrm>
            <a:off x="715264" y="1676400"/>
            <a:ext cx="2743200" cy="14478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090BEE9D-2F1F-CA4D-8D2A-219E1CCF77D2}"/>
              </a:ext>
            </a:extLst>
          </p:cNvPr>
          <p:cNvSpPr/>
          <p:nvPr/>
        </p:nvSpPr>
        <p:spPr>
          <a:xfrm>
            <a:off x="6176609" y="4631772"/>
            <a:ext cx="3505200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24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ADD   ,   ,   </a:t>
            </a:r>
            <a:endParaRPr lang="en-US" sz="2400" b="1" dirty="0">
              <a:solidFill>
                <a:srgbClr val="C00000"/>
              </a:solidFill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FC5FD643-FD48-0C42-8E79-F52526E5C6CD}"/>
              </a:ext>
            </a:extLst>
          </p:cNvPr>
          <p:cNvSpPr/>
          <p:nvPr/>
        </p:nvSpPr>
        <p:spPr>
          <a:xfrm>
            <a:off x="6420588" y="4495800"/>
            <a:ext cx="3505200" cy="7620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5593947A-9232-4248-89B8-46DCB0885F3B}"/>
              </a:ext>
            </a:extLst>
          </p:cNvPr>
          <p:cNvCxnSpPr>
            <a:cxnSpLocks/>
            <a:stCxn id="12" idx="3"/>
            <a:endCxn id="21" idx="1"/>
          </p:cNvCxnSpPr>
          <p:nvPr/>
        </p:nvCxnSpPr>
        <p:spPr>
          <a:xfrm>
            <a:off x="3390396" y="4876800"/>
            <a:ext cx="3030192" cy="0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Rectangle 47">
            <a:extLst>
              <a:ext uri="{FF2B5EF4-FFF2-40B4-BE49-F238E27FC236}">
                <a16:creationId xmlns:a16="http://schemas.microsoft.com/office/drawing/2014/main" id="{F91715D0-00F6-8A47-8E51-2A80B626040A}"/>
              </a:ext>
            </a:extLst>
          </p:cNvPr>
          <p:cNvSpPr/>
          <p:nvPr/>
        </p:nvSpPr>
        <p:spPr>
          <a:xfrm>
            <a:off x="7595098" y="4631772"/>
            <a:ext cx="524503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sz="24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r2</a:t>
            </a:r>
            <a:endParaRPr lang="en-US" sz="2400" b="1" dirty="0">
              <a:solidFill>
                <a:srgbClr val="C00000"/>
              </a:solidFill>
            </a:endParaRPr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67589AFC-EF17-A243-9734-710DC39770C4}"/>
              </a:ext>
            </a:extLst>
          </p:cNvPr>
          <p:cNvSpPr/>
          <p:nvPr/>
        </p:nvSpPr>
        <p:spPr>
          <a:xfrm>
            <a:off x="8270799" y="4622495"/>
            <a:ext cx="524503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sz="24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r1</a:t>
            </a:r>
            <a:endParaRPr lang="en-US" sz="2400" b="1" dirty="0">
              <a:solidFill>
                <a:srgbClr val="C00000"/>
              </a:solidFill>
            </a:endParaRPr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E64F8AEB-B979-0041-91F3-1415210A8079}"/>
              </a:ext>
            </a:extLst>
          </p:cNvPr>
          <p:cNvSpPr/>
          <p:nvPr/>
        </p:nvSpPr>
        <p:spPr>
          <a:xfrm>
            <a:off x="8907538" y="4620046"/>
            <a:ext cx="524503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sz="24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r0</a:t>
            </a:r>
            <a:endParaRPr lang="en-US" sz="2400" b="1" dirty="0">
              <a:solidFill>
                <a:srgbClr val="C00000"/>
              </a:solidFill>
            </a:endParaRPr>
          </a:p>
        </p:txBody>
      </p:sp>
      <p:sp>
        <p:nvSpPr>
          <p:cNvPr id="15" name="Content Placeholder 3">
            <a:extLst>
              <a:ext uri="{FF2B5EF4-FFF2-40B4-BE49-F238E27FC236}">
                <a16:creationId xmlns:a16="http://schemas.microsoft.com/office/drawing/2014/main" id="{7586F1E6-25F6-E04C-8DDA-1F611AF4A007}"/>
              </a:ext>
            </a:extLst>
          </p:cNvPr>
          <p:cNvSpPr txBox="1">
            <a:spLocks/>
          </p:cNvSpPr>
          <p:nvPr/>
        </p:nvSpPr>
        <p:spPr>
          <a:xfrm>
            <a:off x="3403459" y="3546566"/>
            <a:ext cx="3017129" cy="133023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>
            <a:normAutofit fontScale="85000" lnSpcReduction="20000"/>
          </a:bodyPr>
          <a:lstStyle>
            <a:lvl1pPr marL="274320" indent="-274320" algn="l" rtl="0" eaLnBrk="1" latinLnBrk="0" hangingPunct="1">
              <a:spcBef>
                <a:spcPts val="600"/>
              </a:spcBef>
              <a:buClr>
                <a:schemeClr val="accent1"/>
              </a:buClr>
              <a:buSzPct val="76000"/>
              <a:buFont typeface="Wingdings 3"/>
              <a:buChar char=""/>
              <a:defRPr kumimoji="0" sz="2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8640" indent="-274320" algn="l" rtl="0" eaLnBrk="1" latinLnBrk="0" hangingPunct="1">
              <a:spcBef>
                <a:spcPts val="500"/>
              </a:spcBef>
              <a:buClr>
                <a:schemeClr val="accent2"/>
              </a:buClr>
              <a:buSzPct val="76000"/>
              <a:buFont typeface="Wingdings 3"/>
              <a:buChar char=""/>
              <a:defRPr kumimoji="0" sz="23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822960" indent="-228600" algn="l" rtl="0" eaLnBrk="1" latinLnBrk="0" hangingPunct="1">
              <a:spcBef>
                <a:spcPts val="500"/>
              </a:spcBef>
              <a:buClr>
                <a:schemeClr val="bg1">
                  <a:shade val="50000"/>
                </a:schemeClr>
              </a:buClr>
              <a:buSzPct val="76000"/>
              <a:buFont typeface="Wingdings 3"/>
              <a:buChar char=""/>
              <a:defRPr kumimoji="0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7280" indent="-228600" algn="l" rtl="0" eaLnBrk="1" latinLnBrk="0" hangingPunct="1">
              <a:spcBef>
                <a:spcPts val="400"/>
              </a:spcBef>
              <a:buClr>
                <a:schemeClr val="accent2">
                  <a:shade val="75000"/>
                </a:schemeClr>
              </a:buClr>
              <a:buSzPct val="70000"/>
              <a:buFont typeface="Wingdings"/>
              <a:buChar char=""/>
              <a:defRPr kumimoji="0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indent="-228600" algn="l" rtl="0" eaLnBrk="1" latinLnBrk="0" hangingPunct="1">
              <a:spcBef>
                <a:spcPts val="300"/>
              </a:spcBef>
              <a:buClr>
                <a:schemeClr val="accent2"/>
              </a:buClr>
              <a:buSzPct val="70000"/>
              <a:buFont typeface="Wingdings"/>
              <a:buChar char=""/>
              <a:defRPr kumimoji="0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645920" indent="-182880" algn="l" rtl="0" eaLnBrk="1" latinLnBrk="0" hangingPunct="1">
              <a:spcBef>
                <a:spcPts val="300"/>
              </a:spcBef>
              <a:buClr>
                <a:srgbClr val="9FB8CD">
                  <a:shade val="75000"/>
                </a:srgbClr>
              </a:buClr>
              <a:buSzPct val="75000"/>
              <a:buFont typeface="Wingdings 3"/>
              <a:buChar char=""/>
              <a:defRPr kumimoji="0"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800" indent="-182880" algn="l" rtl="0" eaLnBrk="1" latinLnBrk="0" hangingPunct="1">
              <a:spcBef>
                <a:spcPts val="300"/>
              </a:spcBef>
              <a:buClr>
                <a:srgbClr val="727CA3">
                  <a:shade val="75000"/>
                </a:srgbClr>
              </a:buClr>
              <a:buSzPct val="75000"/>
              <a:buFont typeface="Wingdings 3"/>
              <a:buChar char=""/>
              <a:defRPr kumimoji="0" lang="en-US" sz="14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011680" indent="-182880" algn="l" rtl="0" eaLnBrk="1" latinLnBrk="0" hangingPunct="1">
              <a:spcBef>
                <a:spcPts val="300"/>
              </a:spcBef>
              <a:buClr>
                <a:prstClr val="white">
                  <a:shade val="50000"/>
                </a:prstClr>
              </a:buClr>
              <a:buSzPct val="75000"/>
              <a:buFont typeface="Wingdings 3"/>
              <a:buChar char=""/>
              <a:defRPr kumimoji="0" lang="en-US" sz="14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194560" indent="-182880" algn="l" rtl="0" eaLnBrk="1" latinLnBrk="0" hangingPunct="1">
              <a:spcBef>
                <a:spcPts val="300"/>
              </a:spcBef>
              <a:buClr>
                <a:srgbClr val="9FB8CD"/>
              </a:buClr>
              <a:buSzPct val="75000"/>
              <a:buFont typeface="Wingdings 3"/>
              <a:buChar char=""/>
              <a:defRPr kumimoji="0" lang="en-US" sz="12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/>
              <a:t>If values are in registers</a:t>
            </a:r>
          </a:p>
          <a:p>
            <a:pPr lvl="1"/>
            <a:r>
              <a:rPr lang="en-US" dirty="0"/>
              <a:t>Value of </a:t>
            </a:r>
            <a:r>
              <a:rPr lang="en-US" dirty="0">
                <a:solidFill>
                  <a:srgbClr val="0432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x</a:t>
            </a:r>
            <a:r>
              <a:rPr lang="en-US" dirty="0"/>
              <a:t> in </a:t>
            </a:r>
            <a:r>
              <a:rPr lang="en-US" dirty="0">
                <a:solidFill>
                  <a:srgbClr val="0432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r0</a:t>
            </a:r>
          </a:p>
          <a:p>
            <a:pPr lvl="1"/>
            <a:r>
              <a:rPr lang="en-US" dirty="0"/>
              <a:t>Value of </a:t>
            </a:r>
            <a:r>
              <a:rPr lang="en-US" dirty="0">
                <a:solidFill>
                  <a:srgbClr val="0432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y</a:t>
            </a:r>
            <a:r>
              <a:rPr lang="en-US" dirty="0"/>
              <a:t> in </a:t>
            </a:r>
            <a:r>
              <a:rPr lang="en-US" dirty="0">
                <a:solidFill>
                  <a:srgbClr val="0432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r1</a:t>
            </a:r>
          </a:p>
          <a:p>
            <a:pPr lvl="1"/>
            <a:r>
              <a:rPr lang="en-US" dirty="0"/>
              <a:t>Value of </a:t>
            </a:r>
            <a:r>
              <a:rPr lang="en-US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z</a:t>
            </a:r>
            <a:r>
              <a:rPr lang="en-US" dirty="0"/>
              <a:t> in </a:t>
            </a:r>
            <a:r>
              <a:rPr lang="en-US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r2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0D8AB9D-BC4E-DC4B-80CE-C8256CA54BF1}"/>
              </a:ext>
            </a:extLst>
          </p:cNvPr>
          <p:cNvSpPr txBox="1"/>
          <p:nvPr/>
        </p:nvSpPr>
        <p:spPr>
          <a:xfrm>
            <a:off x="1344692" y="4060915"/>
            <a:ext cx="13612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 Statement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63C6E7C-52B6-E544-AF67-E975A7243524}"/>
              </a:ext>
            </a:extLst>
          </p:cNvPr>
          <p:cNvSpPr txBox="1"/>
          <p:nvPr/>
        </p:nvSpPr>
        <p:spPr>
          <a:xfrm>
            <a:off x="7229809" y="4060185"/>
            <a:ext cx="208198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Assembly Statement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32659EC-4086-7D4C-82CB-9B19841DCF49}"/>
              </a:ext>
            </a:extLst>
          </p:cNvPr>
          <p:cNvSpPr txBox="1"/>
          <p:nvPr/>
        </p:nvSpPr>
        <p:spPr>
          <a:xfrm>
            <a:off x="7822599" y="5442879"/>
            <a:ext cx="35052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0432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ADD</a:t>
            </a:r>
            <a:r>
              <a:rPr lang="en-US" dirty="0">
                <a:solidFill>
                  <a:srgbClr val="0432FF"/>
                </a:solidFill>
              </a:rPr>
              <a:t> works for both signed and unsigned add operations.</a:t>
            </a:r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FB4040BC-124A-B242-8064-9E6EB050A4FB}"/>
              </a:ext>
            </a:extLst>
          </p:cNvPr>
          <p:cNvCxnSpPr>
            <a:stCxn id="4" idx="1"/>
          </p:cNvCxnSpPr>
          <p:nvPr/>
        </p:nvCxnSpPr>
        <p:spPr>
          <a:xfrm flipH="1" flipV="1">
            <a:off x="7365399" y="5065923"/>
            <a:ext cx="457200" cy="700122"/>
          </a:xfrm>
          <a:prstGeom prst="straightConnector1">
            <a:avLst/>
          </a:prstGeom>
          <a:ln w="28575">
            <a:solidFill>
              <a:srgbClr val="0432FF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963575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0278C4-3EAF-C64C-84F3-A58280AE41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Adding Two Integers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E4312E3-2F7B-2C43-90A0-5CEA91E07B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6</a:t>
            </a:fld>
            <a:endParaRPr kumimoji="0" lang="en-US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BE27E09-A6EA-0344-9F3F-4EE0E475974F}"/>
              </a:ext>
            </a:extLst>
          </p:cNvPr>
          <p:cNvSpPr/>
          <p:nvPr/>
        </p:nvSpPr>
        <p:spPr>
          <a:xfrm>
            <a:off x="915572" y="4620047"/>
            <a:ext cx="2232574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z = x + y;</a:t>
            </a:r>
            <a:endParaRPr lang="en-US" sz="2400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E991AE1-74A7-9341-B1DF-52B509E96479}"/>
              </a:ext>
            </a:extLst>
          </p:cNvPr>
          <p:cNvSpPr/>
          <p:nvPr/>
        </p:nvSpPr>
        <p:spPr>
          <a:xfrm>
            <a:off x="660259" y="4495800"/>
            <a:ext cx="2730137" cy="7620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9ED7DC0-B2A1-334F-B723-CD4699563F56}"/>
              </a:ext>
            </a:extLst>
          </p:cNvPr>
          <p:cNvSpPr/>
          <p:nvPr/>
        </p:nvSpPr>
        <p:spPr>
          <a:xfrm>
            <a:off x="1172464" y="1800136"/>
            <a:ext cx="2563522" cy="120032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int x = 1;  </a:t>
            </a: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int y = 2;</a:t>
            </a: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int z;</a:t>
            </a:r>
            <a:endParaRPr lang="en-US" sz="2400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77A10298-527B-E641-BC63-81C7BE2D72EB}"/>
              </a:ext>
            </a:extLst>
          </p:cNvPr>
          <p:cNvSpPr/>
          <p:nvPr/>
        </p:nvSpPr>
        <p:spPr>
          <a:xfrm>
            <a:off x="715264" y="1676400"/>
            <a:ext cx="2743200" cy="14478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Content Placeholder 3">
            <a:extLst>
              <a:ext uri="{FF2B5EF4-FFF2-40B4-BE49-F238E27FC236}">
                <a16:creationId xmlns:a16="http://schemas.microsoft.com/office/drawing/2014/main" id="{7CF71279-7834-EB48-80F1-138FCBFBAC13}"/>
              </a:ext>
            </a:extLst>
          </p:cNvPr>
          <p:cNvSpPr txBox="1">
            <a:spLocks/>
          </p:cNvSpPr>
          <p:nvPr/>
        </p:nvSpPr>
        <p:spPr>
          <a:xfrm>
            <a:off x="3276600" y="3520645"/>
            <a:ext cx="3276600" cy="133023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>
            <a:normAutofit fontScale="85000" lnSpcReduction="20000"/>
          </a:bodyPr>
          <a:lstStyle>
            <a:lvl1pPr marL="274320" indent="-274320" algn="l" rtl="0" eaLnBrk="1" latinLnBrk="0" hangingPunct="1">
              <a:spcBef>
                <a:spcPts val="600"/>
              </a:spcBef>
              <a:buClr>
                <a:schemeClr val="accent1"/>
              </a:buClr>
              <a:buSzPct val="76000"/>
              <a:buFont typeface="Wingdings 3"/>
              <a:buChar char=""/>
              <a:defRPr kumimoji="0" sz="2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8640" indent="-274320" algn="l" rtl="0" eaLnBrk="1" latinLnBrk="0" hangingPunct="1">
              <a:spcBef>
                <a:spcPts val="500"/>
              </a:spcBef>
              <a:buClr>
                <a:schemeClr val="accent2"/>
              </a:buClr>
              <a:buSzPct val="76000"/>
              <a:buFont typeface="Wingdings 3"/>
              <a:buChar char=""/>
              <a:defRPr kumimoji="0" sz="23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822960" indent="-228600" algn="l" rtl="0" eaLnBrk="1" latinLnBrk="0" hangingPunct="1">
              <a:spcBef>
                <a:spcPts val="500"/>
              </a:spcBef>
              <a:buClr>
                <a:schemeClr val="bg1">
                  <a:shade val="50000"/>
                </a:schemeClr>
              </a:buClr>
              <a:buSzPct val="76000"/>
              <a:buFont typeface="Wingdings 3"/>
              <a:buChar char=""/>
              <a:defRPr kumimoji="0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7280" indent="-228600" algn="l" rtl="0" eaLnBrk="1" latinLnBrk="0" hangingPunct="1">
              <a:spcBef>
                <a:spcPts val="400"/>
              </a:spcBef>
              <a:buClr>
                <a:schemeClr val="accent2">
                  <a:shade val="75000"/>
                </a:schemeClr>
              </a:buClr>
              <a:buSzPct val="70000"/>
              <a:buFont typeface="Wingdings"/>
              <a:buChar char=""/>
              <a:defRPr kumimoji="0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indent="-228600" algn="l" rtl="0" eaLnBrk="1" latinLnBrk="0" hangingPunct="1">
              <a:spcBef>
                <a:spcPts val="300"/>
              </a:spcBef>
              <a:buClr>
                <a:schemeClr val="accent2"/>
              </a:buClr>
              <a:buSzPct val="70000"/>
              <a:buFont typeface="Wingdings"/>
              <a:buChar char=""/>
              <a:defRPr kumimoji="0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645920" indent="-182880" algn="l" rtl="0" eaLnBrk="1" latinLnBrk="0" hangingPunct="1">
              <a:spcBef>
                <a:spcPts val="300"/>
              </a:spcBef>
              <a:buClr>
                <a:srgbClr val="9FB8CD">
                  <a:shade val="75000"/>
                </a:srgbClr>
              </a:buClr>
              <a:buSzPct val="75000"/>
              <a:buFont typeface="Wingdings 3"/>
              <a:buChar char=""/>
              <a:defRPr kumimoji="0"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800" indent="-182880" algn="l" rtl="0" eaLnBrk="1" latinLnBrk="0" hangingPunct="1">
              <a:spcBef>
                <a:spcPts val="300"/>
              </a:spcBef>
              <a:buClr>
                <a:srgbClr val="727CA3">
                  <a:shade val="75000"/>
                </a:srgbClr>
              </a:buClr>
              <a:buSzPct val="75000"/>
              <a:buFont typeface="Wingdings 3"/>
              <a:buChar char=""/>
              <a:defRPr kumimoji="0" lang="en-US" sz="14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011680" indent="-182880" algn="l" rtl="0" eaLnBrk="1" latinLnBrk="0" hangingPunct="1">
              <a:spcBef>
                <a:spcPts val="300"/>
              </a:spcBef>
              <a:buClr>
                <a:prstClr val="white">
                  <a:shade val="50000"/>
                </a:prstClr>
              </a:buClr>
              <a:buSzPct val="75000"/>
              <a:buFont typeface="Wingdings 3"/>
              <a:buChar char=""/>
              <a:defRPr kumimoji="0" lang="en-US" sz="14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194560" indent="-182880" algn="l" rtl="0" eaLnBrk="1" latinLnBrk="0" hangingPunct="1">
              <a:spcBef>
                <a:spcPts val="300"/>
              </a:spcBef>
              <a:buClr>
                <a:srgbClr val="9FB8CD"/>
              </a:buClr>
              <a:buSzPct val="75000"/>
              <a:buFont typeface="Wingdings 3"/>
              <a:buChar char=""/>
              <a:defRPr kumimoji="0" lang="en-US" sz="12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/>
              <a:t>If addresses are in registers</a:t>
            </a:r>
          </a:p>
          <a:p>
            <a:pPr lvl="1"/>
            <a:r>
              <a:rPr lang="en-US" dirty="0">
                <a:solidFill>
                  <a:srgbClr val="C00000"/>
                </a:solidFill>
              </a:rPr>
              <a:t>Address</a:t>
            </a:r>
            <a:r>
              <a:rPr lang="en-US" dirty="0"/>
              <a:t> of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x</a:t>
            </a:r>
            <a:r>
              <a:rPr lang="en-US" dirty="0"/>
              <a:t> in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r0</a:t>
            </a:r>
          </a:p>
          <a:p>
            <a:pPr lvl="1"/>
            <a:r>
              <a:rPr lang="en-US" dirty="0">
                <a:solidFill>
                  <a:srgbClr val="C00000"/>
                </a:solidFill>
              </a:rPr>
              <a:t>Address</a:t>
            </a:r>
            <a:r>
              <a:rPr lang="en-US" dirty="0"/>
              <a:t> of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y</a:t>
            </a:r>
            <a:r>
              <a:rPr lang="en-US" dirty="0"/>
              <a:t> in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r1</a:t>
            </a:r>
          </a:p>
          <a:p>
            <a:pPr lvl="1"/>
            <a:r>
              <a:rPr lang="en-US" dirty="0">
                <a:solidFill>
                  <a:srgbClr val="C00000"/>
                </a:solidFill>
              </a:rPr>
              <a:t>Address</a:t>
            </a:r>
            <a:r>
              <a:rPr lang="en-US" dirty="0"/>
              <a:t> of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z</a:t>
            </a:r>
            <a:r>
              <a:rPr lang="en-US" dirty="0"/>
              <a:t> in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r2</a:t>
            </a:r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5593947A-9232-4248-89B8-46DCB0885F3B}"/>
              </a:ext>
            </a:extLst>
          </p:cNvPr>
          <p:cNvCxnSpPr>
            <a:cxnSpLocks/>
            <a:stCxn id="12" idx="3"/>
          </p:cNvCxnSpPr>
          <p:nvPr/>
        </p:nvCxnSpPr>
        <p:spPr>
          <a:xfrm flipV="1">
            <a:off x="3390396" y="4859383"/>
            <a:ext cx="3030192" cy="17417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99D0A66F-23E2-3A4D-97BB-3E3F900003A5}"/>
              </a:ext>
            </a:extLst>
          </p:cNvPr>
          <p:cNvSpPr txBox="1"/>
          <p:nvPr/>
        </p:nvSpPr>
        <p:spPr>
          <a:xfrm>
            <a:off x="1344692" y="4060915"/>
            <a:ext cx="13612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 Statement</a:t>
            </a:r>
          </a:p>
        </p:txBody>
      </p:sp>
      <p:pic>
        <p:nvPicPr>
          <p:cNvPr id="18" name="Graphic 17" descr="Question Mark with solid fill">
            <a:extLst>
              <a:ext uri="{FF2B5EF4-FFF2-40B4-BE49-F238E27FC236}">
                <a16:creationId xmlns:a16="http://schemas.microsoft.com/office/drawing/2014/main" id="{D9C6DECC-0DA3-BA40-853A-EF2B71FF091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495096" y="4495800"/>
            <a:ext cx="572353" cy="572353"/>
          </a:xfrm>
          <a:prstGeom prst="rect">
            <a:avLst/>
          </a:prstGeom>
        </p:spPr>
      </p:pic>
      <p:sp>
        <p:nvSpPr>
          <p:cNvPr id="19" name="Rectangle 18">
            <a:extLst>
              <a:ext uri="{FF2B5EF4-FFF2-40B4-BE49-F238E27FC236}">
                <a16:creationId xmlns:a16="http://schemas.microsoft.com/office/drawing/2014/main" id="{CB8E278A-D1C7-434E-85A2-D0992704D4C5}"/>
              </a:ext>
            </a:extLst>
          </p:cNvPr>
          <p:cNvSpPr/>
          <p:nvPr/>
        </p:nvSpPr>
        <p:spPr>
          <a:xfrm>
            <a:off x="6420588" y="3927566"/>
            <a:ext cx="4323612" cy="1863634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AD207E71-3A58-7D41-A68A-B0A067D6C6A1}"/>
              </a:ext>
            </a:extLst>
          </p:cNvPr>
          <p:cNvSpPr txBox="1"/>
          <p:nvPr/>
        </p:nvSpPr>
        <p:spPr>
          <a:xfrm>
            <a:off x="7696200" y="3503138"/>
            <a:ext cx="21701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Assembly Statements</a:t>
            </a:r>
          </a:p>
        </p:txBody>
      </p:sp>
    </p:spTree>
    <p:extLst>
      <p:ext uri="{BB962C8B-B14F-4D97-AF65-F5344CB8AC3E}">
        <p14:creationId xmlns:p14="http://schemas.microsoft.com/office/powerpoint/2010/main" val="427991974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0278C4-3EAF-C64C-84F3-A58280AE41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Adding Two Integers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E4312E3-2F7B-2C43-90A0-5CEA91E07B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7</a:t>
            </a:fld>
            <a:endParaRPr kumimoji="0" lang="en-US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BE27E09-A6EA-0344-9F3F-4EE0E475974F}"/>
              </a:ext>
            </a:extLst>
          </p:cNvPr>
          <p:cNvSpPr/>
          <p:nvPr/>
        </p:nvSpPr>
        <p:spPr>
          <a:xfrm>
            <a:off x="915572" y="4620047"/>
            <a:ext cx="2232574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z = x + y;</a:t>
            </a:r>
            <a:endParaRPr lang="en-US" sz="2400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E991AE1-74A7-9341-B1DF-52B509E96479}"/>
              </a:ext>
            </a:extLst>
          </p:cNvPr>
          <p:cNvSpPr/>
          <p:nvPr/>
        </p:nvSpPr>
        <p:spPr>
          <a:xfrm>
            <a:off x="660259" y="4495800"/>
            <a:ext cx="2730137" cy="7620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9ED7DC0-B2A1-334F-B723-CD4699563F56}"/>
              </a:ext>
            </a:extLst>
          </p:cNvPr>
          <p:cNvSpPr/>
          <p:nvPr/>
        </p:nvSpPr>
        <p:spPr>
          <a:xfrm>
            <a:off x="1172464" y="1800136"/>
            <a:ext cx="2563522" cy="120032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int x = 1;  </a:t>
            </a: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int y = 2;</a:t>
            </a: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int z;</a:t>
            </a:r>
            <a:endParaRPr lang="en-US" sz="2400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77A10298-527B-E641-BC63-81C7BE2D72EB}"/>
              </a:ext>
            </a:extLst>
          </p:cNvPr>
          <p:cNvSpPr/>
          <p:nvPr/>
        </p:nvSpPr>
        <p:spPr>
          <a:xfrm>
            <a:off x="715264" y="1676400"/>
            <a:ext cx="2743200" cy="14478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Content Placeholder 3">
            <a:extLst>
              <a:ext uri="{FF2B5EF4-FFF2-40B4-BE49-F238E27FC236}">
                <a16:creationId xmlns:a16="http://schemas.microsoft.com/office/drawing/2014/main" id="{7CF71279-7834-EB48-80F1-138FCBFBAC13}"/>
              </a:ext>
            </a:extLst>
          </p:cNvPr>
          <p:cNvSpPr txBox="1">
            <a:spLocks/>
          </p:cNvSpPr>
          <p:nvPr/>
        </p:nvSpPr>
        <p:spPr>
          <a:xfrm>
            <a:off x="3276600" y="3520645"/>
            <a:ext cx="3276600" cy="133023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>
            <a:normAutofit fontScale="85000" lnSpcReduction="20000"/>
          </a:bodyPr>
          <a:lstStyle>
            <a:lvl1pPr marL="274320" indent="-274320" algn="l" rtl="0" eaLnBrk="1" latinLnBrk="0" hangingPunct="1">
              <a:spcBef>
                <a:spcPts val="600"/>
              </a:spcBef>
              <a:buClr>
                <a:schemeClr val="accent1"/>
              </a:buClr>
              <a:buSzPct val="76000"/>
              <a:buFont typeface="Wingdings 3"/>
              <a:buChar char=""/>
              <a:defRPr kumimoji="0" sz="2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8640" indent="-274320" algn="l" rtl="0" eaLnBrk="1" latinLnBrk="0" hangingPunct="1">
              <a:spcBef>
                <a:spcPts val="500"/>
              </a:spcBef>
              <a:buClr>
                <a:schemeClr val="accent2"/>
              </a:buClr>
              <a:buSzPct val="76000"/>
              <a:buFont typeface="Wingdings 3"/>
              <a:buChar char=""/>
              <a:defRPr kumimoji="0" sz="23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822960" indent="-228600" algn="l" rtl="0" eaLnBrk="1" latinLnBrk="0" hangingPunct="1">
              <a:spcBef>
                <a:spcPts val="500"/>
              </a:spcBef>
              <a:buClr>
                <a:schemeClr val="bg1">
                  <a:shade val="50000"/>
                </a:schemeClr>
              </a:buClr>
              <a:buSzPct val="76000"/>
              <a:buFont typeface="Wingdings 3"/>
              <a:buChar char=""/>
              <a:defRPr kumimoji="0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7280" indent="-228600" algn="l" rtl="0" eaLnBrk="1" latinLnBrk="0" hangingPunct="1">
              <a:spcBef>
                <a:spcPts val="400"/>
              </a:spcBef>
              <a:buClr>
                <a:schemeClr val="accent2">
                  <a:shade val="75000"/>
                </a:schemeClr>
              </a:buClr>
              <a:buSzPct val="70000"/>
              <a:buFont typeface="Wingdings"/>
              <a:buChar char=""/>
              <a:defRPr kumimoji="0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indent="-228600" algn="l" rtl="0" eaLnBrk="1" latinLnBrk="0" hangingPunct="1">
              <a:spcBef>
                <a:spcPts val="300"/>
              </a:spcBef>
              <a:buClr>
                <a:schemeClr val="accent2"/>
              </a:buClr>
              <a:buSzPct val="70000"/>
              <a:buFont typeface="Wingdings"/>
              <a:buChar char=""/>
              <a:defRPr kumimoji="0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645920" indent="-182880" algn="l" rtl="0" eaLnBrk="1" latinLnBrk="0" hangingPunct="1">
              <a:spcBef>
                <a:spcPts val="300"/>
              </a:spcBef>
              <a:buClr>
                <a:srgbClr val="9FB8CD">
                  <a:shade val="75000"/>
                </a:srgbClr>
              </a:buClr>
              <a:buSzPct val="75000"/>
              <a:buFont typeface="Wingdings 3"/>
              <a:buChar char=""/>
              <a:defRPr kumimoji="0"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800" indent="-182880" algn="l" rtl="0" eaLnBrk="1" latinLnBrk="0" hangingPunct="1">
              <a:spcBef>
                <a:spcPts val="300"/>
              </a:spcBef>
              <a:buClr>
                <a:srgbClr val="727CA3">
                  <a:shade val="75000"/>
                </a:srgbClr>
              </a:buClr>
              <a:buSzPct val="75000"/>
              <a:buFont typeface="Wingdings 3"/>
              <a:buChar char=""/>
              <a:defRPr kumimoji="0" lang="en-US" sz="14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011680" indent="-182880" algn="l" rtl="0" eaLnBrk="1" latinLnBrk="0" hangingPunct="1">
              <a:spcBef>
                <a:spcPts val="300"/>
              </a:spcBef>
              <a:buClr>
                <a:prstClr val="white">
                  <a:shade val="50000"/>
                </a:prstClr>
              </a:buClr>
              <a:buSzPct val="75000"/>
              <a:buFont typeface="Wingdings 3"/>
              <a:buChar char=""/>
              <a:defRPr kumimoji="0" lang="en-US" sz="14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194560" indent="-182880" algn="l" rtl="0" eaLnBrk="1" latinLnBrk="0" hangingPunct="1">
              <a:spcBef>
                <a:spcPts val="300"/>
              </a:spcBef>
              <a:buClr>
                <a:srgbClr val="9FB8CD"/>
              </a:buClr>
              <a:buSzPct val="75000"/>
              <a:buFont typeface="Wingdings 3"/>
              <a:buChar char=""/>
              <a:defRPr kumimoji="0" lang="en-US" sz="12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/>
              <a:t>If addresses are in registers</a:t>
            </a:r>
          </a:p>
          <a:p>
            <a:pPr lvl="1"/>
            <a:r>
              <a:rPr lang="en-US" dirty="0">
                <a:solidFill>
                  <a:srgbClr val="C00000"/>
                </a:solidFill>
              </a:rPr>
              <a:t>Address</a:t>
            </a:r>
            <a:r>
              <a:rPr lang="en-US" dirty="0"/>
              <a:t> of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x</a:t>
            </a:r>
            <a:r>
              <a:rPr lang="en-US" dirty="0"/>
              <a:t> in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r0</a:t>
            </a:r>
          </a:p>
          <a:p>
            <a:pPr lvl="1"/>
            <a:r>
              <a:rPr lang="en-US" dirty="0">
                <a:solidFill>
                  <a:srgbClr val="C00000"/>
                </a:solidFill>
              </a:rPr>
              <a:t>Address</a:t>
            </a:r>
            <a:r>
              <a:rPr lang="en-US" dirty="0"/>
              <a:t> of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y</a:t>
            </a:r>
            <a:r>
              <a:rPr lang="en-US" dirty="0"/>
              <a:t> in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r1</a:t>
            </a:r>
          </a:p>
          <a:p>
            <a:pPr lvl="1"/>
            <a:r>
              <a:rPr lang="en-US" dirty="0">
                <a:solidFill>
                  <a:srgbClr val="C00000"/>
                </a:solidFill>
              </a:rPr>
              <a:t>Address</a:t>
            </a:r>
            <a:r>
              <a:rPr lang="en-US" dirty="0"/>
              <a:t> of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z</a:t>
            </a:r>
            <a:r>
              <a:rPr lang="en-US" dirty="0"/>
              <a:t> in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r2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090BEE9D-2F1F-CA4D-8D2A-219E1CCF77D2}"/>
              </a:ext>
            </a:extLst>
          </p:cNvPr>
          <p:cNvSpPr/>
          <p:nvPr/>
        </p:nvSpPr>
        <p:spPr>
          <a:xfrm>
            <a:off x="6703038" y="4091970"/>
            <a:ext cx="4422162" cy="193899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LDR r3, [r0] </a:t>
            </a:r>
            <a:r>
              <a:rPr lang="en-US" sz="24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Read x</a:t>
            </a: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LDR r4, [r1]</a:t>
            </a:r>
            <a:r>
              <a:rPr lang="en-US" sz="24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; Read y</a:t>
            </a:r>
            <a:endParaRPr lang="en-US" sz="24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24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ADD r5, r3, r4</a:t>
            </a: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STR r5, [r2] </a:t>
            </a:r>
            <a:r>
              <a:rPr lang="en-US" sz="24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Write z</a:t>
            </a:r>
          </a:p>
          <a:p>
            <a:endParaRPr lang="en-US" sz="2400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FC5FD643-FD48-0C42-8E79-F52526E5C6CD}"/>
              </a:ext>
            </a:extLst>
          </p:cNvPr>
          <p:cNvSpPr/>
          <p:nvPr/>
        </p:nvSpPr>
        <p:spPr>
          <a:xfrm>
            <a:off x="6420588" y="3927566"/>
            <a:ext cx="4323612" cy="1863634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5593947A-9232-4248-89B8-46DCB0885F3B}"/>
              </a:ext>
            </a:extLst>
          </p:cNvPr>
          <p:cNvCxnSpPr>
            <a:cxnSpLocks/>
            <a:stCxn id="12" idx="3"/>
            <a:endCxn id="21" idx="1"/>
          </p:cNvCxnSpPr>
          <p:nvPr/>
        </p:nvCxnSpPr>
        <p:spPr>
          <a:xfrm flipV="1">
            <a:off x="3390396" y="4859383"/>
            <a:ext cx="3030192" cy="17417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99D0A66F-23E2-3A4D-97BB-3E3F900003A5}"/>
              </a:ext>
            </a:extLst>
          </p:cNvPr>
          <p:cNvSpPr txBox="1"/>
          <p:nvPr/>
        </p:nvSpPr>
        <p:spPr>
          <a:xfrm>
            <a:off x="1344692" y="4060915"/>
            <a:ext cx="13612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 Statement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E2E701D-CCD6-C341-A8D5-820DB4749F0C}"/>
              </a:ext>
            </a:extLst>
          </p:cNvPr>
          <p:cNvSpPr txBox="1"/>
          <p:nvPr/>
        </p:nvSpPr>
        <p:spPr>
          <a:xfrm>
            <a:off x="7696200" y="3503138"/>
            <a:ext cx="21701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Assembly Statements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FC6B41B-1128-554A-BF0F-D176AA23D3B0}"/>
              </a:ext>
            </a:extLst>
          </p:cNvPr>
          <p:cNvSpPr txBox="1"/>
          <p:nvPr/>
        </p:nvSpPr>
        <p:spPr>
          <a:xfrm>
            <a:off x="7421820" y="5826034"/>
            <a:ext cx="232114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Load, modify, and store</a:t>
            </a:r>
          </a:p>
        </p:txBody>
      </p:sp>
    </p:spTree>
    <p:extLst>
      <p:ext uri="{BB962C8B-B14F-4D97-AF65-F5344CB8AC3E}">
        <p14:creationId xmlns:p14="http://schemas.microsoft.com/office/powerpoint/2010/main" val="349287120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F5CF99-82D8-E241-B8B2-658848DB5E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Arithmetic Instructions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7F231B3-19EE-7A4E-8D41-CAA882B6E1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8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3A4DA11-CB46-7D48-BA7B-DF2FD7B6DCE5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609600" y="1219200"/>
            <a:ext cx="11582400" cy="4937760"/>
          </a:xfrm>
        </p:spPr>
        <p:txBody>
          <a:bodyPr>
            <a:noAutofit/>
          </a:bodyPr>
          <a:lstStyle/>
          <a:p>
            <a:r>
              <a:rPr lang="en-US" sz="19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ADD</a:t>
            </a:r>
            <a:r>
              <a:rPr lang="en-US" sz="1900" dirty="0">
                <a:latin typeface="Consolas" panose="020B0609020204030204" pitchFamily="49" charset="0"/>
                <a:cs typeface="Consolas" panose="020B0609020204030204" pitchFamily="49" charset="0"/>
              </a:rPr>
              <a:t>  r0, r1, r2  </a:t>
            </a:r>
            <a:r>
              <a:rPr lang="en-US" sz="19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r0 = r1 + r2</a:t>
            </a:r>
          </a:p>
          <a:p>
            <a:r>
              <a:rPr lang="en-US" sz="19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ADC</a:t>
            </a:r>
            <a:r>
              <a:rPr lang="en-US" sz="1900" dirty="0">
                <a:latin typeface="Consolas" panose="020B0609020204030204" pitchFamily="49" charset="0"/>
                <a:cs typeface="Consolas" panose="020B0609020204030204" pitchFamily="49" charset="0"/>
              </a:rPr>
              <a:t>  r0, r1, r2  </a:t>
            </a:r>
            <a:r>
              <a:rPr lang="en-US" sz="19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Add with carry, r0 = r1 + r2 + carry </a:t>
            </a:r>
          </a:p>
          <a:p>
            <a:endParaRPr lang="en-US" sz="1900" dirty="0">
              <a:solidFill>
                <a:schemeClr val="bg1">
                  <a:lumMod val="50000"/>
                </a:schemeClr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19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SUB</a:t>
            </a:r>
            <a:r>
              <a:rPr lang="en-US" sz="1900" dirty="0">
                <a:latin typeface="Consolas" panose="020B0609020204030204" pitchFamily="49" charset="0"/>
                <a:cs typeface="Consolas" panose="020B0609020204030204" pitchFamily="49" charset="0"/>
              </a:rPr>
              <a:t>  r0, r1, r2  </a:t>
            </a:r>
            <a:r>
              <a:rPr lang="en-US" sz="19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r0 = r1 - r2</a:t>
            </a:r>
          </a:p>
          <a:p>
            <a:r>
              <a:rPr lang="en-US" sz="19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SBC</a:t>
            </a:r>
            <a:r>
              <a:rPr lang="en-US" sz="1900" dirty="0">
                <a:latin typeface="Consolas" panose="020B0609020204030204" pitchFamily="49" charset="0"/>
                <a:cs typeface="Consolas" panose="020B0609020204030204" pitchFamily="49" charset="0"/>
              </a:rPr>
              <a:t>  r0, r1, r2  </a:t>
            </a:r>
            <a:r>
              <a:rPr lang="en-US" sz="19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Subtract with borrow, r0 = r1 - r2 – (1 – carry) </a:t>
            </a:r>
          </a:p>
          <a:p>
            <a:endParaRPr lang="en-US" sz="1900" b="1" dirty="0">
              <a:solidFill>
                <a:srgbClr val="C0000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19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MUL</a:t>
            </a:r>
            <a:r>
              <a:rPr lang="en-US" sz="1900" dirty="0">
                <a:latin typeface="Consolas" panose="020B0609020204030204" pitchFamily="49" charset="0"/>
                <a:cs typeface="Consolas" panose="020B0609020204030204" pitchFamily="49" charset="0"/>
              </a:rPr>
              <a:t>  r0, r1, r2  </a:t>
            </a:r>
            <a:r>
              <a:rPr lang="en-US" sz="19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r0 = r1 * r2, product limited to 32 bits</a:t>
            </a:r>
          </a:p>
          <a:p>
            <a:endParaRPr lang="en-US" sz="1900" b="1" dirty="0">
              <a:solidFill>
                <a:srgbClr val="C0000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19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UDIV</a:t>
            </a:r>
            <a:r>
              <a:rPr lang="en-US" sz="1900" dirty="0">
                <a:latin typeface="Consolas" panose="020B0609020204030204" pitchFamily="49" charset="0"/>
                <a:cs typeface="Consolas" panose="020B0609020204030204" pitchFamily="49" charset="0"/>
              </a:rPr>
              <a:t> r0, r1, r2  </a:t>
            </a:r>
            <a:r>
              <a:rPr lang="en-US" sz="19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Unsigned divide, r0 = r1 / r2 </a:t>
            </a:r>
          </a:p>
          <a:p>
            <a:r>
              <a:rPr lang="en-US" sz="19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SDIV</a:t>
            </a:r>
            <a:r>
              <a:rPr lang="en-US" sz="1900" dirty="0">
                <a:latin typeface="Consolas" panose="020B0609020204030204" pitchFamily="49" charset="0"/>
                <a:cs typeface="Consolas" panose="020B0609020204030204" pitchFamily="49" charset="0"/>
              </a:rPr>
              <a:t> r0, r1, r2  </a:t>
            </a:r>
            <a:r>
              <a:rPr lang="en-US" sz="19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Signed divide, r0 = r1 / r2 </a:t>
            </a:r>
          </a:p>
          <a:p>
            <a:pPr marL="0" indent="0">
              <a:buNone/>
            </a:pPr>
            <a:endParaRPr lang="en-US" sz="1900" dirty="0">
              <a:solidFill>
                <a:schemeClr val="bg1">
                  <a:lumMod val="50000"/>
                </a:schemeClr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19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SMULL</a:t>
            </a:r>
            <a:r>
              <a:rPr lang="en-US" sz="1900" dirty="0">
                <a:latin typeface="Consolas" panose="020B0609020204030204" pitchFamily="49" charset="0"/>
                <a:cs typeface="Consolas" panose="020B0609020204030204" pitchFamily="49" charset="0"/>
              </a:rPr>
              <a:t> r0, r1, r2, r3 </a:t>
            </a:r>
            <a:r>
              <a:rPr lang="en-US" sz="19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Signed multiply (64-bit product), r1:r0 = r2 * r3 </a:t>
            </a:r>
          </a:p>
          <a:p>
            <a:r>
              <a:rPr lang="en-US" sz="19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UMULL</a:t>
            </a:r>
            <a:r>
              <a:rPr lang="en-US" sz="1900" dirty="0">
                <a:latin typeface="Consolas" panose="020B0609020204030204" pitchFamily="49" charset="0"/>
                <a:cs typeface="Consolas" panose="020B0609020204030204" pitchFamily="49" charset="0"/>
              </a:rPr>
              <a:t> r0, r1, r2, r3 </a:t>
            </a:r>
            <a:r>
              <a:rPr lang="en-US" sz="19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Unsigned multiply (64-bit product), r1:r0 = r2 * r3 </a:t>
            </a:r>
          </a:p>
          <a:p>
            <a:endParaRPr lang="en-US" sz="1900" dirty="0">
              <a:solidFill>
                <a:schemeClr val="bg1">
                  <a:lumMod val="50000"/>
                </a:schemeClr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1"/>
            <a:endParaRPr lang="en-US" sz="1600" dirty="0">
              <a:solidFill>
                <a:schemeClr val="bg1">
                  <a:lumMod val="50000"/>
                </a:schemeClr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7986769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F5CF99-82D8-E241-B8B2-658848DB5E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Logical Instructions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7F231B3-19EE-7A4E-8D41-CAA882B6E1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9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3A4DA11-CB46-7D48-BA7B-DF2FD7B6DCE5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609600" y="1219200"/>
            <a:ext cx="10058400" cy="1904995"/>
          </a:xfrm>
        </p:spPr>
        <p:txBody>
          <a:bodyPr>
            <a:noAutofit/>
          </a:bodyPr>
          <a:lstStyle/>
          <a:p>
            <a:r>
              <a:rPr lang="en-US" sz="20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AND</a:t>
            </a:r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  r0, r1, r2 </a:t>
            </a:r>
            <a:r>
              <a:rPr lang="en-US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Bitwise AND, r0 = r1 AND r2</a:t>
            </a:r>
          </a:p>
          <a:p>
            <a:r>
              <a:rPr lang="en-US" sz="20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ORR</a:t>
            </a:r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  r0, r1, r2 </a:t>
            </a:r>
            <a:r>
              <a:rPr lang="en-US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Bitwise OR, r0 = r1 OR r2</a:t>
            </a:r>
          </a:p>
          <a:p>
            <a:r>
              <a:rPr lang="en-US" sz="20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EOR</a:t>
            </a:r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  r0, r1, r2 </a:t>
            </a:r>
            <a:r>
              <a:rPr lang="en-US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Bitwise Exclusive OR, r0 = r1 EOR r2</a:t>
            </a:r>
          </a:p>
          <a:p>
            <a:r>
              <a:rPr lang="en-US" sz="20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ORN</a:t>
            </a:r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  r0, r1, r2 </a:t>
            </a:r>
            <a:r>
              <a:rPr lang="en-US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Bitwise OR NOT, r0 = r1 ORN r2</a:t>
            </a:r>
          </a:p>
          <a:p>
            <a:r>
              <a:rPr lang="en-US" sz="20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BIC</a:t>
            </a:r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  r0, r1, r2 </a:t>
            </a:r>
            <a:r>
              <a:rPr lang="en-US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Bit clear, r0 = r1 &amp; ~r2</a:t>
            </a:r>
          </a:p>
          <a:p>
            <a:endParaRPr lang="en-US" sz="2000" dirty="0">
              <a:solidFill>
                <a:schemeClr val="bg1">
                  <a:lumMod val="50000"/>
                </a:schemeClr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marL="0" indent="0">
              <a:buNone/>
            </a:pPr>
            <a:endParaRPr lang="en-US" sz="2000" dirty="0">
              <a:solidFill>
                <a:schemeClr val="bg1">
                  <a:lumMod val="50000"/>
                </a:schemeClr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marL="0" indent="0">
              <a:buNone/>
            </a:pPr>
            <a:endParaRPr lang="en-US" sz="2000" dirty="0">
              <a:solidFill>
                <a:schemeClr val="bg1">
                  <a:lumMod val="50000"/>
                </a:schemeClr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21F823B5-D55E-B441-B550-44C323E1936A}"/>
              </a:ext>
            </a:extLst>
          </p:cNvPr>
          <p:cNvGrpSpPr/>
          <p:nvPr/>
        </p:nvGrpSpPr>
        <p:grpSpPr>
          <a:xfrm>
            <a:off x="1371600" y="3505200"/>
            <a:ext cx="9829800" cy="2590800"/>
            <a:chOff x="609600" y="3657600"/>
            <a:chExt cx="9829800" cy="2590800"/>
          </a:xfrm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86493F81-2B07-1E4D-B8F9-4D2F4FDEB8DC}"/>
                </a:ext>
              </a:extLst>
            </p:cNvPr>
            <p:cNvCxnSpPr/>
            <p:nvPr/>
          </p:nvCxnSpPr>
          <p:spPr>
            <a:xfrm>
              <a:off x="1866243" y="5261575"/>
              <a:ext cx="8339541" cy="0"/>
            </a:xfrm>
            <a:prstGeom prst="line">
              <a:avLst/>
            </a:prstGeom>
            <a:ln w="1905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84981E17-ABF7-FB4A-B201-BCA02CCCC258}"/>
                </a:ext>
              </a:extLst>
            </p:cNvPr>
            <p:cNvCxnSpPr/>
            <p:nvPr/>
          </p:nvCxnSpPr>
          <p:spPr>
            <a:xfrm>
              <a:off x="10153743" y="4252105"/>
              <a:ext cx="0" cy="295364"/>
            </a:xfrm>
            <a:prstGeom prst="line">
              <a:avLst/>
            </a:prstGeom>
            <a:ln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8906813D-EC71-B946-ACC5-BDB124A52093}"/>
                </a:ext>
              </a:extLst>
            </p:cNvPr>
            <p:cNvCxnSpPr/>
            <p:nvPr/>
          </p:nvCxnSpPr>
          <p:spPr>
            <a:xfrm>
              <a:off x="2057400" y="4257765"/>
              <a:ext cx="0" cy="314235"/>
            </a:xfrm>
            <a:prstGeom prst="line">
              <a:avLst/>
            </a:prstGeom>
            <a:ln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C148B124-687E-524F-9814-31D45E8494E9}"/>
                </a:ext>
              </a:extLst>
            </p:cNvPr>
            <p:cNvSpPr txBox="1"/>
            <p:nvPr/>
          </p:nvSpPr>
          <p:spPr>
            <a:xfrm>
              <a:off x="2057400" y="4517478"/>
              <a:ext cx="8237539" cy="120032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dirty="0">
                  <a:latin typeface="Arial" panose="020B0604020202020204" pitchFamily="34" charset="0"/>
                  <a:cs typeface="Arial" panose="020B0604020202020204" pitchFamily="34" charset="0"/>
                </a:rPr>
                <a:t>1  1  0  1  0  1  0  1  0  1  0  1  0  1  0  1  0  1  0  1  0  1  0  1  0  1  0  1  0  1  0  1</a:t>
              </a:r>
            </a:p>
            <a:p>
              <a:r>
                <a:rPr lang="en-US" b="1" dirty="0">
                  <a:latin typeface="Arial" panose="020B0604020202020204" pitchFamily="34" charset="0"/>
                  <a:cs typeface="Arial" panose="020B0604020202020204" pitchFamily="34" charset="0"/>
                </a:rPr>
                <a:t>1  0  1  0  1  0  1  0  1  0  1  0  1  0  1  1  1  0  1  0  1  0  1  0  1  0  1  0  1  0  1  1</a:t>
              </a:r>
            </a:p>
            <a:p>
              <a:r>
                <a:rPr lang="en-US" b="1" dirty="0"/>
                <a:t> </a:t>
              </a:r>
            </a:p>
            <a:p>
              <a:r>
                <a:rPr lang="en-US" b="1" dirty="0">
                  <a:latin typeface="Arial" panose="020B0604020202020204" pitchFamily="34" charset="0"/>
                  <a:cs typeface="Arial" panose="020B0604020202020204" pitchFamily="34" charset="0"/>
                </a:rPr>
                <a:t>1  0  0  0  0  0  0  0  0  0  0  0  0  0  0  1  0  0  0  0  0  0  0  0  0  0  0  0  0  0  0  1</a:t>
              </a:r>
            </a:p>
          </p:txBody>
        </p:sp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BF261751-3A68-4844-B814-D9F84DD73D12}"/>
                </a:ext>
              </a:extLst>
            </p:cNvPr>
            <p:cNvCxnSpPr/>
            <p:nvPr/>
          </p:nvCxnSpPr>
          <p:spPr>
            <a:xfrm>
              <a:off x="2094843" y="4423375"/>
              <a:ext cx="8058901" cy="0"/>
            </a:xfrm>
            <a:prstGeom prst="straightConnector1">
              <a:avLst/>
            </a:prstGeom>
            <a:ln>
              <a:prstDash val="dash"/>
              <a:headEnd type="arrow"/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FDFFDC3F-F75E-2E4B-9B25-D7507BE39B3C}"/>
                </a:ext>
              </a:extLst>
            </p:cNvPr>
            <p:cNvSpPr txBox="1"/>
            <p:nvPr/>
          </p:nvSpPr>
          <p:spPr>
            <a:xfrm>
              <a:off x="5525033" y="4109140"/>
              <a:ext cx="742511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600" dirty="0"/>
                <a:t>32 bits</a:t>
              </a: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905F647D-55AF-1A4E-A3AC-47DCCE763325}"/>
                </a:ext>
              </a:extLst>
            </p:cNvPr>
            <p:cNvSpPr txBox="1"/>
            <p:nvPr/>
          </p:nvSpPr>
          <p:spPr>
            <a:xfrm>
              <a:off x="1690643" y="4495800"/>
              <a:ext cx="43794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dirty="0">
                  <a:solidFill>
                    <a:srgbClr val="0432FF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r1</a:t>
              </a: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BBCA5AEC-5795-C242-BA24-FBD9BD93DB2B}"/>
                </a:ext>
              </a:extLst>
            </p:cNvPr>
            <p:cNvSpPr txBox="1"/>
            <p:nvPr/>
          </p:nvSpPr>
          <p:spPr>
            <a:xfrm>
              <a:off x="1690643" y="4776654"/>
              <a:ext cx="43794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dirty="0">
                  <a:solidFill>
                    <a:srgbClr val="0432FF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r2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8C776E56-00AC-254D-95D2-AB0EE8090247}"/>
                </a:ext>
              </a:extLst>
            </p:cNvPr>
            <p:cNvSpPr txBox="1"/>
            <p:nvPr/>
          </p:nvSpPr>
          <p:spPr>
            <a:xfrm>
              <a:off x="1673712" y="5328340"/>
              <a:ext cx="43794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dirty="0">
                  <a:solidFill>
                    <a:srgbClr val="FF40FF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r0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9DD3886D-7DFF-1542-B200-3D6BE8F6D063}"/>
                </a:ext>
              </a:extLst>
            </p:cNvPr>
            <p:cNvSpPr txBox="1"/>
            <p:nvPr/>
          </p:nvSpPr>
          <p:spPr>
            <a:xfrm>
              <a:off x="4828894" y="5798514"/>
              <a:ext cx="203709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Bit-wise Logic </a:t>
              </a:r>
              <a:r>
                <a:rPr lang="en-US" dirty="0">
                  <a:solidFill>
                    <a:srgbClr val="FF0000"/>
                  </a:solidFill>
                </a:rPr>
                <a:t>AND</a:t>
              </a:r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980DF428-B653-C84F-BFA6-B30CA2C23303}"/>
                </a:ext>
              </a:extLst>
            </p:cNvPr>
            <p:cNvSpPr/>
            <p:nvPr/>
          </p:nvSpPr>
          <p:spPr>
            <a:xfrm>
              <a:off x="760812" y="3742715"/>
              <a:ext cx="2210862" cy="369332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b="1" dirty="0">
                  <a:solidFill>
                    <a:srgbClr val="C0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AND</a:t>
              </a:r>
              <a:r>
                <a:rPr lang="en-US" dirty="0">
                  <a:latin typeface="Consolas" panose="020B0609020204030204" pitchFamily="49" charset="0"/>
                  <a:cs typeface="Consolas" panose="020B0609020204030204" pitchFamily="49" charset="0"/>
                </a:rPr>
                <a:t>  </a:t>
              </a:r>
              <a:r>
                <a:rPr lang="en-US" dirty="0">
                  <a:solidFill>
                    <a:srgbClr val="FF40FF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r0</a:t>
              </a:r>
              <a:r>
                <a:rPr lang="en-US" dirty="0">
                  <a:latin typeface="Consolas" panose="020B0609020204030204" pitchFamily="49" charset="0"/>
                  <a:cs typeface="Consolas" panose="020B0609020204030204" pitchFamily="49" charset="0"/>
                </a:rPr>
                <a:t>, </a:t>
              </a:r>
              <a:r>
                <a:rPr lang="en-US" dirty="0">
                  <a:solidFill>
                    <a:srgbClr val="0432FF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r1</a:t>
              </a:r>
              <a:r>
                <a:rPr lang="en-US" dirty="0">
                  <a:latin typeface="Consolas" panose="020B0609020204030204" pitchFamily="49" charset="0"/>
                  <a:cs typeface="Consolas" panose="020B0609020204030204" pitchFamily="49" charset="0"/>
                </a:rPr>
                <a:t>, </a:t>
              </a:r>
              <a:r>
                <a:rPr lang="en-US" dirty="0">
                  <a:solidFill>
                    <a:srgbClr val="0432FF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r2</a:t>
              </a:r>
              <a:r>
                <a:rPr lang="en-US" dirty="0">
                  <a:latin typeface="Consolas" panose="020B0609020204030204" pitchFamily="49" charset="0"/>
                  <a:cs typeface="Consolas" panose="020B0609020204030204" pitchFamily="49" charset="0"/>
                </a:rPr>
                <a:t> </a:t>
              </a:r>
              <a:endParaRPr lang="en-US" dirty="0"/>
            </a:p>
          </p:txBody>
        </p: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7AAA5DE9-55F8-8542-8C15-B77174797D82}"/>
                </a:ext>
              </a:extLst>
            </p:cNvPr>
            <p:cNvSpPr/>
            <p:nvPr/>
          </p:nvSpPr>
          <p:spPr>
            <a:xfrm>
              <a:off x="609600" y="3657600"/>
              <a:ext cx="9829800" cy="2590800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79847495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F5CF99-82D8-E241-B8B2-658848DB5E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Shift &amp; Rotate Instructions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7F231B3-19EE-7A4E-8D41-CAA882B6E1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10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3A4DA11-CB46-7D48-BA7B-DF2FD7B6DCE5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388403" y="1318895"/>
            <a:ext cx="6627383" cy="4861560"/>
          </a:xfrm>
        </p:spPr>
        <p:txBody>
          <a:bodyPr>
            <a:noAutofit/>
          </a:bodyPr>
          <a:lstStyle/>
          <a:p>
            <a:r>
              <a:rPr lang="en-US" sz="21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LSL</a:t>
            </a:r>
            <a:r>
              <a:rPr lang="en-US" sz="2100" dirty="0">
                <a:latin typeface="Consolas" panose="020B0609020204030204" pitchFamily="49" charset="0"/>
                <a:cs typeface="Consolas" panose="020B0609020204030204" pitchFamily="49" charset="0"/>
              </a:rPr>
              <a:t>  r0, r1, r2 </a:t>
            </a:r>
            <a:r>
              <a:rPr lang="en-US" sz="21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Logical shift left, </a:t>
            </a:r>
          </a:p>
          <a:p>
            <a:pPr marL="0" indent="0">
              <a:buNone/>
            </a:pPr>
            <a:r>
              <a:rPr lang="en-US" sz="21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r0 =  r1 &lt;&lt; r2</a:t>
            </a:r>
          </a:p>
          <a:p>
            <a:r>
              <a:rPr lang="en-US" sz="21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LSR</a:t>
            </a:r>
            <a:r>
              <a:rPr lang="en-US" sz="2100" dirty="0">
                <a:latin typeface="Consolas" panose="020B0609020204030204" pitchFamily="49" charset="0"/>
                <a:cs typeface="Consolas" panose="020B0609020204030204" pitchFamily="49" charset="0"/>
              </a:rPr>
              <a:t>  r0, r1, r2 </a:t>
            </a:r>
            <a:r>
              <a:rPr lang="en-US" sz="21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Logical shift right, </a:t>
            </a:r>
          </a:p>
          <a:p>
            <a:pPr marL="0" indent="0">
              <a:buNone/>
            </a:pPr>
            <a:r>
              <a:rPr lang="en-US" sz="21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r0 =  r1 &gt;&gt; r2</a:t>
            </a:r>
          </a:p>
          <a:p>
            <a:r>
              <a:rPr lang="en-US" sz="21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ASR</a:t>
            </a:r>
            <a:r>
              <a:rPr lang="en-US" sz="2100" dirty="0">
                <a:latin typeface="Consolas" panose="020B0609020204030204" pitchFamily="49" charset="0"/>
                <a:cs typeface="Consolas" panose="020B0609020204030204" pitchFamily="49" charset="0"/>
              </a:rPr>
              <a:t>  r0, r1, r2 </a:t>
            </a:r>
            <a:r>
              <a:rPr lang="en-US" sz="21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Arithmetic shift right, r0 =  r1 &gt;&gt; r2</a:t>
            </a:r>
          </a:p>
          <a:p>
            <a:r>
              <a:rPr lang="en-US" sz="21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ROR</a:t>
            </a:r>
            <a:r>
              <a:rPr lang="en-US" sz="2100" dirty="0">
                <a:latin typeface="Consolas" panose="020B0609020204030204" pitchFamily="49" charset="0"/>
                <a:cs typeface="Consolas" panose="020B0609020204030204" pitchFamily="49" charset="0"/>
              </a:rPr>
              <a:t>  r0, r1, r2 </a:t>
            </a:r>
            <a:r>
              <a:rPr lang="en-US" sz="21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Rotate right,  </a:t>
            </a:r>
          </a:p>
          <a:p>
            <a:pPr marL="0" indent="0">
              <a:buNone/>
            </a:pPr>
            <a:r>
              <a:rPr lang="en-US" sz="21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r0 = r1 rotate by r2 bits</a:t>
            </a:r>
          </a:p>
          <a:p>
            <a:r>
              <a:rPr lang="en-US" sz="21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RRX</a:t>
            </a:r>
            <a:r>
              <a:rPr lang="en-US" sz="2100" dirty="0">
                <a:latin typeface="Consolas" panose="020B0609020204030204" pitchFamily="49" charset="0"/>
                <a:cs typeface="Consolas" panose="020B0609020204030204" pitchFamily="49" charset="0"/>
              </a:rPr>
              <a:t>  r0, r1, r2 </a:t>
            </a:r>
            <a:r>
              <a:rPr lang="en-US" sz="21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Extended rotate right, {C, r0} = {C, r1} rotate by r2 bits</a:t>
            </a:r>
          </a:p>
        </p:txBody>
      </p:sp>
      <p:sp>
        <p:nvSpPr>
          <p:cNvPr id="7" name="Rectangle 34">
            <a:extLst>
              <a:ext uri="{FF2B5EF4-FFF2-40B4-BE49-F238E27FC236}">
                <a16:creationId xmlns:a16="http://schemas.microsoft.com/office/drawing/2014/main" id="{6E705DD6-9553-D04B-A555-CCFDA3792AFD}"/>
              </a:ext>
            </a:extLst>
          </p:cNvPr>
          <p:cNvSpPr>
            <a:spLocks noChangeArrowheads="1"/>
          </p:cNvSpPr>
          <p:nvPr/>
        </p:nvSpPr>
        <p:spPr bwMode="auto">
          <a:xfrm>
            <a:off x="7014094" y="2154120"/>
            <a:ext cx="3111500" cy="31457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sz="1600" dirty="0">
                <a:latin typeface="Arial" pitchFamily="34" charset="0"/>
              </a:rPr>
              <a:t>Logical Shift Right (</a:t>
            </a:r>
            <a:r>
              <a:rPr lang="en-US" sz="1600" b="1" dirty="0" err="1">
                <a:latin typeface="Arial" pitchFamily="34" charset="0"/>
              </a:rPr>
              <a:t>LSR</a:t>
            </a:r>
            <a:r>
              <a:rPr lang="en-US" sz="1600" dirty="0">
                <a:latin typeface="Arial" pitchFamily="34" charset="0"/>
              </a:rPr>
              <a:t>)</a:t>
            </a:r>
          </a:p>
        </p:txBody>
      </p:sp>
      <p:sp>
        <p:nvSpPr>
          <p:cNvPr id="8" name="Rectangle 35">
            <a:extLst>
              <a:ext uri="{FF2B5EF4-FFF2-40B4-BE49-F238E27FC236}">
                <a16:creationId xmlns:a16="http://schemas.microsoft.com/office/drawing/2014/main" id="{32668D47-568D-B949-AA9F-F3397AFB09D0}"/>
              </a:ext>
            </a:extLst>
          </p:cNvPr>
          <p:cNvSpPr>
            <a:spLocks noChangeArrowheads="1"/>
          </p:cNvSpPr>
          <p:nvPr/>
        </p:nvSpPr>
        <p:spPr bwMode="auto">
          <a:xfrm>
            <a:off x="6978235" y="4214755"/>
            <a:ext cx="3113087" cy="31457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sz="1600" dirty="0">
                <a:latin typeface="Arial" pitchFamily="34" charset="0"/>
              </a:rPr>
              <a:t>Rotate Right (</a:t>
            </a:r>
            <a:r>
              <a:rPr lang="en-US" sz="1600" b="1" dirty="0" err="1">
                <a:latin typeface="Arial" pitchFamily="34" charset="0"/>
              </a:rPr>
              <a:t>ROR</a:t>
            </a:r>
            <a:r>
              <a:rPr lang="en-US" sz="1600" dirty="0">
                <a:latin typeface="Arial" pitchFamily="34" charset="0"/>
              </a:rPr>
              <a:t>)</a:t>
            </a:r>
          </a:p>
        </p:txBody>
      </p:sp>
      <p:sp>
        <p:nvSpPr>
          <p:cNvPr id="9" name="Rectangle 44">
            <a:extLst>
              <a:ext uri="{FF2B5EF4-FFF2-40B4-BE49-F238E27FC236}">
                <a16:creationId xmlns:a16="http://schemas.microsoft.com/office/drawing/2014/main" id="{36B390E0-2BA9-D74A-92AD-8A9A49F1BD3A}"/>
              </a:ext>
            </a:extLst>
          </p:cNvPr>
          <p:cNvSpPr>
            <a:spLocks noChangeArrowheads="1"/>
          </p:cNvSpPr>
          <p:nvPr/>
        </p:nvSpPr>
        <p:spPr bwMode="auto">
          <a:xfrm>
            <a:off x="6978235" y="5275212"/>
            <a:ext cx="3351213" cy="31457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sz="1600" dirty="0">
                <a:latin typeface="Arial" pitchFamily="34" charset="0"/>
              </a:rPr>
              <a:t>Rotate Right Extended (</a:t>
            </a:r>
            <a:r>
              <a:rPr lang="en-US" sz="1600" b="1" dirty="0" err="1">
                <a:latin typeface="Arial" pitchFamily="34" charset="0"/>
              </a:rPr>
              <a:t>RRX</a:t>
            </a:r>
            <a:r>
              <a:rPr lang="en-US" sz="1600" dirty="0">
                <a:latin typeface="Arial" pitchFamily="34" charset="0"/>
              </a:rPr>
              <a:t>)</a:t>
            </a:r>
          </a:p>
        </p:txBody>
      </p:sp>
      <p:sp>
        <p:nvSpPr>
          <p:cNvPr id="5" name="Rectangle 18">
            <a:extLst>
              <a:ext uri="{FF2B5EF4-FFF2-40B4-BE49-F238E27FC236}">
                <a16:creationId xmlns:a16="http://schemas.microsoft.com/office/drawing/2014/main" id="{7A48F613-746A-B14C-87F2-95EBA60A1968}"/>
              </a:ext>
            </a:extLst>
          </p:cNvPr>
          <p:cNvSpPr>
            <a:spLocks noChangeArrowheads="1"/>
          </p:cNvSpPr>
          <p:nvPr/>
        </p:nvSpPr>
        <p:spPr bwMode="auto">
          <a:xfrm>
            <a:off x="7014094" y="1233664"/>
            <a:ext cx="3111500" cy="31457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sz="1600" dirty="0">
                <a:latin typeface="Arial" pitchFamily="34" charset="0"/>
              </a:rPr>
              <a:t>Logical Shift Left (</a:t>
            </a:r>
            <a:r>
              <a:rPr lang="en-US" sz="1600" b="1" dirty="0" err="1">
                <a:latin typeface="Arial" pitchFamily="34" charset="0"/>
              </a:rPr>
              <a:t>LSL</a:t>
            </a:r>
            <a:r>
              <a:rPr lang="en-US" sz="1600" dirty="0">
                <a:latin typeface="Arial" pitchFamily="34" charset="0"/>
              </a:rPr>
              <a:t>)</a:t>
            </a:r>
          </a:p>
        </p:txBody>
      </p:sp>
      <p:pic>
        <p:nvPicPr>
          <p:cNvPr id="10" name="Picture 2">
            <a:extLst>
              <a:ext uri="{FF2B5EF4-FFF2-40B4-BE49-F238E27FC236}">
                <a16:creationId xmlns:a16="http://schemas.microsoft.com/office/drawing/2014/main" id="{122FDA22-8047-1549-B43C-54780DE6DB1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236983" y="1524000"/>
            <a:ext cx="4284972" cy="4929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1" name="Picture 3">
            <a:extLst>
              <a:ext uri="{FF2B5EF4-FFF2-40B4-BE49-F238E27FC236}">
                <a16:creationId xmlns:a16="http://schemas.microsoft.com/office/drawing/2014/main" id="{7A320F70-8292-564B-8875-A0378AA4D88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56487" y="2397632"/>
            <a:ext cx="4267200" cy="49796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2" name="Picture 4">
            <a:extLst>
              <a:ext uri="{FF2B5EF4-FFF2-40B4-BE49-F238E27FC236}">
                <a16:creationId xmlns:a16="http://schemas.microsoft.com/office/drawing/2014/main" id="{7BA2A80D-35FE-764E-85CA-85CE09B08E5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92119" y="3359166"/>
            <a:ext cx="3629836" cy="80948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3" name="Picture 5">
            <a:extLst>
              <a:ext uri="{FF2B5EF4-FFF2-40B4-BE49-F238E27FC236}">
                <a16:creationId xmlns:a16="http://schemas.microsoft.com/office/drawing/2014/main" id="{20155FA5-BF02-5C46-ADE5-37D802D1941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73377" y="4495800"/>
            <a:ext cx="3629836" cy="67034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4" name="Picture 6">
            <a:extLst>
              <a:ext uri="{FF2B5EF4-FFF2-40B4-BE49-F238E27FC236}">
                <a16:creationId xmlns:a16="http://schemas.microsoft.com/office/drawing/2014/main" id="{60CF74F4-7D89-4C4E-9311-1651D105A36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19820" y="5562600"/>
            <a:ext cx="3536950" cy="67964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6" name="Rectangle 19">
            <a:extLst>
              <a:ext uri="{FF2B5EF4-FFF2-40B4-BE49-F238E27FC236}">
                <a16:creationId xmlns:a16="http://schemas.microsoft.com/office/drawing/2014/main" id="{E6CD599F-2EF7-0342-AB7A-65CE00639C07}"/>
              </a:ext>
            </a:extLst>
          </p:cNvPr>
          <p:cNvSpPr>
            <a:spLocks noChangeArrowheads="1"/>
          </p:cNvSpPr>
          <p:nvPr/>
        </p:nvSpPr>
        <p:spPr bwMode="auto">
          <a:xfrm>
            <a:off x="7014094" y="3125783"/>
            <a:ext cx="3332163" cy="31457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sz="1600" dirty="0">
                <a:latin typeface="Arial" pitchFamily="34" charset="0"/>
              </a:rPr>
              <a:t>Arithmetic Shift Right (</a:t>
            </a:r>
            <a:r>
              <a:rPr lang="en-US" sz="1600" b="1" dirty="0">
                <a:latin typeface="Arial" pitchFamily="34" charset="0"/>
              </a:rPr>
              <a:t>ASR</a:t>
            </a:r>
            <a:r>
              <a:rPr lang="en-US" sz="1600" dirty="0">
                <a:latin typeface="Arial" pitchFamily="34" charset="0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2263816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F5CF99-82D8-E241-B8B2-658848DB5E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Data Transfer Instructions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7F231B3-19EE-7A4E-8D41-CAA882B6E1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11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3A4DA11-CB46-7D48-BA7B-DF2FD7B6DCE5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609600" y="1295400"/>
            <a:ext cx="9448800" cy="1143000"/>
          </a:xfrm>
        </p:spPr>
        <p:txBody>
          <a:bodyPr>
            <a:noAutofit/>
          </a:bodyPr>
          <a:lstStyle/>
          <a:p>
            <a:r>
              <a:rPr lang="en-US" sz="21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MOV</a:t>
            </a:r>
            <a:r>
              <a:rPr lang="en-US" sz="2100" dirty="0">
                <a:latin typeface="Consolas" panose="020B0609020204030204" pitchFamily="49" charset="0"/>
                <a:cs typeface="Consolas" panose="020B0609020204030204" pitchFamily="49" charset="0"/>
              </a:rPr>
              <a:t>  r0, r1 </a:t>
            </a:r>
            <a:r>
              <a:rPr lang="en-US" sz="21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Move, r0 = r1</a:t>
            </a:r>
          </a:p>
          <a:p>
            <a:r>
              <a:rPr lang="en-US" sz="21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MVN</a:t>
            </a:r>
            <a:r>
              <a:rPr lang="en-US" sz="2100" dirty="0">
                <a:latin typeface="Consolas" panose="020B0609020204030204" pitchFamily="49" charset="0"/>
                <a:cs typeface="Consolas" panose="020B0609020204030204" pitchFamily="49" charset="0"/>
              </a:rPr>
              <a:t>  r0, r1 </a:t>
            </a:r>
            <a:r>
              <a:rPr lang="en-US" sz="21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Move NOT, r0 = bitwise NOT r1</a:t>
            </a:r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1DA20E8F-5EF6-6B4F-A3A3-59744F654F2F}"/>
              </a:ext>
            </a:extLst>
          </p:cNvPr>
          <p:cNvGrpSpPr/>
          <p:nvPr/>
        </p:nvGrpSpPr>
        <p:grpSpPr>
          <a:xfrm>
            <a:off x="1152382" y="3047999"/>
            <a:ext cx="9887236" cy="1828801"/>
            <a:chOff x="816864" y="3048000"/>
            <a:chExt cx="9887236" cy="1828801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FA0B05C9-6CCA-7B46-A4A8-74D135E92AE5}"/>
                </a:ext>
              </a:extLst>
            </p:cNvPr>
            <p:cNvSpPr/>
            <p:nvPr/>
          </p:nvSpPr>
          <p:spPr>
            <a:xfrm>
              <a:off x="2133600" y="3684779"/>
              <a:ext cx="8570500" cy="369332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lang="en-US" b="1" dirty="0">
                  <a:latin typeface="Arial" panose="020B0604020202020204" pitchFamily="34" charset="0"/>
                  <a:cs typeface="Arial" panose="020B0604020202020204" pitchFamily="34" charset="0"/>
                </a:rPr>
                <a:t>0  0  0  0  0  0  0  0  0  0  0  0  0  0  0  0  0  0  0  0  0  0  0  0  0  0  0  0  1  1  1  1</a:t>
              </a: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BA1EF1A7-03B2-CF4C-A2F4-E8EAD94CA0A3}"/>
                </a:ext>
              </a:extLst>
            </p:cNvPr>
            <p:cNvSpPr txBox="1"/>
            <p:nvPr/>
          </p:nvSpPr>
          <p:spPr>
            <a:xfrm>
              <a:off x="1788700" y="3657600"/>
              <a:ext cx="43794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r1</a:t>
              </a:r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1752A507-1928-CF4D-92A9-905ED152C7DD}"/>
                </a:ext>
              </a:extLst>
            </p:cNvPr>
            <p:cNvSpPr/>
            <p:nvPr/>
          </p:nvSpPr>
          <p:spPr>
            <a:xfrm>
              <a:off x="2133600" y="4054111"/>
              <a:ext cx="8570500" cy="369332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lang="en-US" b="1" dirty="0">
                  <a:latin typeface="Arial" panose="020B0604020202020204" pitchFamily="34" charset="0"/>
                  <a:cs typeface="Arial" panose="020B0604020202020204" pitchFamily="34" charset="0"/>
                </a:rPr>
                <a:t>1  1  1  1  1  1  1  1  1  1  1  1  1  1  1  1  1  1  1  1  1  1  1  1  1  1  1  1  0  0  0  0</a:t>
              </a: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50B49E65-A099-B746-874F-189F1D745CAF}"/>
                </a:ext>
              </a:extLst>
            </p:cNvPr>
            <p:cNvSpPr txBox="1"/>
            <p:nvPr/>
          </p:nvSpPr>
          <p:spPr>
            <a:xfrm>
              <a:off x="1788698" y="4050268"/>
              <a:ext cx="43794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r0</a:t>
              </a:r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6C39E4C4-7294-6D4F-BAFF-450011500CB0}"/>
                </a:ext>
              </a:extLst>
            </p:cNvPr>
            <p:cNvSpPr/>
            <p:nvPr/>
          </p:nvSpPr>
          <p:spPr>
            <a:xfrm>
              <a:off x="936543" y="3160716"/>
              <a:ext cx="1704313" cy="369332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b="1" dirty="0">
                  <a:solidFill>
                    <a:srgbClr val="C0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MVN</a:t>
              </a:r>
              <a:r>
                <a:rPr lang="en-US" dirty="0">
                  <a:latin typeface="Consolas" panose="020B0609020204030204" pitchFamily="49" charset="0"/>
                  <a:cs typeface="Consolas" panose="020B0609020204030204" pitchFamily="49" charset="0"/>
                </a:rPr>
                <a:t>  r0, r1 </a:t>
              </a:r>
              <a:endParaRPr lang="en-US" dirty="0"/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151136A2-B60D-7242-9571-F8DDFF17B5B6}"/>
                </a:ext>
              </a:extLst>
            </p:cNvPr>
            <p:cNvSpPr/>
            <p:nvPr/>
          </p:nvSpPr>
          <p:spPr>
            <a:xfrm>
              <a:off x="816864" y="3048000"/>
              <a:ext cx="9622535" cy="1828801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28D00231-F501-F847-820E-19CDF75A393C}"/>
                </a:ext>
              </a:extLst>
            </p:cNvPr>
            <p:cNvSpPr/>
            <p:nvPr/>
          </p:nvSpPr>
          <p:spPr>
            <a:xfrm>
              <a:off x="936543" y="3187544"/>
              <a:ext cx="1654257" cy="34442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3" name="TextBox 12">
            <a:extLst>
              <a:ext uri="{FF2B5EF4-FFF2-40B4-BE49-F238E27FC236}">
                <a16:creationId xmlns:a16="http://schemas.microsoft.com/office/drawing/2014/main" id="{D1787B29-1E21-714D-86B8-D1558C8EE4D2}"/>
              </a:ext>
            </a:extLst>
          </p:cNvPr>
          <p:cNvSpPr txBox="1"/>
          <p:nvPr/>
        </p:nvSpPr>
        <p:spPr>
          <a:xfrm>
            <a:off x="4939458" y="4474705"/>
            <a:ext cx="204838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Bit-wise Logic </a:t>
            </a:r>
            <a:r>
              <a:rPr lang="en-US" dirty="0">
                <a:solidFill>
                  <a:srgbClr val="FF0000"/>
                </a:solidFill>
              </a:rPr>
              <a:t>NOT</a:t>
            </a:r>
          </a:p>
        </p:txBody>
      </p:sp>
    </p:spTree>
    <p:extLst>
      <p:ext uri="{BB962C8B-B14F-4D97-AF65-F5344CB8AC3E}">
        <p14:creationId xmlns:p14="http://schemas.microsoft.com/office/powerpoint/2010/main" val="13096087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0" name="Rectangle 2"/>
          <p:cNvSpPr>
            <a:spLocks noChangeArrowheads="1"/>
          </p:cNvSpPr>
          <p:nvPr/>
        </p:nvSpPr>
        <p:spPr bwMode="auto">
          <a:xfrm>
            <a:off x="2214563" y="6243638"/>
            <a:ext cx="1903412" cy="4556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17411" name="Rectangle 3"/>
          <p:cNvSpPr>
            <a:spLocks noChangeArrowheads="1"/>
          </p:cNvSpPr>
          <p:nvPr/>
        </p:nvSpPr>
        <p:spPr bwMode="auto">
          <a:xfrm>
            <a:off x="4649789" y="6243638"/>
            <a:ext cx="2892425" cy="4556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17412" name="Rectangle 4"/>
          <p:cNvSpPr>
            <a:spLocks noChangeArrowheads="1"/>
          </p:cNvSpPr>
          <p:nvPr/>
        </p:nvSpPr>
        <p:spPr bwMode="auto">
          <a:xfrm>
            <a:off x="2214563" y="6243638"/>
            <a:ext cx="1903412" cy="4556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17413" name="Rectangle 5"/>
          <p:cNvSpPr>
            <a:spLocks noChangeArrowheads="1"/>
          </p:cNvSpPr>
          <p:nvPr/>
        </p:nvSpPr>
        <p:spPr bwMode="auto">
          <a:xfrm>
            <a:off x="4649789" y="6243638"/>
            <a:ext cx="2892425" cy="4556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17414" name="Rectangle 6"/>
          <p:cNvSpPr>
            <a:spLocks noGrp="1" noChangeArrowheads="1"/>
          </p:cNvSpPr>
          <p:nvPr>
            <p:ph type="title"/>
          </p:nvPr>
        </p:nvSpPr>
        <p:spPr>
          <a:xfrm>
            <a:off x="622389" y="128905"/>
            <a:ext cx="8458200" cy="990600"/>
          </a:xfrm>
        </p:spPr>
        <p:txBody>
          <a:bodyPr>
            <a:normAutofit fontScale="90000"/>
          </a:bodyPr>
          <a:lstStyle/>
          <a:p>
            <a:r>
              <a:rPr lang="en-US" dirty="0"/>
              <a:t>Overview: </a:t>
            </a:r>
            <a:br>
              <a:rPr lang="en-US" dirty="0"/>
            </a:br>
            <a:r>
              <a:rPr lang="en-US" dirty="0"/>
              <a:t>Arithmetic and Logic Instructions</a:t>
            </a:r>
          </a:p>
        </p:txBody>
      </p:sp>
      <p:sp>
        <p:nvSpPr>
          <p:cNvPr id="17415" name="Rectangle 7"/>
          <p:cNvSpPr>
            <a:spLocks noGrp="1" noChangeArrowheads="1"/>
          </p:cNvSpPr>
          <p:nvPr>
            <p:ph sz="quarter" idx="1"/>
          </p:nvPr>
        </p:nvSpPr>
        <p:spPr>
          <a:xfrm>
            <a:off x="609600" y="1447800"/>
            <a:ext cx="10972800" cy="4709160"/>
          </a:xfrm>
        </p:spPr>
        <p:txBody>
          <a:bodyPr>
            <a:noAutofit/>
          </a:bodyPr>
          <a:lstStyle/>
          <a:p>
            <a:pPr>
              <a:lnSpc>
                <a:spcPct val="90000"/>
              </a:lnSpc>
            </a:pPr>
            <a:r>
              <a:rPr lang="en-US" sz="1600" b="1" dirty="0">
                <a:solidFill>
                  <a:schemeClr val="accent1"/>
                </a:solidFill>
              </a:rPr>
              <a:t>Shift</a:t>
            </a:r>
            <a:r>
              <a:rPr lang="en-US" sz="1600" dirty="0"/>
              <a:t> : </a:t>
            </a:r>
            <a:r>
              <a:rPr lang="en-US" sz="1400" b="1" dirty="0">
                <a:solidFill>
                  <a:srgbClr val="FF0000"/>
                </a:solidFill>
              </a:rPr>
              <a:t>LSL</a:t>
            </a:r>
            <a:r>
              <a:rPr lang="en-US" sz="1400" dirty="0">
                <a:solidFill>
                  <a:srgbClr val="FF0000"/>
                </a:solidFill>
              </a:rPr>
              <a:t> </a:t>
            </a:r>
            <a:r>
              <a:rPr lang="en-US" sz="1400" dirty="0"/>
              <a:t>(logic shift left), </a:t>
            </a:r>
            <a:r>
              <a:rPr lang="en-US" sz="1400" b="1" dirty="0">
                <a:solidFill>
                  <a:srgbClr val="FF0000"/>
                </a:solidFill>
              </a:rPr>
              <a:t>LSR</a:t>
            </a:r>
            <a:r>
              <a:rPr lang="en-US" sz="1400" dirty="0">
                <a:solidFill>
                  <a:srgbClr val="FF0000"/>
                </a:solidFill>
              </a:rPr>
              <a:t> </a:t>
            </a:r>
            <a:r>
              <a:rPr lang="en-US" sz="1400" dirty="0"/>
              <a:t>(logic shift right),  </a:t>
            </a:r>
            <a:r>
              <a:rPr lang="en-US" sz="1400" b="1" dirty="0">
                <a:solidFill>
                  <a:srgbClr val="FF0000"/>
                </a:solidFill>
              </a:rPr>
              <a:t>ASR</a:t>
            </a:r>
            <a:r>
              <a:rPr lang="en-US" sz="1400" dirty="0"/>
              <a:t> (arithmetic shift right), </a:t>
            </a:r>
            <a:r>
              <a:rPr lang="en-US" sz="1400" b="1" dirty="0">
                <a:solidFill>
                  <a:srgbClr val="FF0000"/>
                </a:solidFill>
              </a:rPr>
              <a:t>ROR</a:t>
            </a:r>
            <a:r>
              <a:rPr lang="en-US" sz="1400" dirty="0">
                <a:solidFill>
                  <a:srgbClr val="FF0000"/>
                </a:solidFill>
              </a:rPr>
              <a:t> </a:t>
            </a:r>
            <a:r>
              <a:rPr lang="en-US" sz="1400" dirty="0"/>
              <a:t>(rotate right), </a:t>
            </a:r>
            <a:r>
              <a:rPr lang="en-US" sz="1400" b="1" dirty="0">
                <a:solidFill>
                  <a:srgbClr val="FF0000"/>
                </a:solidFill>
              </a:rPr>
              <a:t>RRX</a:t>
            </a:r>
            <a:r>
              <a:rPr lang="en-US" sz="1400" dirty="0">
                <a:solidFill>
                  <a:srgbClr val="FF0000"/>
                </a:solidFill>
              </a:rPr>
              <a:t> </a:t>
            </a:r>
            <a:r>
              <a:rPr lang="en-US" sz="1400" dirty="0"/>
              <a:t>(rotate right with extend)</a:t>
            </a:r>
            <a:endParaRPr lang="en-US" sz="1400" dirty="0">
              <a:solidFill>
                <a:srgbClr val="C00000"/>
              </a:solidFill>
            </a:endParaRPr>
          </a:p>
          <a:p>
            <a:pPr>
              <a:lnSpc>
                <a:spcPct val="90000"/>
              </a:lnSpc>
            </a:pPr>
            <a:r>
              <a:rPr lang="en-US" sz="1600" b="1" dirty="0">
                <a:solidFill>
                  <a:schemeClr val="accent1"/>
                </a:solidFill>
              </a:rPr>
              <a:t>Logic</a:t>
            </a:r>
            <a:r>
              <a:rPr lang="en-US" sz="1600" dirty="0"/>
              <a:t>: </a:t>
            </a:r>
            <a:r>
              <a:rPr lang="en-US" sz="1400" b="1" dirty="0">
                <a:solidFill>
                  <a:srgbClr val="FF0000"/>
                </a:solidFill>
              </a:rPr>
              <a:t>AND</a:t>
            </a:r>
            <a:r>
              <a:rPr lang="en-US" sz="1400" dirty="0"/>
              <a:t> (bitwise and), </a:t>
            </a:r>
            <a:r>
              <a:rPr lang="en-US" sz="1400" b="1" dirty="0">
                <a:solidFill>
                  <a:srgbClr val="FF0000"/>
                </a:solidFill>
              </a:rPr>
              <a:t>ORR</a:t>
            </a:r>
            <a:r>
              <a:rPr lang="en-US" sz="1400" dirty="0">
                <a:solidFill>
                  <a:srgbClr val="FF0000"/>
                </a:solidFill>
              </a:rPr>
              <a:t> </a:t>
            </a:r>
            <a:r>
              <a:rPr lang="en-US" sz="1400" dirty="0"/>
              <a:t>(bitwise or), </a:t>
            </a:r>
            <a:r>
              <a:rPr lang="en-US" sz="1400" b="1" dirty="0">
                <a:solidFill>
                  <a:srgbClr val="FF0000"/>
                </a:solidFill>
              </a:rPr>
              <a:t>EOR</a:t>
            </a:r>
            <a:r>
              <a:rPr lang="en-US" sz="1400" dirty="0">
                <a:solidFill>
                  <a:srgbClr val="FF0000"/>
                </a:solidFill>
              </a:rPr>
              <a:t> </a:t>
            </a:r>
            <a:r>
              <a:rPr lang="en-US" sz="1400" dirty="0"/>
              <a:t>(bitwise exclusive or), </a:t>
            </a:r>
            <a:r>
              <a:rPr lang="en-US" sz="1400" b="1" dirty="0">
                <a:solidFill>
                  <a:srgbClr val="FF0000"/>
                </a:solidFill>
              </a:rPr>
              <a:t>ORN</a:t>
            </a:r>
            <a:r>
              <a:rPr lang="en-US" sz="1400" dirty="0">
                <a:solidFill>
                  <a:srgbClr val="FF0000"/>
                </a:solidFill>
              </a:rPr>
              <a:t> </a:t>
            </a:r>
            <a:r>
              <a:rPr lang="en-US" sz="1400" dirty="0"/>
              <a:t>(bitwise or not), </a:t>
            </a:r>
            <a:r>
              <a:rPr lang="en-US" sz="1400" b="1" dirty="0">
                <a:solidFill>
                  <a:srgbClr val="FF0000"/>
                </a:solidFill>
              </a:rPr>
              <a:t>MVN</a:t>
            </a:r>
            <a:r>
              <a:rPr lang="en-US" sz="1400" dirty="0">
                <a:solidFill>
                  <a:srgbClr val="FF0000"/>
                </a:solidFill>
              </a:rPr>
              <a:t> </a:t>
            </a:r>
            <a:r>
              <a:rPr lang="en-US" sz="1400" dirty="0"/>
              <a:t>(move not)</a:t>
            </a:r>
            <a:endParaRPr lang="en-US" sz="1400" dirty="0">
              <a:solidFill>
                <a:srgbClr val="C00000"/>
              </a:solidFill>
            </a:endParaRPr>
          </a:p>
          <a:p>
            <a:pPr>
              <a:lnSpc>
                <a:spcPct val="90000"/>
              </a:lnSpc>
            </a:pPr>
            <a:r>
              <a:rPr lang="en-US" sz="1600" b="1" dirty="0">
                <a:solidFill>
                  <a:schemeClr val="accent1"/>
                </a:solidFill>
              </a:rPr>
              <a:t>Bit set/clear</a:t>
            </a:r>
            <a:r>
              <a:rPr lang="en-US" sz="1600" dirty="0"/>
              <a:t>: </a:t>
            </a:r>
            <a:r>
              <a:rPr lang="en-US" sz="1400" b="1" dirty="0">
                <a:solidFill>
                  <a:srgbClr val="FF0000"/>
                </a:solidFill>
              </a:rPr>
              <a:t>BFC</a:t>
            </a:r>
            <a:r>
              <a:rPr lang="en-US" sz="1400" dirty="0">
                <a:solidFill>
                  <a:srgbClr val="FF0000"/>
                </a:solidFill>
              </a:rPr>
              <a:t> </a:t>
            </a:r>
            <a:r>
              <a:rPr lang="en-US" sz="1400" dirty="0"/>
              <a:t>(bit field clear), </a:t>
            </a:r>
            <a:r>
              <a:rPr lang="en-US" sz="1400" b="1" dirty="0">
                <a:solidFill>
                  <a:srgbClr val="FF0000"/>
                </a:solidFill>
              </a:rPr>
              <a:t>BFI</a:t>
            </a:r>
            <a:r>
              <a:rPr lang="en-US" sz="1400" dirty="0">
                <a:solidFill>
                  <a:srgbClr val="FF0000"/>
                </a:solidFill>
              </a:rPr>
              <a:t> </a:t>
            </a:r>
            <a:r>
              <a:rPr lang="en-US" sz="1400" dirty="0"/>
              <a:t>(bit field insert), </a:t>
            </a:r>
            <a:r>
              <a:rPr lang="en-US" sz="1400" b="1" dirty="0">
                <a:solidFill>
                  <a:srgbClr val="FF0000"/>
                </a:solidFill>
              </a:rPr>
              <a:t>BIC</a:t>
            </a:r>
            <a:r>
              <a:rPr lang="en-US" sz="1400" dirty="0">
                <a:solidFill>
                  <a:srgbClr val="FF0000"/>
                </a:solidFill>
              </a:rPr>
              <a:t> </a:t>
            </a:r>
            <a:r>
              <a:rPr lang="en-US" sz="1400" dirty="0"/>
              <a:t>(bit clear), </a:t>
            </a:r>
            <a:r>
              <a:rPr lang="en-US" sz="1400" b="1" dirty="0">
                <a:solidFill>
                  <a:srgbClr val="FF0000"/>
                </a:solidFill>
              </a:rPr>
              <a:t>CLZ</a:t>
            </a:r>
            <a:r>
              <a:rPr lang="en-US" sz="1400" dirty="0">
                <a:solidFill>
                  <a:srgbClr val="FF0000"/>
                </a:solidFill>
              </a:rPr>
              <a:t> </a:t>
            </a:r>
            <a:r>
              <a:rPr lang="en-US" sz="1400" dirty="0"/>
              <a:t>(count leading zeroes)</a:t>
            </a:r>
          </a:p>
          <a:p>
            <a:pPr>
              <a:lnSpc>
                <a:spcPct val="90000"/>
              </a:lnSpc>
            </a:pPr>
            <a:r>
              <a:rPr lang="en-US" sz="1600" b="1" dirty="0">
                <a:solidFill>
                  <a:schemeClr val="accent1"/>
                </a:solidFill>
              </a:rPr>
              <a:t>Bit/byte reordering</a:t>
            </a:r>
            <a:r>
              <a:rPr lang="en-US" sz="1600" dirty="0"/>
              <a:t>: </a:t>
            </a:r>
            <a:r>
              <a:rPr lang="en-US" sz="1400" b="1" dirty="0">
                <a:solidFill>
                  <a:srgbClr val="FF0000"/>
                </a:solidFill>
              </a:rPr>
              <a:t>RBIT</a:t>
            </a:r>
            <a:r>
              <a:rPr lang="en-US" sz="1400" dirty="0">
                <a:solidFill>
                  <a:srgbClr val="FF0000"/>
                </a:solidFill>
              </a:rPr>
              <a:t> </a:t>
            </a:r>
            <a:r>
              <a:rPr lang="en-US" sz="1400" dirty="0"/>
              <a:t>(reverse bit order in a word), </a:t>
            </a:r>
            <a:r>
              <a:rPr lang="en-US" sz="1400" b="1" dirty="0">
                <a:solidFill>
                  <a:srgbClr val="FF0000"/>
                </a:solidFill>
              </a:rPr>
              <a:t>REV</a:t>
            </a:r>
            <a:r>
              <a:rPr lang="en-US" sz="1400" dirty="0"/>
              <a:t> (reverse byte order in a word), </a:t>
            </a:r>
            <a:r>
              <a:rPr lang="en-US" sz="1400" b="1" dirty="0">
                <a:solidFill>
                  <a:srgbClr val="FF0000"/>
                </a:solidFill>
              </a:rPr>
              <a:t>REV16</a:t>
            </a:r>
            <a:r>
              <a:rPr lang="en-US" sz="1400" dirty="0">
                <a:solidFill>
                  <a:srgbClr val="FF0000"/>
                </a:solidFill>
              </a:rPr>
              <a:t> </a:t>
            </a:r>
            <a:r>
              <a:rPr lang="en-US" sz="1400" dirty="0"/>
              <a:t>(reverse byte order in each half-word independently), </a:t>
            </a:r>
            <a:r>
              <a:rPr lang="en-US" sz="1400" b="1" dirty="0">
                <a:solidFill>
                  <a:srgbClr val="FF0000"/>
                </a:solidFill>
              </a:rPr>
              <a:t>REVSH</a:t>
            </a:r>
            <a:r>
              <a:rPr lang="en-US" sz="1400" dirty="0">
                <a:solidFill>
                  <a:srgbClr val="FF0000"/>
                </a:solidFill>
              </a:rPr>
              <a:t> </a:t>
            </a:r>
            <a:r>
              <a:rPr lang="en-US" sz="1400" dirty="0"/>
              <a:t>(reverse byte order in each half-word independently)</a:t>
            </a:r>
          </a:p>
          <a:p>
            <a:pPr>
              <a:lnSpc>
                <a:spcPct val="90000"/>
              </a:lnSpc>
            </a:pPr>
            <a:r>
              <a:rPr lang="en-US" sz="1600" b="1" dirty="0">
                <a:solidFill>
                  <a:schemeClr val="accent1"/>
                </a:solidFill>
              </a:rPr>
              <a:t>Addition</a:t>
            </a:r>
            <a:r>
              <a:rPr lang="en-US" sz="1600" dirty="0"/>
              <a:t>: </a:t>
            </a:r>
            <a:r>
              <a:rPr lang="en-US" sz="1400" b="1" dirty="0">
                <a:solidFill>
                  <a:srgbClr val="FF0000"/>
                </a:solidFill>
              </a:rPr>
              <a:t>ADD</a:t>
            </a:r>
            <a:r>
              <a:rPr lang="en-US" sz="1400" dirty="0"/>
              <a:t>, </a:t>
            </a:r>
            <a:r>
              <a:rPr lang="en-US" sz="1400" b="1" dirty="0">
                <a:solidFill>
                  <a:srgbClr val="FF0000"/>
                </a:solidFill>
              </a:rPr>
              <a:t>ADC</a:t>
            </a:r>
            <a:r>
              <a:rPr lang="en-US" sz="1400" dirty="0"/>
              <a:t> (add with carry)</a:t>
            </a:r>
          </a:p>
          <a:p>
            <a:pPr>
              <a:lnSpc>
                <a:spcPct val="90000"/>
              </a:lnSpc>
            </a:pPr>
            <a:r>
              <a:rPr lang="en-US" sz="1600" b="1" dirty="0">
                <a:solidFill>
                  <a:schemeClr val="accent1"/>
                </a:solidFill>
              </a:rPr>
              <a:t>Subtraction</a:t>
            </a:r>
            <a:r>
              <a:rPr lang="en-US" sz="1600" dirty="0"/>
              <a:t>: </a:t>
            </a:r>
            <a:r>
              <a:rPr lang="en-US" sz="1400" b="1" dirty="0">
                <a:solidFill>
                  <a:srgbClr val="FF0000"/>
                </a:solidFill>
              </a:rPr>
              <a:t>SUB</a:t>
            </a:r>
            <a:r>
              <a:rPr lang="en-US" sz="1400" dirty="0"/>
              <a:t>, </a:t>
            </a:r>
            <a:r>
              <a:rPr lang="en-US" sz="1400" b="1" dirty="0">
                <a:solidFill>
                  <a:srgbClr val="FF0000"/>
                </a:solidFill>
              </a:rPr>
              <a:t>RSB</a:t>
            </a:r>
            <a:r>
              <a:rPr lang="en-US" sz="1400" dirty="0">
                <a:solidFill>
                  <a:srgbClr val="FF0000"/>
                </a:solidFill>
              </a:rPr>
              <a:t> </a:t>
            </a:r>
            <a:r>
              <a:rPr lang="en-US" sz="1400" dirty="0"/>
              <a:t>(reverse subtract), </a:t>
            </a:r>
            <a:r>
              <a:rPr lang="en-US" sz="1400" b="1" dirty="0">
                <a:solidFill>
                  <a:srgbClr val="FF0000"/>
                </a:solidFill>
              </a:rPr>
              <a:t>SBC</a:t>
            </a:r>
            <a:r>
              <a:rPr lang="en-US" sz="1400" dirty="0"/>
              <a:t> (subtract with carry)</a:t>
            </a:r>
          </a:p>
          <a:p>
            <a:pPr>
              <a:lnSpc>
                <a:spcPct val="90000"/>
              </a:lnSpc>
            </a:pPr>
            <a:r>
              <a:rPr lang="en-US" sz="1600" b="1" dirty="0">
                <a:solidFill>
                  <a:schemeClr val="accent1"/>
                </a:solidFill>
              </a:rPr>
              <a:t>Multiplication</a:t>
            </a:r>
            <a:r>
              <a:rPr lang="en-US" sz="1600" dirty="0"/>
              <a:t>: </a:t>
            </a:r>
            <a:r>
              <a:rPr lang="en-US" sz="1400" b="1" dirty="0">
                <a:solidFill>
                  <a:srgbClr val="FF0000"/>
                </a:solidFill>
              </a:rPr>
              <a:t>MUL</a:t>
            </a:r>
            <a:r>
              <a:rPr lang="en-US" sz="1400" dirty="0">
                <a:solidFill>
                  <a:srgbClr val="FF0000"/>
                </a:solidFill>
              </a:rPr>
              <a:t> </a:t>
            </a:r>
            <a:r>
              <a:rPr lang="en-US" sz="1400" dirty="0"/>
              <a:t>(multiply), </a:t>
            </a:r>
            <a:r>
              <a:rPr lang="en-US" sz="1400" b="1" dirty="0">
                <a:solidFill>
                  <a:srgbClr val="FF0000"/>
                </a:solidFill>
              </a:rPr>
              <a:t>MLA</a:t>
            </a:r>
            <a:r>
              <a:rPr lang="en-US" sz="1400" dirty="0"/>
              <a:t> (multiply-accumulate),  </a:t>
            </a:r>
            <a:r>
              <a:rPr lang="en-US" sz="1400" b="1" dirty="0">
                <a:solidFill>
                  <a:srgbClr val="FF0000"/>
                </a:solidFill>
              </a:rPr>
              <a:t>MLS</a:t>
            </a:r>
            <a:r>
              <a:rPr lang="en-US" sz="1400" dirty="0"/>
              <a:t> (multiply-subtract), </a:t>
            </a:r>
            <a:r>
              <a:rPr lang="en-US" sz="1400" b="1" dirty="0">
                <a:solidFill>
                  <a:srgbClr val="FF0000"/>
                </a:solidFill>
              </a:rPr>
              <a:t>SMULL</a:t>
            </a:r>
            <a:r>
              <a:rPr lang="en-US" sz="1400" dirty="0">
                <a:solidFill>
                  <a:srgbClr val="FF0000"/>
                </a:solidFill>
              </a:rPr>
              <a:t> </a:t>
            </a:r>
            <a:r>
              <a:rPr lang="en-US" sz="1400" dirty="0"/>
              <a:t>(signed long multiply-accumulate),  </a:t>
            </a:r>
            <a:r>
              <a:rPr lang="en-US" sz="1400" b="1" dirty="0">
                <a:solidFill>
                  <a:srgbClr val="FF0000"/>
                </a:solidFill>
              </a:rPr>
              <a:t>SMLAL</a:t>
            </a:r>
            <a:r>
              <a:rPr lang="en-US" sz="1400" dirty="0">
                <a:solidFill>
                  <a:srgbClr val="FF0000"/>
                </a:solidFill>
              </a:rPr>
              <a:t> </a:t>
            </a:r>
            <a:r>
              <a:rPr lang="en-US" sz="1400" dirty="0"/>
              <a:t>(signed long multiply-accumulate), </a:t>
            </a:r>
            <a:r>
              <a:rPr lang="en-US" sz="1400" b="1" dirty="0">
                <a:solidFill>
                  <a:srgbClr val="FF0000"/>
                </a:solidFill>
              </a:rPr>
              <a:t>UMULL</a:t>
            </a:r>
            <a:r>
              <a:rPr lang="en-US" sz="1400" dirty="0">
                <a:solidFill>
                  <a:srgbClr val="FF0000"/>
                </a:solidFill>
              </a:rPr>
              <a:t> </a:t>
            </a:r>
            <a:r>
              <a:rPr lang="en-US" sz="1400" dirty="0"/>
              <a:t>(unsigned long multiply-subtract),  </a:t>
            </a:r>
            <a:r>
              <a:rPr lang="en-US" sz="1400" b="1" dirty="0">
                <a:solidFill>
                  <a:srgbClr val="FF0000"/>
                </a:solidFill>
              </a:rPr>
              <a:t>UMLAL</a:t>
            </a:r>
            <a:r>
              <a:rPr lang="en-US" sz="1400" dirty="0">
                <a:solidFill>
                  <a:srgbClr val="FF0000"/>
                </a:solidFill>
              </a:rPr>
              <a:t> </a:t>
            </a:r>
            <a:r>
              <a:rPr lang="en-US" sz="1400" dirty="0"/>
              <a:t>(unsigned long multiply-subtract)</a:t>
            </a:r>
          </a:p>
          <a:p>
            <a:pPr>
              <a:lnSpc>
                <a:spcPct val="90000"/>
              </a:lnSpc>
            </a:pPr>
            <a:r>
              <a:rPr lang="en-US" sz="1600" b="1" dirty="0">
                <a:solidFill>
                  <a:schemeClr val="accent1"/>
                </a:solidFill>
              </a:rPr>
              <a:t>Division</a:t>
            </a:r>
            <a:r>
              <a:rPr lang="en-US" sz="1600" dirty="0"/>
              <a:t>: </a:t>
            </a:r>
            <a:r>
              <a:rPr lang="en-US" sz="1400" b="1" dirty="0">
                <a:solidFill>
                  <a:srgbClr val="FF0000"/>
                </a:solidFill>
              </a:rPr>
              <a:t>SDIV</a:t>
            </a:r>
            <a:r>
              <a:rPr lang="en-US" sz="1400" dirty="0">
                <a:solidFill>
                  <a:srgbClr val="FF0000"/>
                </a:solidFill>
              </a:rPr>
              <a:t> </a:t>
            </a:r>
            <a:r>
              <a:rPr lang="en-US" sz="1400" dirty="0"/>
              <a:t>(signed), </a:t>
            </a:r>
            <a:r>
              <a:rPr lang="en-US" sz="1400" b="1" dirty="0">
                <a:solidFill>
                  <a:srgbClr val="FF0000"/>
                </a:solidFill>
              </a:rPr>
              <a:t>UDIV</a:t>
            </a:r>
            <a:r>
              <a:rPr lang="en-US" sz="1400" dirty="0">
                <a:solidFill>
                  <a:srgbClr val="FF0000"/>
                </a:solidFill>
              </a:rPr>
              <a:t> </a:t>
            </a:r>
            <a:r>
              <a:rPr lang="en-US" sz="1400" dirty="0"/>
              <a:t>(unsigned)</a:t>
            </a:r>
          </a:p>
          <a:p>
            <a:pPr>
              <a:lnSpc>
                <a:spcPct val="90000"/>
              </a:lnSpc>
            </a:pPr>
            <a:r>
              <a:rPr lang="en-US" sz="1600" b="1" dirty="0">
                <a:solidFill>
                  <a:schemeClr val="accent1"/>
                </a:solidFill>
              </a:rPr>
              <a:t>Saturation</a:t>
            </a:r>
            <a:r>
              <a:rPr lang="en-US" sz="1600" dirty="0"/>
              <a:t>: </a:t>
            </a:r>
            <a:r>
              <a:rPr lang="en-US" sz="1400" b="1" dirty="0">
                <a:solidFill>
                  <a:srgbClr val="FF0000"/>
                </a:solidFill>
              </a:rPr>
              <a:t>SSAT</a:t>
            </a:r>
            <a:r>
              <a:rPr lang="en-US" sz="1400" dirty="0">
                <a:solidFill>
                  <a:srgbClr val="FF0000"/>
                </a:solidFill>
              </a:rPr>
              <a:t> </a:t>
            </a:r>
            <a:r>
              <a:rPr lang="en-US" sz="1400" dirty="0"/>
              <a:t>(signed), </a:t>
            </a:r>
            <a:r>
              <a:rPr lang="en-US" sz="1400" b="1" dirty="0">
                <a:solidFill>
                  <a:srgbClr val="FF0000"/>
                </a:solidFill>
              </a:rPr>
              <a:t>USAT</a:t>
            </a:r>
            <a:r>
              <a:rPr lang="en-US" sz="1400" dirty="0">
                <a:solidFill>
                  <a:srgbClr val="FF0000"/>
                </a:solidFill>
              </a:rPr>
              <a:t> </a:t>
            </a:r>
            <a:r>
              <a:rPr lang="en-US" sz="1400" dirty="0"/>
              <a:t>(unsigned)</a:t>
            </a:r>
          </a:p>
          <a:p>
            <a:pPr>
              <a:lnSpc>
                <a:spcPct val="90000"/>
              </a:lnSpc>
            </a:pPr>
            <a:r>
              <a:rPr lang="en-US" sz="1600" b="1" dirty="0">
                <a:solidFill>
                  <a:schemeClr val="accent1"/>
                </a:solidFill>
              </a:rPr>
              <a:t>Sign extension</a:t>
            </a:r>
            <a:r>
              <a:rPr lang="en-US" sz="1600" dirty="0"/>
              <a:t>: </a:t>
            </a:r>
            <a:r>
              <a:rPr lang="en-US" sz="1400" b="1" dirty="0">
                <a:solidFill>
                  <a:srgbClr val="FF0000"/>
                </a:solidFill>
              </a:rPr>
              <a:t>SXTB</a:t>
            </a:r>
            <a:r>
              <a:rPr lang="en-US" sz="1400" dirty="0">
                <a:solidFill>
                  <a:srgbClr val="FF0000"/>
                </a:solidFill>
              </a:rPr>
              <a:t> </a:t>
            </a:r>
            <a:r>
              <a:rPr lang="en-US" sz="1400" dirty="0"/>
              <a:t>(signed), </a:t>
            </a:r>
            <a:r>
              <a:rPr lang="en-US" sz="1400" b="1" dirty="0">
                <a:solidFill>
                  <a:srgbClr val="FF0000"/>
                </a:solidFill>
              </a:rPr>
              <a:t>SXTH</a:t>
            </a:r>
            <a:r>
              <a:rPr lang="en-US" sz="1400" dirty="0"/>
              <a:t>, </a:t>
            </a:r>
            <a:r>
              <a:rPr lang="en-US" sz="1400" b="1" dirty="0">
                <a:solidFill>
                  <a:srgbClr val="FF0000"/>
                </a:solidFill>
              </a:rPr>
              <a:t>UXTB</a:t>
            </a:r>
            <a:r>
              <a:rPr lang="en-US" sz="1400" dirty="0"/>
              <a:t>, </a:t>
            </a:r>
            <a:r>
              <a:rPr lang="en-US" sz="1400" b="1" dirty="0">
                <a:solidFill>
                  <a:srgbClr val="FF0000"/>
                </a:solidFill>
              </a:rPr>
              <a:t>UXTH</a:t>
            </a:r>
          </a:p>
          <a:p>
            <a:pPr>
              <a:lnSpc>
                <a:spcPct val="90000"/>
              </a:lnSpc>
            </a:pPr>
            <a:r>
              <a:rPr lang="en-US" sz="1600" b="1" dirty="0">
                <a:solidFill>
                  <a:schemeClr val="accent1"/>
                </a:solidFill>
              </a:rPr>
              <a:t>Bit field extract: </a:t>
            </a:r>
            <a:r>
              <a:rPr lang="en-US" sz="1400" b="1" dirty="0">
                <a:solidFill>
                  <a:srgbClr val="FF0000"/>
                </a:solidFill>
              </a:rPr>
              <a:t>SBFX</a:t>
            </a:r>
            <a:r>
              <a:rPr lang="en-US" sz="1400" dirty="0">
                <a:solidFill>
                  <a:srgbClr val="FF0000"/>
                </a:solidFill>
              </a:rPr>
              <a:t> </a:t>
            </a:r>
            <a:r>
              <a:rPr lang="en-US" sz="1400" dirty="0"/>
              <a:t>(signed), </a:t>
            </a:r>
            <a:r>
              <a:rPr lang="en-US" sz="1400" b="1" dirty="0">
                <a:solidFill>
                  <a:srgbClr val="FF0000"/>
                </a:solidFill>
              </a:rPr>
              <a:t>UBFX</a:t>
            </a:r>
            <a:r>
              <a:rPr lang="en-US" sz="1400" dirty="0">
                <a:solidFill>
                  <a:srgbClr val="FF0000"/>
                </a:solidFill>
              </a:rPr>
              <a:t> </a:t>
            </a:r>
            <a:r>
              <a:rPr lang="en-US" sz="1400" dirty="0"/>
              <a:t>(unsigned)</a:t>
            </a:r>
          </a:p>
          <a:p>
            <a:pPr>
              <a:lnSpc>
                <a:spcPct val="90000"/>
              </a:lnSpc>
            </a:pPr>
            <a:r>
              <a:rPr lang="en-US" sz="1600" dirty="0"/>
              <a:t>Syntax</a:t>
            </a:r>
          </a:p>
          <a:p>
            <a:pPr lvl="1">
              <a:lnSpc>
                <a:spcPct val="90000"/>
              </a:lnSpc>
              <a:buFont typeface="Wingdings" pitchFamily="2" charset="2"/>
              <a:buNone/>
            </a:pPr>
            <a:r>
              <a:rPr lang="en-US" sz="1400" b="1" dirty="0">
                <a:solidFill>
                  <a:srgbClr val="FF0000"/>
                </a:solidFill>
                <a:latin typeface="Courier New" pitchFamily="49" charset="0"/>
              </a:rPr>
              <a:t>	&lt;Operation&gt;{&lt;</a:t>
            </a:r>
            <a:r>
              <a:rPr lang="en-US" sz="1400" b="1" dirty="0" err="1">
                <a:solidFill>
                  <a:srgbClr val="FF0000"/>
                </a:solidFill>
                <a:latin typeface="Courier New" pitchFamily="49" charset="0"/>
              </a:rPr>
              <a:t>cond</a:t>
            </a:r>
            <a:r>
              <a:rPr lang="en-US" sz="1400" b="1" dirty="0">
                <a:solidFill>
                  <a:srgbClr val="FF0000"/>
                </a:solidFill>
                <a:latin typeface="Courier New" pitchFamily="49" charset="0"/>
              </a:rPr>
              <a:t>&gt;}{S} Rd, Rn, </a:t>
            </a:r>
            <a:r>
              <a:rPr lang="en-US" sz="1400" b="1" dirty="0" err="1">
                <a:solidFill>
                  <a:srgbClr val="FF0000"/>
                </a:solidFill>
                <a:latin typeface="Courier New" pitchFamily="49" charset="0"/>
              </a:rPr>
              <a:t>Operand2</a:t>
            </a:r>
            <a:endParaRPr lang="en-US" sz="1400" b="1" dirty="0">
              <a:solidFill>
                <a:srgbClr val="FF0000"/>
              </a:solidFill>
              <a:latin typeface="Courier New" pitchFamily="49" charset="0"/>
            </a:endParaRPr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E14D4A-FE32-40AF-B06D-E9622816B101}" type="slidenum">
              <a:rPr lang="en-US" smtClean="0"/>
              <a:pPr/>
              <a:t>12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20550765"/>
      </p:ext>
    </p:extLst>
  </p:cSld>
  <p:clrMapOvr>
    <a:masterClrMapping/>
  </p:clrMapOvr>
  <p:transition/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06C697-E885-42AE-AEF7-1154D8176997}" type="slidenum">
              <a:rPr lang="en-US" altLang="zh-TW"/>
              <a:pPr/>
              <a:t>13</a:t>
            </a:fld>
            <a:endParaRPr lang="en-US" altLang="zh-TW"/>
          </a:p>
        </p:txBody>
      </p:sp>
      <p:sp>
        <p:nvSpPr>
          <p:cNvPr id="78848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Example: </a:t>
            </a:r>
            <a:r>
              <a:rPr lang="en-US" altLang="zh-TW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Add</a:t>
            </a:r>
            <a:r>
              <a:rPr lang="en-US" altLang="zh-TW" dirty="0">
                <a:solidFill>
                  <a:srgbClr val="FF0000"/>
                </a:solidFill>
              </a:rPr>
              <a:t> </a:t>
            </a:r>
            <a:endParaRPr lang="zh-TW" altLang="en-US" dirty="0">
              <a:solidFill>
                <a:srgbClr val="FF0000"/>
              </a:solidFill>
            </a:endParaRPr>
          </a:p>
        </p:txBody>
      </p:sp>
      <p:sp>
        <p:nvSpPr>
          <p:cNvPr id="788483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597344" y="1278664"/>
            <a:ext cx="8534400" cy="4937760"/>
          </a:xfrm>
        </p:spPr>
        <p:txBody>
          <a:bodyPr>
            <a:normAutofit/>
          </a:bodyPr>
          <a:lstStyle/>
          <a:p>
            <a:pPr lvl="1">
              <a:lnSpc>
                <a:spcPct val="90000"/>
              </a:lnSpc>
            </a:pPr>
            <a:r>
              <a:rPr lang="en-US" altLang="zh-TW" sz="2400" dirty="0"/>
              <a:t>Unified Assembler Language (UAL) Syntax</a:t>
            </a:r>
          </a:p>
          <a:p>
            <a:pPr marL="0" indent="0">
              <a:lnSpc>
                <a:spcPct val="90000"/>
              </a:lnSpc>
              <a:buNone/>
            </a:pPr>
            <a:r>
              <a:rPr lang="pt-BR" altLang="zh-TW" sz="2400" dirty="0">
                <a:latin typeface="Consolas" panose="020B0609020204030204" pitchFamily="49" charset="0"/>
                <a:cs typeface="Consolas" panose="020B0609020204030204" pitchFamily="49" charset="0"/>
              </a:rPr>
              <a:t> 	</a:t>
            </a:r>
            <a:r>
              <a:rPr lang="pt-BR" altLang="zh-TW" sz="2400" b="1" dirty="0">
                <a:latin typeface="Consolas" panose="020B0609020204030204" pitchFamily="49" charset="0"/>
                <a:cs typeface="Consolas" panose="020B0609020204030204" pitchFamily="49" charset="0"/>
              </a:rPr>
              <a:t>ADD r1, r2, r3    </a:t>
            </a:r>
            <a:r>
              <a:rPr lang="pt-BR" altLang="zh-TW" sz="24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r1 = r2 + r3</a:t>
            </a:r>
          </a:p>
          <a:p>
            <a:pPr marL="0" indent="0">
              <a:lnSpc>
                <a:spcPct val="90000"/>
              </a:lnSpc>
              <a:buNone/>
            </a:pPr>
            <a:r>
              <a:rPr lang="pt-BR" altLang="zh-TW" sz="2400" b="1" dirty="0">
                <a:latin typeface="Consolas" panose="020B0609020204030204" pitchFamily="49" charset="0"/>
                <a:cs typeface="Consolas" panose="020B0609020204030204" pitchFamily="49" charset="0"/>
              </a:rPr>
              <a:t> 	ADD r1, r2, #4    </a:t>
            </a:r>
            <a:r>
              <a:rPr lang="pt-BR" altLang="zh-TW" sz="24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r1 = r2 + 4</a:t>
            </a:r>
          </a:p>
          <a:p>
            <a:pPr marL="0" indent="0">
              <a:lnSpc>
                <a:spcPct val="90000"/>
              </a:lnSpc>
              <a:buNone/>
            </a:pPr>
            <a:endParaRPr lang="pt-BR" altLang="zh-TW" sz="18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1">
              <a:lnSpc>
                <a:spcPct val="90000"/>
              </a:lnSpc>
            </a:pPr>
            <a:r>
              <a:rPr lang="pt-BR" altLang="zh-TW" sz="2400" dirty="0">
                <a:cs typeface="Consolas" panose="020B0609020204030204" pitchFamily="49" charset="0"/>
              </a:rPr>
              <a:t>Traditional Thumb Syntax</a:t>
            </a:r>
          </a:p>
          <a:p>
            <a:pPr marL="0" indent="0">
              <a:lnSpc>
                <a:spcPct val="90000"/>
              </a:lnSpc>
              <a:buNone/>
            </a:pPr>
            <a:r>
              <a:rPr lang="pt-BR" altLang="zh-TW" sz="2400" b="1" dirty="0">
                <a:latin typeface="Consolas" panose="020B0609020204030204" pitchFamily="49" charset="0"/>
                <a:cs typeface="Consolas" panose="020B0609020204030204" pitchFamily="49" charset="0"/>
              </a:rPr>
              <a:t> 	ADD r1, r3        </a:t>
            </a:r>
            <a:r>
              <a:rPr lang="pt-BR" altLang="zh-TW" sz="24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r1 = r1 + r3</a:t>
            </a:r>
          </a:p>
          <a:p>
            <a:pPr marL="0" indent="0">
              <a:lnSpc>
                <a:spcPct val="90000"/>
              </a:lnSpc>
              <a:buNone/>
            </a:pPr>
            <a:r>
              <a:rPr lang="pt-BR" altLang="zh-TW" sz="2400" b="1" dirty="0">
                <a:latin typeface="Consolas" panose="020B0609020204030204" pitchFamily="49" charset="0"/>
                <a:cs typeface="Consolas" panose="020B0609020204030204" pitchFamily="49" charset="0"/>
              </a:rPr>
              <a:t> 	ADD r1, #15       </a:t>
            </a:r>
            <a:r>
              <a:rPr lang="pt-BR" altLang="zh-TW" sz="24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r1 = r1 + 15</a:t>
            </a:r>
          </a:p>
        </p:txBody>
      </p:sp>
    </p:spTree>
    <p:extLst>
      <p:ext uri="{BB962C8B-B14F-4D97-AF65-F5344CB8AC3E}">
        <p14:creationId xmlns:p14="http://schemas.microsoft.com/office/powerpoint/2010/main" val="3012842885"/>
      </p:ext>
    </p:extLst>
  </p:cSld>
  <p:clrMapOvr>
    <a:masterClrMapping/>
  </p:clrMapOvr>
  <p:transition/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06C697-E885-42AE-AEF7-1154D8176997}" type="slidenum">
              <a:rPr lang="en-US" altLang="zh-TW"/>
              <a:pPr/>
              <a:t>14</a:t>
            </a:fld>
            <a:endParaRPr lang="en-US" altLang="zh-TW"/>
          </a:p>
        </p:txBody>
      </p:sp>
      <p:sp>
        <p:nvSpPr>
          <p:cNvPr id="78848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Commonly Used Arithmetic </a:t>
            </a:r>
            <a:r>
              <a:rPr lang="en-US" altLang="zh-TW" dirty="0"/>
              <a:t>Operations</a:t>
            </a:r>
            <a:endParaRPr lang="zh-TW" altLang="en-US" dirty="0"/>
          </a:p>
        </p:txBody>
      </p:sp>
      <p:graphicFrame>
        <p:nvGraphicFramePr>
          <p:cNvPr id="2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02364002"/>
              </p:ext>
            </p:extLst>
          </p:nvPr>
        </p:nvGraphicFramePr>
        <p:xfrm>
          <a:off x="1963119" y="1219200"/>
          <a:ext cx="8229600" cy="5210556"/>
        </p:xfrm>
        <a:graphic>
          <a:graphicData uri="http://schemas.openxmlformats.org/drawingml/2006/table">
            <a:tbl>
              <a:tblPr firstRow="1" firstCol="1" bandRow="1">
                <a:tableStyleId>{69CF1AB2-1976-4502-BF36-3FF5EA218861}</a:tableStyleId>
              </a:tblPr>
              <a:tblGrid>
                <a:gridCol w="3048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181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78740"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dirty="0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ADD</a:t>
                      </a:r>
                      <a:r>
                        <a:rPr lang="en-US" sz="1400" b="0" dirty="0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</a:t>
                      </a:r>
                      <a:r>
                        <a:rPr lang="en-US" sz="1400" b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{Rd,} Rn, </a:t>
                      </a:r>
                      <a:r>
                        <a:rPr lang="en-US" sz="1400" b="0" dirty="0" err="1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Op2</a:t>
                      </a:r>
                      <a:endParaRPr lang="en-US" sz="1400" b="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dirty="0">
                          <a:effectLst/>
                          <a:latin typeface="Consolas" panose="020B0609020204030204" pitchFamily="49" charset="0"/>
                        </a:rPr>
                        <a:t>Add</a:t>
                      </a:r>
                      <a:endParaRPr lang="en-US" sz="1400" b="0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dirty="0">
                          <a:effectLst/>
                          <a:latin typeface="Consolas" panose="020B0609020204030204" pitchFamily="49" charset="0"/>
                        </a:rPr>
                        <a:t>Rd </a:t>
                      </a:r>
                      <a:r>
                        <a:rPr lang="en-US" sz="1100" b="0" dirty="0"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effectLst/>
                          <a:latin typeface="Consolas" panose="020B0609020204030204" pitchFamily="49" charset="0"/>
                        </a:rPr>
                        <a:t> Rn + Op2</a:t>
                      </a:r>
                      <a:endParaRPr lang="en-US" sz="1400" b="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53670"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dirty="0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ADC</a:t>
                      </a:r>
                      <a:r>
                        <a:rPr lang="en-US" sz="1400" b="0" dirty="0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</a:t>
                      </a:r>
                      <a:r>
                        <a:rPr lang="en-US" sz="1400" b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{Rd,} Rn, </a:t>
                      </a:r>
                      <a:r>
                        <a:rPr lang="en-US" sz="1400" b="0" dirty="0" err="1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Op2</a:t>
                      </a:r>
                      <a:endParaRPr lang="en-US" sz="1400" b="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dirty="0">
                          <a:effectLst/>
                          <a:latin typeface="Consolas" panose="020B0609020204030204" pitchFamily="49" charset="0"/>
                        </a:rPr>
                        <a:t>Add with carry</a:t>
                      </a:r>
                      <a:endParaRPr lang="en-US" sz="1400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dirty="0">
                          <a:effectLst/>
                          <a:latin typeface="Consolas" panose="020B0609020204030204" pitchFamily="49" charset="0"/>
                        </a:rPr>
                        <a:t>Rd </a:t>
                      </a:r>
                      <a:r>
                        <a:rPr lang="en-US" sz="1100" dirty="0"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dirty="0">
                          <a:effectLst/>
                          <a:latin typeface="Consolas" panose="020B0609020204030204" pitchFamily="49" charset="0"/>
                        </a:rPr>
                        <a:t> Rn + Op2 + Carry</a:t>
                      </a:r>
                      <a:endParaRPr lang="en-US" sz="1400" b="1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8740"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dirty="0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SUB</a:t>
                      </a:r>
                      <a:r>
                        <a:rPr lang="en-US" sz="1400" b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{Rd,} Rn, </a:t>
                      </a:r>
                      <a:r>
                        <a:rPr lang="en-US" sz="1400" b="0" dirty="0" err="1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Op2</a:t>
                      </a:r>
                      <a:endParaRPr lang="en-US" sz="1400" b="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dirty="0">
                          <a:effectLst/>
                          <a:latin typeface="Consolas" panose="020B0609020204030204" pitchFamily="49" charset="0"/>
                        </a:rPr>
                        <a:t>Subtract</a:t>
                      </a:r>
                      <a:endParaRPr lang="en-US" sz="1400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dirty="0">
                          <a:effectLst/>
                          <a:latin typeface="Consolas" panose="020B0609020204030204" pitchFamily="49" charset="0"/>
                        </a:rPr>
                        <a:t>Rd </a:t>
                      </a:r>
                      <a:r>
                        <a:rPr lang="en-US" sz="1100" dirty="0"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dirty="0">
                          <a:effectLst/>
                          <a:latin typeface="Consolas" panose="020B0609020204030204" pitchFamily="49" charset="0"/>
                        </a:rPr>
                        <a:t> Rn - Op2</a:t>
                      </a:r>
                      <a:endParaRPr lang="en-US" sz="1400" b="1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dirty="0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SBC</a:t>
                      </a:r>
                      <a:r>
                        <a:rPr lang="en-US" sz="1400" b="0" dirty="0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</a:t>
                      </a:r>
                      <a:r>
                        <a:rPr lang="en-US" sz="1400" b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{Rd,} Rn, </a:t>
                      </a:r>
                      <a:r>
                        <a:rPr lang="en-US" sz="1400" b="0" dirty="0" err="1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Op2</a:t>
                      </a:r>
                      <a:endParaRPr lang="en-US" sz="1400" b="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dirty="0">
                          <a:effectLst/>
                          <a:latin typeface="Consolas" panose="020B0609020204030204" pitchFamily="49" charset="0"/>
                        </a:rPr>
                        <a:t>Subtract with carry</a:t>
                      </a:r>
                      <a:endParaRPr lang="en-US" sz="1400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dirty="0">
                          <a:effectLst/>
                          <a:latin typeface="Consolas" panose="020B0609020204030204" pitchFamily="49" charset="0"/>
                        </a:rPr>
                        <a:t>Rd </a:t>
                      </a:r>
                      <a:r>
                        <a:rPr lang="en-US" sz="1100" dirty="0"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dirty="0">
                          <a:effectLst/>
                          <a:latin typeface="Consolas" panose="020B0609020204030204" pitchFamily="49" charset="0"/>
                        </a:rPr>
                        <a:t> Rn - Op2 + Carry - 1</a:t>
                      </a:r>
                      <a:endParaRPr lang="en-US" sz="1400" b="1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8740">
                <a:tc>
                  <a:txBody>
                    <a:bodyPr/>
                    <a:lstStyle/>
                    <a:p>
                      <a:pPr marL="0" marR="0" indent="0" algn="just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dirty="0" err="1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RSB</a:t>
                      </a:r>
                      <a:r>
                        <a:rPr lang="en-US" sz="1400" b="0" dirty="0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</a:t>
                      </a:r>
                      <a:r>
                        <a:rPr lang="en-US" sz="1400" b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{Rd,} Rn, </a:t>
                      </a:r>
                      <a:r>
                        <a:rPr lang="en-US" sz="1400" b="0" dirty="0" err="1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Op2</a:t>
                      </a:r>
                      <a:endParaRPr lang="en-US" sz="1400" b="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indent="0" algn="just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dirty="0">
                          <a:effectLst/>
                          <a:latin typeface="Consolas" panose="020B0609020204030204" pitchFamily="49" charset="0"/>
                        </a:rPr>
                        <a:t>Reverse subtract</a:t>
                      </a:r>
                      <a:endParaRPr lang="en-US" sz="1400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indent="0" algn="just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>
                          <a:effectLst/>
                          <a:latin typeface="Consolas" panose="020B0609020204030204" pitchFamily="49" charset="0"/>
                        </a:rPr>
                        <a:t>Rd </a:t>
                      </a:r>
                      <a:r>
                        <a:rPr lang="en-US" sz="1100" dirty="0"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dirty="0">
                          <a:effectLst/>
                          <a:latin typeface="Consolas" panose="020B0609020204030204" pitchFamily="49" charset="0"/>
                        </a:rPr>
                        <a:t> Op2 - Rn</a:t>
                      </a:r>
                      <a:endParaRPr lang="en-US" sz="1400" b="1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78740"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dirty="0" err="1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MUL</a:t>
                      </a:r>
                      <a:r>
                        <a:rPr lang="en-US" sz="1400" b="0" dirty="0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</a:t>
                      </a:r>
                      <a:r>
                        <a:rPr lang="en-US" sz="1400" b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{Rd,} Rn, Rm</a:t>
                      </a:r>
                      <a:endParaRPr lang="en-US" sz="1400" b="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dirty="0">
                          <a:effectLst/>
                          <a:latin typeface="Consolas" panose="020B0609020204030204" pitchFamily="49" charset="0"/>
                        </a:rPr>
                        <a:t>Multiply</a:t>
                      </a:r>
                      <a:endParaRPr lang="en-US" sz="1400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dirty="0">
                          <a:effectLst/>
                          <a:latin typeface="Consolas" panose="020B0609020204030204" pitchFamily="49" charset="0"/>
                        </a:rPr>
                        <a:t>Rd </a:t>
                      </a:r>
                      <a:r>
                        <a:rPr lang="en-US" sz="1100" dirty="0"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dirty="0">
                          <a:effectLst/>
                          <a:latin typeface="Consolas" panose="020B0609020204030204" pitchFamily="49" charset="0"/>
                        </a:rPr>
                        <a:t> (Rn × Rm)[31:0]</a:t>
                      </a:r>
                      <a:endParaRPr lang="en-US" sz="1400" b="1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53670"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dirty="0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MLA</a:t>
                      </a:r>
                      <a:r>
                        <a:rPr lang="en-US" sz="1400" b="0" dirty="0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</a:t>
                      </a:r>
                      <a:r>
                        <a:rPr lang="en-US" sz="1400" b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Rd, Rn, Rm, Ra</a:t>
                      </a:r>
                      <a:endParaRPr lang="en-US" sz="1400" b="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dirty="0">
                          <a:effectLst/>
                          <a:latin typeface="Consolas" panose="020B0609020204030204" pitchFamily="49" charset="0"/>
                        </a:rPr>
                        <a:t>Multiply with accumulate</a:t>
                      </a:r>
                      <a:endParaRPr lang="en-US" sz="1400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dirty="0">
                          <a:effectLst/>
                          <a:latin typeface="Consolas" panose="020B0609020204030204" pitchFamily="49" charset="0"/>
                        </a:rPr>
                        <a:t>Rd </a:t>
                      </a:r>
                      <a:r>
                        <a:rPr lang="en-US" sz="1100" dirty="0"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dirty="0">
                          <a:effectLst/>
                          <a:latin typeface="Consolas" panose="020B0609020204030204" pitchFamily="49" charset="0"/>
                        </a:rPr>
                        <a:t> (Ra + (Rn × Rm))[31:0]</a:t>
                      </a:r>
                      <a:endParaRPr lang="en-US" sz="1400" b="1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53670"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dirty="0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MLS</a:t>
                      </a:r>
                      <a:r>
                        <a:rPr lang="en-US" sz="1400" b="0" dirty="0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</a:t>
                      </a:r>
                      <a:r>
                        <a:rPr lang="en-US" sz="1400" b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Rd, Rn, Rm, Ra</a:t>
                      </a:r>
                      <a:endParaRPr lang="en-US" sz="1400" b="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dirty="0">
                          <a:effectLst/>
                          <a:latin typeface="Consolas" panose="020B0609020204030204" pitchFamily="49" charset="0"/>
                        </a:rPr>
                        <a:t>Multiply and subtract</a:t>
                      </a:r>
                      <a:endParaRPr lang="en-US" sz="1400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dirty="0">
                          <a:effectLst/>
                          <a:latin typeface="Consolas" panose="020B0609020204030204" pitchFamily="49" charset="0"/>
                        </a:rPr>
                        <a:t>Rd </a:t>
                      </a:r>
                      <a:r>
                        <a:rPr lang="en-US" sz="1100" dirty="0"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dirty="0">
                          <a:effectLst/>
                          <a:latin typeface="Consolas" panose="020B0609020204030204" pitchFamily="49" charset="0"/>
                        </a:rPr>
                        <a:t> (Ra – (Rn × Rm))[31:0]</a:t>
                      </a:r>
                      <a:endParaRPr lang="en-US" sz="1400" b="1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53670"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dirty="0" err="1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SDIV</a:t>
                      </a:r>
                      <a:r>
                        <a:rPr lang="en-US" sz="1400" b="0" dirty="0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</a:t>
                      </a:r>
                      <a:r>
                        <a:rPr lang="en-US" sz="1400" b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{Rd,} Rn, Rm</a:t>
                      </a:r>
                      <a:endParaRPr lang="en-US" sz="1400" b="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dirty="0">
                          <a:effectLst/>
                          <a:latin typeface="Consolas" panose="020B0609020204030204" pitchFamily="49" charset="0"/>
                        </a:rPr>
                        <a:t>Signed divide</a:t>
                      </a:r>
                      <a:endParaRPr lang="en-US" sz="1400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dirty="0">
                          <a:effectLst/>
                          <a:latin typeface="Consolas" panose="020B0609020204030204" pitchFamily="49" charset="0"/>
                        </a:rPr>
                        <a:t>Rd </a:t>
                      </a:r>
                      <a:r>
                        <a:rPr lang="en-US" sz="1100" dirty="0"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dirty="0">
                          <a:effectLst/>
                          <a:latin typeface="Consolas" panose="020B0609020204030204" pitchFamily="49" charset="0"/>
                        </a:rPr>
                        <a:t> Rn ÷ Rm</a:t>
                      </a:r>
                      <a:endParaRPr lang="en-US" sz="1400" b="1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53670"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dirty="0" err="1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UDIV</a:t>
                      </a:r>
                      <a:r>
                        <a:rPr lang="en-US" sz="1400" b="0" dirty="0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</a:t>
                      </a:r>
                      <a:r>
                        <a:rPr lang="en-US" sz="1400" b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{Rd,} Rn, Rm</a:t>
                      </a:r>
                      <a:endParaRPr lang="en-US" sz="1400" b="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dirty="0">
                          <a:effectLst/>
                          <a:latin typeface="Consolas" panose="020B0609020204030204" pitchFamily="49" charset="0"/>
                        </a:rPr>
                        <a:t>Unsigned divide</a:t>
                      </a:r>
                      <a:endParaRPr lang="en-US" sz="1400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dirty="0">
                          <a:effectLst/>
                          <a:latin typeface="Consolas" panose="020B0609020204030204" pitchFamily="49" charset="0"/>
                        </a:rPr>
                        <a:t>Rd </a:t>
                      </a:r>
                      <a:r>
                        <a:rPr lang="en-US" sz="1100" dirty="0"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dirty="0">
                          <a:effectLst/>
                          <a:latin typeface="Consolas" panose="020B0609020204030204" pitchFamily="49" charset="0"/>
                        </a:rPr>
                        <a:t> Rn ÷ Rm</a:t>
                      </a:r>
                      <a:endParaRPr lang="en-US" sz="1400" b="1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53670"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dirty="0" err="1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SSAT</a:t>
                      </a:r>
                      <a:r>
                        <a:rPr lang="en-US" sz="1400" b="0" dirty="0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</a:t>
                      </a:r>
                      <a:r>
                        <a:rPr lang="en-US" sz="1400" b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Rd, #n, Rm {,shift #s}</a:t>
                      </a:r>
                      <a:endParaRPr lang="en-US" sz="1400" b="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dirty="0">
                          <a:effectLst/>
                          <a:latin typeface="Consolas" panose="020B0609020204030204" pitchFamily="49" charset="0"/>
                        </a:rPr>
                        <a:t>Signed saturate</a:t>
                      </a:r>
                      <a:endParaRPr lang="en-US" sz="1400" b="1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53670"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dirty="0" err="1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USAT</a:t>
                      </a:r>
                      <a:r>
                        <a:rPr lang="en-US" sz="1400" b="0" dirty="0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</a:t>
                      </a:r>
                      <a:r>
                        <a:rPr lang="en-US" sz="1400" b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Rd, #n, Rm {,shift #s}</a:t>
                      </a:r>
                      <a:endParaRPr lang="en-US" sz="1400" b="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dirty="0">
                          <a:effectLst/>
                          <a:latin typeface="Consolas" panose="020B0609020204030204" pitchFamily="49" charset="0"/>
                        </a:rPr>
                        <a:t>Unsigned saturate</a:t>
                      </a:r>
                      <a:endParaRPr lang="en-US" sz="1400" b="1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511335096"/>
      </p:ext>
    </p:extLst>
  </p:cSld>
  <p:clrMapOvr>
    <a:masterClrMapping/>
  </p:clrMapOvr>
  <p:transition/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CDBC27-D352-D5ED-D2D3-2B065BAA2D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ARM Programming Model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E98BC92-75C1-FEAB-3A42-0BFBFC7613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15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D9A1209-DA39-1B98-2564-CF4481068781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Rectangle 20">
            <a:extLst>
              <a:ext uri="{FF2B5EF4-FFF2-40B4-BE49-F238E27FC236}">
                <a16:creationId xmlns:a16="http://schemas.microsoft.com/office/drawing/2014/main" id="{7A90BA5F-D460-866D-8A3B-E5AAF1209377}"/>
              </a:ext>
            </a:extLst>
          </p:cNvPr>
          <p:cNvSpPr>
            <a:spLocks noChangeArrowheads="1"/>
          </p:cNvSpPr>
          <p:nvPr/>
        </p:nvSpPr>
        <p:spPr bwMode="auto">
          <a:xfrm>
            <a:off x="6938483" y="1910150"/>
            <a:ext cx="1943100" cy="400050"/>
          </a:xfrm>
          <a:prstGeom prst="rect">
            <a:avLst/>
          </a:prstGeom>
          <a:solidFill>
            <a:srgbClr val="FFFF00"/>
          </a:solidFill>
          <a:ln w="12700">
            <a:solidFill>
              <a:schemeClr val="tx1"/>
            </a:solidFill>
            <a:miter lim="800000"/>
            <a:headEnd type="none" w="sm" len="sm"/>
            <a:tailEnd type="none" w="sm" len="sm"/>
          </a:ln>
        </p:spPr>
        <p:txBody>
          <a:bodyPr wrap="none" anchor="ctr"/>
          <a:lstStyle/>
          <a:p>
            <a:pPr algn="ctr" defTabSz="342900"/>
            <a:endParaRPr lang="en-US" sz="1350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6" name="Text Box 21">
            <a:extLst>
              <a:ext uri="{FF2B5EF4-FFF2-40B4-BE49-F238E27FC236}">
                <a16:creationId xmlns:a16="http://schemas.microsoft.com/office/drawing/2014/main" id="{199217F8-3B14-6660-C58D-88694020658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869427" y="1671356"/>
            <a:ext cx="380232" cy="323165"/>
          </a:xfrm>
          <a:prstGeom prst="rect">
            <a:avLst/>
          </a:prstGeom>
          <a:noFill/>
          <a:ln w="12700">
            <a:noFill/>
            <a:miter lim="800000"/>
            <a:headEnd type="none" w="sm" len="sm"/>
            <a:tailEnd type="none" w="sm" len="sm"/>
          </a:ln>
        </p:spPr>
        <p:txBody>
          <a:bodyPr wrap="none">
            <a:spAutoFit/>
          </a:bodyPr>
          <a:lstStyle/>
          <a:p>
            <a:pPr defTabSz="342900"/>
            <a:r>
              <a:rPr lang="en-US" sz="1500">
                <a:solidFill>
                  <a:prstClr val="black"/>
                </a:solidFill>
                <a:latin typeface="Calibri"/>
              </a:rPr>
              <a:t>31</a:t>
            </a:r>
          </a:p>
        </p:txBody>
      </p:sp>
      <p:sp>
        <p:nvSpPr>
          <p:cNvPr id="7" name="Text Box 22">
            <a:extLst>
              <a:ext uri="{FF2B5EF4-FFF2-40B4-BE49-F238E27FC236}">
                <a16:creationId xmlns:a16="http://schemas.microsoft.com/office/drawing/2014/main" id="{16DC8768-E016-620D-DCB3-C48D5F75A29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595833" y="1660640"/>
            <a:ext cx="282450" cy="323165"/>
          </a:xfrm>
          <a:prstGeom prst="rect">
            <a:avLst/>
          </a:prstGeom>
          <a:noFill/>
          <a:ln w="12700">
            <a:noFill/>
            <a:miter lim="800000"/>
            <a:headEnd type="none" w="sm" len="sm"/>
            <a:tailEnd type="none" w="sm" len="sm"/>
          </a:ln>
        </p:spPr>
        <p:txBody>
          <a:bodyPr wrap="none">
            <a:spAutoFit/>
          </a:bodyPr>
          <a:lstStyle/>
          <a:p>
            <a:pPr defTabSz="342900"/>
            <a:r>
              <a:rPr lang="en-US" sz="1500" dirty="0">
                <a:solidFill>
                  <a:prstClr val="black"/>
                </a:solidFill>
                <a:latin typeface="Calibri"/>
              </a:rPr>
              <a:t>0</a:t>
            </a:r>
          </a:p>
        </p:txBody>
      </p:sp>
      <p:graphicFrame>
        <p:nvGraphicFramePr>
          <p:cNvPr id="8" name="Group 560">
            <a:extLst>
              <a:ext uri="{FF2B5EF4-FFF2-40B4-BE49-F238E27FC236}">
                <a16:creationId xmlns:a16="http://schemas.microsoft.com/office/drawing/2014/main" id="{E1C6736B-70D6-1990-3EAC-B3CF8F4EC6FE}"/>
              </a:ext>
            </a:extLst>
          </p:cNvPr>
          <p:cNvGraphicFramePr>
            <a:graphicFrameLocks/>
          </p:cNvGraphicFramePr>
          <p:nvPr/>
        </p:nvGraphicFramePr>
        <p:xfrm>
          <a:off x="3063572" y="1778701"/>
          <a:ext cx="2857500" cy="4023232"/>
        </p:xfrm>
        <a:graphic>
          <a:graphicData uri="http://schemas.openxmlformats.org/drawingml/2006/table">
            <a:tbl>
              <a:tblPr/>
              <a:tblGrid>
                <a:gridCol w="28575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51451">
                <a:tc>
                  <a:txBody>
                    <a:bodyPr/>
                    <a:lstStyle>
                      <a:lvl1pPr marL="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</a:rPr>
                        <a:t>R0</a:t>
                      </a:r>
                    </a:p>
                  </a:txBody>
                  <a:tcPr marL="68580" marR="68580" marT="34286" marB="34286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1451">
                <a:tc>
                  <a:txBody>
                    <a:bodyPr/>
                    <a:lstStyle>
                      <a:lvl1pPr marL="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</a:rPr>
                        <a:t>R1</a:t>
                      </a:r>
                    </a:p>
                  </a:txBody>
                  <a:tcPr marL="68580" marR="68580" marT="34286" marB="34286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1451">
                <a:tc>
                  <a:txBody>
                    <a:bodyPr/>
                    <a:lstStyle>
                      <a:lvl1pPr marL="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</a:rPr>
                        <a:t>R2</a:t>
                      </a:r>
                    </a:p>
                  </a:txBody>
                  <a:tcPr marL="68580" marR="68580" marT="34286" marB="34286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1451">
                <a:tc>
                  <a:txBody>
                    <a:bodyPr/>
                    <a:lstStyle>
                      <a:lvl1pPr marL="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</a:rPr>
                        <a:t>R3</a:t>
                      </a:r>
                    </a:p>
                  </a:txBody>
                  <a:tcPr marL="68580" marR="68580" marT="34286" marB="34286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1451">
                <a:tc>
                  <a:txBody>
                    <a:bodyPr/>
                    <a:lstStyle>
                      <a:lvl1pPr marL="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</a:rPr>
                        <a:t>R4</a:t>
                      </a:r>
                    </a:p>
                  </a:txBody>
                  <a:tcPr marL="68580" marR="68580" marT="34286" marB="34286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1451">
                <a:tc>
                  <a:txBody>
                    <a:bodyPr/>
                    <a:lstStyle>
                      <a:lvl1pPr marL="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</a:rPr>
                        <a:t>R5</a:t>
                      </a:r>
                    </a:p>
                  </a:txBody>
                  <a:tcPr marL="68580" marR="68580" marT="34286" marB="34286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51451">
                <a:tc>
                  <a:txBody>
                    <a:bodyPr/>
                    <a:lstStyle>
                      <a:lvl1pPr marL="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</a:rPr>
                        <a:t>R6</a:t>
                      </a:r>
                    </a:p>
                  </a:txBody>
                  <a:tcPr marL="68580" marR="68580" marT="34286" marB="34286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51451">
                <a:tc>
                  <a:txBody>
                    <a:bodyPr/>
                    <a:lstStyle>
                      <a:lvl1pPr marL="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</a:rPr>
                        <a:t>R7</a:t>
                      </a:r>
                    </a:p>
                  </a:txBody>
                  <a:tcPr marL="68580" marR="68580" marT="34286" marB="34286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51451">
                <a:tc>
                  <a:txBody>
                    <a:bodyPr/>
                    <a:lstStyle>
                      <a:lvl1pPr marL="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</a:rPr>
                        <a:t>R8</a:t>
                      </a:r>
                    </a:p>
                  </a:txBody>
                  <a:tcPr marL="68580" marR="68580" marT="34286" marB="34286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CEC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51451">
                <a:tc>
                  <a:txBody>
                    <a:bodyPr/>
                    <a:lstStyle>
                      <a:lvl1pPr marL="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</a:rPr>
                        <a:t>R9</a:t>
                      </a:r>
                    </a:p>
                  </a:txBody>
                  <a:tcPr marL="68580" marR="68580" marT="34286" marB="34286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CEC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51451">
                <a:tc>
                  <a:txBody>
                    <a:bodyPr/>
                    <a:lstStyle>
                      <a:lvl1pPr marL="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</a:rPr>
                        <a:t>R10</a:t>
                      </a:r>
                    </a:p>
                  </a:txBody>
                  <a:tcPr marL="68580" marR="68580" marT="34286" marB="34286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CEC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51451">
                <a:tc>
                  <a:txBody>
                    <a:bodyPr/>
                    <a:lstStyle>
                      <a:lvl1pPr marL="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</a:rPr>
                        <a:t>R11</a:t>
                      </a:r>
                    </a:p>
                  </a:txBody>
                  <a:tcPr marL="68580" marR="68580" marT="34286" marB="34286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CEC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51451">
                <a:tc>
                  <a:txBody>
                    <a:bodyPr/>
                    <a:lstStyle>
                      <a:lvl1pPr marL="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</a:rPr>
                        <a:t>R12</a:t>
                      </a:r>
                    </a:p>
                  </a:txBody>
                  <a:tcPr marL="68580" marR="68580" marT="34286" marB="34286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CEC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51451">
                <a:tc>
                  <a:txBody>
                    <a:bodyPr/>
                    <a:lstStyle>
                      <a:lvl1pPr marL="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</a:rPr>
                        <a:t>R13: Stack Pointer (SP)</a:t>
                      </a:r>
                    </a:p>
                  </a:txBody>
                  <a:tcPr marL="68580" marR="68580" marT="34286" marB="34286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CCC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51451">
                <a:tc>
                  <a:txBody>
                    <a:bodyPr/>
                    <a:lstStyle>
                      <a:lvl1pPr marL="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</a:rPr>
                        <a:t>R14: Link Register (LR)</a:t>
                      </a:r>
                    </a:p>
                  </a:txBody>
                  <a:tcPr marL="68580" marR="68580" marT="34286" marB="34286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CCC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51451">
                <a:tc>
                  <a:txBody>
                    <a:bodyPr/>
                    <a:lstStyle>
                      <a:lvl1pPr marL="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</a:rPr>
                        <a:t>R15: Program Counter (PC)</a:t>
                      </a:r>
                    </a:p>
                  </a:txBody>
                  <a:tcPr marL="68580" marR="68580" marT="34286" marB="34286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CCC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</a:tbl>
          </a:graphicData>
        </a:graphic>
      </p:graphicFrame>
      <p:sp>
        <p:nvSpPr>
          <p:cNvPr id="9" name="Rectangle 8">
            <a:extLst>
              <a:ext uri="{FF2B5EF4-FFF2-40B4-BE49-F238E27FC236}">
                <a16:creationId xmlns:a16="http://schemas.microsoft.com/office/drawing/2014/main" id="{5BA99A53-6B2E-FCFE-91C1-E5A027810349}"/>
              </a:ext>
            </a:extLst>
          </p:cNvPr>
          <p:cNvSpPr/>
          <p:nvPr/>
        </p:nvSpPr>
        <p:spPr>
          <a:xfrm>
            <a:off x="6938484" y="1910150"/>
            <a:ext cx="159741" cy="399772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 defTabSz="342900"/>
            <a:r>
              <a:rPr lang="en-US" sz="1350" dirty="0">
                <a:solidFill>
                  <a:prstClr val="black"/>
                </a:solidFill>
                <a:latin typeface="Calibri"/>
              </a:rPr>
              <a:t>N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4E7D571-2AAA-1D14-2A9E-6F20478FA858}"/>
              </a:ext>
            </a:extLst>
          </p:cNvPr>
          <p:cNvSpPr/>
          <p:nvPr/>
        </p:nvSpPr>
        <p:spPr>
          <a:xfrm>
            <a:off x="7100606" y="1909872"/>
            <a:ext cx="159741" cy="399772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 defTabSz="342900"/>
            <a:r>
              <a:rPr lang="en-US" sz="1350" dirty="0">
                <a:solidFill>
                  <a:prstClr val="black"/>
                </a:solidFill>
                <a:latin typeface="Calibri"/>
              </a:rPr>
              <a:t>Z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875F27B4-F838-4CF4-2AAA-397A64FA6A55}"/>
              </a:ext>
            </a:extLst>
          </p:cNvPr>
          <p:cNvSpPr/>
          <p:nvPr/>
        </p:nvSpPr>
        <p:spPr>
          <a:xfrm>
            <a:off x="7262729" y="1909315"/>
            <a:ext cx="159741" cy="399772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 defTabSz="342900"/>
            <a:r>
              <a:rPr lang="en-US" sz="1350" dirty="0">
                <a:solidFill>
                  <a:prstClr val="black"/>
                </a:solidFill>
                <a:latin typeface="Calibri"/>
              </a:rPr>
              <a:t>C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4FD1CBF-7F8E-7A40-0B2C-2D948AD6A7B4}"/>
              </a:ext>
            </a:extLst>
          </p:cNvPr>
          <p:cNvSpPr/>
          <p:nvPr/>
        </p:nvSpPr>
        <p:spPr>
          <a:xfrm>
            <a:off x="7422470" y="1909314"/>
            <a:ext cx="159741" cy="399772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 defTabSz="342900"/>
            <a:r>
              <a:rPr lang="en-US" sz="1350" dirty="0">
                <a:solidFill>
                  <a:prstClr val="black"/>
                </a:solidFill>
                <a:latin typeface="Calibri"/>
              </a:rPr>
              <a:t>V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55E196E5-893D-8861-8E4F-58FE7803929A}"/>
              </a:ext>
            </a:extLst>
          </p:cNvPr>
          <p:cNvSpPr/>
          <p:nvPr/>
        </p:nvSpPr>
        <p:spPr>
          <a:xfrm>
            <a:off x="6109252" y="2304526"/>
            <a:ext cx="3447739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defTabSz="342900"/>
            <a:r>
              <a:rPr lang="en-US" sz="1600" dirty="0">
                <a:solidFill>
                  <a:prstClr val="black"/>
                </a:solidFill>
                <a:latin typeface="Calibri"/>
              </a:rPr>
              <a:t>CPSR (Current Program Status Register)</a:t>
            </a:r>
          </a:p>
        </p:txBody>
      </p:sp>
      <p:sp>
        <p:nvSpPr>
          <p:cNvPr id="14" name="Rectangle 3">
            <a:extLst>
              <a:ext uri="{FF2B5EF4-FFF2-40B4-BE49-F238E27FC236}">
                <a16:creationId xmlns:a16="http://schemas.microsoft.com/office/drawing/2014/main" id="{97F073F8-9841-45BA-7FCE-1360635833CF}"/>
              </a:ext>
            </a:extLst>
          </p:cNvPr>
          <p:cNvSpPr txBox="1">
            <a:spLocks noChangeArrowheads="1"/>
          </p:cNvSpPr>
          <p:nvPr/>
        </p:nvSpPr>
        <p:spPr>
          <a:xfrm>
            <a:off x="6016827" y="2639495"/>
            <a:ext cx="4230773" cy="3394472"/>
          </a:xfrm>
          <a:prstGeom prst="rect">
            <a:avLst/>
          </a:prstGeom>
        </p:spPr>
        <p:txBody>
          <a:bodyPr vert="horz" lIns="68580" tIns="34290" rIns="68580" bIns="34290" rtlCol="0">
            <a:normAutofit/>
          </a:bodyPr>
          <a:lstStyle>
            <a:lvl1pPr marL="342900" indent="-3429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ct val="20000"/>
              </a:spcBef>
              <a:buFont typeface="Arial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157163" indent="-214313" defTabSz="342900"/>
            <a:r>
              <a:rPr lang="en-US" sz="2500" dirty="0">
                <a:solidFill>
                  <a:prstClr val="black"/>
                </a:solidFill>
                <a:latin typeface="Calibri"/>
              </a:rPr>
              <a:t>Four flag bits:</a:t>
            </a:r>
          </a:p>
          <a:p>
            <a:pPr marL="557213" lvl="1" indent="-214313" defTabSz="342900"/>
            <a:r>
              <a:rPr lang="en-US" sz="2100" dirty="0">
                <a:solidFill>
                  <a:prstClr val="black"/>
                </a:solidFill>
                <a:latin typeface="Calibri"/>
              </a:rPr>
              <a:t>N (negative), Z (zero), C (carry), V (overflow).</a:t>
            </a:r>
          </a:p>
        </p:txBody>
      </p:sp>
    </p:spTree>
    <p:extLst>
      <p:ext uri="{BB962C8B-B14F-4D97-AF65-F5344CB8AC3E}">
        <p14:creationId xmlns:p14="http://schemas.microsoft.com/office/powerpoint/2010/main" val="301123565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Program Status Register (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PSR</a:t>
            </a:r>
            <a:r>
              <a:rPr lang="en-US" dirty="0"/>
              <a:t>)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16</a:t>
            </a:fld>
            <a:endParaRPr kumimoji="0" lang="en-US" dirty="0"/>
          </a:p>
        </p:txBody>
      </p:sp>
      <p:sp>
        <p:nvSpPr>
          <p:cNvPr id="5" name="TextBox 4"/>
          <p:cNvSpPr txBox="1"/>
          <p:nvPr/>
        </p:nvSpPr>
        <p:spPr>
          <a:xfrm>
            <a:off x="1981201" y="5168839"/>
            <a:ext cx="504580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Note: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GE flags are only available on Cortex-M4 and M7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Use PSR in code 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D2D02235-DF68-4C77-B40A-CB0A304DB2A6}"/>
              </a:ext>
            </a:extLst>
          </p:cNvPr>
          <p:cNvSpPr/>
          <p:nvPr/>
        </p:nvSpPr>
        <p:spPr bwMode="auto">
          <a:xfrm>
            <a:off x="2679108" y="2261453"/>
            <a:ext cx="237808" cy="264071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N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E9D76E83-FCE2-4BA2-A7C7-6C5D7761E419}"/>
              </a:ext>
            </a:extLst>
          </p:cNvPr>
          <p:cNvSpPr/>
          <p:nvPr/>
        </p:nvSpPr>
        <p:spPr bwMode="auto">
          <a:xfrm>
            <a:off x="2916917" y="2261453"/>
            <a:ext cx="239712" cy="264071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Z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ED757DAC-B1B9-422D-8858-754340693C42}"/>
              </a:ext>
            </a:extLst>
          </p:cNvPr>
          <p:cNvSpPr/>
          <p:nvPr/>
        </p:nvSpPr>
        <p:spPr bwMode="auto">
          <a:xfrm>
            <a:off x="3150922" y="2261453"/>
            <a:ext cx="239712" cy="264071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29A47148-7D46-4863-B4B2-C63310ABF626}"/>
              </a:ext>
            </a:extLst>
          </p:cNvPr>
          <p:cNvSpPr/>
          <p:nvPr/>
        </p:nvSpPr>
        <p:spPr bwMode="auto">
          <a:xfrm>
            <a:off x="3390633" y="2261453"/>
            <a:ext cx="239712" cy="264071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V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67AC9496-ABEB-42E9-B3A7-3E437E775E80}"/>
              </a:ext>
            </a:extLst>
          </p:cNvPr>
          <p:cNvSpPr/>
          <p:nvPr/>
        </p:nvSpPr>
        <p:spPr bwMode="auto">
          <a:xfrm>
            <a:off x="3873862" y="2261453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 dirty="0">
              <a:cs typeface="Arial" charset="0"/>
            </a:endParaRP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B5018C6D-E05D-4EA0-855E-18FF1C10E398}"/>
              </a:ext>
            </a:extLst>
          </p:cNvPr>
          <p:cNvSpPr/>
          <p:nvPr/>
        </p:nvSpPr>
        <p:spPr bwMode="auto">
          <a:xfrm>
            <a:off x="4107866" y="2261453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D22C2EDD-1A03-41EE-8326-88CA9C913318}"/>
              </a:ext>
            </a:extLst>
          </p:cNvPr>
          <p:cNvSpPr/>
          <p:nvPr/>
        </p:nvSpPr>
        <p:spPr bwMode="auto">
          <a:xfrm>
            <a:off x="4347577" y="2261453"/>
            <a:ext cx="237810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EB246560-A84D-4CC1-AD4F-2F245D8C1DA8}"/>
              </a:ext>
            </a:extLst>
          </p:cNvPr>
          <p:cNvSpPr/>
          <p:nvPr/>
        </p:nvSpPr>
        <p:spPr bwMode="auto">
          <a:xfrm>
            <a:off x="4579679" y="2261453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3EC68C78-795A-4BB4-9313-C851BE696721}"/>
              </a:ext>
            </a:extLst>
          </p:cNvPr>
          <p:cNvSpPr/>
          <p:nvPr/>
        </p:nvSpPr>
        <p:spPr bwMode="auto">
          <a:xfrm>
            <a:off x="4819391" y="2261453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F25E5F4B-5F98-4081-A8C9-864D82DF841E}"/>
              </a:ext>
            </a:extLst>
          </p:cNvPr>
          <p:cNvSpPr/>
          <p:nvPr/>
        </p:nvSpPr>
        <p:spPr bwMode="auto">
          <a:xfrm>
            <a:off x="5053396" y="2261453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50C4E4A2-C8E4-4D1C-91A7-203BCBA4D6EF}"/>
              </a:ext>
            </a:extLst>
          </p:cNvPr>
          <p:cNvSpPr/>
          <p:nvPr/>
        </p:nvSpPr>
        <p:spPr bwMode="auto">
          <a:xfrm>
            <a:off x="5293108" y="2261453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A7DC75E3-986E-47B9-88CB-093930A867A0}"/>
              </a:ext>
            </a:extLst>
          </p:cNvPr>
          <p:cNvSpPr/>
          <p:nvPr/>
        </p:nvSpPr>
        <p:spPr bwMode="auto">
          <a:xfrm>
            <a:off x="5532820" y="2261453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1501C15E-0FA0-47FE-AEE4-412F66A55255}"/>
              </a:ext>
            </a:extLst>
          </p:cNvPr>
          <p:cNvSpPr/>
          <p:nvPr/>
        </p:nvSpPr>
        <p:spPr bwMode="auto">
          <a:xfrm>
            <a:off x="5772532" y="2261453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F9639C4D-0E1E-49BA-BA29-9542A3FC5420}"/>
              </a:ext>
            </a:extLst>
          </p:cNvPr>
          <p:cNvSpPr/>
          <p:nvPr/>
        </p:nvSpPr>
        <p:spPr bwMode="auto">
          <a:xfrm>
            <a:off x="6006535" y="2261453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7379D180-4C3F-4C04-9794-72EB79D6BC79}"/>
              </a:ext>
            </a:extLst>
          </p:cNvPr>
          <p:cNvSpPr/>
          <p:nvPr/>
        </p:nvSpPr>
        <p:spPr bwMode="auto">
          <a:xfrm>
            <a:off x="6246247" y="2261453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84A413A7-DE74-43A8-B9C8-58966DF1A2A0}"/>
              </a:ext>
            </a:extLst>
          </p:cNvPr>
          <p:cNvSpPr/>
          <p:nvPr/>
        </p:nvSpPr>
        <p:spPr bwMode="auto">
          <a:xfrm>
            <a:off x="6480252" y="2261453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B6C10284-2902-427E-9C56-F498EA9D44C7}"/>
              </a:ext>
            </a:extLst>
          </p:cNvPr>
          <p:cNvSpPr/>
          <p:nvPr/>
        </p:nvSpPr>
        <p:spPr bwMode="auto">
          <a:xfrm>
            <a:off x="6719964" y="2261453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A8A61E98-46CA-418B-81EA-F14F053B3E55}"/>
              </a:ext>
            </a:extLst>
          </p:cNvPr>
          <p:cNvSpPr/>
          <p:nvPr/>
        </p:nvSpPr>
        <p:spPr bwMode="auto">
          <a:xfrm>
            <a:off x="6953968" y="2261453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ED71AA6C-0B4E-4BE4-BD3E-A8CF421DF4EC}"/>
              </a:ext>
            </a:extLst>
          </p:cNvPr>
          <p:cNvSpPr/>
          <p:nvPr/>
        </p:nvSpPr>
        <p:spPr bwMode="auto">
          <a:xfrm>
            <a:off x="7193679" y="2261453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3B0F1A0D-9F22-483C-945E-2C70FE7D6FF4}"/>
              </a:ext>
            </a:extLst>
          </p:cNvPr>
          <p:cNvSpPr/>
          <p:nvPr/>
        </p:nvSpPr>
        <p:spPr bwMode="auto">
          <a:xfrm>
            <a:off x="7433391" y="2261453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AAA7E9AA-DF2C-481C-999C-B818CABCEA58}"/>
              </a:ext>
            </a:extLst>
          </p:cNvPr>
          <p:cNvSpPr/>
          <p:nvPr/>
        </p:nvSpPr>
        <p:spPr bwMode="auto">
          <a:xfrm>
            <a:off x="7673103" y="2261453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0E4509EB-0208-4A22-A9A3-2A761776C361}"/>
              </a:ext>
            </a:extLst>
          </p:cNvPr>
          <p:cNvSpPr/>
          <p:nvPr/>
        </p:nvSpPr>
        <p:spPr bwMode="auto">
          <a:xfrm>
            <a:off x="7907108" y="2261453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F11F2164-B461-4AD4-9EA8-792FA22336CC}"/>
              </a:ext>
            </a:extLst>
          </p:cNvPr>
          <p:cNvSpPr/>
          <p:nvPr/>
        </p:nvSpPr>
        <p:spPr bwMode="auto">
          <a:xfrm>
            <a:off x="8146820" y="2261453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188107AD-4886-425E-85BE-FB0E2AF3E979}"/>
              </a:ext>
            </a:extLst>
          </p:cNvPr>
          <p:cNvSpPr/>
          <p:nvPr/>
        </p:nvSpPr>
        <p:spPr bwMode="auto">
          <a:xfrm>
            <a:off x="8380824" y="2261453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3B47B7E2-0166-4D5A-8120-1B8EE5978B59}"/>
              </a:ext>
            </a:extLst>
          </p:cNvPr>
          <p:cNvSpPr/>
          <p:nvPr/>
        </p:nvSpPr>
        <p:spPr bwMode="auto">
          <a:xfrm>
            <a:off x="8620535" y="2261453"/>
            <a:ext cx="237810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12DDC7C3-DFD1-4D11-AED5-AF477F95F8E1}"/>
              </a:ext>
            </a:extLst>
          </p:cNvPr>
          <p:cNvSpPr/>
          <p:nvPr/>
        </p:nvSpPr>
        <p:spPr bwMode="auto">
          <a:xfrm>
            <a:off x="8852637" y="2261453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E680ADAF-C912-4131-83BD-8DCAD2747609}"/>
              </a:ext>
            </a:extLst>
          </p:cNvPr>
          <p:cNvSpPr/>
          <p:nvPr/>
        </p:nvSpPr>
        <p:spPr bwMode="auto">
          <a:xfrm>
            <a:off x="9092349" y="2261453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79E394A5-6BD5-43D2-B13C-3039C766ABE9}"/>
              </a:ext>
            </a:extLst>
          </p:cNvPr>
          <p:cNvSpPr/>
          <p:nvPr/>
        </p:nvSpPr>
        <p:spPr bwMode="auto">
          <a:xfrm>
            <a:off x="9332061" y="2261453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C5F0E03E-B9A1-4DF5-B408-10765295937B}"/>
              </a:ext>
            </a:extLst>
          </p:cNvPr>
          <p:cNvSpPr/>
          <p:nvPr/>
        </p:nvSpPr>
        <p:spPr bwMode="auto">
          <a:xfrm>
            <a:off x="9571772" y="2261453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7CB3C704-003E-479A-AD30-CBB182EA9D64}"/>
              </a:ext>
            </a:extLst>
          </p:cNvPr>
          <p:cNvSpPr/>
          <p:nvPr/>
        </p:nvSpPr>
        <p:spPr bwMode="auto">
          <a:xfrm>
            <a:off x="9805777" y="2261453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A84D548A-318E-4B3E-B81B-AFD2D004B4F0}"/>
              </a:ext>
            </a:extLst>
          </p:cNvPr>
          <p:cNvSpPr/>
          <p:nvPr/>
        </p:nvSpPr>
        <p:spPr bwMode="auto">
          <a:xfrm>
            <a:off x="10045489" y="2261453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FE72A596-B1D3-4918-87B5-3F16F9666853}"/>
              </a:ext>
            </a:extLst>
          </p:cNvPr>
          <p:cNvSpPr/>
          <p:nvPr/>
        </p:nvSpPr>
        <p:spPr bwMode="auto">
          <a:xfrm>
            <a:off x="2679109" y="2261453"/>
            <a:ext cx="7606093" cy="264071"/>
          </a:xfrm>
          <a:prstGeom prst="rect">
            <a:avLst/>
          </a:prstGeom>
          <a:noFill/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0FD50074-AA5B-46F6-9D58-80FA1C6405F0}"/>
              </a:ext>
            </a:extLst>
          </p:cNvPr>
          <p:cNvSpPr/>
          <p:nvPr/>
        </p:nvSpPr>
        <p:spPr bwMode="auto">
          <a:xfrm>
            <a:off x="2679108" y="2781031"/>
            <a:ext cx="237808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 dirty="0">
              <a:cs typeface="Arial" charset="0"/>
            </a:endParaRPr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BD0C56E9-9FD6-4444-99B6-F34BC29FF2FF}"/>
              </a:ext>
            </a:extLst>
          </p:cNvPr>
          <p:cNvSpPr/>
          <p:nvPr/>
        </p:nvSpPr>
        <p:spPr bwMode="auto">
          <a:xfrm>
            <a:off x="2916917" y="2781031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 dirty="0">
              <a:cs typeface="Arial" charset="0"/>
            </a:endParaRPr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C766B88D-DD4B-49D8-AE8D-F657FA405AEA}"/>
              </a:ext>
            </a:extLst>
          </p:cNvPr>
          <p:cNvSpPr/>
          <p:nvPr/>
        </p:nvSpPr>
        <p:spPr bwMode="auto">
          <a:xfrm>
            <a:off x="3150922" y="2781031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 dirty="0">
              <a:cs typeface="Arial" charset="0"/>
            </a:endParaRPr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23E3E8EB-9B93-41A6-BCF4-DEA30D9A9F3B}"/>
              </a:ext>
            </a:extLst>
          </p:cNvPr>
          <p:cNvSpPr/>
          <p:nvPr/>
        </p:nvSpPr>
        <p:spPr bwMode="auto">
          <a:xfrm>
            <a:off x="3390633" y="2781031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 dirty="0">
              <a:cs typeface="Arial" charset="0"/>
            </a:endParaRPr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07762F8F-FFE5-44F7-B7B9-714EE1E99E20}"/>
              </a:ext>
            </a:extLst>
          </p:cNvPr>
          <p:cNvSpPr/>
          <p:nvPr/>
        </p:nvSpPr>
        <p:spPr bwMode="auto">
          <a:xfrm>
            <a:off x="3634151" y="2781031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6BECD6FB-D74A-486E-9104-DDA6272BE814}"/>
              </a:ext>
            </a:extLst>
          </p:cNvPr>
          <p:cNvSpPr/>
          <p:nvPr/>
        </p:nvSpPr>
        <p:spPr bwMode="auto">
          <a:xfrm>
            <a:off x="3873862" y="2781031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C9EB88C7-E88D-4FDD-BE8D-98A69BF31468}"/>
              </a:ext>
            </a:extLst>
          </p:cNvPr>
          <p:cNvSpPr/>
          <p:nvPr/>
        </p:nvSpPr>
        <p:spPr bwMode="auto">
          <a:xfrm>
            <a:off x="4107866" y="2781031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A848F981-0A70-46B7-9838-94CC9F2DFBFE}"/>
              </a:ext>
            </a:extLst>
          </p:cNvPr>
          <p:cNvSpPr/>
          <p:nvPr/>
        </p:nvSpPr>
        <p:spPr bwMode="auto">
          <a:xfrm>
            <a:off x="4347577" y="2781031"/>
            <a:ext cx="237810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8EC12FC0-513A-43F2-82F4-6388472E3BBE}"/>
              </a:ext>
            </a:extLst>
          </p:cNvPr>
          <p:cNvSpPr/>
          <p:nvPr/>
        </p:nvSpPr>
        <p:spPr bwMode="auto">
          <a:xfrm>
            <a:off x="4579679" y="2781031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406A3A8D-F78D-4E2E-B04F-041A91708668}"/>
              </a:ext>
            </a:extLst>
          </p:cNvPr>
          <p:cNvSpPr/>
          <p:nvPr/>
        </p:nvSpPr>
        <p:spPr bwMode="auto">
          <a:xfrm>
            <a:off x="4819391" y="2781031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AD7113D4-E33B-4259-8C20-E085FE8D5D43}"/>
              </a:ext>
            </a:extLst>
          </p:cNvPr>
          <p:cNvSpPr/>
          <p:nvPr/>
        </p:nvSpPr>
        <p:spPr bwMode="auto">
          <a:xfrm>
            <a:off x="5053396" y="2781031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EA4DCCB7-C39D-4280-BC16-3FC88586A4C5}"/>
              </a:ext>
            </a:extLst>
          </p:cNvPr>
          <p:cNvSpPr/>
          <p:nvPr/>
        </p:nvSpPr>
        <p:spPr bwMode="auto">
          <a:xfrm>
            <a:off x="5293108" y="2781031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EC324598-1EA0-4B74-BF4F-6095C145CB92}"/>
              </a:ext>
            </a:extLst>
          </p:cNvPr>
          <p:cNvSpPr/>
          <p:nvPr/>
        </p:nvSpPr>
        <p:spPr bwMode="auto">
          <a:xfrm>
            <a:off x="5532820" y="2781031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C2DDE5F7-7FA8-449F-B247-B529BC03A4C4}"/>
              </a:ext>
            </a:extLst>
          </p:cNvPr>
          <p:cNvSpPr/>
          <p:nvPr/>
        </p:nvSpPr>
        <p:spPr bwMode="auto">
          <a:xfrm>
            <a:off x="5772532" y="2781031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648F9888-9686-4CA3-BB87-16836E0663F7}"/>
              </a:ext>
            </a:extLst>
          </p:cNvPr>
          <p:cNvSpPr/>
          <p:nvPr/>
        </p:nvSpPr>
        <p:spPr bwMode="auto">
          <a:xfrm>
            <a:off x="6006535" y="2781031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64" name="Rectangle 63">
            <a:extLst>
              <a:ext uri="{FF2B5EF4-FFF2-40B4-BE49-F238E27FC236}">
                <a16:creationId xmlns:a16="http://schemas.microsoft.com/office/drawing/2014/main" id="{52DBE982-03E2-4F11-9951-ACE3FDD30ED9}"/>
              </a:ext>
            </a:extLst>
          </p:cNvPr>
          <p:cNvSpPr/>
          <p:nvPr/>
        </p:nvSpPr>
        <p:spPr bwMode="auto">
          <a:xfrm>
            <a:off x="6246247" y="2781031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65" name="Rectangle 64">
            <a:extLst>
              <a:ext uri="{FF2B5EF4-FFF2-40B4-BE49-F238E27FC236}">
                <a16:creationId xmlns:a16="http://schemas.microsoft.com/office/drawing/2014/main" id="{C3AC800C-0E5A-4389-9520-B15B9B0BA86B}"/>
              </a:ext>
            </a:extLst>
          </p:cNvPr>
          <p:cNvSpPr/>
          <p:nvPr/>
        </p:nvSpPr>
        <p:spPr bwMode="auto">
          <a:xfrm>
            <a:off x="6480252" y="2781031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EA61F19D-2997-47C1-9B81-9394EF576B43}"/>
              </a:ext>
            </a:extLst>
          </p:cNvPr>
          <p:cNvSpPr/>
          <p:nvPr/>
        </p:nvSpPr>
        <p:spPr bwMode="auto">
          <a:xfrm>
            <a:off x="6719964" y="2781031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67" name="Rectangle 66">
            <a:extLst>
              <a:ext uri="{FF2B5EF4-FFF2-40B4-BE49-F238E27FC236}">
                <a16:creationId xmlns:a16="http://schemas.microsoft.com/office/drawing/2014/main" id="{1E4674CA-6B5C-4A6B-8596-DAF114961C16}"/>
              </a:ext>
            </a:extLst>
          </p:cNvPr>
          <p:cNvSpPr/>
          <p:nvPr/>
        </p:nvSpPr>
        <p:spPr bwMode="auto">
          <a:xfrm>
            <a:off x="6953968" y="2781031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A49BC2D5-FD6B-494D-91E9-C988B69D836C}"/>
              </a:ext>
            </a:extLst>
          </p:cNvPr>
          <p:cNvSpPr/>
          <p:nvPr/>
        </p:nvSpPr>
        <p:spPr bwMode="auto">
          <a:xfrm>
            <a:off x="7193679" y="2781031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69" name="Rectangle 68">
            <a:extLst>
              <a:ext uri="{FF2B5EF4-FFF2-40B4-BE49-F238E27FC236}">
                <a16:creationId xmlns:a16="http://schemas.microsoft.com/office/drawing/2014/main" id="{93D421CA-F30B-4E6B-A934-96D4E79D90F3}"/>
              </a:ext>
            </a:extLst>
          </p:cNvPr>
          <p:cNvSpPr/>
          <p:nvPr/>
        </p:nvSpPr>
        <p:spPr bwMode="auto">
          <a:xfrm>
            <a:off x="7433391" y="2781031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70" name="Rectangle 69">
            <a:extLst>
              <a:ext uri="{FF2B5EF4-FFF2-40B4-BE49-F238E27FC236}">
                <a16:creationId xmlns:a16="http://schemas.microsoft.com/office/drawing/2014/main" id="{2BAA37E9-6126-4ADB-B61B-503E776769ED}"/>
              </a:ext>
            </a:extLst>
          </p:cNvPr>
          <p:cNvSpPr/>
          <p:nvPr/>
        </p:nvSpPr>
        <p:spPr bwMode="auto">
          <a:xfrm>
            <a:off x="7673103" y="2781031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71" name="Rectangle 70">
            <a:extLst>
              <a:ext uri="{FF2B5EF4-FFF2-40B4-BE49-F238E27FC236}">
                <a16:creationId xmlns:a16="http://schemas.microsoft.com/office/drawing/2014/main" id="{5DDBE824-2DCC-477B-8239-F233AA62DF1B}"/>
              </a:ext>
            </a:extLst>
          </p:cNvPr>
          <p:cNvSpPr/>
          <p:nvPr/>
        </p:nvSpPr>
        <p:spPr bwMode="auto">
          <a:xfrm>
            <a:off x="7907108" y="2781031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72" name="Rectangle 71">
            <a:extLst>
              <a:ext uri="{FF2B5EF4-FFF2-40B4-BE49-F238E27FC236}">
                <a16:creationId xmlns:a16="http://schemas.microsoft.com/office/drawing/2014/main" id="{A7033629-7235-4778-B466-75C046E02585}"/>
              </a:ext>
            </a:extLst>
          </p:cNvPr>
          <p:cNvSpPr/>
          <p:nvPr/>
        </p:nvSpPr>
        <p:spPr bwMode="auto">
          <a:xfrm>
            <a:off x="8146820" y="2781031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73" name="Rectangle 72">
            <a:extLst>
              <a:ext uri="{FF2B5EF4-FFF2-40B4-BE49-F238E27FC236}">
                <a16:creationId xmlns:a16="http://schemas.microsoft.com/office/drawing/2014/main" id="{4925FAE1-98E4-4170-B180-80E698E8A588}"/>
              </a:ext>
            </a:extLst>
          </p:cNvPr>
          <p:cNvSpPr/>
          <p:nvPr/>
        </p:nvSpPr>
        <p:spPr bwMode="auto">
          <a:xfrm>
            <a:off x="8380824" y="2781031"/>
            <a:ext cx="239712" cy="26407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 b="1">
              <a:cs typeface="Arial" charset="0"/>
            </a:endParaRPr>
          </a:p>
        </p:txBody>
      </p:sp>
      <p:sp>
        <p:nvSpPr>
          <p:cNvPr id="74" name="Rectangle 73">
            <a:extLst>
              <a:ext uri="{FF2B5EF4-FFF2-40B4-BE49-F238E27FC236}">
                <a16:creationId xmlns:a16="http://schemas.microsoft.com/office/drawing/2014/main" id="{EA30B1A7-370B-4E19-80AC-12C7AC4E671C}"/>
              </a:ext>
            </a:extLst>
          </p:cNvPr>
          <p:cNvSpPr/>
          <p:nvPr/>
        </p:nvSpPr>
        <p:spPr bwMode="auto">
          <a:xfrm>
            <a:off x="8620535" y="2781031"/>
            <a:ext cx="237810" cy="26407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 b="1">
              <a:cs typeface="Arial" charset="0"/>
            </a:endParaRPr>
          </a:p>
        </p:txBody>
      </p:sp>
      <p:sp>
        <p:nvSpPr>
          <p:cNvPr id="75" name="Rectangle 74">
            <a:extLst>
              <a:ext uri="{FF2B5EF4-FFF2-40B4-BE49-F238E27FC236}">
                <a16:creationId xmlns:a16="http://schemas.microsoft.com/office/drawing/2014/main" id="{D78057E2-C052-4A3C-898B-9E82DFCC90C5}"/>
              </a:ext>
            </a:extLst>
          </p:cNvPr>
          <p:cNvSpPr/>
          <p:nvPr/>
        </p:nvSpPr>
        <p:spPr bwMode="auto">
          <a:xfrm>
            <a:off x="8852637" y="2781031"/>
            <a:ext cx="239712" cy="26407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 b="1">
              <a:cs typeface="Arial" charset="0"/>
            </a:endParaRPr>
          </a:p>
        </p:txBody>
      </p:sp>
      <p:sp>
        <p:nvSpPr>
          <p:cNvPr id="76" name="Rectangle 75">
            <a:extLst>
              <a:ext uri="{FF2B5EF4-FFF2-40B4-BE49-F238E27FC236}">
                <a16:creationId xmlns:a16="http://schemas.microsoft.com/office/drawing/2014/main" id="{9ACB929F-562A-45AA-BC64-90250EF48B42}"/>
              </a:ext>
            </a:extLst>
          </p:cNvPr>
          <p:cNvSpPr/>
          <p:nvPr/>
        </p:nvSpPr>
        <p:spPr bwMode="auto">
          <a:xfrm>
            <a:off x="9092349" y="2781031"/>
            <a:ext cx="239712" cy="26407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 b="1">
              <a:cs typeface="Arial" charset="0"/>
            </a:endParaRPr>
          </a:p>
        </p:txBody>
      </p:sp>
      <p:sp>
        <p:nvSpPr>
          <p:cNvPr id="77" name="Rectangle 76">
            <a:extLst>
              <a:ext uri="{FF2B5EF4-FFF2-40B4-BE49-F238E27FC236}">
                <a16:creationId xmlns:a16="http://schemas.microsoft.com/office/drawing/2014/main" id="{131E2AAC-B9C0-41A5-8232-AE183094877C}"/>
              </a:ext>
            </a:extLst>
          </p:cNvPr>
          <p:cNvSpPr/>
          <p:nvPr/>
        </p:nvSpPr>
        <p:spPr bwMode="auto">
          <a:xfrm>
            <a:off x="9332061" y="2781031"/>
            <a:ext cx="239712" cy="26407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 b="1">
              <a:cs typeface="Arial" charset="0"/>
            </a:endParaRPr>
          </a:p>
        </p:txBody>
      </p:sp>
      <p:sp>
        <p:nvSpPr>
          <p:cNvPr id="78" name="Rectangle 77">
            <a:extLst>
              <a:ext uri="{FF2B5EF4-FFF2-40B4-BE49-F238E27FC236}">
                <a16:creationId xmlns:a16="http://schemas.microsoft.com/office/drawing/2014/main" id="{ECFA16BF-2DC1-4B40-BA64-7769D4A32A7E}"/>
              </a:ext>
            </a:extLst>
          </p:cNvPr>
          <p:cNvSpPr/>
          <p:nvPr/>
        </p:nvSpPr>
        <p:spPr bwMode="auto">
          <a:xfrm>
            <a:off x="9571772" y="2781031"/>
            <a:ext cx="239712" cy="26407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 b="1">
              <a:cs typeface="Arial" charset="0"/>
            </a:endParaRPr>
          </a:p>
        </p:txBody>
      </p:sp>
      <p:sp>
        <p:nvSpPr>
          <p:cNvPr id="79" name="Rectangle 78">
            <a:extLst>
              <a:ext uri="{FF2B5EF4-FFF2-40B4-BE49-F238E27FC236}">
                <a16:creationId xmlns:a16="http://schemas.microsoft.com/office/drawing/2014/main" id="{633429AE-4C1C-4E02-9B81-76AEBB8682EF}"/>
              </a:ext>
            </a:extLst>
          </p:cNvPr>
          <p:cNvSpPr/>
          <p:nvPr/>
        </p:nvSpPr>
        <p:spPr bwMode="auto">
          <a:xfrm>
            <a:off x="9805777" y="2781031"/>
            <a:ext cx="239712" cy="26407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 b="1">
              <a:cs typeface="Arial" charset="0"/>
            </a:endParaRPr>
          </a:p>
        </p:txBody>
      </p:sp>
      <p:sp>
        <p:nvSpPr>
          <p:cNvPr id="80" name="Rectangle 79">
            <a:extLst>
              <a:ext uri="{FF2B5EF4-FFF2-40B4-BE49-F238E27FC236}">
                <a16:creationId xmlns:a16="http://schemas.microsoft.com/office/drawing/2014/main" id="{B23A4CAE-0ED7-4448-BBCB-9AB886F5BC36}"/>
              </a:ext>
            </a:extLst>
          </p:cNvPr>
          <p:cNvSpPr/>
          <p:nvPr/>
        </p:nvSpPr>
        <p:spPr bwMode="auto">
          <a:xfrm>
            <a:off x="10045489" y="2781031"/>
            <a:ext cx="239712" cy="26407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 b="1">
              <a:cs typeface="Arial" charset="0"/>
            </a:endParaRPr>
          </a:p>
        </p:txBody>
      </p:sp>
      <p:sp>
        <p:nvSpPr>
          <p:cNvPr id="81" name="Rectangle 80">
            <a:extLst>
              <a:ext uri="{FF2B5EF4-FFF2-40B4-BE49-F238E27FC236}">
                <a16:creationId xmlns:a16="http://schemas.microsoft.com/office/drawing/2014/main" id="{2F08E368-706D-415F-8ACE-CC85CFDC7150}"/>
              </a:ext>
            </a:extLst>
          </p:cNvPr>
          <p:cNvSpPr/>
          <p:nvPr/>
        </p:nvSpPr>
        <p:spPr bwMode="auto">
          <a:xfrm>
            <a:off x="2679109" y="2781031"/>
            <a:ext cx="7606093" cy="264071"/>
          </a:xfrm>
          <a:prstGeom prst="rect">
            <a:avLst/>
          </a:prstGeom>
          <a:noFill/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82" name="TextBox 21503">
            <a:extLst>
              <a:ext uri="{FF2B5EF4-FFF2-40B4-BE49-F238E27FC236}">
                <a16:creationId xmlns:a16="http://schemas.microsoft.com/office/drawing/2014/main" id="{0CB305D7-175B-40AA-BB48-B8FEE1D9C45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620537" y="2781031"/>
            <a:ext cx="1457295" cy="30777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1pPr>
            <a:lvl2pPr marL="742950" indent="-28575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2pPr>
            <a:lvl3pPr marL="1143000" indent="-22860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3pPr>
            <a:lvl4pPr marL="1600200" indent="-22860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4pPr>
            <a:lvl5pPr marL="2057400" indent="-22860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9pPr>
          </a:lstStyle>
          <a:p>
            <a:pPr eaLnBrk="1" hangingPunct="1"/>
            <a:r>
              <a:rPr lang="en-GB" dirty="0"/>
              <a:t>ISR number</a:t>
            </a:r>
          </a:p>
        </p:txBody>
      </p:sp>
      <p:sp>
        <p:nvSpPr>
          <p:cNvPr id="83" name="TextBox 106">
            <a:extLst>
              <a:ext uri="{FF2B5EF4-FFF2-40B4-BE49-F238E27FC236}">
                <a16:creationId xmlns:a16="http://schemas.microsoft.com/office/drawing/2014/main" id="{A2B5A561-5C45-425E-88BF-AEAE081B88A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825663" y="2226851"/>
            <a:ext cx="942725" cy="30777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1pPr>
            <a:lvl2pPr marL="742950" indent="-28575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2pPr>
            <a:lvl3pPr marL="1143000" indent="-22860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3pPr>
            <a:lvl4pPr marL="1600200" indent="-22860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4pPr>
            <a:lvl5pPr marL="2057400" indent="-22860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9pPr>
          </a:lstStyle>
          <a:p>
            <a:pPr eaLnBrk="1" hangingPunct="1"/>
            <a:r>
              <a:rPr lang="en-GB" b="0" dirty="0"/>
              <a:t>Reserved</a:t>
            </a:r>
          </a:p>
        </p:txBody>
      </p:sp>
      <p:sp>
        <p:nvSpPr>
          <p:cNvPr id="84" name="TextBox 107">
            <a:extLst>
              <a:ext uri="{FF2B5EF4-FFF2-40B4-BE49-F238E27FC236}">
                <a16:creationId xmlns:a16="http://schemas.microsoft.com/office/drawing/2014/main" id="{F977506C-B037-4469-B9DB-3ADBDEB9542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211301" y="2781031"/>
            <a:ext cx="1249927" cy="30777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1pPr>
            <a:lvl2pPr marL="742950" indent="-28575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2pPr>
            <a:lvl3pPr marL="1143000" indent="-22860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3pPr>
            <a:lvl4pPr marL="1600200" indent="-22860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4pPr>
            <a:lvl5pPr marL="2057400" indent="-22860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9pPr>
          </a:lstStyle>
          <a:p>
            <a:pPr eaLnBrk="1" hangingPunct="1"/>
            <a:r>
              <a:rPr lang="en-GB" b="0"/>
              <a:t>Reserved</a:t>
            </a:r>
          </a:p>
        </p:txBody>
      </p:sp>
      <p:sp>
        <p:nvSpPr>
          <p:cNvPr id="85" name="Rectangle 84">
            <a:extLst>
              <a:ext uri="{FF2B5EF4-FFF2-40B4-BE49-F238E27FC236}">
                <a16:creationId xmlns:a16="http://schemas.microsoft.com/office/drawing/2014/main" id="{C5079CF8-4C52-4671-9319-8F6A9DB1D715}"/>
              </a:ext>
            </a:extLst>
          </p:cNvPr>
          <p:cNvSpPr/>
          <p:nvPr/>
        </p:nvSpPr>
        <p:spPr bwMode="auto">
          <a:xfrm>
            <a:off x="2679108" y="3339147"/>
            <a:ext cx="237808" cy="26407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 dirty="0">
              <a:cs typeface="Arial" charset="0"/>
            </a:endParaRPr>
          </a:p>
        </p:txBody>
      </p:sp>
      <p:sp>
        <p:nvSpPr>
          <p:cNvPr id="86" name="Rectangle 85">
            <a:extLst>
              <a:ext uri="{FF2B5EF4-FFF2-40B4-BE49-F238E27FC236}">
                <a16:creationId xmlns:a16="http://schemas.microsoft.com/office/drawing/2014/main" id="{E1F95844-9CA2-4FFB-BA44-366C71430821}"/>
              </a:ext>
            </a:extLst>
          </p:cNvPr>
          <p:cNvSpPr/>
          <p:nvPr/>
        </p:nvSpPr>
        <p:spPr bwMode="auto">
          <a:xfrm>
            <a:off x="2916917" y="3339147"/>
            <a:ext cx="239712" cy="26407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 dirty="0">
              <a:cs typeface="Arial" charset="0"/>
            </a:endParaRPr>
          </a:p>
        </p:txBody>
      </p:sp>
      <p:sp>
        <p:nvSpPr>
          <p:cNvPr id="87" name="Rectangle 86">
            <a:extLst>
              <a:ext uri="{FF2B5EF4-FFF2-40B4-BE49-F238E27FC236}">
                <a16:creationId xmlns:a16="http://schemas.microsoft.com/office/drawing/2014/main" id="{A8533337-3E8B-41A0-B573-1815406E02FF}"/>
              </a:ext>
            </a:extLst>
          </p:cNvPr>
          <p:cNvSpPr/>
          <p:nvPr/>
        </p:nvSpPr>
        <p:spPr bwMode="auto">
          <a:xfrm>
            <a:off x="3150922" y="3339147"/>
            <a:ext cx="239712" cy="26407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 dirty="0">
              <a:cs typeface="Arial" charset="0"/>
            </a:endParaRPr>
          </a:p>
        </p:txBody>
      </p:sp>
      <p:sp>
        <p:nvSpPr>
          <p:cNvPr id="88" name="Rectangle 87">
            <a:extLst>
              <a:ext uri="{FF2B5EF4-FFF2-40B4-BE49-F238E27FC236}">
                <a16:creationId xmlns:a16="http://schemas.microsoft.com/office/drawing/2014/main" id="{90F93C2D-36F1-4F3D-8792-C354A6386E80}"/>
              </a:ext>
            </a:extLst>
          </p:cNvPr>
          <p:cNvSpPr/>
          <p:nvPr/>
        </p:nvSpPr>
        <p:spPr bwMode="auto">
          <a:xfrm>
            <a:off x="3390633" y="3339147"/>
            <a:ext cx="239712" cy="26407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 dirty="0">
              <a:cs typeface="Arial" charset="0"/>
            </a:endParaRPr>
          </a:p>
        </p:txBody>
      </p:sp>
      <p:sp>
        <p:nvSpPr>
          <p:cNvPr id="89" name="Rectangle 88">
            <a:extLst>
              <a:ext uri="{FF2B5EF4-FFF2-40B4-BE49-F238E27FC236}">
                <a16:creationId xmlns:a16="http://schemas.microsoft.com/office/drawing/2014/main" id="{39EB32BE-B49D-4985-B20B-6527A63632C6}"/>
              </a:ext>
            </a:extLst>
          </p:cNvPr>
          <p:cNvSpPr/>
          <p:nvPr/>
        </p:nvSpPr>
        <p:spPr bwMode="auto">
          <a:xfrm>
            <a:off x="3634151" y="3339147"/>
            <a:ext cx="239712" cy="26407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90" name="Rectangle 89">
            <a:extLst>
              <a:ext uri="{FF2B5EF4-FFF2-40B4-BE49-F238E27FC236}">
                <a16:creationId xmlns:a16="http://schemas.microsoft.com/office/drawing/2014/main" id="{3DE3F855-3DF5-4365-9FC5-C60661F1E07F}"/>
              </a:ext>
            </a:extLst>
          </p:cNvPr>
          <p:cNvSpPr/>
          <p:nvPr/>
        </p:nvSpPr>
        <p:spPr bwMode="auto">
          <a:xfrm>
            <a:off x="3873864" y="3339147"/>
            <a:ext cx="473715" cy="264072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sz="1400" dirty="0">
                <a:cs typeface="Arial" charset="0"/>
              </a:rPr>
              <a:t>ICI/IT</a:t>
            </a:r>
          </a:p>
        </p:txBody>
      </p:sp>
      <p:sp>
        <p:nvSpPr>
          <p:cNvPr id="91" name="Rectangle 90">
            <a:extLst>
              <a:ext uri="{FF2B5EF4-FFF2-40B4-BE49-F238E27FC236}">
                <a16:creationId xmlns:a16="http://schemas.microsoft.com/office/drawing/2014/main" id="{FA6D7B86-6495-4C4C-A0E1-57DCAB617D3D}"/>
              </a:ext>
            </a:extLst>
          </p:cNvPr>
          <p:cNvSpPr/>
          <p:nvPr/>
        </p:nvSpPr>
        <p:spPr bwMode="auto">
          <a:xfrm>
            <a:off x="4579679" y="3339147"/>
            <a:ext cx="239712" cy="26407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92" name="Rectangle 91">
            <a:extLst>
              <a:ext uri="{FF2B5EF4-FFF2-40B4-BE49-F238E27FC236}">
                <a16:creationId xmlns:a16="http://schemas.microsoft.com/office/drawing/2014/main" id="{1507D17B-DE10-4278-B6BC-0E8BEA42BD4C}"/>
              </a:ext>
            </a:extLst>
          </p:cNvPr>
          <p:cNvSpPr/>
          <p:nvPr/>
        </p:nvSpPr>
        <p:spPr bwMode="auto">
          <a:xfrm>
            <a:off x="4819391" y="3339147"/>
            <a:ext cx="239712" cy="26407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93" name="Rectangle 92">
            <a:extLst>
              <a:ext uri="{FF2B5EF4-FFF2-40B4-BE49-F238E27FC236}">
                <a16:creationId xmlns:a16="http://schemas.microsoft.com/office/drawing/2014/main" id="{FEBBCBCC-D2B8-4A62-B226-901338046285}"/>
              </a:ext>
            </a:extLst>
          </p:cNvPr>
          <p:cNvSpPr/>
          <p:nvPr/>
        </p:nvSpPr>
        <p:spPr bwMode="auto">
          <a:xfrm>
            <a:off x="5053396" y="3339147"/>
            <a:ext cx="239712" cy="26407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94" name="Rectangle 93">
            <a:extLst>
              <a:ext uri="{FF2B5EF4-FFF2-40B4-BE49-F238E27FC236}">
                <a16:creationId xmlns:a16="http://schemas.microsoft.com/office/drawing/2014/main" id="{A6BFBC24-88F6-49D8-B36D-141DAE14A026}"/>
              </a:ext>
            </a:extLst>
          </p:cNvPr>
          <p:cNvSpPr/>
          <p:nvPr/>
        </p:nvSpPr>
        <p:spPr bwMode="auto">
          <a:xfrm>
            <a:off x="5293108" y="3339147"/>
            <a:ext cx="239712" cy="26407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95" name="Rectangle 94">
            <a:extLst>
              <a:ext uri="{FF2B5EF4-FFF2-40B4-BE49-F238E27FC236}">
                <a16:creationId xmlns:a16="http://schemas.microsoft.com/office/drawing/2014/main" id="{3E73E29B-FB34-4560-AB83-493A58F8DFF5}"/>
              </a:ext>
            </a:extLst>
          </p:cNvPr>
          <p:cNvSpPr/>
          <p:nvPr/>
        </p:nvSpPr>
        <p:spPr bwMode="auto">
          <a:xfrm>
            <a:off x="5532820" y="3339147"/>
            <a:ext cx="239712" cy="26407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96" name="Rectangle 95">
            <a:extLst>
              <a:ext uri="{FF2B5EF4-FFF2-40B4-BE49-F238E27FC236}">
                <a16:creationId xmlns:a16="http://schemas.microsoft.com/office/drawing/2014/main" id="{7007B545-9400-40EF-BB69-604CC47ACECE}"/>
              </a:ext>
            </a:extLst>
          </p:cNvPr>
          <p:cNvSpPr/>
          <p:nvPr/>
        </p:nvSpPr>
        <p:spPr bwMode="auto">
          <a:xfrm>
            <a:off x="5772532" y="3339147"/>
            <a:ext cx="239712" cy="26407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97" name="Rectangle 96">
            <a:extLst>
              <a:ext uri="{FF2B5EF4-FFF2-40B4-BE49-F238E27FC236}">
                <a16:creationId xmlns:a16="http://schemas.microsoft.com/office/drawing/2014/main" id="{897A977D-1C18-4797-B12F-29B634F8F680}"/>
              </a:ext>
            </a:extLst>
          </p:cNvPr>
          <p:cNvSpPr/>
          <p:nvPr/>
        </p:nvSpPr>
        <p:spPr bwMode="auto">
          <a:xfrm>
            <a:off x="6006535" y="3339147"/>
            <a:ext cx="239712" cy="26407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98" name="Rectangle 97">
            <a:extLst>
              <a:ext uri="{FF2B5EF4-FFF2-40B4-BE49-F238E27FC236}">
                <a16:creationId xmlns:a16="http://schemas.microsoft.com/office/drawing/2014/main" id="{3509EAFC-6B94-4BA4-BE6A-410ABA1A1678}"/>
              </a:ext>
            </a:extLst>
          </p:cNvPr>
          <p:cNvSpPr/>
          <p:nvPr/>
        </p:nvSpPr>
        <p:spPr bwMode="auto">
          <a:xfrm>
            <a:off x="6246247" y="3339147"/>
            <a:ext cx="239712" cy="26407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99" name="Rectangle 98">
            <a:extLst>
              <a:ext uri="{FF2B5EF4-FFF2-40B4-BE49-F238E27FC236}">
                <a16:creationId xmlns:a16="http://schemas.microsoft.com/office/drawing/2014/main" id="{C5429A6F-61CB-4D64-A905-2D90C68F1CD6}"/>
              </a:ext>
            </a:extLst>
          </p:cNvPr>
          <p:cNvSpPr/>
          <p:nvPr/>
        </p:nvSpPr>
        <p:spPr bwMode="auto">
          <a:xfrm>
            <a:off x="6480252" y="3339147"/>
            <a:ext cx="239712" cy="26407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100" name="Rectangle 99">
            <a:extLst>
              <a:ext uri="{FF2B5EF4-FFF2-40B4-BE49-F238E27FC236}">
                <a16:creationId xmlns:a16="http://schemas.microsoft.com/office/drawing/2014/main" id="{D5E3BC30-DD4F-442B-85AD-183CBDE1FA47}"/>
              </a:ext>
            </a:extLst>
          </p:cNvPr>
          <p:cNvSpPr/>
          <p:nvPr/>
        </p:nvSpPr>
        <p:spPr bwMode="auto">
          <a:xfrm>
            <a:off x="6719964" y="3339147"/>
            <a:ext cx="239712" cy="26407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101" name="Rectangle 100">
            <a:extLst>
              <a:ext uri="{FF2B5EF4-FFF2-40B4-BE49-F238E27FC236}">
                <a16:creationId xmlns:a16="http://schemas.microsoft.com/office/drawing/2014/main" id="{4EDC25C1-F75F-480A-B8A7-1566474E50B9}"/>
              </a:ext>
            </a:extLst>
          </p:cNvPr>
          <p:cNvSpPr/>
          <p:nvPr/>
        </p:nvSpPr>
        <p:spPr bwMode="auto">
          <a:xfrm>
            <a:off x="6953968" y="3339147"/>
            <a:ext cx="239712" cy="26407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102" name="Rectangle 101">
            <a:extLst>
              <a:ext uri="{FF2B5EF4-FFF2-40B4-BE49-F238E27FC236}">
                <a16:creationId xmlns:a16="http://schemas.microsoft.com/office/drawing/2014/main" id="{322016F0-BA5F-4F10-820C-56A9ED045E81}"/>
              </a:ext>
            </a:extLst>
          </p:cNvPr>
          <p:cNvSpPr/>
          <p:nvPr/>
        </p:nvSpPr>
        <p:spPr bwMode="auto">
          <a:xfrm>
            <a:off x="7193679" y="3339147"/>
            <a:ext cx="239712" cy="26407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103" name="Rectangle 102">
            <a:extLst>
              <a:ext uri="{FF2B5EF4-FFF2-40B4-BE49-F238E27FC236}">
                <a16:creationId xmlns:a16="http://schemas.microsoft.com/office/drawing/2014/main" id="{385194C4-9765-4508-A5CF-24E9288C01EA}"/>
              </a:ext>
            </a:extLst>
          </p:cNvPr>
          <p:cNvSpPr/>
          <p:nvPr/>
        </p:nvSpPr>
        <p:spPr bwMode="auto">
          <a:xfrm>
            <a:off x="7433391" y="3339147"/>
            <a:ext cx="239712" cy="26407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104" name="Rectangle 103">
            <a:extLst>
              <a:ext uri="{FF2B5EF4-FFF2-40B4-BE49-F238E27FC236}">
                <a16:creationId xmlns:a16="http://schemas.microsoft.com/office/drawing/2014/main" id="{B1947076-561F-44A0-9CD6-6CB6D1B2330C}"/>
              </a:ext>
            </a:extLst>
          </p:cNvPr>
          <p:cNvSpPr/>
          <p:nvPr/>
        </p:nvSpPr>
        <p:spPr bwMode="auto">
          <a:xfrm>
            <a:off x="7673103" y="3339147"/>
            <a:ext cx="239712" cy="26407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105" name="Rectangle 104">
            <a:extLst>
              <a:ext uri="{FF2B5EF4-FFF2-40B4-BE49-F238E27FC236}">
                <a16:creationId xmlns:a16="http://schemas.microsoft.com/office/drawing/2014/main" id="{DA8FCCE4-D7DB-4787-ACEA-AB60AE73F2A3}"/>
              </a:ext>
            </a:extLst>
          </p:cNvPr>
          <p:cNvSpPr/>
          <p:nvPr/>
        </p:nvSpPr>
        <p:spPr bwMode="auto">
          <a:xfrm>
            <a:off x="7907108" y="3339147"/>
            <a:ext cx="239712" cy="26407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106" name="Rectangle 105">
            <a:extLst>
              <a:ext uri="{FF2B5EF4-FFF2-40B4-BE49-F238E27FC236}">
                <a16:creationId xmlns:a16="http://schemas.microsoft.com/office/drawing/2014/main" id="{9845663A-7C9D-4A4F-8E3E-65E276C04B0A}"/>
              </a:ext>
            </a:extLst>
          </p:cNvPr>
          <p:cNvSpPr/>
          <p:nvPr/>
        </p:nvSpPr>
        <p:spPr bwMode="auto">
          <a:xfrm>
            <a:off x="8146820" y="3339147"/>
            <a:ext cx="239712" cy="26407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107" name="Rectangle 106">
            <a:extLst>
              <a:ext uri="{FF2B5EF4-FFF2-40B4-BE49-F238E27FC236}">
                <a16:creationId xmlns:a16="http://schemas.microsoft.com/office/drawing/2014/main" id="{31ADC54E-08DE-4AFF-8327-1CBF063FED4D}"/>
              </a:ext>
            </a:extLst>
          </p:cNvPr>
          <p:cNvSpPr/>
          <p:nvPr/>
        </p:nvSpPr>
        <p:spPr bwMode="auto">
          <a:xfrm>
            <a:off x="8380824" y="3339147"/>
            <a:ext cx="239712" cy="26407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108" name="Rectangle 107">
            <a:extLst>
              <a:ext uri="{FF2B5EF4-FFF2-40B4-BE49-F238E27FC236}">
                <a16:creationId xmlns:a16="http://schemas.microsoft.com/office/drawing/2014/main" id="{1B5851EE-648A-4860-81F6-6DF1B0C439CF}"/>
              </a:ext>
            </a:extLst>
          </p:cNvPr>
          <p:cNvSpPr/>
          <p:nvPr/>
        </p:nvSpPr>
        <p:spPr bwMode="auto">
          <a:xfrm>
            <a:off x="8620535" y="3339147"/>
            <a:ext cx="237810" cy="26407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109" name="Rectangle 108">
            <a:extLst>
              <a:ext uri="{FF2B5EF4-FFF2-40B4-BE49-F238E27FC236}">
                <a16:creationId xmlns:a16="http://schemas.microsoft.com/office/drawing/2014/main" id="{38462E99-F2BD-46BC-94BB-8F3F0CD2965B}"/>
              </a:ext>
            </a:extLst>
          </p:cNvPr>
          <p:cNvSpPr/>
          <p:nvPr/>
        </p:nvSpPr>
        <p:spPr bwMode="auto">
          <a:xfrm>
            <a:off x="8852637" y="3339147"/>
            <a:ext cx="239712" cy="26407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110" name="Rectangle 109">
            <a:extLst>
              <a:ext uri="{FF2B5EF4-FFF2-40B4-BE49-F238E27FC236}">
                <a16:creationId xmlns:a16="http://schemas.microsoft.com/office/drawing/2014/main" id="{8CED1942-6D73-4CEE-9B71-4C861B38048B}"/>
              </a:ext>
            </a:extLst>
          </p:cNvPr>
          <p:cNvSpPr/>
          <p:nvPr/>
        </p:nvSpPr>
        <p:spPr bwMode="auto">
          <a:xfrm>
            <a:off x="9092349" y="3339147"/>
            <a:ext cx="239712" cy="26407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111" name="Rectangle 110">
            <a:extLst>
              <a:ext uri="{FF2B5EF4-FFF2-40B4-BE49-F238E27FC236}">
                <a16:creationId xmlns:a16="http://schemas.microsoft.com/office/drawing/2014/main" id="{B931B128-617A-48A5-AC08-7D5A984BA73C}"/>
              </a:ext>
            </a:extLst>
          </p:cNvPr>
          <p:cNvSpPr/>
          <p:nvPr/>
        </p:nvSpPr>
        <p:spPr bwMode="auto">
          <a:xfrm>
            <a:off x="9332061" y="3339147"/>
            <a:ext cx="239712" cy="26407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112" name="Rectangle 111">
            <a:extLst>
              <a:ext uri="{FF2B5EF4-FFF2-40B4-BE49-F238E27FC236}">
                <a16:creationId xmlns:a16="http://schemas.microsoft.com/office/drawing/2014/main" id="{D1508A09-8F05-48DF-AFEF-E477EEBC4FC2}"/>
              </a:ext>
            </a:extLst>
          </p:cNvPr>
          <p:cNvSpPr/>
          <p:nvPr/>
        </p:nvSpPr>
        <p:spPr bwMode="auto">
          <a:xfrm>
            <a:off x="9571772" y="3339147"/>
            <a:ext cx="239712" cy="26407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113" name="Rectangle 112">
            <a:extLst>
              <a:ext uri="{FF2B5EF4-FFF2-40B4-BE49-F238E27FC236}">
                <a16:creationId xmlns:a16="http://schemas.microsoft.com/office/drawing/2014/main" id="{F21B2B94-A08C-4456-882B-B3CDE1B80A35}"/>
              </a:ext>
            </a:extLst>
          </p:cNvPr>
          <p:cNvSpPr/>
          <p:nvPr/>
        </p:nvSpPr>
        <p:spPr bwMode="auto">
          <a:xfrm>
            <a:off x="9805777" y="3339147"/>
            <a:ext cx="239712" cy="26407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114" name="Rectangle 113">
            <a:extLst>
              <a:ext uri="{FF2B5EF4-FFF2-40B4-BE49-F238E27FC236}">
                <a16:creationId xmlns:a16="http://schemas.microsoft.com/office/drawing/2014/main" id="{B9513D1F-87ED-4174-8673-A2C1F38E8DB9}"/>
              </a:ext>
            </a:extLst>
          </p:cNvPr>
          <p:cNvSpPr/>
          <p:nvPr/>
        </p:nvSpPr>
        <p:spPr bwMode="auto">
          <a:xfrm>
            <a:off x="10045489" y="3339147"/>
            <a:ext cx="239712" cy="26407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115" name="Rectangle 114">
            <a:extLst>
              <a:ext uri="{FF2B5EF4-FFF2-40B4-BE49-F238E27FC236}">
                <a16:creationId xmlns:a16="http://schemas.microsoft.com/office/drawing/2014/main" id="{16455893-FC01-444C-95FE-F79D2C8CB943}"/>
              </a:ext>
            </a:extLst>
          </p:cNvPr>
          <p:cNvSpPr/>
          <p:nvPr/>
        </p:nvSpPr>
        <p:spPr bwMode="auto">
          <a:xfrm>
            <a:off x="2679109" y="3339147"/>
            <a:ext cx="7606093" cy="264072"/>
          </a:xfrm>
          <a:prstGeom prst="rect">
            <a:avLst/>
          </a:prstGeom>
          <a:noFill/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116" name="TextBox 142">
            <a:extLst>
              <a:ext uri="{FF2B5EF4-FFF2-40B4-BE49-F238E27FC236}">
                <a16:creationId xmlns:a16="http://schemas.microsoft.com/office/drawing/2014/main" id="{D88089E4-119A-438B-8FE5-19FE49AB359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861948" y="3339149"/>
            <a:ext cx="1248023" cy="30777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1pPr>
            <a:lvl2pPr marL="742950" indent="-28575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2pPr>
            <a:lvl3pPr marL="1143000" indent="-22860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3pPr>
            <a:lvl4pPr marL="1600200" indent="-22860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4pPr>
            <a:lvl5pPr marL="2057400" indent="-22860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9pPr>
          </a:lstStyle>
          <a:p>
            <a:pPr eaLnBrk="1" hangingPunct="1"/>
            <a:r>
              <a:rPr lang="en-GB" b="0"/>
              <a:t>Reserved</a:t>
            </a:r>
          </a:p>
        </p:txBody>
      </p:sp>
      <p:sp>
        <p:nvSpPr>
          <p:cNvPr id="117" name="Rectangle 116">
            <a:extLst>
              <a:ext uri="{FF2B5EF4-FFF2-40B4-BE49-F238E27FC236}">
                <a16:creationId xmlns:a16="http://schemas.microsoft.com/office/drawing/2014/main" id="{FEECF288-2E80-4463-B2CF-59DD4F4B17E7}"/>
              </a:ext>
            </a:extLst>
          </p:cNvPr>
          <p:cNvSpPr/>
          <p:nvPr/>
        </p:nvSpPr>
        <p:spPr bwMode="auto">
          <a:xfrm>
            <a:off x="4347577" y="3339147"/>
            <a:ext cx="237810" cy="264072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dirty="0">
                <a:cs typeface="Arial" charset="0"/>
              </a:rPr>
              <a:t>T</a:t>
            </a:r>
          </a:p>
        </p:txBody>
      </p:sp>
      <p:sp>
        <p:nvSpPr>
          <p:cNvPr id="118" name="Rectangle 117">
            <a:extLst>
              <a:ext uri="{FF2B5EF4-FFF2-40B4-BE49-F238E27FC236}">
                <a16:creationId xmlns:a16="http://schemas.microsoft.com/office/drawing/2014/main" id="{3865754D-DE16-4F39-B1B0-DA5943946BF1}"/>
              </a:ext>
            </a:extLst>
          </p:cNvPr>
          <p:cNvSpPr/>
          <p:nvPr/>
        </p:nvSpPr>
        <p:spPr bwMode="auto">
          <a:xfrm>
            <a:off x="4579679" y="4514357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119" name="Rectangle 118">
            <a:extLst>
              <a:ext uri="{FF2B5EF4-FFF2-40B4-BE49-F238E27FC236}">
                <a16:creationId xmlns:a16="http://schemas.microsoft.com/office/drawing/2014/main" id="{6E93E8F1-45C8-45CC-B373-7F5661A4CDAC}"/>
              </a:ext>
            </a:extLst>
          </p:cNvPr>
          <p:cNvSpPr/>
          <p:nvPr/>
        </p:nvSpPr>
        <p:spPr bwMode="auto">
          <a:xfrm>
            <a:off x="4819391" y="4514357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120" name="Rectangle 119">
            <a:extLst>
              <a:ext uri="{FF2B5EF4-FFF2-40B4-BE49-F238E27FC236}">
                <a16:creationId xmlns:a16="http://schemas.microsoft.com/office/drawing/2014/main" id="{4AFCC2AB-1DE5-4E46-A408-A603476BC0DC}"/>
              </a:ext>
            </a:extLst>
          </p:cNvPr>
          <p:cNvSpPr/>
          <p:nvPr/>
        </p:nvSpPr>
        <p:spPr bwMode="auto">
          <a:xfrm>
            <a:off x="5053396" y="4514357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121" name="Rectangle 120">
            <a:extLst>
              <a:ext uri="{FF2B5EF4-FFF2-40B4-BE49-F238E27FC236}">
                <a16:creationId xmlns:a16="http://schemas.microsoft.com/office/drawing/2014/main" id="{4D1D7D1A-5E84-4709-8248-A578919960E8}"/>
              </a:ext>
            </a:extLst>
          </p:cNvPr>
          <p:cNvSpPr/>
          <p:nvPr/>
        </p:nvSpPr>
        <p:spPr bwMode="auto">
          <a:xfrm>
            <a:off x="5293108" y="4514357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122" name="Rectangle 121">
            <a:extLst>
              <a:ext uri="{FF2B5EF4-FFF2-40B4-BE49-F238E27FC236}">
                <a16:creationId xmlns:a16="http://schemas.microsoft.com/office/drawing/2014/main" id="{5D012AA1-6463-46CA-9447-F46147A08F0D}"/>
              </a:ext>
            </a:extLst>
          </p:cNvPr>
          <p:cNvSpPr/>
          <p:nvPr/>
        </p:nvSpPr>
        <p:spPr bwMode="auto">
          <a:xfrm>
            <a:off x="5532820" y="4514357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123" name="Rectangle 122">
            <a:extLst>
              <a:ext uri="{FF2B5EF4-FFF2-40B4-BE49-F238E27FC236}">
                <a16:creationId xmlns:a16="http://schemas.microsoft.com/office/drawing/2014/main" id="{C70CD862-50B5-4C82-A42C-3DCF77853209}"/>
              </a:ext>
            </a:extLst>
          </p:cNvPr>
          <p:cNvSpPr/>
          <p:nvPr/>
        </p:nvSpPr>
        <p:spPr bwMode="auto">
          <a:xfrm>
            <a:off x="5772532" y="4514357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124" name="Rectangle 123">
            <a:extLst>
              <a:ext uri="{FF2B5EF4-FFF2-40B4-BE49-F238E27FC236}">
                <a16:creationId xmlns:a16="http://schemas.microsoft.com/office/drawing/2014/main" id="{A04B20A9-0070-459B-AD5B-2686AAB485F3}"/>
              </a:ext>
            </a:extLst>
          </p:cNvPr>
          <p:cNvSpPr/>
          <p:nvPr/>
        </p:nvSpPr>
        <p:spPr bwMode="auto">
          <a:xfrm>
            <a:off x="6006535" y="4514357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125" name="Rectangle 124">
            <a:extLst>
              <a:ext uri="{FF2B5EF4-FFF2-40B4-BE49-F238E27FC236}">
                <a16:creationId xmlns:a16="http://schemas.microsoft.com/office/drawing/2014/main" id="{D566CDDF-BF45-403E-87AF-598F6C2E43FE}"/>
              </a:ext>
            </a:extLst>
          </p:cNvPr>
          <p:cNvSpPr/>
          <p:nvPr/>
        </p:nvSpPr>
        <p:spPr bwMode="auto">
          <a:xfrm>
            <a:off x="6246247" y="4514357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126" name="Rectangle 125">
            <a:extLst>
              <a:ext uri="{FF2B5EF4-FFF2-40B4-BE49-F238E27FC236}">
                <a16:creationId xmlns:a16="http://schemas.microsoft.com/office/drawing/2014/main" id="{5E4A65F3-34EF-471D-9C2E-7512DF187876}"/>
              </a:ext>
            </a:extLst>
          </p:cNvPr>
          <p:cNvSpPr/>
          <p:nvPr/>
        </p:nvSpPr>
        <p:spPr bwMode="auto">
          <a:xfrm>
            <a:off x="6480252" y="4514357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127" name="Rectangle 126">
            <a:extLst>
              <a:ext uri="{FF2B5EF4-FFF2-40B4-BE49-F238E27FC236}">
                <a16:creationId xmlns:a16="http://schemas.microsoft.com/office/drawing/2014/main" id="{64DB2790-A34C-4D7B-ADEA-5F46A4AB8753}"/>
              </a:ext>
            </a:extLst>
          </p:cNvPr>
          <p:cNvSpPr/>
          <p:nvPr/>
        </p:nvSpPr>
        <p:spPr bwMode="auto">
          <a:xfrm>
            <a:off x="6719964" y="4514357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128" name="Rectangle 127">
            <a:extLst>
              <a:ext uri="{FF2B5EF4-FFF2-40B4-BE49-F238E27FC236}">
                <a16:creationId xmlns:a16="http://schemas.microsoft.com/office/drawing/2014/main" id="{3EC4CDFA-F92B-4AC6-A958-80818AFD4FD0}"/>
              </a:ext>
            </a:extLst>
          </p:cNvPr>
          <p:cNvSpPr/>
          <p:nvPr/>
        </p:nvSpPr>
        <p:spPr bwMode="auto">
          <a:xfrm>
            <a:off x="6953968" y="4514357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129" name="Rectangle 128">
            <a:extLst>
              <a:ext uri="{FF2B5EF4-FFF2-40B4-BE49-F238E27FC236}">
                <a16:creationId xmlns:a16="http://schemas.microsoft.com/office/drawing/2014/main" id="{031CE36A-EF5F-4EE4-A95B-86B9DB4AF71C}"/>
              </a:ext>
            </a:extLst>
          </p:cNvPr>
          <p:cNvSpPr/>
          <p:nvPr/>
        </p:nvSpPr>
        <p:spPr bwMode="auto">
          <a:xfrm>
            <a:off x="7193679" y="4514357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130" name="Rectangle 129">
            <a:extLst>
              <a:ext uri="{FF2B5EF4-FFF2-40B4-BE49-F238E27FC236}">
                <a16:creationId xmlns:a16="http://schemas.microsoft.com/office/drawing/2014/main" id="{7E111690-1753-4E03-B833-C0D763FC959F}"/>
              </a:ext>
            </a:extLst>
          </p:cNvPr>
          <p:cNvSpPr/>
          <p:nvPr/>
        </p:nvSpPr>
        <p:spPr bwMode="auto">
          <a:xfrm>
            <a:off x="7433391" y="4514357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131" name="Rectangle 130">
            <a:extLst>
              <a:ext uri="{FF2B5EF4-FFF2-40B4-BE49-F238E27FC236}">
                <a16:creationId xmlns:a16="http://schemas.microsoft.com/office/drawing/2014/main" id="{3F6BF773-7EBF-46BA-8C7B-D1E8AC322732}"/>
              </a:ext>
            </a:extLst>
          </p:cNvPr>
          <p:cNvSpPr/>
          <p:nvPr/>
        </p:nvSpPr>
        <p:spPr bwMode="auto">
          <a:xfrm>
            <a:off x="7673103" y="4505793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132" name="Rectangle 131">
            <a:extLst>
              <a:ext uri="{FF2B5EF4-FFF2-40B4-BE49-F238E27FC236}">
                <a16:creationId xmlns:a16="http://schemas.microsoft.com/office/drawing/2014/main" id="{528641D4-6BE4-42F0-9DEF-5328BBB089B2}"/>
              </a:ext>
            </a:extLst>
          </p:cNvPr>
          <p:cNvSpPr/>
          <p:nvPr/>
        </p:nvSpPr>
        <p:spPr bwMode="auto">
          <a:xfrm>
            <a:off x="7907108" y="4505793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133" name="Rectangle 132">
            <a:extLst>
              <a:ext uri="{FF2B5EF4-FFF2-40B4-BE49-F238E27FC236}">
                <a16:creationId xmlns:a16="http://schemas.microsoft.com/office/drawing/2014/main" id="{A360E56F-D602-4907-BE12-BC4495F32E15}"/>
              </a:ext>
            </a:extLst>
          </p:cNvPr>
          <p:cNvSpPr/>
          <p:nvPr/>
        </p:nvSpPr>
        <p:spPr bwMode="auto">
          <a:xfrm>
            <a:off x="8146820" y="4514357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134" name="Rectangle 133">
            <a:extLst>
              <a:ext uri="{FF2B5EF4-FFF2-40B4-BE49-F238E27FC236}">
                <a16:creationId xmlns:a16="http://schemas.microsoft.com/office/drawing/2014/main" id="{C49516BC-AC41-4F00-AD9D-4D90FA55F70D}"/>
              </a:ext>
            </a:extLst>
          </p:cNvPr>
          <p:cNvSpPr/>
          <p:nvPr/>
        </p:nvSpPr>
        <p:spPr bwMode="auto">
          <a:xfrm>
            <a:off x="8380824" y="4514357"/>
            <a:ext cx="239712" cy="26407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135" name="Rectangle 134">
            <a:extLst>
              <a:ext uri="{FF2B5EF4-FFF2-40B4-BE49-F238E27FC236}">
                <a16:creationId xmlns:a16="http://schemas.microsoft.com/office/drawing/2014/main" id="{24E1D1CC-70EC-4CA7-8615-4B382AA3D3C2}"/>
              </a:ext>
            </a:extLst>
          </p:cNvPr>
          <p:cNvSpPr/>
          <p:nvPr/>
        </p:nvSpPr>
        <p:spPr bwMode="auto">
          <a:xfrm>
            <a:off x="8620535" y="4514357"/>
            <a:ext cx="237810" cy="26407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136" name="TextBox 175">
            <a:extLst>
              <a:ext uri="{FF2B5EF4-FFF2-40B4-BE49-F238E27FC236}">
                <a16:creationId xmlns:a16="http://schemas.microsoft.com/office/drawing/2014/main" id="{68648CD0-3075-4696-B669-7E74DA96EFB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619132" y="4514357"/>
            <a:ext cx="1056824" cy="30777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1pPr>
            <a:lvl2pPr marL="742950" indent="-28575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2pPr>
            <a:lvl3pPr marL="1143000" indent="-22860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3pPr>
            <a:lvl4pPr marL="1600200" indent="-22860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4pPr>
            <a:lvl5pPr marL="2057400" indent="-22860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9pPr>
          </a:lstStyle>
          <a:p>
            <a:pPr eaLnBrk="1" hangingPunct="1"/>
            <a:r>
              <a:rPr lang="en-GB" b="0" dirty="0"/>
              <a:t>Reserved</a:t>
            </a:r>
          </a:p>
        </p:txBody>
      </p:sp>
      <p:sp>
        <p:nvSpPr>
          <p:cNvPr id="137" name="Rectangle 136">
            <a:extLst>
              <a:ext uri="{FF2B5EF4-FFF2-40B4-BE49-F238E27FC236}">
                <a16:creationId xmlns:a16="http://schemas.microsoft.com/office/drawing/2014/main" id="{EE525114-3B9F-40BF-8378-90F023342A73}"/>
              </a:ext>
            </a:extLst>
          </p:cNvPr>
          <p:cNvSpPr/>
          <p:nvPr/>
        </p:nvSpPr>
        <p:spPr bwMode="auto">
          <a:xfrm>
            <a:off x="8852637" y="4515782"/>
            <a:ext cx="239712" cy="26407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138" name="Rectangle 137">
            <a:extLst>
              <a:ext uri="{FF2B5EF4-FFF2-40B4-BE49-F238E27FC236}">
                <a16:creationId xmlns:a16="http://schemas.microsoft.com/office/drawing/2014/main" id="{B226853F-3ADD-4E19-B18E-B805DC1E278B}"/>
              </a:ext>
            </a:extLst>
          </p:cNvPr>
          <p:cNvSpPr/>
          <p:nvPr/>
        </p:nvSpPr>
        <p:spPr bwMode="auto">
          <a:xfrm>
            <a:off x="9092349" y="4515782"/>
            <a:ext cx="239712" cy="26407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139" name="Rectangle 138">
            <a:extLst>
              <a:ext uri="{FF2B5EF4-FFF2-40B4-BE49-F238E27FC236}">
                <a16:creationId xmlns:a16="http://schemas.microsoft.com/office/drawing/2014/main" id="{BD55D5F5-D625-4899-A7C0-8BE44198F5DC}"/>
              </a:ext>
            </a:extLst>
          </p:cNvPr>
          <p:cNvSpPr/>
          <p:nvPr/>
        </p:nvSpPr>
        <p:spPr bwMode="auto">
          <a:xfrm>
            <a:off x="9332061" y="4515782"/>
            <a:ext cx="239712" cy="26407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140" name="Rectangle 139">
            <a:extLst>
              <a:ext uri="{FF2B5EF4-FFF2-40B4-BE49-F238E27FC236}">
                <a16:creationId xmlns:a16="http://schemas.microsoft.com/office/drawing/2014/main" id="{F3A3B9F4-3E85-41FC-A10B-E5971133B270}"/>
              </a:ext>
            </a:extLst>
          </p:cNvPr>
          <p:cNvSpPr/>
          <p:nvPr/>
        </p:nvSpPr>
        <p:spPr bwMode="auto">
          <a:xfrm>
            <a:off x="9571772" y="4515782"/>
            <a:ext cx="239712" cy="26407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141" name="Rectangle 140">
            <a:extLst>
              <a:ext uri="{FF2B5EF4-FFF2-40B4-BE49-F238E27FC236}">
                <a16:creationId xmlns:a16="http://schemas.microsoft.com/office/drawing/2014/main" id="{AB4E03AC-784F-4130-8827-18D68D5F6E44}"/>
              </a:ext>
            </a:extLst>
          </p:cNvPr>
          <p:cNvSpPr/>
          <p:nvPr/>
        </p:nvSpPr>
        <p:spPr bwMode="auto">
          <a:xfrm>
            <a:off x="9805777" y="4515782"/>
            <a:ext cx="239712" cy="26407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142" name="Rectangle 141">
            <a:extLst>
              <a:ext uri="{FF2B5EF4-FFF2-40B4-BE49-F238E27FC236}">
                <a16:creationId xmlns:a16="http://schemas.microsoft.com/office/drawing/2014/main" id="{B6447CF9-AD34-4EFD-99F1-FF7212AF0999}"/>
              </a:ext>
            </a:extLst>
          </p:cNvPr>
          <p:cNvSpPr/>
          <p:nvPr/>
        </p:nvSpPr>
        <p:spPr bwMode="auto">
          <a:xfrm>
            <a:off x="10045489" y="4515782"/>
            <a:ext cx="239712" cy="26407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143" name="TextBox 187">
            <a:extLst>
              <a:ext uri="{FF2B5EF4-FFF2-40B4-BE49-F238E27FC236}">
                <a16:creationId xmlns:a16="http://schemas.microsoft.com/office/drawing/2014/main" id="{4FC34199-D78E-4AAD-BD4F-3D1CA46C29C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679513" y="4508648"/>
            <a:ext cx="1457295" cy="30777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1pPr>
            <a:lvl2pPr marL="742950" indent="-28575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2pPr>
            <a:lvl3pPr marL="1143000" indent="-22860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3pPr>
            <a:lvl4pPr marL="1600200" indent="-22860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4pPr>
            <a:lvl5pPr marL="2057400" indent="-22860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9pPr>
          </a:lstStyle>
          <a:p>
            <a:pPr eaLnBrk="1" hangingPunct="1"/>
            <a:r>
              <a:rPr lang="en-GB" b="0" dirty="0"/>
              <a:t>ISR number</a:t>
            </a:r>
          </a:p>
        </p:txBody>
      </p:sp>
      <p:sp>
        <p:nvSpPr>
          <p:cNvPr id="144" name="Rectangle 143">
            <a:extLst>
              <a:ext uri="{FF2B5EF4-FFF2-40B4-BE49-F238E27FC236}">
                <a16:creationId xmlns:a16="http://schemas.microsoft.com/office/drawing/2014/main" id="{B01593D0-75BC-44AC-8888-D7FEEBDDA23B}"/>
              </a:ext>
            </a:extLst>
          </p:cNvPr>
          <p:cNvSpPr/>
          <p:nvPr/>
        </p:nvSpPr>
        <p:spPr bwMode="auto">
          <a:xfrm>
            <a:off x="2679109" y="4514357"/>
            <a:ext cx="7606093" cy="264071"/>
          </a:xfrm>
          <a:prstGeom prst="rect">
            <a:avLst/>
          </a:prstGeom>
          <a:noFill/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145" name="TextBox 189">
            <a:extLst>
              <a:ext uri="{FF2B5EF4-FFF2-40B4-BE49-F238E27FC236}">
                <a16:creationId xmlns:a16="http://schemas.microsoft.com/office/drawing/2014/main" id="{B44D381E-FEC3-4575-B882-A4112F1F7E5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906704" y="2242896"/>
            <a:ext cx="669671" cy="30777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1pPr>
            <a:lvl2pPr marL="742950" indent="-28575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2pPr>
            <a:lvl3pPr marL="1143000" indent="-22860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3pPr>
            <a:lvl4pPr marL="1600200" indent="-22860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4pPr>
            <a:lvl5pPr marL="2057400" indent="-22860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9pPr>
          </a:lstStyle>
          <a:p>
            <a:pPr eaLnBrk="1" hangingPunct="1"/>
            <a:r>
              <a:rPr lang="en-GB" b="0" dirty="0"/>
              <a:t>APSR</a:t>
            </a:r>
          </a:p>
        </p:txBody>
      </p:sp>
      <p:sp>
        <p:nvSpPr>
          <p:cNvPr id="146" name="TextBox 190">
            <a:extLst>
              <a:ext uri="{FF2B5EF4-FFF2-40B4-BE49-F238E27FC236}">
                <a16:creationId xmlns:a16="http://schemas.microsoft.com/office/drawing/2014/main" id="{CE950499-E750-415E-BDF4-F559AD2FFED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933338" y="2769612"/>
            <a:ext cx="643036" cy="30777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1pPr>
            <a:lvl2pPr marL="742950" indent="-28575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2pPr>
            <a:lvl3pPr marL="1143000" indent="-22860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3pPr>
            <a:lvl4pPr marL="1600200" indent="-22860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4pPr>
            <a:lvl5pPr marL="2057400" indent="-22860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9pPr>
          </a:lstStyle>
          <a:p>
            <a:pPr eaLnBrk="1" hangingPunct="1"/>
            <a:r>
              <a:rPr lang="en-GB" b="0"/>
              <a:t>IPSR</a:t>
            </a:r>
          </a:p>
        </p:txBody>
      </p:sp>
      <p:sp>
        <p:nvSpPr>
          <p:cNvPr id="147" name="TextBox 191">
            <a:extLst>
              <a:ext uri="{FF2B5EF4-FFF2-40B4-BE49-F238E27FC236}">
                <a16:creationId xmlns:a16="http://schemas.microsoft.com/office/drawing/2014/main" id="{A4A54773-D0EC-4E8D-8721-5B1A7D084F1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80067" y="3326303"/>
            <a:ext cx="696307" cy="30777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1pPr>
            <a:lvl2pPr marL="742950" indent="-28575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2pPr>
            <a:lvl3pPr marL="1143000" indent="-22860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3pPr>
            <a:lvl4pPr marL="1600200" indent="-22860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4pPr>
            <a:lvl5pPr marL="2057400" indent="-22860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9pPr>
          </a:lstStyle>
          <a:p>
            <a:pPr eaLnBrk="1" hangingPunct="1"/>
            <a:r>
              <a:rPr lang="en-GB" b="0" dirty="0"/>
              <a:t>EPSR</a:t>
            </a:r>
          </a:p>
        </p:txBody>
      </p:sp>
      <p:sp>
        <p:nvSpPr>
          <p:cNvPr id="148" name="TextBox 192">
            <a:extLst>
              <a:ext uri="{FF2B5EF4-FFF2-40B4-BE49-F238E27FC236}">
                <a16:creationId xmlns:a16="http://schemas.microsoft.com/office/drawing/2014/main" id="{A82AD67E-01CD-4280-99DA-A2D9DBBAB90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933338" y="4495801"/>
            <a:ext cx="643036" cy="30777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1pPr>
            <a:lvl2pPr marL="742950" indent="-28575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2pPr>
            <a:lvl3pPr marL="1143000" indent="-22860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3pPr>
            <a:lvl4pPr marL="1600200" indent="-22860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4pPr>
            <a:lvl5pPr marL="2057400" indent="-22860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9pPr>
          </a:lstStyle>
          <a:p>
            <a:pPr eaLnBrk="1" hangingPunct="1"/>
            <a:r>
              <a:rPr lang="en-GB" b="0" dirty="0"/>
              <a:t>PSR</a:t>
            </a:r>
          </a:p>
        </p:txBody>
      </p:sp>
      <p:sp>
        <p:nvSpPr>
          <p:cNvPr id="154" name="Rectangle 153">
            <a:extLst>
              <a:ext uri="{FF2B5EF4-FFF2-40B4-BE49-F238E27FC236}">
                <a16:creationId xmlns:a16="http://schemas.microsoft.com/office/drawing/2014/main" id="{7CEAF0E8-BA17-4D51-B3E3-32E7F5F887BE}"/>
              </a:ext>
            </a:extLst>
          </p:cNvPr>
          <p:cNvSpPr/>
          <p:nvPr/>
        </p:nvSpPr>
        <p:spPr bwMode="auto">
          <a:xfrm>
            <a:off x="3630345" y="2261453"/>
            <a:ext cx="239712" cy="264071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dirty="0">
                <a:latin typeface="Consolas" panose="020B0609020204030204" pitchFamily="49" charset="0"/>
                <a:cs typeface="Consolas" panose="020B0609020204030204" pitchFamily="49" charset="0"/>
              </a:rPr>
              <a:t>Q</a:t>
            </a:r>
          </a:p>
        </p:txBody>
      </p:sp>
      <p:sp>
        <p:nvSpPr>
          <p:cNvPr id="155" name="Rectangle 154">
            <a:extLst>
              <a:ext uri="{FF2B5EF4-FFF2-40B4-BE49-F238E27FC236}">
                <a16:creationId xmlns:a16="http://schemas.microsoft.com/office/drawing/2014/main" id="{16A4B8D1-4535-44B8-B29B-C02808A256A9}"/>
              </a:ext>
            </a:extLst>
          </p:cNvPr>
          <p:cNvSpPr/>
          <p:nvPr/>
        </p:nvSpPr>
        <p:spPr bwMode="auto">
          <a:xfrm>
            <a:off x="3873864" y="4512501"/>
            <a:ext cx="473715" cy="265926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sz="1400" dirty="0">
                <a:cs typeface="Arial" charset="0"/>
              </a:rPr>
              <a:t>ICI/IT</a:t>
            </a:r>
          </a:p>
        </p:txBody>
      </p:sp>
      <p:sp>
        <p:nvSpPr>
          <p:cNvPr id="156" name="Rectangle 155">
            <a:extLst>
              <a:ext uri="{FF2B5EF4-FFF2-40B4-BE49-F238E27FC236}">
                <a16:creationId xmlns:a16="http://schemas.microsoft.com/office/drawing/2014/main" id="{05AD78AE-C3D6-45BC-8E10-E7B863D9686E}"/>
              </a:ext>
            </a:extLst>
          </p:cNvPr>
          <p:cNvSpPr/>
          <p:nvPr/>
        </p:nvSpPr>
        <p:spPr bwMode="auto">
          <a:xfrm>
            <a:off x="4347577" y="4512501"/>
            <a:ext cx="237810" cy="265926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dirty="0">
                <a:cs typeface="Arial" charset="0"/>
              </a:rPr>
              <a:t>T</a:t>
            </a:r>
          </a:p>
        </p:txBody>
      </p:sp>
      <p:sp>
        <p:nvSpPr>
          <p:cNvPr id="157" name="Rectangle 156">
            <a:extLst>
              <a:ext uri="{FF2B5EF4-FFF2-40B4-BE49-F238E27FC236}">
                <a16:creationId xmlns:a16="http://schemas.microsoft.com/office/drawing/2014/main" id="{E025A097-4EBD-4C13-895B-09051144B7A4}"/>
              </a:ext>
            </a:extLst>
          </p:cNvPr>
          <p:cNvSpPr/>
          <p:nvPr/>
        </p:nvSpPr>
        <p:spPr bwMode="auto">
          <a:xfrm>
            <a:off x="2679108" y="4512931"/>
            <a:ext cx="237808" cy="265925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N</a:t>
            </a:r>
          </a:p>
        </p:txBody>
      </p:sp>
      <p:sp>
        <p:nvSpPr>
          <p:cNvPr id="158" name="Rectangle 157">
            <a:extLst>
              <a:ext uri="{FF2B5EF4-FFF2-40B4-BE49-F238E27FC236}">
                <a16:creationId xmlns:a16="http://schemas.microsoft.com/office/drawing/2014/main" id="{0DEF319D-969E-486D-84A8-E35102197EDB}"/>
              </a:ext>
            </a:extLst>
          </p:cNvPr>
          <p:cNvSpPr/>
          <p:nvPr/>
        </p:nvSpPr>
        <p:spPr bwMode="auto">
          <a:xfrm>
            <a:off x="2916917" y="4512931"/>
            <a:ext cx="239712" cy="265925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Z</a:t>
            </a:r>
          </a:p>
        </p:txBody>
      </p:sp>
      <p:sp>
        <p:nvSpPr>
          <p:cNvPr id="159" name="Rectangle 158">
            <a:extLst>
              <a:ext uri="{FF2B5EF4-FFF2-40B4-BE49-F238E27FC236}">
                <a16:creationId xmlns:a16="http://schemas.microsoft.com/office/drawing/2014/main" id="{01265415-19E5-4060-87AA-110FFDA83F85}"/>
              </a:ext>
            </a:extLst>
          </p:cNvPr>
          <p:cNvSpPr/>
          <p:nvPr/>
        </p:nvSpPr>
        <p:spPr bwMode="auto">
          <a:xfrm>
            <a:off x="3150922" y="4512931"/>
            <a:ext cx="239712" cy="265925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</a:t>
            </a:r>
          </a:p>
        </p:txBody>
      </p:sp>
      <p:sp>
        <p:nvSpPr>
          <p:cNvPr id="160" name="Rectangle 159">
            <a:extLst>
              <a:ext uri="{FF2B5EF4-FFF2-40B4-BE49-F238E27FC236}">
                <a16:creationId xmlns:a16="http://schemas.microsoft.com/office/drawing/2014/main" id="{F9678C94-2C85-403A-B830-B0E8C5460086}"/>
              </a:ext>
            </a:extLst>
          </p:cNvPr>
          <p:cNvSpPr/>
          <p:nvPr/>
        </p:nvSpPr>
        <p:spPr bwMode="auto">
          <a:xfrm>
            <a:off x="3390633" y="4512931"/>
            <a:ext cx="239712" cy="265925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V</a:t>
            </a:r>
          </a:p>
        </p:txBody>
      </p:sp>
      <p:sp>
        <p:nvSpPr>
          <p:cNvPr id="161" name="Rectangle 160">
            <a:extLst>
              <a:ext uri="{FF2B5EF4-FFF2-40B4-BE49-F238E27FC236}">
                <a16:creationId xmlns:a16="http://schemas.microsoft.com/office/drawing/2014/main" id="{1B9FC768-1AC3-4342-9A16-035324535CA0}"/>
              </a:ext>
            </a:extLst>
          </p:cNvPr>
          <p:cNvSpPr/>
          <p:nvPr/>
        </p:nvSpPr>
        <p:spPr bwMode="auto">
          <a:xfrm>
            <a:off x="3630345" y="4512931"/>
            <a:ext cx="239712" cy="265925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dirty="0">
                <a:latin typeface="Consolas" panose="020B0609020204030204" pitchFamily="49" charset="0"/>
                <a:cs typeface="Consolas" panose="020B0609020204030204" pitchFamily="49" charset="0"/>
              </a:rPr>
              <a:t>Q</a:t>
            </a:r>
          </a:p>
        </p:txBody>
      </p:sp>
      <p:sp>
        <p:nvSpPr>
          <p:cNvPr id="162" name="Rectangle 161">
            <a:extLst>
              <a:ext uri="{FF2B5EF4-FFF2-40B4-BE49-F238E27FC236}">
                <a16:creationId xmlns:a16="http://schemas.microsoft.com/office/drawing/2014/main" id="{BC5C6772-9B34-48B3-B35B-7E317F28FA48}"/>
              </a:ext>
            </a:extLst>
          </p:cNvPr>
          <p:cNvSpPr/>
          <p:nvPr/>
        </p:nvSpPr>
        <p:spPr bwMode="auto">
          <a:xfrm>
            <a:off x="7675958" y="3339147"/>
            <a:ext cx="473715" cy="264072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sz="1200" dirty="0">
                <a:cs typeface="Arial" charset="0"/>
              </a:rPr>
              <a:t>ICI/IT</a:t>
            </a:r>
          </a:p>
        </p:txBody>
      </p:sp>
      <p:sp>
        <p:nvSpPr>
          <p:cNvPr id="163" name="Rectangle 162">
            <a:extLst>
              <a:ext uri="{FF2B5EF4-FFF2-40B4-BE49-F238E27FC236}">
                <a16:creationId xmlns:a16="http://schemas.microsoft.com/office/drawing/2014/main" id="{4D4E244D-1ECE-4A09-A40F-FBFBC680BB13}"/>
              </a:ext>
            </a:extLst>
          </p:cNvPr>
          <p:cNvSpPr/>
          <p:nvPr/>
        </p:nvSpPr>
        <p:spPr bwMode="auto">
          <a:xfrm>
            <a:off x="7675958" y="4514559"/>
            <a:ext cx="473715" cy="264072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sz="1200" dirty="0">
                <a:cs typeface="Arial" charset="0"/>
              </a:rPr>
              <a:t>ICI/IT</a:t>
            </a:r>
          </a:p>
        </p:txBody>
      </p:sp>
      <p:sp>
        <p:nvSpPr>
          <p:cNvPr id="172" name="Rectangle 171">
            <a:extLst>
              <a:ext uri="{FF2B5EF4-FFF2-40B4-BE49-F238E27FC236}">
                <a16:creationId xmlns:a16="http://schemas.microsoft.com/office/drawing/2014/main" id="{36C436D0-0111-4AEB-AF9D-59837A5D9AB9}"/>
              </a:ext>
            </a:extLst>
          </p:cNvPr>
          <p:cNvSpPr/>
          <p:nvPr/>
        </p:nvSpPr>
        <p:spPr bwMode="auto">
          <a:xfrm>
            <a:off x="3873862" y="1983275"/>
            <a:ext cx="239712" cy="264071"/>
          </a:xfrm>
          <a:prstGeom prst="rect">
            <a:avLst/>
          </a:prstGeom>
          <a:noFill/>
          <a:ln w="12700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sz="1600" dirty="0">
                <a:latin typeface="Arial Narrow" panose="020B0606020202030204" pitchFamily="34" charset="0"/>
                <a:cs typeface="Arial" charset="0"/>
              </a:rPr>
              <a:t>26</a:t>
            </a:r>
          </a:p>
        </p:txBody>
      </p:sp>
      <p:sp>
        <p:nvSpPr>
          <p:cNvPr id="173" name="Rectangle 172">
            <a:extLst>
              <a:ext uri="{FF2B5EF4-FFF2-40B4-BE49-F238E27FC236}">
                <a16:creationId xmlns:a16="http://schemas.microsoft.com/office/drawing/2014/main" id="{B0F532E8-752E-4140-9A07-EB8A3FF1F025}"/>
              </a:ext>
            </a:extLst>
          </p:cNvPr>
          <p:cNvSpPr/>
          <p:nvPr/>
        </p:nvSpPr>
        <p:spPr bwMode="auto">
          <a:xfrm>
            <a:off x="4107866" y="1983275"/>
            <a:ext cx="239712" cy="264071"/>
          </a:xfrm>
          <a:prstGeom prst="rect">
            <a:avLst/>
          </a:prstGeom>
          <a:noFill/>
          <a:ln w="12700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sz="1600" dirty="0">
                <a:latin typeface="Arial Narrow" panose="020B0606020202030204" pitchFamily="34" charset="0"/>
                <a:cs typeface="Arial" charset="0"/>
              </a:rPr>
              <a:t>25</a:t>
            </a:r>
          </a:p>
        </p:txBody>
      </p:sp>
      <p:sp>
        <p:nvSpPr>
          <p:cNvPr id="174" name="Rectangle 173">
            <a:extLst>
              <a:ext uri="{FF2B5EF4-FFF2-40B4-BE49-F238E27FC236}">
                <a16:creationId xmlns:a16="http://schemas.microsoft.com/office/drawing/2014/main" id="{D357A616-79B3-44E3-A86F-CA9699F9F020}"/>
              </a:ext>
            </a:extLst>
          </p:cNvPr>
          <p:cNvSpPr/>
          <p:nvPr/>
        </p:nvSpPr>
        <p:spPr bwMode="auto">
          <a:xfrm>
            <a:off x="4347577" y="1983275"/>
            <a:ext cx="237810" cy="264071"/>
          </a:xfrm>
          <a:prstGeom prst="rect">
            <a:avLst/>
          </a:prstGeom>
          <a:noFill/>
          <a:ln w="12700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sz="1600" dirty="0">
                <a:latin typeface="Arial Narrow" panose="020B0606020202030204" pitchFamily="34" charset="0"/>
                <a:cs typeface="Arial" charset="0"/>
              </a:rPr>
              <a:t>24</a:t>
            </a:r>
          </a:p>
        </p:txBody>
      </p:sp>
      <p:sp>
        <p:nvSpPr>
          <p:cNvPr id="175" name="Rectangle 174">
            <a:extLst>
              <a:ext uri="{FF2B5EF4-FFF2-40B4-BE49-F238E27FC236}">
                <a16:creationId xmlns:a16="http://schemas.microsoft.com/office/drawing/2014/main" id="{4E983A5E-2621-4B97-B01A-21EAAC761ADB}"/>
              </a:ext>
            </a:extLst>
          </p:cNvPr>
          <p:cNvSpPr/>
          <p:nvPr/>
        </p:nvSpPr>
        <p:spPr bwMode="auto">
          <a:xfrm>
            <a:off x="4579679" y="1983275"/>
            <a:ext cx="239712" cy="264071"/>
          </a:xfrm>
          <a:prstGeom prst="rect">
            <a:avLst/>
          </a:prstGeom>
          <a:noFill/>
          <a:ln w="12700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sz="1600" dirty="0">
                <a:latin typeface="Arial Narrow" panose="020B0606020202030204" pitchFamily="34" charset="0"/>
                <a:cs typeface="Arial" charset="0"/>
              </a:rPr>
              <a:t>23</a:t>
            </a:r>
          </a:p>
        </p:txBody>
      </p:sp>
      <p:sp>
        <p:nvSpPr>
          <p:cNvPr id="176" name="Rectangle 175">
            <a:extLst>
              <a:ext uri="{FF2B5EF4-FFF2-40B4-BE49-F238E27FC236}">
                <a16:creationId xmlns:a16="http://schemas.microsoft.com/office/drawing/2014/main" id="{92E354AD-8939-41F4-9CE2-51F3549C873B}"/>
              </a:ext>
            </a:extLst>
          </p:cNvPr>
          <p:cNvSpPr/>
          <p:nvPr/>
        </p:nvSpPr>
        <p:spPr bwMode="auto">
          <a:xfrm>
            <a:off x="4819391" y="1983275"/>
            <a:ext cx="239712" cy="264071"/>
          </a:xfrm>
          <a:prstGeom prst="rect">
            <a:avLst/>
          </a:prstGeom>
          <a:noFill/>
          <a:ln w="12700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sz="1600" dirty="0">
                <a:latin typeface="Arial Narrow" panose="020B0606020202030204" pitchFamily="34" charset="0"/>
                <a:cs typeface="Arial" charset="0"/>
              </a:rPr>
              <a:t>22</a:t>
            </a:r>
          </a:p>
        </p:txBody>
      </p:sp>
      <p:sp>
        <p:nvSpPr>
          <p:cNvPr id="177" name="Rectangle 176">
            <a:extLst>
              <a:ext uri="{FF2B5EF4-FFF2-40B4-BE49-F238E27FC236}">
                <a16:creationId xmlns:a16="http://schemas.microsoft.com/office/drawing/2014/main" id="{58C0D6A6-C56B-4AED-A9F1-CAD32F92C7FB}"/>
              </a:ext>
            </a:extLst>
          </p:cNvPr>
          <p:cNvSpPr/>
          <p:nvPr/>
        </p:nvSpPr>
        <p:spPr bwMode="auto">
          <a:xfrm>
            <a:off x="5053396" y="1983275"/>
            <a:ext cx="239712" cy="264071"/>
          </a:xfrm>
          <a:prstGeom prst="rect">
            <a:avLst/>
          </a:prstGeom>
          <a:noFill/>
          <a:ln w="12700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sz="1600" dirty="0">
                <a:latin typeface="Arial Narrow" panose="020B0606020202030204" pitchFamily="34" charset="0"/>
                <a:cs typeface="Arial" charset="0"/>
              </a:rPr>
              <a:t>21</a:t>
            </a:r>
          </a:p>
        </p:txBody>
      </p:sp>
      <p:sp>
        <p:nvSpPr>
          <p:cNvPr id="178" name="Rectangle 177">
            <a:extLst>
              <a:ext uri="{FF2B5EF4-FFF2-40B4-BE49-F238E27FC236}">
                <a16:creationId xmlns:a16="http://schemas.microsoft.com/office/drawing/2014/main" id="{578AA74F-27C7-4705-AB82-9CA4E3218E41}"/>
              </a:ext>
            </a:extLst>
          </p:cNvPr>
          <p:cNvSpPr/>
          <p:nvPr/>
        </p:nvSpPr>
        <p:spPr bwMode="auto">
          <a:xfrm>
            <a:off x="5293108" y="1983275"/>
            <a:ext cx="239712" cy="264071"/>
          </a:xfrm>
          <a:prstGeom prst="rect">
            <a:avLst/>
          </a:prstGeom>
          <a:noFill/>
          <a:ln w="12700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sz="1600" dirty="0">
                <a:latin typeface="Arial Narrow" panose="020B0606020202030204" pitchFamily="34" charset="0"/>
                <a:cs typeface="Arial" charset="0"/>
              </a:rPr>
              <a:t>20</a:t>
            </a:r>
          </a:p>
        </p:txBody>
      </p:sp>
      <p:sp>
        <p:nvSpPr>
          <p:cNvPr id="179" name="Rectangle 178">
            <a:extLst>
              <a:ext uri="{FF2B5EF4-FFF2-40B4-BE49-F238E27FC236}">
                <a16:creationId xmlns:a16="http://schemas.microsoft.com/office/drawing/2014/main" id="{5DABE315-AB84-4FA5-B8A5-15C6B8C01DC8}"/>
              </a:ext>
            </a:extLst>
          </p:cNvPr>
          <p:cNvSpPr/>
          <p:nvPr/>
        </p:nvSpPr>
        <p:spPr bwMode="auto">
          <a:xfrm>
            <a:off x="5532820" y="1983275"/>
            <a:ext cx="239712" cy="264071"/>
          </a:xfrm>
          <a:prstGeom prst="rect">
            <a:avLst/>
          </a:prstGeom>
          <a:noFill/>
          <a:ln w="12700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sz="1600" dirty="0">
                <a:latin typeface="Arial Narrow" panose="020B0606020202030204" pitchFamily="34" charset="0"/>
                <a:cs typeface="Arial" charset="0"/>
              </a:rPr>
              <a:t>19</a:t>
            </a:r>
          </a:p>
        </p:txBody>
      </p:sp>
      <p:sp>
        <p:nvSpPr>
          <p:cNvPr id="180" name="Rectangle 179">
            <a:extLst>
              <a:ext uri="{FF2B5EF4-FFF2-40B4-BE49-F238E27FC236}">
                <a16:creationId xmlns:a16="http://schemas.microsoft.com/office/drawing/2014/main" id="{07BE3781-4872-4BCA-929A-B18A5C3D90D0}"/>
              </a:ext>
            </a:extLst>
          </p:cNvPr>
          <p:cNvSpPr/>
          <p:nvPr/>
        </p:nvSpPr>
        <p:spPr bwMode="auto">
          <a:xfrm>
            <a:off x="5772532" y="1983275"/>
            <a:ext cx="239712" cy="264071"/>
          </a:xfrm>
          <a:prstGeom prst="rect">
            <a:avLst/>
          </a:prstGeom>
          <a:noFill/>
          <a:ln w="12700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sz="1600" dirty="0">
                <a:latin typeface="Arial Narrow" panose="020B0606020202030204" pitchFamily="34" charset="0"/>
                <a:cs typeface="Arial" charset="0"/>
              </a:rPr>
              <a:t>18</a:t>
            </a:r>
          </a:p>
        </p:txBody>
      </p:sp>
      <p:sp>
        <p:nvSpPr>
          <p:cNvPr id="181" name="Rectangle 180">
            <a:extLst>
              <a:ext uri="{FF2B5EF4-FFF2-40B4-BE49-F238E27FC236}">
                <a16:creationId xmlns:a16="http://schemas.microsoft.com/office/drawing/2014/main" id="{79E489DB-B273-4A1D-A481-1044EB120F22}"/>
              </a:ext>
            </a:extLst>
          </p:cNvPr>
          <p:cNvSpPr/>
          <p:nvPr/>
        </p:nvSpPr>
        <p:spPr bwMode="auto">
          <a:xfrm>
            <a:off x="6006535" y="1983275"/>
            <a:ext cx="239712" cy="264071"/>
          </a:xfrm>
          <a:prstGeom prst="rect">
            <a:avLst/>
          </a:prstGeom>
          <a:noFill/>
          <a:ln w="12700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sz="1600" dirty="0">
                <a:latin typeface="Arial Narrow" panose="020B0606020202030204" pitchFamily="34" charset="0"/>
                <a:cs typeface="Arial" charset="0"/>
              </a:rPr>
              <a:t>17</a:t>
            </a:r>
          </a:p>
        </p:txBody>
      </p:sp>
      <p:sp>
        <p:nvSpPr>
          <p:cNvPr id="182" name="Rectangle 181">
            <a:extLst>
              <a:ext uri="{FF2B5EF4-FFF2-40B4-BE49-F238E27FC236}">
                <a16:creationId xmlns:a16="http://schemas.microsoft.com/office/drawing/2014/main" id="{54E8EB63-9CC6-457F-8316-8E8F15423204}"/>
              </a:ext>
            </a:extLst>
          </p:cNvPr>
          <p:cNvSpPr/>
          <p:nvPr/>
        </p:nvSpPr>
        <p:spPr bwMode="auto">
          <a:xfrm>
            <a:off x="6246247" y="1983275"/>
            <a:ext cx="239712" cy="264071"/>
          </a:xfrm>
          <a:prstGeom prst="rect">
            <a:avLst/>
          </a:prstGeom>
          <a:noFill/>
          <a:ln w="12700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sz="1600" dirty="0">
                <a:latin typeface="Arial Narrow" panose="020B0606020202030204" pitchFamily="34" charset="0"/>
                <a:cs typeface="Arial" charset="0"/>
              </a:rPr>
              <a:t>16</a:t>
            </a:r>
          </a:p>
        </p:txBody>
      </p:sp>
      <p:sp>
        <p:nvSpPr>
          <p:cNvPr id="183" name="Rectangle 182">
            <a:extLst>
              <a:ext uri="{FF2B5EF4-FFF2-40B4-BE49-F238E27FC236}">
                <a16:creationId xmlns:a16="http://schemas.microsoft.com/office/drawing/2014/main" id="{06348944-0BAA-4609-B702-10AD73B7E1E9}"/>
              </a:ext>
            </a:extLst>
          </p:cNvPr>
          <p:cNvSpPr/>
          <p:nvPr/>
        </p:nvSpPr>
        <p:spPr bwMode="auto">
          <a:xfrm>
            <a:off x="6480252" y="1983275"/>
            <a:ext cx="239712" cy="264071"/>
          </a:xfrm>
          <a:prstGeom prst="rect">
            <a:avLst/>
          </a:prstGeom>
          <a:noFill/>
          <a:ln w="12700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sz="1600" dirty="0">
                <a:latin typeface="Arial Narrow" panose="020B0606020202030204" pitchFamily="34" charset="0"/>
                <a:cs typeface="Arial" charset="0"/>
              </a:rPr>
              <a:t>15</a:t>
            </a:r>
          </a:p>
        </p:txBody>
      </p:sp>
      <p:sp>
        <p:nvSpPr>
          <p:cNvPr id="184" name="Rectangle 183">
            <a:extLst>
              <a:ext uri="{FF2B5EF4-FFF2-40B4-BE49-F238E27FC236}">
                <a16:creationId xmlns:a16="http://schemas.microsoft.com/office/drawing/2014/main" id="{1D90ADC4-3AFC-44CD-993C-DA70103E1345}"/>
              </a:ext>
            </a:extLst>
          </p:cNvPr>
          <p:cNvSpPr/>
          <p:nvPr/>
        </p:nvSpPr>
        <p:spPr bwMode="auto">
          <a:xfrm>
            <a:off x="6719964" y="1983275"/>
            <a:ext cx="239712" cy="264071"/>
          </a:xfrm>
          <a:prstGeom prst="rect">
            <a:avLst/>
          </a:prstGeom>
          <a:noFill/>
          <a:ln w="12700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sz="1600" dirty="0">
                <a:latin typeface="Arial Narrow" panose="020B0606020202030204" pitchFamily="34" charset="0"/>
                <a:cs typeface="Arial" charset="0"/>
              </a:rPr>
              <a:t>14</a:t>
            </a:r>
          </a:p>
        </p:txBody>
      </p:sp>
      <p:sp>
        <p:nvSpPr>
          <p:cNvPr id="185" name="Rectangle 184">
            <a:extLst>
              <a:ext uri="{FF2B5EF4-FFF2-40B4-BE49-F238E27FC236}">
                <a16:creationId xmlns:a16="http://schemas.microsoft.com/office/drawing/2014/main" id="{B6689AF7-A7EB-4B27-8F15-D61D230D7568}"/>
              </a:ext>
            </a:extLst>
          </p:cNvPr>
          <p:cNvSpPr/>
          <p:nvPr/>
        </p:nvSpPr>
        <p:spPr bwMode="auto">
          <a:xfrm>
            <a:off x="6953968" y="1983275"/>
            <a:ext cx="239712" cy="264071"/>
          </a:xfrm>
          <a:prstGeom prst="rect">
            <a:avLst/>
          </a:prstGeom>
          <a:noFill/>
          <a:ln w="12700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sz="1600" dirty="0">
                <a:latin typeface="Arial Narrow" panose="020B0606020202030204" pitchFamily="34" charset="0"/>
                <a:cs typeface="Arial" charset="0"/>
              </a:rPr>
              <a:t>13</a:t>
            </a:r>
          </a:p>
        </p:txBody>
      </p:sp>
      <p:sp>
        <p:nvSpPr>
          <p:cNvPr id="186" name="Rectangle 185">
            <a:extLst>
              <a:ext uri="{FF2B5EF4-FFF2-40B4-BE49-F238E27FC236}">
                <a16:creationId xmlns:a16="http://schemas.microsoft.com/office/drawing/2014/main" id="{490103A2-FF36-4438-A7BC-B9CE17515E2E}"/>
              </a:ext>
            </a:extLst>
          </p:cNvPr>
          <p:cNvSpPr/>
          <p:nvPr/>
        </p:nvSpPr>
        <p:spPr bwMode="auto">
          <a:xfrm>
            <a:off x="7193679" y="1983275"/>
            <a:ext cx="239712" cy="264071"/>
          </a:xfrm>
          <a:prstGeom prst="rect">
            <a:avLst/>
          </a:prstGeom>
          <a:noFill/>
          <a:ln w="12700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sz="1600" dirty="0">
                <a:latin typeface="Arial Narrow" panose="020B0606020202030204" pitchFamily="34" charset="0"/>
                <a:cs typeface="Arial" charset="0"/>
              </a:rPr>
              <a:t>12</a:t>
            </a:r>
          </a:p>
        </p:txBody>
      </p:sp>
      <p:sp>
        <p:nvSpPr>
          <p:cNvPr id="187" name="Rectangle 186">
            <a:extLst>
              <a:ext uri="{FF2B5EF4-FFF2-40B4-BE49-F238E27FC236}">
                <a16:creationId xmlns:a16="http://schemas.microsoft.com/office/drawing/2014/main" id="{74F50D91-4602-41DA-856C-E195E547047D}"/>
              </a:ext>
            </a:extLst>
          </p:cNvPr>
          <p:cNvSpPr/>
          <p:nvPr/>
        </p:nvSpPr>
        <p:spPr bwMode="auto">
          <a:xfrm>
            <a:off x="7433391" y="1983275"/>
            <a:ext cx="239712" cy="264071"/>
          </a:xfrm>
          <a:prstGeom prst="rect">
            <a:avLst/>
          </a:prstGeom>
          <a:noFill/>
          <a:ln w="12700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sz="1600" dirty="0">
                <a:latin typeface="Arial Narrow" panose="020B0606020202030204" pitchFamily="34" charset="0"/>
                <a:cs typeface="Arial" charset="0"/>
              </a:rPr>
              <a:t>11</a:t>
            </a:r>
          </a:p>
        </p:txBody>
      </p:sp>
      <p:sp>
        <p:nvSpPr>
          <p:cNvPr id="188" name="Rectangle 187">
            <a:extLst>
              <a:ext uri="{FF2B5EF4-FFF2-40B4-BE49-F238E27FC236}">
                <a16:creationId xmlns:a16="http://schemas.microsoft.com/office/drawing/2014/main" id="{FE23828C-1073-483A-8B03-3CF9D12B1E9D}"/>
              </a:ext>
            </a:extLst>
          </p:cNvPr>
          <p:cNvSpPr/>
          <p:nvPr/>
        </p:nvSpPr>
        <p:spPr bwMode="auto">
          <a:xfrm>
            <a:off x="7673103" y="1983275"/>
            <a:ext cx="239712" cy="264071"/>
          </a:xfrm>
          <a:prstGeom prst="rect">
            <a:avLst/>
          </a:prstGeom>
          <a:noFill/>
          <a:ln w="12700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sz="1600" dirty="0">
                <a:latin typeface="Arial Narrow" panose="020B0606020202030204" pitchFamily="34" charset="0"/>
                <a:cs typeface="Arial" charset="0"/>
              </a:rPr>
              <a:t>10</a:t>
            </a:r>
          </a:p>
        </p:txBody>
      </p:sp>
      <p:sp>
        <p:nvSpPr>
          <p:cNvPr id="189" name="Rectangle 188">
            <a:extLst>
              <a:ext uri="{FF2B5EF4-FFF2-40B4-BE49-F238E27FC236}">
                <a16:creationId xmlns:a16="http://schemas.microsoft.com/office/drawing/2014/main" id="{50AB28BA-EC6D-49DE-BB9C-9A14888BC703}"/>
              </a:ext>
            </a:extLst>
          </p:cNvPr>
          <p:cNvSpPr/>
          <p:nvPr/>
        </p:nvSpPr>
        <p:spPr bwMode="auto">
          <a:xfrm>
            <a:off x="7907108" y="1983275"/>
            <a:ext cx="239712" cy="264071"/>
          </a:xfrm>
          <a:prstGeom prst="rect">
            <a:avLst/>
          </a:prstGeom>
          <a:noFill/>
          <a:ln w="12700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sz="1600" dirty="0">
                <a:latin typeface="Arial Narrow" panose="020B0606020202030204" pitchFamily="34" charset="0"/>
                <a:cs typeface="Arial" charset="0"/>
              </a:rPr>
              <a:t>9</a:t>
            </a:r>
          </a:p>
        </p:txBody>
      </p:sp>
      <p:sp>
        <p:nvSpPr>
          <p:cNvPr id="190" name="Rectangle 189">
            <a:extLst>
              <a:ext uri="{FF2B5EF4-FFF2-40B4-BE49-F238E27FC236}">
                <a16:creationId xmlns:a16="http://schemas.microsoft.com/office/drawing/2014/main" id="{1ABBE835-1D7F-4B5B-945D-E2FF7E90077E}"/>
              </a:ext>
            </a:extLst>
          </p:cNvPr>
          <p:cNvSpPr/>
          <p:nvPr/>
        </p:nvSpPr>
        <p:spPr bwMode="auto">
          <a:xfrm>
            <a:off x="8146820" y="1983275"/>
            <a:ext cx="239712" cy="264071"/>
          </a:xfrm>
          <a:prstGeom prst="rect">
            <a:avLst/>
          </a:prstGeom>
          <a:noFill/>
          <a:ln w="12700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sz="1600" dirty="0">
                <a:latin typeface="Arial Narrow" panose="020B0606020202030204" pitchFamily="34" charset="0"/>
                <a:cs typeface="Arial" charset="0"/>
              </a:rPr>
              <a:t>8</a:t>
            </a:r>
          </a:p>
        </p:txBody>
      </p:sp>
      <p:sp>
        <p:nvSpPr>
          <p:cNvPr id="191" name="Rectangle 190">
            <a:extLst>
              <a:ext uri="{FF2B5EF4-FFF2-40B4-BE49-F238E27FC236}">
                <a16:creationId xmlns:a16="http://schemas.microsoft.com/office/drawing/2014/main" id="{0BF9CD00-3549-42B1-8E48-68646758B889}"/>
              </a:ext>
            </a:extLst>
          </p:cNvPr>
          <p:cNvSpPr/>
          <p:nvPr/>
        </p:nvSpPr>
        <p:spPr bwMode="auto">
          <a:xfrm>
            <a:off x="8380824" y="1983275"/>
            <a:ext cx="239712" cy="264071"/>
          </a:xfrm>
          <a:prstGeom prst="rect">
            <a:avLst/>
          </a:prstGeom>
          <a:noFill/>
          <a:ln w="12700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sz="1600" dirty="0">
                <a:latin typeface="Arial Narrow" panose="020B0606020202030204" pitchFamily="34" charset="0"/>
                <a:cs typeface="Arial" charset="0"/>
              </a:rPr>
              <a:t>7</a:t>
            </a:r>
          </a:p>
        </p:txBody>
      </p:sp>
      <p:sp>
        <p:nvSpPr>
          <p:cNvPr id="192" name="Rectangle 191">
            <a:extLst>
              <a:ext uri="{FF2B5EF4-FFF2-40B4-BE49-F238E27FC236}">
                <a16:creationId xmlns:a16="http://schemas.microsoft.com/office/drawing/2014/main" id="{8BEB8D20-3DBC-4FBD-B4B7-7F568492B515}"/>
              </a:ext>
            </a:extLst>
          </p:cNvPr>
          <p:cNvSpPr/>
          <p:nvPr/>
        </p:nvSpPr>
        <p:spPr bwMode="auto">
          <a:xfrm>
            <a:off x="8620535" y="1983275"/>
            <a:ext cx="237810" cy="264071"/>
          </a:xfrm>
          <a:prstGeom prst="rect">
            <a:avLst/>
          </a:prstGeom>
          <a:noFill/>
          <a:ln w="12700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sz="1600" dirty="0">
                <a:latin typeface="Arial Narrow" panose="020B0606020202030204" pitchFamily="34" charset="0"/>
                <a:cs typeface="Arial" charset="0"/>
              </a:rPr>
              <a:t>6</a:t>
            </a:r>
          </a:p>
        </p:txBody>
      </p:sp>
      <p:sp>
        <p:nvSpPr>
          <p:cNvPr id="193" name="Rectangle 192">
            <a:extLst>
              <a:ext uri="{FF2B5EF4-FFF2-40B4-BE49-F238E27FC236}">
                <a16:creationId xmlns:a16="http://schemas.microsoft.com/office/drawing/2014/main" id="{C1E4984E-D964-4127-A94D-DAF7723E87C1}"/>
              </a:ext>
            </a:extLst>
          </p:cNvPr>
          <p:cNvSpPr/>
          <p:nvPr/>
        </p:nvSpPr>
        <p:spPr bwMode="auto">
          <a:xfrm>
            <a:off x="8852637" y="1983275"/>
            <a:ext cx="239712" cy="264071"/>
          </a:xfrm>
          <a:prstGeom prst="rect">
            <a:avLst/>
          </a:prstGeom>
          <a:noFill/>
          <a:ln w="12700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sz="1600" dirty="0">
                <a:latin typeface="Arial Narrow" panose="020B0606020202030204" pitchFamily="34" charset="0"/>
                <a:cs typeface="Arial" charset="0"/>
              </a:rPr>
              <a:t>5</a:t>
            </a:r>
          </a:p>
        </p:txBody>
      </p:sp>
      <p:sp>
        <p:nvSpPr>
          <p:cNvPr id="194" name="Rectangle 193">
            <a:extLst>
              <a:ext uri="{FF2B5EF4-FFF2-40B4-BE49-F238E27FC236}">
                <a16:creationId xmlns:a16="http://schemas.microsoft.com/office/drawing/2014/main" id="{12F8595B-BF2E-498F-83FC-B62D8475CC0B}"/>
              </a:ext>
            </a:extLst>
          </p:cNvPr>
          <p:cNvSpPr/>
          <p:nvPr/>
        </p:nvSpPr>
        <p:spPr bwMode="auto">
          <a:xfrm>
            <a:off x="9092349" y="1983275"/>
            <a:ext cx="239712" cy="264071"/>
          </a:xfrm>
          <a:prstGeom prst="rect">
            <a:avLst/>
          </a:prstGeom>
          <a:noFill/>
          <a:ln w="12700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sz="1600" dirty="0">
                <a:latin typeface="Arial Narrow" panose="020B0606020202030204" pitchFamily="34" charset="0"/>
                <a:cs typeface="Arial" charset="0"/>
              </a:rPr>
              <a:t>4</a:t>
            </a:r>
          </a:p>
        </p:txBody>
      </p:sp>
      <p:sp>
        <p:nvSpPr>
          <p:cNvPr id="195" name="Rectangle 194">
            <a:extLst>
              <a:ext uri="{FF2B5EF4-FFF2-40B4-BE49-F238E27FC236}">
                <a16:creationId xmlns:a16="http://schemas.microsoft.com/office/drawing/2014/main" id="{D2309E76-4F14-463E-BE62-C8F561F3A781}"/>
              </a:ext>
            </a:extLst>
          </p:cNvPr>
          <p:cNvSpPr/>
          <p:nvPr/>
        </p:nvSpPr>
        <p:spPr bwMode="auto">
          <a:xfrm>
            <a:off x="9332061" y="1983275"/>
            <a:ext cx="239712" cy="264071"/>
          </a:xfrm>
          <a:prstGeom prst="rect">
            <a:avLst/>
          </a:prstGeom>
          <a:noFill/>
          <a:ln w="12700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sz="1600" dirty="0">
                <a:latin typeface="Arial Narrow" panose="020B0606020202030204" pitchFamily="34" charset="0"/>
                <a:cs typeface="Arial" charset="0"/>
              </a:rPr>
              <a:t>3</a:t>
            </a:r>
          </a:p>
        </p:txBody>
      </p:sp>
      <p:sp>
        <p:nvSpPr>
          <p:cNvPr id="196" name="Rectangle 195">
            <a:extLst>
              <a:ext uri="{FF2B5EF4-FFF2-40B4-BE49-F238E27FC236}">
                <a16:creationId xmlns:a16="http://schemas.microsoft.com/office/drawing/2014/main" id="{FCFA5803-D95D-4128-A39D-3ABFF287FD7D}"/>
              </a:ext>
            </a:extLst>
          </p:cNvPr>
          <p:cNvSpPr/>
          <p:nvPr/>
        </p:nvSpPr>
        <p:spPr bwMode="auto">
          <a:xfrm>
            <a:off x="9571772" y="1983275"/>
            <a:ext cx="239712" cy="264071"/>
          </a:xfrm>
          <a:prstGeom prst="rect">
            <a:avLst/>
          </a:prstGeom>
          <a:noFill/>
          <a:ln w="12700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sz="1600" dirty="0">
                <a:latin typeface="Arial Narrow" panose="020B0606020202030204" pitchFamily="34" charset="0"/>
                <a:cs typeface="Arial" charset="0"/>
              </a:rPr>
              <a:t>2</a:t>
            </a:r>
          </a:p>
        </p:txBody>
      </p:sp>
      <p:sp>
        <p:nvSpPr>
          <p:cNvPr id="197" name="Rectangle 196">
            <a:extLst>
              <a:ext uri="{FF2B5EF4-FFF2-40B4-BE49-F238E27FC236}">
                <a16:creationId xmlns:a16="http://schemas.microsoft.com/office/drawing/2014/main" id="{11F71BA1-72B1-49DF-9B21-B7BFB4F6F146}"/>
              </a:ext>
            </a:extLst>
          </p:cNvPr>
          <p:cNvSpPr/>
          <p:nvPr/>
        </p:nvSpPr>
        <p:spPr bwMode="auto">
          <a:xfrm>
            <a:off x="9805777" y="1983275"/>
            <a:ext cx="239712" cy="264071"/>
          </a:xfrm>
          <a:prstGeom prst="rect">
            <a:avLst/>
          </a:prstGeom>
          <a:noFill/>
          <a:ln w="12700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sz="1600" dirty="0">
                <a:latin typeface="Arial Narrow" panose="020B0606020202030204" pitchFamily="34" charset="0"/>
                <a:cs typeface="Arial" charset="0"/>
              </a:rPr>
              <a:t>1</a:t>
            </a:r>
          </a:p>
        </p:txBody>
      </p:sp>
      <p:sp>
        <p:nvSpPr>
          <p:cNvPr id="198" name="Rectangle 197">
            <a:extLst>
              <a:ext uri="{FF2B5EF4-FFF2-40B4-BE49-F238E27FC236}">
                <a16:creationId xmlns:a16="http://schemas.microsoft.com/office/drawing/2014/main" id="{43609A8D-2714-48C8-94C5-CE77F72B4032}"/>
              </a:ext>
            </a:extLst>
          </p:cNvPr>
          <p:cNvSpPr/>
          <p:nvPr/>
        </p:nvSpPr>
        <p:spPr bwMode="auto">
          <a:xfrm>
            <a:off x="10045489" y="1983275"/>
            <a:ext cx="239712" cy="264071"/>
          </a:xfrm>
          <a:prstGeom prst="rect">
            <a:avLst/>
          </a:prstGeom>
          <a:noFill/>
          <a:ln w="12700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sz="1600" dirty="0">
                <a:latin typeface="Arial Narrow" panose="020B0606020202030204" pitchFamily="34" charset="0"/>
                <a:cs typeface="Arial" charset="0"/>
              </a:rPr>
              <a:t>0</a:t>
            </a:r>
          </a:p>
        </p:txBody>
      </p:sp>
      <p:sp>
        <p:nvSpPr>
          <p:cNvPr id="203" name="Rectangle 202">
            <a:extLst>
              <a:ext uri="{FF2B5EF4-FFF2-40B4-BE49-F238E27FC236}">
                <a16:creationId xmlns:a16="http://schemas.microsoft.com/office/drawing/2014/main" id="{822F57FC-5807-409C-9221-99B22D8A285E}"/>
              </a:ext>
            </a:extLst>
          </p:cNvPr>
          <p:cNvSpPr/>
          <p:nvPr/>
        </p:nvSpPr>
        <p:spPr bwMode="auto">
          <a:xfrm>
            <a:off x="2686263" y="1981201"/>
            <a:ext cx="239712" cy="264071"/>
          </a:xfrm>
          <a:prstGeom prst="rect">
            <a:avLst/>
          </a:prstGeom>
          <a:noFill/>
          <a:ln w="12700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sz="1600" dirty="0">
                <a:latin typeface="Arial Narrow" panose="020B0606020202030204" pitchFamily="34" charset="0"/>
                <a:cs typeface="Arial" charset="0"/>
              </a:rPr>
              <a:t>31</a:t>
            </a:r>
          </a:p>
        </p:txBody>
      </p:sp>
      <p:sp>
        <p:nvSpPr>
          <p:cNvPr id="204" name="Rectangle 203">
            <a:extLst>
              <a:ext uri="{FF2B5EF4-FFF2-40B4-BE49-F238E27FC236}">
                <a16:creationId xmlns:a16="http://schemas.microsoft.com/office/drawing/2014/main" id="{2034F344-EB89-4EB9-B815-46666BAF73D8}"/>
              </a:ext>
            </a:extLst>
          </p:cNvPr>
          <p:cNvSpPr/>
          <p:nvPr/>
        </p:nvSpPr>
        <p:spPr bwMode="auto">
          <a:xfrm>
            <a:off x="2925974" y="1981201"/>
            <a:ext cx="237810" cy="264071"/>
          </a:xfrm>
          <a:prstGeom prst="rect">
            <a:avLst/>
          </a:prstGeom>
          <a:noFill/>
          <a:ln w="12700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sz="1600" dirty="0">
                <a:latin typeface="Arial Narrow" panose="020B0606020202030204" pitchFamily="34" charset="0"/>
                <a:cs typeface="Arial" charset="0"/>
              </a:rPr>
              <a:t>30</a:t>
            </a:r>
          </a:p>
        </p:txBody>
      </p:sp>
      <p:sp>
        <p:nvSpPr>
          <p:cNvPr id="205" name="Rectangle 204">
            <a:extLst>
              <a:ext uri="{FF2B5EF4-FFF2-40B4-BE49-F238E27FC236}">
                <a16:creationId xmlns:a16="http://schemas.microsoft.com/office/drawing/2014/main" id="{3C600F56-A17B-4CA5-BAE0-DB2D9978E702}"/>
              </a:ext>
            </a:extLst>
          </p:cNvPr>
          <p:cNvSpPr/>
          <p:nvPr/>
        </p:nvSpPr>
        <p:spPr bwMode="auto">
          <a:xfrm>
            <a:off x="3158076" y="1981201"/>
            <a:ext cx="239712" cy="264071"/>
          </a:xfrm>
          <a:prstGeom prst="rect">
            <a:avLst/>
          </a:prstGeom>
          <a:noFill/>
          <a:ln w="12700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sz="1600" dirty="0">
                <a:latin typeface="Arial Narrow" panose="020B0606020202030204" pitchFamily="34" charset="0"/>
                <a:cs typeface="Arial" charset="0"/>
              </a:rPr>
              <a:t>29</a:t>
            </a:r>
          </a:p>
        </p:txBody>
      </p:sp>
      <p:sp>
        <p:nvSpPr>
          <p:cNvPr id="206" name="Rectangle 205">
            <a:extLst>
              <a:ext uri="{FF2B5EF4-FFF2-40B4-BE49-F238E27FC236}">
                <a16:creationId xmlns:a16="http://schemas.microsoft.com/office/drawing/2014/main" id="{12F607C8-1083-471B-B621-AC7385F04F57}"/>
              </a:ext>
            </a:extLst>
          </p:cNvPr>
          <p:cNvSpPr/>
          <p:nvPr/>
        </p:nvSpPr>
        <p:spPr bwMode="auto">
          <a:xfrm>
            <a:off x="3397788" y="1981201"/>
            <a:ext cx="239712" cy="264071"/>
          </a:xfrm>
          <a:prstGeom prst="rect">
            <a:avLst/>
          </a:prstGeom>
          <a:noFill/>
          <a:ln w="12700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sz="1600" dirty="0">
                <a:latin typeface="Arial Narrow" panose="020B0606020202030204" pitchFamily="34" charset="0"/>
                <a:cs typeface="Arial" charset="0"/>
              </a:rPr>
              <a:t>28</a:t>
            </a:r>
          </a:p>
        </p:txBody>
      </p:sp>
      <p:sp>
        <p:nvSpPr>
          <p:cNvPr id="207" name="Rectangle 206">
            <a:extLst>
              <a:ext uri="{FF2B5EF4-FFF2-40B4-BE49-F238E27FC236}">
                <a16:creationId xmlns:a16="http://schemas.microsoft.com/office/drawing/2014/main" id="{828E4285-088D-4927-BF70-BCA6FE0E3CC5}"/>
              </a:ext>
            </a:extLst>
          </p:cNvPr>
          <p:cNvSpPr/>
          <p:nvPr/>
        </p:nvSpPr>
        <p:spPr bwMode="auto">
          <a:xfrm>
            <a:off x="3631793" y="1981201"/>
            <a:ext cx="239712" cy="264071"/>
          </a:xfrm>
          <a:prstGeom prst="rect">
            <a:avLst/>
          </a:prstGeom>
          <a:noFill/>
          <a:ln w="12700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sz="1600" dirty="0">
                <a:latin typeface="Arial Narrow" panose="020B0606020202030204" pitchFamily="34" charset="0"/>
                <a:cs typeface="Arial" charset="0"/>
              </a:rPr>
              <a:t>27</a:t>
            </a:r>
          </a:p>
        </p:txBody>
      </p:sp>
      <p:sp>
        <p:nvSpPr>
          <p:cNvPr id="208" name="Rectangle 207">
            <a:extLst>
              <a:ext uri="{FF2B5EF4-FFF2-40B4-BE49-F238E27FC236}">
                <a16:creationId xmlns:a16="http://schemas.microsoft.com/office/drawing/2014/main" id="{E787421E-5E17-42CF-831D-FC13CE3CF974}"/>
              </a:ext>
            </a:extLst>
          </p:cNvPr>
          <p:cNvSpPr/>
          <p:nvPr/>
        </p:nvSpPr>
        <p:spPr>
          <a:xfrm>
            <a:off x="1866552" y="3953266"/>
            <a:ext cx="5665967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/>
              <a:t>Combine them together into one register (</a:t>
            </a:r>
            <a:r>
              <a:rPr lang="en-US" b="1" dirty="0">
                <a:solidFill>
                  <a:srgbClr val="C00000"/>
                </a:solidFill>
              </a:rPr>
              <a:t>PSR</a:t>
            </a:r>
            <a:r>
              <a:rPr lang="en-US" dirty="0"/>
              <a:t>)</a:t>
            </a:r>
          </a:p>
        </p:txBody>
      </p:sp>
      <p:sp>
        <p:nvSpPr>
          <p:cNvPr id="199" name="Rectangle 198">
            <a:extLst>
              <a:ext uri="{FF2B5EF4-FFF2-40B4-BE49-F238E27FC236}">
                <a16:creationId xmlns:a16="http://schemas.microsoft.com/office/drawing/2014/main" id="{3E571097-D5A4-4173-8762-EA485FF7AEF9}"/>
              </a:ext>
            </a:extLst>
          </p:cNvPr>
          <p:cNvSpPr/>
          <p:nvPr/>
        </p:nvSpPr>
        <p:spPr bwMode="auto">
          <a:xfrm>
            <a:off x="5533545" y="2260025"/>
            <a:ext cx="943456" cy="264811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dirty="0">
                <a:cs typeface="Arial" charset="0"/>
              </a:rPr>
              <a:t>GE</a:t>
            </a:r>
          </a:p>
        </p:txBody>
      </p:sp>
      <p:sp>
        <p:nvSpPr>
          <p:cNvPr id="200" name="TextBox 106">
            <a:extLst>
              <a:ext uri="{FF2B5EF4-FFF2-40B4-BE49-F238E27FC236}">
                <a16:creationId xmlns:a16="http://schemas.microsoft.com/office/drawing/2014/main" id="{18F8F0EB-919C-4850-9071-7B8E9BD593A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109614" y="2231465"/>
            <a:ext cx="942725" cy="30777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1pPr>
            <a:lvl2pPr marL="742950" indent="-28575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2pPr>
            <a:lvl3pPr marL="1143000" indent="-22860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3pPr>
            <a:lvl4pPr marL="1600200" indent="-22860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4pPr>
            <a:lvl5pPr marL="2057400" indent="-22860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9pPr>
          </a:lstStyle>
          <a:p>
            <a:pPr eaLnBrk="1" hangingPunct="1"/>
            <a:r>
              <a:rPr lang="en-GB" b="0" dirty="0"/>
              <a:t>Reserved</a:t>
            </a:r>
          </a:p>
        </p:txBody>
      </p:sp>
      <p:sp>
        <p:nvSpPr>
          <p:cNvPr id="201" name="Rectangle 200">
            <a:extLst>
              <a:ext uri="{FF2B5EF4-FFF2-40B4-BE49-F238E27FC236}">
                <a16:creationId xmlns:a16="http://schemas.microsoft.com/office/drawing/2014/main" id="{385393E0-B838-4933-8333-EA5CC9833BCE}"/>
              </a:ext>
            </a:extLst>
          </p:cNvPr>
          <p:cNvSpPr/>
          <p:nvPr/>
        </p:nvSpPr>
        <p:spPr bwMode="auto">
          <a:xfrm>
            <a:off x="5540212" y="4511547"/>
            <a:ext cx="943456" cy="264811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dirty="0">
                <a:cs typeface="Arial" charset="0"/>
              </a:rPr>
              <a:t>GE</a:t>
            </a:r>
          </a:p>
        </p:txBody>
      </p:sp>
      <p:sp>
        <p:nvSpPr>
          <p:cNvPr id="202" name="TextBox 175">
            <a:extLst>
              <a:ext uri="{FF2B5EF4-FFF2-40B4-BE49-F238E27FC236}">
                <a16:creationId xmlns:a16="http://schemas.microsoft.com/office/drawing/2014/main" id="{BD7F47C9-A0AF-4D8D-A4A8-65B792F7D00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576428" y="4483939"/>
            <a:ext cx="1056824" cy="30777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1pPr>
            <a:lvl2pPr marL="742950" indent="-28575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2pPr>
            <a:lvl3pPr marL="1143000" indent="-22860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3pPr>
            <a:lvl4pPr marL="1600200" indent="-22860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4pPr>
            <a:lvl5pPr marL="2057400" indent="-22860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9pPr>
          </a:lstStyle>
          <a:p>
            <a:pPr eaLnBrk="1" hangingPunct="1"/>
            <a:r>
              <a:rPr lang="en-GB" b="0" dirty="0"/>
              <a:t>Reserved</a:t>
            </a:r>
          </a:p>
        </p:txBody>
      </p:sp>
      <p:sp>
        <p:nvSpPr>
          <p:cNvPr id="209" name="Content Placeholder 3">
            <a:extLst>
              <a:ext uri="{FF2B5EF4-FFF2-40B4-BE49-F238E27FC236}">
                <a16:creationId xmlns:a16="http://schemas.microsoft.com/office/drawing/2014/main" id="{F9E2ADFB-FC6C-9442-BE64-6207E038898B}"/>
              </a:ext>
            </a:extLst>
          </p:cNvPr>
          <p:cNvSpPr txBox="1">
            <a:spLocks/>
          </p:cNvSpPr>
          <p:nvPr/>
        </p:nvSpPr>
        <p:spPr>
          <a:xfrm>
            <a:off x="672047" y="1230936"/>
            <a:ext cx="8534400" cy="533400"/>
          </a:xfrm>
          <a:prstGeom prst="rect">
            <a:avLst/>
          </a:prstGeom>
        </p:spPr>
        <p:txBody>
          <a:bodyPr vert="horz">
            <a:normAutofit/>
          </a:bodyPr>
          <a:lstStyle>
            <a:lvl1pPr marL="274320" indent="-274320" algn="l" rtl="0" eaLnBrk="1" latinLnBrk="0" hangingPunct="1">
              <a:spcBef>
                <a:spcPts val="600"/>
              </a:spcBef>
              <a:buClr>
                <a:schemeClr val="accent1"/>
              </a:buClr>
              <a:buSzPct val="76000"/>
              <a:buFont typeface="Wingdings 3"/>
              <a:buChar char=""/>
              <a:defRPr kumimoji="0" sz="2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8640" indent="-274320" algn="l" rtl="0" eaLnBrk="1" latinLnBrk="0" hangingPunct="1">
              <a:spcBef>
                <a:spcPts val="500"/>
              </a:spcBef>
              <a:buClr>
                <a:schemeClr val="accent2"/>
              </a:buClr>
              <a:buSzPct val="76000"/>
              <a:buFont typeface="Wingdings 3"/>
              <a:buChar char=""/>
              <a:defRPr kumimoji="0" sz="23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822960" indent="-228600" algn="l" rtl="0" eaLnBrk="1" latinLnBrk="0" hangingPunct="1">
              <a:spcBef>
                <a:spcPts val="500"/>
              </a:spcBef>
              <a:buClr>
                <a:schemeClr val="bg1">
                  <a:shade val="50000"/>
                </a:schemeClr>
              </a:buClr>
              <a:buSzPct val="76000"/>
              <a:buFont typeface="Wingdings 3"/>
              <a:buChar char=""/>
              <a:defRPr kumimoji="0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7280" indent="-228600" algn="l" rtl="0" eaLnBrk="1" latinLnBrk="0" hangingPunct="1">
              <a:spcBef>
                <a:spcPts val="400"/>
              </a:spcBef>
              <a:buClr>
                <a:schemeClr val="accent2">
                  <a:shade val="75000"/>
                </a:schemeClr>
              </a:buClr>
              <a:buSzPct val="70000"/>
              <a:buFont typeface="Wingdings"/>
              <a:buChar char=""/>
              <a:defRPr kumimoji="0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indent="-228600" algn="l" rtl="0" eaLnBrk="1" latinLnBrk="0" hangingPunct="1">
              <a:spcBef>
                <a:spcPts val="300"/>
              </a:spcBef>
              <a:buClr>
                <a:schemeClr val="accent2"/>
              </a:buClr>
              <a:buSzPct val="70000"/>
              <a:buFont typeface="Wingdings"/>
              <a:buChar char=""/>
              <a:defRPr kumimoji="0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645920" indent="-182880" algn="l" rtl="0" eaLnBrk="1" latinLnBrk="0" hangingPunct="1">
              <a:spcBef>
                <a:spcPts val="300"/>
              </a:spcBef>
              <a:buClr>
                <a:srgbClr val="9FB8CD">
                  <a:shade val="75000"/>
                </a:srgbClr>
              </a:buClr>
              <a:buSzPct val="75000"/>
              <a:buFont typeface="Wingdings 3"/>
              <a:buChar char=""/>
              <a:defRPr kumimoji="0"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800" indent="-182880" algn="l" rtl="0" eaLnBrk="1" latinLnBrk="0" hangingPunct="1">
              <a:spcBef>
                <a:spcPts val="300"/>
              </a:spcBef>
              <a:buClr>
                <a:srgbClr val="727CA3">
                  <a:shade val="75000"/>
                </a:srgbClr>
              </a:buClr>
              <a:buSzPct val="75000"/>
              <a:buFont typeface="Wingdings 3"/>
              <a:buChar char=""/>
              <a:defRPr kumimoji="0" lang="en-US" sz="14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011680" indent="-182880" algn="l" rtl="0" eaLnBrk="1" latinLnBrk="0" hangingPunct="1">
              <a:spcBef>
                <a:spcPts val="300"/>
              </a:spcBef>
              <a:buClr>
                <a:prstClr val="white">
                  <a:shade val="50000"/>
                </a:prstClr>
              </a:buClr>
              <a:buSzPct val="75000"/>
              <a:buFont typeface="Wingdings 3"/>
              <a:buChar char=""/>
              <a:defRPr kumimoji="0" lang="en-US" sz="14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194560" indent="-182880" algn="l" rtl="0" eaLnBrk="1" latinLnBrk="0" hangingPunct="1">
              <a:spcBef>
                <a:spcPts val="300"/>
              </a:spcBef>
              <a:buClr>
                <a:srgbClr val="9FB8CD"/>
              </a:buClr>
              <a:buSzPct val="75000"/>
              <a:buFont typeface="Wingdings 3"/>
              <a:buChar char=""/>
              <a:defRPr kumimoji="0" lang="en-US" sz="12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000"/>
              <a:t>Application PSR (</a:t>
            </a:r>
            <a:r>
              <a:rPr lang="en-US" sz="2000" b="1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APSR</a:t>
            </a:r>
            <a:r>
              <a:rPr lang="en-US" sz="2000"/>
              <a:t>),  Interrupt PSR (</a:t>
            </a:r>
            <a:r>
              <a:rPr lang="en-US" sz="2000" b="1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IPSR</a:t>
            </a:r>
            <a:r>
              <a:rPr lang="en-US" sz="2000"/>
              <a:t>),  Execution PSR (</a:t>
            </a:r>
            <a:r>
              <a:rPr lang="en-US" sz="2000" b="1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EPSR</a:t>
            </a:r>
            <a:r>
              <a:rPr lang="en-US" sz="2000"/>
              <a:t>)</a:t>
            </a:r>
          </a:p>
          <a:p>
            <a:pPr marL="0" indent="0">
              <a:buFont typeface="Wingdings 3"/>
              <a:buNone/>
            </a:pP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34258457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690645-6FD1-CE46-4324-050D09A306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NZCV Flags in </a:t>
            </a:r>
            <a:r>
              <a:rPr lang="en-US" altLang="zh-CN" dirty="0" err="1"/>
              <a:t>xPSR</a:t>
            </a:r>
            <a:endParaRPr lang="en-US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FE1F94D-DEA5-402E-93A5-46BE7FF097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17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5828B78-2B8F-3B9F-09B7-EBDBBAB74AFB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1981200" y="2168744"/>
            <a:ext cx="8229600" cy="3988216"/>
          </a:xfrm>
        </p:spPr>
        <p:txBody>
          <a:bodyPr>
            <a:norm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N</a:t>
            </a:r>
            <a:r>
              <a:rPr lang="en-US" dirty="0"/>
              <a:t>: 1/0 = Result from ALU is </a:t>
            </a:r>
            <a:r>
              <a:rPr lang="en-US" dirty="0">
                <a:solidFill>
                  <a:srgbClr val="FF0000"/>
                </a:solidFill>
              </a:rPr>
              <a:t>N</a:t>
            </a:r>
            <a:r>
              <a:rPr lang="en-US" dirty="0"/>
              <a:t>egative/positive</a:t>
            </a:r>
          </a:p>
          <a:p>
            <a:r>
              <a:rPr lang="en-US" dirty="0">
                <a:solidFill>
                  <a:srgbClr val="FF0000"/>
                </a:solidFill>
              </a:rPr>
              <a:t>Z</a:t>
            </a:r>
            <a:r>
              <a:rPr lang="en-US" dirty="0"/>
              <a:t>: 1/0 = Result from ALU is </a:t>
            </a:r>
            <a:r>
              <a:rPr lang="en-US" dirty="0">
                <a:solidFill>
                  <a:srgbClr val="FF0000"/>
                </a:solidFill>
              </a:rPr>
              <a:t>Z</a:t>
            </a:r>
            <a:r>
              <a:rPr lang="en-US" dirty="0"/>
              <a:t>ero/non-zero</a:t>
            </a:r>
          </a:p>
          <a:p>
            <a:r>
              <a:rPr lang="en-US" dirty="0">
                <a:solidFill>
                  <a:srgbClr val="FF0000"/>
                </a:solidFill>
              </a:rPr>
              <a:t>C</a:t>
            </a:r>
            <a:r>
              <a:rPr lang="en-US" dirty="0"/>
              <a:t>:  Three cases:</a:t>
            </a:r>
          </a:p>
          <a:p>
            <a:pPr lvl="1"/>
            <a:r>
              <a:rPr lang="en-US" dirty="0"/>
              <a:t>1/0 = ALU addition </a:t>
            </a:r>
            <a:r>
              <a:rPr lang="en-US" dirty="0">
                <a:solidFill>
                  <a:srgbClr val="FF0000"/>
                </a:solidFill>
              </a:rPr>
              <a:t>C</a:t>
            </a:r>
            <a:r>
              <a:rPr lang="en-US" dirty="0"/>
              <a:t>arry out/no carry out</a:t>
            </a:r>
          </a:p>
          <a:p>
            <a:pPr lvl="1"/>
            <a:r>
              <a:rPr lang="en-US" dirty="0"/>
              <a:t>1/0 = ALU subtraction no borrow/borrow</a:t>
            </a:r>
          </a:p>
          <a:p>
            <a:pPr lvl="1"/>
            <a:r>
              <a:rPr lang="en-US" dirty="0"/>
              <a:t>1/0 = Bit shifted/rotated out</a:t>
            </a:r>
          </a:p>
          <a:p>
            <a:r>
              <a:rPr lang="en-US" dirty="0">
                <a:solidFill>
                  <a:srgbClr val="FF0000"/>
                </a:solidFill>
              </a:rPr>
              <a:t>V</a:t>
            </a:r>
            <a:r>
              <a:rPr lang="en-US" dirty="0"/>
              <a:t>: 1/0 = ALU </a:t>
            </a:r>
            <a:r>
              <a:rPr lang="en-US" dirty="0" err="1"/>
              <a:t>o</a:t>
            </a:r>
            <a:r>
              <a:rPr lang="en-US" dirty="0" err="1">
                <a:solidFill>
                  <a:srgbClr val="FF0000"/>
                </a:solidFill>
              </a:rPr>
              <a:t>V</a:t>
            </a:r>
            <a:r>
              <a:rPr lang="en-US" dirty="0" err="1"/>
              <a:t>erflowed</a:t>
            </a:r>
            <a:r>
              <a:rPr lang="en-US" dirty="0"/>
              <a:t>/no overflow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6BAAC50-A0EF-58E7-7671-16186A17A74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54872" y="1447800"/>
            <a:ext cx="8229600" cy="416144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E9B5F5E2-5B86-CA26-8075-48823F6D6E30}"/>
              </a:ext>
            </a:extLst>
          </p:cNvPr>
          <p:cNvSpPr txBox="1"/>
          <p:nvPr/>
        </p:nvSpPr>
        <p:spPr>
          <a:xfrm>
            <a:off x="8101361" y="3586019"/>
            <a:ext cx="2490440" cy="1200329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dirty="0"/>
              <a:t>Borrow and carry share the same flag bit.</a:t>
            </a:r>
          </a:p>
          <a:p>
            <a:r>
              <a:rPr lang="en-US" dirty="0"/>
              <a:t>For unsigned subtract, Borrow = NOT Carry</a:t>
            </a:r>
          </a:p>
        </p:txBody>
      </p:sp>
    </p:spTree>
    <p:extLst>
      <p:ext uri="{BB962C8B-B14F-4D97-AF65-F5344CB8AC3E}">
        <p14:creationId xmlns:p14="http://schemas.microsoft.com/office/powerpoint/2010/main" val="324551736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3A191D-A47A-E447-8835-46C8A587A9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Updating NZCV flags in PSR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CF2C454B-C029-D447-BA6D-2305EB76C9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18</a:t>
            </a:fld>
            <a:endParaRPr kumimoji="0" lang="en-US" dirty="0"/>
          </a:p>
        </p:txBody>
      </p:sp>
      <p:graphicFrame>
        <p:nvGraphicFramePr>
          <p:cNvPr id="7" name="Table 7">
            <a:extLst>
              <a:ext uri="{FF2B5EF4-FFF2-40B4-BE49-F238E27FC236}">
                <a16:creationId xmlns:a16="http://schemas.microsoft.com/office/drawing/2014/main" id="{B7F5FEF2-BC7F-D145-88A5-A68358C03FA5}"/>
              </a:ext>
            </a:extLst>
          </p:cNvPr>
          <p:cNvGraphicFramePr>
            <a:graphicFrameLocks noGrp="1"/>
          </p:cNvGraphicFramePr>
          <p:nvPr/>
        </p:nvGraphicFramePr>
        <p:xfrm>
          <a:off x="591948" y="1447800"/>
          <a:ext cx="3962399" cy="3566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76399">
                  <a:extLst>
                    <a:ext uri="{9D8B030D-6E8A-4147-A177-3AD203B41FA5}">
                      <a16:colId xmlns:a16="http://schemas.microsoft.com/office/drawing/2014/main" val="1109526272"/>
                    </a:ext>
                  </a:extLst>
                </a:gridCol>
                <a:gridCol w="838200">
                  <a:extLst>
                    <a:ext uri="{9D8B030D-6E8A-4147-A177-3AD203B41FA5}">
                      <a16:colId xmlns:a16="http://schemas.microsoft.com/office/drawing/2014/main" val="3303000051"/>
                    </a:ext>
                  </a:extLst>
                </a:gridCol>
                <a:gridCol w="1447800">
                  <a:extLst>
                    <a:ext uri="{9D8B030D-6E8A-4147-A177-3AD203B41FA5}">
                      <a16:colId xmlns:a16="http://schemas.microsoft.com/office/drawing/2014/main" val="222180225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600" b="0" dirty="0">
                          <a:solidFill>
                            <a:schemeClr val="bg1"/>
                          </a:solidFill>
                          <a:latin typeface="+mn-lt"/>
                          <a:cs typeface="Consolas" panose="020B0609020204030204" pitchFamily="49" charset="0"/>
                        </a:rPr>
                        <a:t>Flags not changed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0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0" dirty="0">
                          <a:solidFill>
                            <a:schemeClr val="bg1"/>
                          </a:solidFill>
                          <a:latin typeface="+mn-lt"/>
                          <a:cs typeface="Consolas" panose="020B0609020204030204" pitchFamily="49" charset="0"/>
                        </a:rPr>
                        <a:t>Flags updated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473486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0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ADD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⟶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ADD</a:t>
                      </a:r>
                      <a:r>
                        <a:rPr lang="en-US" sz="2000" b="0" dirty="0">
                          <a:solidFill>
                            <a:srgbClr val="C00000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S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3155855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0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SUB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⟶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SUB</a:t>
                      </a:r>
                      <a:r>
                        <a:rPr lang="en-US" sz="2000" b="0" dirty="0">
                          <a:solidFill>
                            <a:srgbClr val="C00000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S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8321052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0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MUL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⟶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MUL</a:t>
                      </a:r>
                      <a:r>
                        <a:rPr lang="en-US" sz="2000" b="0" dirty="0">
                          <a:solidFill>
                            <a:srgbClr val="C00000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S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8978235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0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UDIV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⟶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UDIV</a:t>
                      </a:r>
                      <a:r>
                        <a:rPr lang="en-US" sz="2000" b="0" dirty="0">
                          <a:solidFill>
                            <a:srgbClr val="C00000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S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773779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0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AND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⟶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AND</a:t>
                      </a:r>
                      <a:r>
                        <a:rPr lang="en-US" sz="2000" b="0" dirty="0">
                          <a:solidFill>
                            <a:srgbClr val="C00000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S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9197259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0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ORR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⟶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ORR</a:t>
                      </a:r>
                      <a:r>
                        <a:rPr lang="en-US" sz="2000" b="0" dirty="0">
                          <a:solidFill>
                            <a:srgbClr val="C00000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S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877216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0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LSL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⟶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LSL</a:t>
                      </a:r>
                      <a:r>
                        <a:rPr lang="en-US" sz="2000" b="0" dirty="0">
                          <a:solidFill>
                            <a:srgbClr val="C00000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S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0575287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0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MOV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⟶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MOV</a:t>
                      </a:r>
                      <a:r>
                        <a:rPr lang="en-US" sz="2000" b="0" dirty="0">
                          <a:solidFill>
                            <a:srgbClr val="C00000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S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39318595"/>
                  </a:ext>
                </a:extLst>
              </a:tr>
            </a:tbl>
          </a:graphicData>
        </a:graphic>
      </p:graphicFrame>
      <p:sp>
        <p:nvSpPr>
          <p:cNvPr id="8" name="Rectangle 7">
            <a:extLst>
              <a:ext uri="{FF2B5EF4-FFF2-40B4-BE49-F238E27FC236}">
                <a16:creationId xmlns:a16="http://schemas.microsoft.com/office/drawing/2014/main" id="{B2EA487D-8C25-2144-8595-4223F96EC224}"/>
              </a:ext>
            </a:extLst>
          </p:cNvPr>
          <p:cNvSpPr/>
          <p:nvPr/>
        </p:nvSpPr>
        <p:spPr>
          <a:xfrm>
            <a:off x="228600" y="5290258"/>
            <a:ext cx="4876801" cy="64633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pPr algn="ctr"/>
            <a:r>
              <a:rPr lang="en-US" i="1" dirty="0">
                <a:solidFill>
                  <a:srgbClr val="C00000"/>
                </a:solidFill>
              </a:rPr>
              <a:t>Most instructions update NZCV flags </a:t>
            </a:r>
          </a:p>
          <a:p>
            <a:pPr algn="ctr"/>
            <a:r>
              <a:rPr lang="en-US" i="1" dirty="0">
                <a:solidFill>
                  <a:srgbClr val="C00000"/>
                </a:solidFill>
              </a:rPr>
              <a:t>only if S suffix is present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4852AD2-6CE8-8145-9E90-22884E7A3821}"/>
              </a:ext>
            </a:extLst>
          </p:cNvPr>
          <p:cNvSpPr txBox="1"/>
          <p:nvPr/>
        </p:nvSpPr>
        <p:spPr>
          <a:xfrm>
            <a:off x="5105401" y="2667000"/>
            <a:ext cx="6705601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Some instructions update NZCV flags even if no </a:t>
            </a:r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S</a:t>
            </a:r>
            <a:r>
              <a:rPr lang="en-US" sz="2000" dirty="0"/>
              <a:t> is specified. </a:t>
            </a:r>
          </a:p>
          <a:p>
            <a:endParaRPr lang="en-US" sz="1600" dirty="0"/>
          </a:p>
          <a:p>
            <a:pPr marL="285750" indent="-285750"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CMP: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Compare, like SUBS but without destination register</a:t>
            </a:r>
          </a:p>
          <a:p>
            <a:pPr marL="285750" indent="-285750"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CMN: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Compare Negative, like ADDS but without destination register</a:t>
            </a:r>
          </a:p>
          <a:p>
            <a:pPr marL="285750" indent="-285750"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TST: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Test, like ANDS but without destination register </a:t>
            </a:r>
          </a:p>
          <a:p>
            <a:pPr marL="285750" indent="-285750"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TEQ: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Test equivalence, like EORS but without destination register 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BE73866-664D-E743-B0A9-396013B6B6F4}"/>
              </a:ext>
            </a:extLst>
          </p:cNvPr>
          <p:cNvSpPr txBox="1"/>
          <p:nvPr/>
        </p:nvSpPr>
        <p:spPr>
          <a:xfrm>
            <a:off x="6361626" y="1919434"/>
            <a:ext cx="3964547" cy="369332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CMP r1, r2  </a:t>
            </a:r>
            <a:r>
              <a:rPr lang="en-US" i="1" dirty="0"/>
              <a:t>vs</a:t>
            </a:r>
            <a:r>
              <a:rPr lang="en-US" dirty="0"/>
              <a:t>   </a:t>
            </a:r>
            <a:r>
              <a:rPr lang="en-US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SUBS r0, r1, r2</a:t>
            </a:r>
          </a:p>
        </p:txBody>
      </p:sp>
    </p:spTree>
    <p:extLst>
      <p:ext uri="{BB962C8B-B14F-4D97-AF65-F5344CB8AC3E}">
        <p14:creationId xmlns:p14="http://schemas.microsoft.com/office/powerpoint/2010/main" val="11690090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2803CE-A3F8-1446-8F5C-7C2E703EC7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latin typeface="Consolas" panose="020B0609020204030204" pitchFamily="49" charset="0"/>
                <a:cs typeface="Consolas" panose="020B0609020204030204" pitchFamily="49" charset="0"/>
              </a:rPr>
              <a:t>ADD</a:t>
            </a:r>
            <a:r>
              <a:rPr lang="en-US" dirty="0"/>
              <a:t> </a:t>
            </a:r>
            <a:r>
              <a:rPr lang="en-US" i="1" dirty="0"/>
              <a:t>vs</a:t>
            </a:r>
            <a:r>
              <a:rPr lang="en-US" dirty="0"/>
              <a:t> </a:t>
            </a:r>
            <a:r>
              <a:rPr lang="en-US" b="1" dirty="0">
                <a:latin typeface="Consolas" panose="020B0609020204030204" pitchFamily="49" charset="0"/>
                <a:cs typeface="Consolas" panose="020B0609020204030204" pitchFamily="49" charset="0"/>
              </a:rPr>
              <a:t>ADDS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CBF7CBC-114A-CC46-9630-97E81FB868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19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7CF4E5D-CDCA-304D-8F0D-A98BE811CE50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600634" y="3023959"/>
            <a:ext cx="10829365" cy="3185160"/>
          </a:xfrm>
        </p:spPr>
        <p:txBody>
          <a:bodyPr>
            <a:normAutofit/>
          </a:bodyPr>
          <a:lstStyle/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ADD</a:t>
            </a:r>
            <a:r>
              <a:rPr lang="en-US" sz="2400" dirty="0"/>
              <a:t> does not update flags</a:t>
            </a: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ADDS</a:t>
            </a:r>
            <a:r>
              <a:rPr lang="en-US" sz="2400" dirty="0"/>
              <a:t> updates flags</a:t>
            </a:r>
          </a:p>
          <a:p>
            <a:pPr lvl="1"/>
            <a:r>
              <a:rPr lang="en-US" sz="2000" dirty="0" err="1">
                <a:latin typeface="Consolas" panose="020B0609020204030204" pitchFamily="49" charset="0"/>
                <a:cs typeface="Consolas" panose="020B0609020204030204" pitchFamily="49" charset="0"/>
              </a:rPr>
              <a:t>xPSR.</a:t>
            </a:r>
            <a:r>
              <a:rPr lang="en-US" sz="2000" b="1" dirty="0" err="1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N</a:t>
            </a:r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 = bit 31 of result </a:t>
            </a:r>
          </a:p>
          <a:p>
            <a:pPr lvl="1"/>
            <a:r>
              <a:rPr lang="en-US" sz="2000" dirty="0" err="1">
                <a:latin typeface="Consolas" panose="020B0609020204030204" pitchFamily="49" charset="0"/>
                <a:cs typeface="Consolas" panose="020B0609020204030204" pitchFamily="49" charset="0"/>
              </a:rPr>
              <a:t>xPSR.</a:t>
            </a:r>
            <a:r>
              <a:rPr lang="en-US" sz="2000" b="1" dirty="0" err="1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Z</a:t>
            </a:r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 = </a:t>
            </a:r>
            <a:r>
              <a:rPr lang="en-US" sz="2000" dirty="0" err="1">
                <a:latin typeface="Consolas" panose="020B0609020204030204" pitchFamily="49" charset="0"/>
                <a:cs typeface="Consolas" panose="020B0609020204030204" pitchFamily="49" charset="0"/>
              </a:rPr>
              <a:t>IsZero</a:t>
            </a:r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(result) </a:t>
            </a:r>
          </a:p>
          <a:p>
            <a:pPr lvl="1"/>
            <a:r>
              <a:rPr lang="en-US" sz="2000" dirty="0" err="1">
                <a:latin typeface="Consolas" panose="020B0609020204030204" pitchFamily="49" charset="0"/>
                <a:cs typeface="Consolas" panose="020B0609020204030204" pitchFamily="49" charset="0"/>
              </a:rPr>
              <a:t>xPSR.</a:t>
            </a:r>
            <a:r>
              <a:rPr lang="en-US" sz="2000" b="1" dirty="0" err="1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</a:t>
            </a:r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 = carry, assuming r1 and r2 representing unsigned integers </a:t>
            </a:r>
          </a:p>
          <a:p>
            <a:pPr lvl="1"/>
            <a:r>
              <a:rPr lang="en-US" sz="2000" dirty="0" err="1">
                <a:latin typeface="Consolas" panose="020B0609020204030204" pitchFamily="49" charset="0"/>
                <a:cs typeface="Consolas" panose="020B0609020204030204" pitchFamily="49" charset="0"/>
              </a:rPr>
              <a:t>xPSR.</a:t>
            </a:r>
            <a:r>
              <a:rPr lang="en-US" sz="2000" b="1" dirty="0" err="1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V</a:t>
            </a:r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 = overflow, assuming r1 and r2 representing signed integers 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3D5B6DE-8738-674C-B1B9-05AE37CA9F28}"/>
              </a:ext>
            </a:extLst>
          </p:cNvPr>
          <p:cNvSpPr txBox="1"/>
          <p:nvPr/>
        </p:nvSpPr>
        <p:spPr>
          <a:xfrm>
            <a:off x="609600" y="1658470"/>
            <a:ext cx="9360255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ADD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 r0, r1, r2  </a:t>
            </a:r>
            <a:r>
              <a:rPr lang="en-US" sz="24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r0 = r1 + r2, NZCV flags unchanged </a:t>
            </a:r>
          </a:p>
          <a:p>
            <a:r>
              <a:rPr lang="en-US" sz="2400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ADDS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r0, r1, r2  </a:t>
            </a:r>
            <a:r>
              <a:rPr lang="en-US" sz="24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r0 = r1 + r2, NZCV flags updated </a:t>
            </a:r>
          </a:p>
          <a:p>
            <a:endParaRPr lang="en-US" sz="2400" dirty="0">
              <a:solidFill>
                <a:schemeClr val="bg1">
                  <a:lumMod val="50000"/>
                </a:schemeClr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1444266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1" name="Picture 3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34000" y="80430"/>
            <a:ext cx="6629164" cy="66931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06C697-E885-42AE-AEF7-1154D8176997}" type="slidenum">
              <a:rPr lang="en-US" altLang="zh-TW"/>
              <a:pPr/>
              <a:t>20</a:t>
            </a:fld>
            <a:endParaRPr lang="en-US" altLang="zh-TW" dirty="0"/>
          </a:p>
        </p:txBody>
      </p:sp>
      <p:sp>
        <p:nvSpPr>
          <p:cNvPr id="788482" name="Rectangle 2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altLang="zh-TW" dirty="0"/>
              <a:t>Suffix </a:t>
            </a:r>
            <a:r>
              <a:rPr lang="en-US" altLang="zh-TW" dirty="0">
                <a:solidFill>
                  <a:srgbClr val="FF0000"/>
                </a:solidFill>
              </a:rPr>
              <a:t>S: </a:t>
            </a:r>
            <a:br>
              <a:rPr lang="en-US" altLang="zh-TW" dirty="0">
                <a:solidFill>
                  <a:srgbClr val="FF0000"/>
                </a:solidFill>
              </a:rPr>
            </a:br>
            <a:r>
              <a:rPr lang="en-US" altLang="zh-TW" dirty="0">
                <a:solidFill>
                  <a:srgbClr val="FF0000"/>
                </a:solidFill>
              </a:rPr>
              <a:t>Update Flags</a:t>
            </a:r>
            <a:endParaRPr lang="zh-TW" altLang="en-US" dirty="0">
              <a:solidFill>
                <a:srgbClr val="FF0000"/>
              </a:solidFill>
            </a:endParaRPr>
          </a:p>
        </p:txBody>
      </p:sp>
      <p:sp>
        <p:nvSpPr>
          <p:cNvPr id="2" name="Rectangle 1"/>
          <p:cNvSpPr/>
          <p:nvPr/>
        </p:nvSpPr>
        <p:spPr>
          <a:xfrm>
            <a:off x="685800" y="1422736"/>
            <a:ext cx="4114800" cy="1015663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pt-BR" sz="2000" dirty="0">
                <a:latin typeface="Consolas" panose="020B0609020204030204" pitchFamily="49" charset="0"/>
                <a:cs typeface="Consolas" panose="020B0609020204030204" pitchFamily="49" charset="0"/>
              </a:rPr>
              <a:t>  LDR  r0, =0xFFFFFFFF</a:t>
            </a:r>
          </a:p>
          <a:p>
            <a:r>
              <a:rPr lang="pt-BR" sz="2000" dirty="0">
                <a:latin typeface="Consolas" panose="020B0609020204030204" pitchFamily="49" charset="0"/>
                <a:cs typeface="Consolas" panose="020B0609020204030204" pitchFamily="49" charset="0"/>
              </a:rPr>
              <a:t>  LDR  r1, =0x00000001</a:t>
            </a:r>
          </a:p>
          <a:p>
            <a:r>
              <a:rPr lang="pt-BR" sz="2000" dirty="0">
                <a:latin typeface="Consolas" panose="020B0609020204030204" pitchFamily="49" charset="0"/>
                <a:cs typeface="Consolas" panose="020B0609020204030204" pitchFamily="49" charset="0"/>
              </a:rPr>
              <a:t>  ADD</a:t>
            </a:r>
            <a:r>
              <a:rPr lang="pt-BR" sz="2000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 </a:t>
            </a:r>
            <a:r>
              <a:rPr lang="pt-BR" sz="2000" dirty="0">
                <a:latin typeface="Consolas" panose="020B0609020204030204" pitchFamily="49" charset="0"/>
                <a:cs typeface="Consolas" panose="020B0609020204030204" pitchFamily="49" charset="0"/>
              </a:rPr>
              <a:t>r0, r0, r1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3D3ADF8-DBA3-1142-8B33-C3BC69B85536}"/>
              </a:ext>
            </a:extLst>
          </p:cNvPr>
          <p:cNvSpPr txBox="1"/>
          <p:nvPr/>
        </p:nvSpPr>
        <p:spPr>
          <a:xfrm>
            <a:off x="1295400" y="4153400"/>
            <a:ext cx="2210862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N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(Negative) = </a:t>
            </a:r>
            <a:r>
              <a:rPr lang="en-US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0</a:t>
            </a:r>
          </a:p>
          <a:p>
            <a:r>
              <a:rPr lang="en-US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Z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(Zero) = </a:t>
            </a:r>
            <a:r>
              <a:rPr lang="en-US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1</a:t>
            </a:r>
          </a:p>
          <a:p>
            <a:r>
              <a:rPr lang="en-US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(Carry) = </a:t>
            </a:r>
            <a:r>
              <a:rPr lang="en-US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1</a:t>
            </a:r>
          </a:p>
          <a:p>
            <a:r>
              <a:rPr lang="en-US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V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(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oVerflow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) = </a:t>
            </a:r>
            <a:r>
              <a:rPr lang="en-US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0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447953E-C988-FF45-8B16-AAF1E76A4677}"/>
              </a:ext>
            </a:extLst>
          </p:cNvPr>
          <p:cNvSpPr/>
          <p:nvPr/>
        </p:nvSpPr>
        <p:spPr>
          <a:xfrm>
            <a:off x="1905000" y="2779581"/>
            <a:ext cx="1957587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pt-BR" dirty="0">
                <a:latin typeface="Consolas" panose="020B0609020204030204" pitchFamily="49" charset="0"/>
                <a:cs typeface="Consolas" panose="020B0609020204030204" pitchFamily="49" charset="0"/>
              </a:rPr>
              <a:t>0xFFFFFFFF  </a:t>
            </a:r>
            <a:r>
              <a:rPr lang="pt-BR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r0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23269C7F-537F-C04A-92B4-43F5CF8E6E89}"/>
              </a:ext>
            </a:extLst>
          </p:cNvPr>
          <p:cNvSpPr/>
          <p:nvPr/>
        </p:nvSpPr>
        <p:spPr>
          <a:xfrm>
            <a:off x="1905000" y="3077695"/>
            <a:ext cx="1957587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pt-BR" dirty="0">
                <a:latin typeface="Consolas" panose="020B0609020204030204" pitchFamily="49" charset="0"/>
                <a:cs typeface="Consolas" panose="020B0609020204030204" pitchFamily="49" charset="0"/>
              </a:rPr>
              <a:t>0x00000001  </a:t>
            </a:r>
            <a:r>
              <a:rPr lang="pt-BR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r1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75BE81BA-43CA-A541-8055-2AD632A843C3}"/>
              </a:ext>
            </a:extLst>
          </p:cNvPr>
          <p:cNvCxnSpPr/>
          <p:nvPr/>
        </p:nvCxnSpPr>
        <p:spPr>
          <a:xfrm>
            <a:off x="1421574" y="3447027"/>
            <a:ext cx="1934464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668640AF-FFAE-5C4E-8FC9-1D1FDB5E0569}"/>
              </a:ext>
            </a:extLst>
          </p:cNvPr>
          <p:cNvSpPr txBox="1"/>
          <p:nvPr/>
        </p:nvSpPr>
        <p:spPr>
          <a:xfrm>
            <a:off x="1561385" y="3077695"/>
            <a:ext cx="3337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+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70DDFC4E-BE92-9344-8620-15A334685DF7}"/>
              </a:ext>
            </a:extLst>
          </p:cNvPr>
          <p:cNvSpPr/>
          <p:nvPr/>
        </p:nvSpPr>
        <p:spPr>
          <a:xfrm>
            <a:off x="1895131" y="3472068"/>
            <a:ext cx="2084225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pt-BR" dirty="0">
                <a:latin typeface="Consolas" panose="020B0609020204030204" pitchFamily="49" charset="0"/>
                <a:cs typeface="Consolas" panose="020B0609020204030204" pitchFamily="49" charset="0"/>
              </a:rPr>
              <a:t>0x00000000  </a:t>
            </a:r>
            <a:r>
              <a:rPr lang="pt-BR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sum</a:t>
            </a:r>
          </a:p>
        </p:txBody>
      </p:sp>
    </p:spTree>
    <p:extLst>
      <p:ext uri="{BB962C8B-B14F-4D97-AF65-F5344CB8AC3E}">
        <p14:creationId xmlns:p14="http://schemas.microsoft.com/office/powerpoint/2010/main" val="3699363176"/>
      </p:ext>
    </p:extLst>
  </p:cSld>
  <p:clrMapOvr>
    <a:masterClrMapping/>
  </p:clrMapOvr>
  <p:transition/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06C697-E885-42AE-AEF7-1154D8176997}" type="slidenum">
              <a:rPr lang="en-US" altLang="zh-TW"/>
              <a:pPr/>
              <a:t>21</a:t>
            </a:fld>
            <a:endParaRPr lang="en-US" altLang="zh-TW"/>
          </a:p>
        </p:txBody>
      </p:sp>
      <p:sp>
        <p:nvSpPr>
          <p:cNvPr id="78848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Example: </a:t>
            </a:r>
            <a:r>
              <a:rPr lang="en-US" altLang="zh-TW" dirty="0">
                <a:solidFill>
                  <a:srgbClr val="FF0000"/>
                </a:solidFill>
              </a:rPr>
              <a:t>64-bit Addition</a:t>
            </a:r>
            <a:endParaRPr lang="zh-TW" altLang="en-US" dirty="0">
              <a:solidFill>
                <a:srgbClr val="FF0000"/>
              </a:solidFill>
            </a:endParaRPr>
          </a:p>
        </p:txBody>
      </p:sp>
      <p:cxnSp>
        <p:nvCxnSpPr>
          <p:cNvPr id="60" name="Straight Connector 59"/>
          <p:cNvCxnSpPr/>
          <p:nvPr/>
        </p:nvCxnSpPr>
        <p:spPr>
          <a:xfrm flipV="1">
            <a:off x="3200400" y="2590800"/>
            <a:ext cx="5803550" cy="2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Straight Connector 61"/>
          <p:cNvCxnSpPr/>
          <p:nvPr/>
        </p:nvCxnSpPr>
        <p:spPr>
          <a:xfrm>
            <a:off x="6096000" y="1752601"/>
            <a:ext cx="0" cy="1276529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36" name="Straight Connector 3135"/>
          <p:cNvCxnSpPr/>
          <p:nvPr/>
        </p:nvCxnSpPr>
        <p:spPr>
          <a:xfrm>
            <a:off x="3508478" y="1752600"/>
            <a:ext cx="0" cy="137160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38" name="Straight Connector 3137"/>
          <p:cNvCxnSpPr/>
          <p:nvPr/>
        </p:nvCxnSpPr>
        <p:spPr>
          <a:xfrm>
            <a:off x="8839200" y="1752600"/>
            <a:ext cx="0" cy="137160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40" name="TextBox 3139"/>
          <p:cNvSpPr txBox="1"/>
          <p:nvPr/>
        </p:nvSpPr>
        <p:spPr>
          <a:xfrm>
            <a:off x="3522962" y="1828801"/>
            <a:ext cx="5480988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0   0   0   0   0   0   0   2     F   </a:t>
            </a:r>
            <a:r>
              <a:rPr lang="en-US" b="1" dirty="0" err="1">
                <a:latin typeface="Arial" panose="020B0604020202020204" pitchFamily="34" charset="0"/>
                <a:cs typeface="Arial" panose="020B0604020202020204" pitchFamily="34" charset="0"/>
              </a:rPr>
              <a:t>F</a:t>
            </a:r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   </a:t>
            </a:r>
            <a:r>
              <a:rPr lang="en-US" b="1" dirty="0" err="1">
                <a:latin typeface="Arial" panose="020B0604020202020204" pitchFamily="34" charset="0"/>
                <a:cs typeface="Arial" panose="020B0604020202020204" pitchFamily="34" charset="0"/>
              </a:rPr>
              <a:t>F</a:t>
            </a:r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   </a:t>
            </a:r>
            <a:r>
              <a:rPr lang="en-US" b="1" dirty="0" err="1">
                <a:latin typeface="Arial" panose="020B0604020202020204" pitchFamily="34" charset="0"/>
                <a:cs typeface="Arial" panose="020B0604020202020204" pitchFamily="34" charset="0"/>
              </a:rPr>
              <a:t>F</a:t>
            </a:r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   </a:t>
            </a:r>
            <a:r>
              <a:rPr lang="en-US" b="1" dirty="0" err="1">
                <a:latin typeface="Arial" panose="020B0604020202020204" pitchFamily="34" charset="0"/>
                <a:cs typeface="Arial" panose="020B0604020202020204" pitchFamily="34" charset="0"/>
              </a:rPr>
              <a:t>F</a:t>
            </a:r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   </a:t>
            </a:r>
            <a:r>
              <a:rPr lang="en-US" b="1" dirty="0" err="1">
                <a:latin typeface="Arial" panose="020B0604020202020204" pitchFamily="34" charset="0"/>
                <a:cs typeface="Arial" panose="020B0604020202020204" pitchFamily="34" charset="0"/>
              </a:rPr>
              <a:t>F</a:t>
            </a:r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   </a:t>
            </a:r>
            <a:r>
              <a:rPr lang="en-US" b="1" dirty="0" err="1">
                <a:latin typeface="Arial" panose="020B0604020202020204" pitchFamily="34" charset="0"/>
                <a:cs typeface="Arial" panose="020B0604020202020204" pitchFamily="34" charset="0"/>
              </a:rPr>
              <a:t>F</a:t>
            </a:r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   </a:t>
            </a:r>
            <a:r>
              <a:rPr lang="en-US" b="1" dirty="0" err="1">
                <a:latin typeface="Arial" panose="020B0604020202020204" pitchFamily="34" charset="0"/>
                <a:cs typeface="Arial" panose="020B0604020202020204" pitchFamily="34" charset="0"/>
              </a:rPr>
              <a:t>F</a:t>
            </a:r>
            <a:endParaRPr lang="en-US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0   0   0   0   0   0   0   4     0   0   0   0    0   0   0   1</a:t>
            </a:r>
          </a:p>
          <a:p>
            <a:endParaRPr lang="en-US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0   0   0   0   0   0   0   7     0   0   0   0   0   0   0   0</a:t>
            </a:r>
          </a:p>
        </p:txBody>
      </p:sp>
      <p:cxnSp>
        <p:nvCxnSpPr>
          <p:cNvPr id="3144" name="Straight Arrow Connector 3143"/>
          <p:cNvCxnSpPr/>
          <p:nvPr/>
        </p:nvCxnSpPr>
        <p:spPr>
          <a:xfrm>
            <a:off x="3508478" y="1752600"/>
            <a:ext cx="2587522" cy="0"/>
          </a:xfrm>
          <a:prstGeom prst="straightConnector1">
            <a:avLst/>
          </a:prstGeom>
          <a:ln>
            <a:prstDash val="dash"/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0" name="Straight Arrow Connector 89"/>
          <p:cNvCxnSpPr/>
          <p:nvPr/>
        </p:nvCxnSpPr>
        <p:spPr>
          <a:xfrm>
            <a:off x="6096000" y="1752600"/>
            <a:ext cx="2743200" cy="0"/>
          </a:xfrm>
          <a:prstGeom prst="straightConnector1">
            <a:avLst/>
          </a:prstGeom>
          <a:ln>
            <a:prstDash val="dash"/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48" name="TextBox 3147"/>
          <p:cNvSpPr txBox="1"/>
          <p:nvPr/>
        </p:nvSpPr>
        <p:spPr>
          <a:xfrm>
            <a:off x="3731766" y="1524000"/>
            <a:ext cx="1983235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/>
              <a:t>Most-significant (Upper) 32 bits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6276601" y="1524000"/>
            <a:ext cx="2000869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/>
              <a:t>Least-significant (Lower) 32 bits</a:t>
            </a:r>
          </a:p>
        </p:txBody>
      </p:sp>
      <p:sp>
        <p:nvSpPr>
          <p:cNvPr id="3149" name="TextBox 3148"/>
          <p:cNvSpPr txBox="1"/>
          <p:nvPr/>
        </p:nvSpPr>
        <p:spPr>
          <a:xfrm>
            <a:off x="3124200" y="2286000"/>
            <a:ext cx="3193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+</a:t>
            </a:r>
          </a:p>
        </p:txBody>
      </p:sp>
      <p:cxnSp>
        <p:nvCxnSpPr>
          <p:cNvPr id="3157" name="Straight Arrow Connector 3156"/>
          <p:cNvCxnSpPr/>
          <p:nvPr/>
        </p:nvCxnSpPr>
        <p:spPr>
          <a:xfrm flipH="1">
            <a:off x="5943600" y="2819400"/>
            <a:ext cx="319856" cy="0"/>
          </a:xfrm>
          <a:prstGeom prst="straightConnector1">
            <a:avLst/>
          </a:prstGeom>
          <a:ln w="2540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63" name="TextBox 3162"/>
          <p:cNvSpPr txBox="1"/>
          <p:nvPr/>
        </p:nvSpPr>
        <p:spPr>
          <a:xfrm>
            <a:off x="5544818" y="3124200"/>
            <a:ext cx="124405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FF0000"/>
                </a:solidFill>
              </a:rPr>
              <a:t>Carry out</a:t>
            </a:r>
          </a:p>
        </p:txBody>
      </p:sp>
      <p:sp>
        <p:nvSpPr>
          <p:cNvPr id="3164" name="TextBox 3163"/>
          <p:cNvSpPr txBox="1"/>
          <p:nvPr/>
        </p:nvSpPr>
        <p:spPr>
          <a:xfrm>
            <a:off x="3731766" y="4343400"/>
            <a:ext cx="4684809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itchFamily="34" charset="0"/>
              <a:buChar char="•"/>
            </a:pPr>
            <a:r>
              <a:rPr lang="en-US" dirty="0"/>
              <a:t>A register can only store 32 bits</a:t>
            </a:r>
          </a:p>
          <a:p>
            <a:pPr marL="285750" indent="-285750">
              <a:buFont typeface="Arial" pitchFamily="34" charset="0"/>
              <a:buChar char="•"/>
            </a:pPr>
            <a:r>
              <a:rPr lang="en-US" dirty="0"/>
              <a:t>A 64-bit integer needs two registers</a:t>
            </a:r>
          </a:p>
          <a:p>
            <a:pPr marL="285750" indent="-285750">
              <a:buFont typeface="Arial" pitchFamily="34" charset="0"/>
              <a:buChar char="•"/>
            </a:pPr>
            <a:r>
              <a:rPr lang="en-US" dirty="0"/>
              <a:t>Split 64-bit addition into two 32-bit additions</a:t>
            </a:r>
          </a:p>
        </p:txBody>
      </p:sp>
    </p:spTree>
    <p:extLst>
      <p:ext uri="{BB962C8B-B14F-4D97-AF65-F5344CB8AC3E}">
        <p14:creationId xmlns:p14="http://schemas.microsoft.com/office/powerpoint/2010/main" val="271435320"/>
      </p:ext>
    </p:extLst>
  </p:cSld>
  <p:clrMapOvr>
    <a:masterClrMapping/>
  </p:clrMapOvr>
  <p:transition/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685800" y="1371601"/>
            <a:ext cx="9296400" cy="4524315"/>
          </a:xfrm>
          <a:prstGeom prst="rect">
            <a:avLst/>
          </a:prstGeom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start</a:t>
            </a:r>
          </a:p>
          <a:p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; C = A + B</a:t>
            </a:r>
          </a:p>
          <a:p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; Two 64-bit integers A (r1,r0) and B (r3,r2).</a:t>
            </a:r>
          </a:p>
          <a:p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; Result C (r5, r4)</a:t>
            </a:r>
          </a:p>
          <a:p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; A = 00000002FFFFFFFF</a:t>
            </a:r>
          </a:p>
          <a:p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; B = 0000000400000001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LDR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r0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, =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0xFFFFFFFF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 A’s lower 32 bits 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LDR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r1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, =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0x00000002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 A’s upper 32 bits 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LDR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r2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, =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0x00000001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 B’s lower 32 bits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LDR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r3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, =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0x00000004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 B’s upper 32 bits</a:t>
            </a:r>
          </a:p>
          <a:p>
            <a:endParaRPr lang="en-US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 Add A to B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ADD</a:t>
            </a:r>
            <a:r>
              <a:rPr lang="en-US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r4, r2, r0 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C[31..0] = A[31..0] + B[31..0],  </a:t>
            </a:r>
            <a:r>
              <a:rPr lang="en-US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update Carry</a:t>
            </a:r>
          </a:p>
          <a:p>
            <a:r>
              <a:rPr lang="en-US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ADC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r5, r3, r1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; C[64..32] = A[64..32] + B[64..32] + Carry</a:t>
            </a:r>
          </a:p>
          <a:p>
            <a:endParaRPr lang="en-US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stop  B  stop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06C697-E885-42AE-AEF7-1154D8176997}" type="slidenum">
              <a:rPr lang="en-US" altLang="zh-TW"/>
              <a:pPr/>
              <a:t>22</a:t>
            </a:fld>
            <a:endParaRPr lang="en-US" altLang="zh-TW"/>
          </a:p>
        </p:txBody>
      </p:sp>
      <p:sp>
        <p:nvSpPr>
          <p:cNvPr id="78848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Example: </a:t>
            </a:r>
            <a:r>
              <a:rPr lang="en-US" altLang="zh-TW" dirty="0">
                <a:solidFill>
                  <a:srgbClr val="FF0000"/>
                </a:solidFill>
              </a:rPr>
              <a:t>64-bit Addition</a:t>
            </a:r>
            <a:endParaRPr lang="zh-TW" altLang="en-US" dirty="0">
              <a:solidFill>
                <a:srgbClr val="FF0000"/>
              </a:solidFill>
            </a:endParaRPr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67A9C449-E51C-B140-9146-A11EC4E0A1E8}"/>
              </a:ext>
            </a:extLst>
          </p:cNvPr>
          <p:cNvGrpSpPr/>
          <p:nvPr/>
        </p:nvGrpSpPr>
        <p:grpSpPr>
          <a:xfrm>
            <a:off x="6934200" y="1981200"/>
            <a:ext cx="5105400" cy="2539183"/>
            <a:chOff x="6934200" y="1981200"/>
            <a:chExt cx="5105400" cy="2539183"/>
          </a:xfrm>
        </p:grpSpPr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A5B4C759-A698-A944-AB9A-F3A62B2236FC}"/>
                </a:ext>
              </a:extLst>
            </p:cNvPr>
            <p:cNvSpPr txBox="1"/>
            <p:nvPr/>
          </p:nvSpPr>
          <p:spPr>
            <a:xfrm>
              <a:off x="7620218" y="2605896"/>
              <a:ext cx="1529167" cy="369332"/>
            </a:xfrm>
            <a:prstGeom prst="rect">
              <a:avLst/>
            </a:prstGeom>
            <a:solidFill>
              <a:schemeClr val="accent1">
                <a:lumMod val="60000"/>
                <a:lumOff val="40000"/>
              </a:schemeClr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>
                  <a:latin typeface="Consolas" panose="020B0609020204030204" pitchFamily="49" charset="0"/>
                </a:rPr>
                <a:t>r1</a:t>
              </a:r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37C9C7FD-C0DB-9A44-AEB3-2172D7A1E2DE}"/>
                </a:ext>
              </a:extLst>
            </p:cNvPr>
            <p:cNvSpPr txBox="1"/>
            <p:nvPr/>
          </p:nvSpPr>
          <p:spPr>
            <a:xfrm>
              <a:off x="9314075" y="2605896"/>
              <a:ext cx="1529155" cy="369332"/>
            </a:xfrm>
            <a:prstGeom prst="rect">
              <a:avLst/>
            </a:prstGeom>
            <a:solidFill>
              <a:schemeClr val="accent1">
                <a:lumMod val="60000"/>
                <a:lumOff val="40000"/>
              </a:schemeClr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>
                  <a:latin typeface="Consolas" panose="020B0609020204030204" pitchFamily="49" charset="0"/>
                </a:rPr>
                <a:t>r0</a:t>
              </a:r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126B074D-B9F8-D748-BFB3-55E94D140411}"/>
                </a:ext>
              </a:extLst>
            </p:cNvPr>
            <p:cNvSpPr txBox="1"/>
            <p:nvPr/>
          </p:nvSpPr>
          <p:spPr>
            <a:xfrm>
              <a:off x="7615052" y="3063096"/>
              <a:ext cx="1529155" cy="369332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>
                  <a:latin typeface="Consolas" panose="020B0609020204030204" pitchFamily="49" charset="0"/>
                </a:rPr>
                <a:t>r3</a:t>
              </a:r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919480FC-F7B3-2D4D-86B3-CFA045859CF4}"/>
                </a:ext>
              </a:extLst>
            </p:cNvPr>
            <p:cNvSpPr txBox="1"/>
            <p:nvPr/>
          </p:nvSpPr>
          <p:spPr>
            <a:xfrm>
              <a:off x="9310201" y="3063096"/>
              <a:ext cx="1538751" cy="369332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>
                  <a:latin typeface="Consolas" panose="020B0609020204030204" pitchFamily="49" charset="0"/>
                </a:rPr>
                <a:t>r2</a:t>
              </a:r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94D40629-5F22-6344-91EA-69DFCCDC4902}"/>
                </a:ext>
              </a:extLst>
            </p:cNvPr>
            <p:cNvSpPr txBox="1"/>
            <p:nvPr/>
          </p:nvSpPr>
          <p:spPr>
            <a:xfrm>
              <a:off x="7609441" y="3672696"/>
              <a:ext cx="1539944" cy="369332"/>
            </a:xfrm>
            <a:prstGeom prst="rect">
              <a:avLst/>
            </a:prstGeom>
            <a:solidFill>
              <a:srgbClr val="FFC000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>
                  <a:latin typeface="Consolas" panose="020B0609020204030204" pitchFamily="49" charset="0"/>
                </a:rPr>
                <a:t>r5</a:t>
              </a:r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A78A60BC-7F31-A240-83C0-8BFF65D2E2FC}"/>
                </a:ext>
              </a:extLst>
            </p:cNvPr>
            <p:cNvSpPr txBox="1"/>
            <p:nvPr/>
          </p:nvSpPr>
          <p:spPr>
            <a:xfrm>
              <a:off x="9319785" y="3672902"/>
              <a:ext cx="1523445" cy="369332"/>
            </a:xfrm>
            <a:prstGeom prst="rect">
              <a:avLst/>
            </a:prstGeom>
            <a:solidFill>
              <a:srgbClr val="FFC000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>
                  <a:latin typeface="Consolas" panose="020B0609020204030204" pitchFamily="49" charset="0"/>
                </a:rPr>
                <a:t>r4</a:t>
              </a:r>
            </a:p>
          </p:txBody>
        </p: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D151F1F6-B83A-5440-A730-16F4E60758D6}"/>
                </a:ext>
              </a:extLst>
            </p:cNvPr>
            <p:cNvCxnSpPr>
              <a:cxnSpLocks/>
            </p:cNvCxnSpPr>
            <p:nvPr/>
          </p:nvCxnSpPr>
          <p:spPr>
            <a:xfrm>
              <a:off x="7168185" y="3545934"/>
              <a:ext cx="3800288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32" name="Group 31">
              <a:extLst>
                <a:ext uri="{FF2B5EF4-FFF2-40B4-BE49-F238E27FC236}">
                  <a16:creationId xmlns:a16="http://schemas.microsoft.com/office/drawing/2014/main" id="{AB9634DB-9E04-C047-A4D9-EF669D3DC62C}"/>
                </a:ext>
              </a:extLst>
            </p:cNvPr>
            <p:cNvGrpSpPr/>
            <p:nvPr/>
          </p:nvGrpSpPr>
          <p:grpSpPr>
            <a:xfrm>
              <a:off x="7168185" y="3171563"/>
              <a:ext cx="162732" cy="152399"/>
              <a:chOff x="6619068" y="533400"/>
              <a:chExt cx="162732" cy="152399"/>
            </a:xfrm>
          </p:grpSpPr>
          <p:cxnSp>
            <p:nvCxnSpPr>
              <p:cNvPr id="33" name="Straight Connector 32">
                <a:extLst>
                  <a:ext uri="{FF2B5EF4-FFF2-40B4-BE49-F238E27FC236}">
                    <a16:creationId xmlns:a16="http://schemas.microsoft.com/office/drawing/2014/main" id="{A0282A4E-CF87-B846-9DBF-DEDA193BBFED}"/>
                  </a:ext>
                </a:extLst>
              </p:cNvPr>
              <p:cNvCxnSpPr/>
              <p:nvPr/>
            </p:nvCxnSpPr>
            <p:spPr>
              <a:xfrm>
                <a:off x="6619068" y="609600"/>
                <a:ext cx="162732" cy="0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4" name="Straight Connector 33">
                <a:extLst>
                  <a:ext uri="{FF2B5EF4-FFF2-40B4-BE49-F238E27FC236}">
                    <a16:creationId xmlns:a16="http://schemas.microsoft.com/office/drawing/2014/main" id="{1C4F5148-4F8B-154B-9343-62CB70B97C2D}"/>
                  </a:ext>
                </a:extLst>
              </p:cNvPr>
              <p:cNvCxnSpPr/>
              <p:nvPr/>
            </p:nvCxnSpPr>
            <p:spPr>
              <a:xfrm flipV="1">
                <a:off x="6700434" y="533400"/>
                <a:ext cx="0" cy="152399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DC23672A-C77C-C349-8623-B1FB27163125}"/>
                </a:ext>
              </a:extLst>
            </p:cNvPr>
            <p:cNvSpPr txBox="1"/>
            <p:nvPr/>
          </p:nvSpPr>
          <p:spPr>
            <a:xfrm>
              <a:off x="10968473" y="2603604"/>
              <a:ext cx="107112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dirty="0">
                  <a:solidFill>
                    <a:schemeClr val="accent1"/>
                  </a:solidFill>
                  <a:latin typeface="Consolas" panose="020B0609020204030204" pitchFamily="49" charset="0"/>
                </a:rPr>
                <a:t>Addend1</a:t>
              </a:r>
            </a:p>
          </p:txBody>
        </p: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F78798E3-25E9-904A-B0AB-491FBF107449}"/>
                </a:ext>
              </a:extLst>
            </p:cNvPr>
            <p:cNvSpPr txBox="1"/>
            <p:nvPr/>
          </p:nvSpPr>
          <p:spPr>
            <a:xfrm>
              <a:off x="10968473" y="3077401"/>
              <a:ext cx="107112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dirty="0">
                  <a:solidFill>
                    <a:schemeClr val="accent6">
                      <a:lumMod val="50000"/>
                    </a:schemeClr>
                  </a:solidFill>
                  <a:latin typeface="Consolas" panose="020B0609020204030204" pitchFamily="49" charset="0"/>
                </a:rPr>
                <a:t>Addend2</a:t>
              </a:r>
            </a:p>
          </p:txBody>
        </p: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059D8CAD-3568-DE4D-B9CB-F6AF75CB2CC9}"/>
                </a:ext>
              </a:extLst>
            </p:cNvPr>
            <p:cNvSpPr txBox="1"/>
            <p:nvPr/>
          </p:nvSpPr>
          <p:spPr>
            <a:xfrm>
              <a:off x="10968473" y="3682593"/>
              <a:ext cx="56457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dirty="0">
                  <a:solidFill>
                    <a:srgbClr val="FFC000"/>
                  </a:solidFill>
                  <a:latin typeface="Consolas" panose="020B0609020204030204" pitchFamily="49" charset="0"/>
                </a:rPr>
                <a:t>Sum</a:t>
              </a:r>
            </a:p>
          </p:txBody>
        </p:sp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B4570C9C-D927-9442-A372-F9498FB2D90B}"/>
                </a:ext>
              </a:extLst>
            </p:cNvPr>
            <p:cNvSpPr txBox="1"/>
            <p:nvPr/>
          </p:nvSpPr>
          <p:spPr>
            <a:xfrm>
              <a:off x="7609441" y="2151266"/>
              <a:ext cx="154565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dirty="0"/>
                <a:t>Upper 32 bits</a:t>
              </a:r>
            </a:p>
          </p:txBody>
        </p:sp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2ECD5C09-D040-E64C-BA73-3A95E75FBD1A}"/>
                </a:ext>
              </a:extLst>
            </p:cNvPr>
            <p:cNvSpPr txBox="1"/>
            <p:nvPr/>
          </p:nvSpPr>
          <p:spPr>
            <a:xfrm>
              <a:off x="9319784" y="2145939"/>
              <a:ext cx="1523446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dirty="0"/>
                <a:t>Lower 32 bits</a:t>
              </a:r>
            </a:p>
          </p:txBody>
        </p:sp>
        <p:sp>
          <p:nvSpPr>
            <p:cNvPr id="40" name="Arc 39">
              <a:extLst>
                <a:ext uri="{FF2B5EF4-FFF2-40B4-BE49-F238E27FC236}">
                  <a16:creationId xmlns:a16="http://schemas.microsoft.com/office/drawing/2014/main" id="{35F52858-8795-304E-9934-BEC0E425A2D5}"/>
                </a:ext>
              </a:extLst>
            </p:cNvPr>
            <p:cNvSpPr/>
            <p:nvPr/>
          </p:nvSpPr>
          <p:spPr>
            <a:xfrm>
              <a:off x="9039876" y="3730598"/>
              <a:ext cx="389418" cy="426002"/>
            </a:xfrm>
            <a:prstGeom prst="arc">
              <a:avLst>
                <a:gd name="adj1" fmla="val 21322083"/>
                <a:gd name="adj2" fmla="val 10995906"/>
              </a:avLst>
            </a:prstGeom>
            <a:ln w="19050">
              <a:solidFill>
                <a:srgbClr val="FF0000"/>
              </a:solidFill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96ACD368-33EC-8B4F-AE19-08FD2A93390A}"/>
                </a:ext>
              </a:extLst>
            </p:cNvPr>
            <p:cNvSpPr txBox="1"/>
            <p:nvPr/>
          </p:nvSpPr>
          <p:spPr>
            <a:xfrm>
              <a:off x="8713997" y="4181829"/>
              <a:ext cx="1019125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600" dirty="0">
                  <a:solidFill>
                    <a:srgbClr val="FF0000"/>
                  </a:solidFill>
                </a:rPr>
                <a:t>Carry out</a:t>
              </a:r>
            </a:p>
          </p:txBody>
        </p:sp>
        <p:grpSp>
          <p:nvGrpSpPr>
            <p:cNvPr id="42" name="Group 41">
              <a:extLst>
                <a:ext uri="{FF2B5EF4-FFF2-40B4-BE49-F238E27FC236}">
                  <a16:creationId xmlns:a16="http://schemas.microsoft.com/office/drawing/2014/main" id="{34A0CD92-9435-BA41-BBE4-AFB35E7C1C98}"/>
                </a:ext>
              </a:extLst>
            </p:cNvPr>
            <p:cNvGrpSpPr/>
            <p:nvPr/>
          </p:nvGrpSpPr>
          <p:grpSpPr>
            <a:xfrm>
              <a:off x="7609439" y="2438400"/>
              <a:ext cx="1539944" cy="76200"/>
              <a:chOff x="4556056" y="1828800"/>
              <a:chExt cx="1539944" cy="76200"/>
            </a:xfrm>
          </p:grpSpPr>
          <p:cxnSp>
            <p:nvCxnSpPr>
              <p:cNvPr id="43" name="Straight Connector 42">
                <a:extLst>
                  <a:ext uri="{FF2B5EF4-FFF2-40B4-BE49-F238E27FC236}">
                    <a16:creationId xmlns:a16="http://schemas.microsoft.com/office/drawing/2014/main" id="{0AA6FC79-8EC2-A647-97FC-1DD1FAAD5326}"/>
                  </a:ext>
                </a:extLst>
              </p:cNvPr>
              <p:cNvCxnSpPr/>
              <p:nvPr/>
            </p:nvCxnSpPr>
            <p:spPr>
              <a:xfrm>
                <a:off x="4556058" y="1828800"/>
                <a:ext cx="0" cy="76200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4" name="Straight Connector 43">
                <a:extLst>
                  <a:ext uri="{FF2B5EF4-FFF2-40B4-BE49-F238E27FC236}">
                    <a16:creationId xmlns:a16="http://schemas.microsoft.com/office/drawing/2014/main" id="{1CD4CCFA-6622-6349-8C39-71D524D9BBA6}"/>
                  </a:ext>
                </a:extLst>
              </p:cNvPr>
              <p:cNvCxnSpPr/>
              <p:nvPr/>
            </p:nvCxnSpPr>
            <p:spPr>
              <a:xfrm>
                <a:off x="6096000" y="1828800"/>
                <a:ext cx="0" cy="76200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5" name="Straight Connector 44">
                <a:extLst>
                  <a:ext uri="{FF2B5EF4-FFF2-40B4-BE49-F238E27FC236}">
                    <a16:creationId xmlns:a16="http://schemas.microsoft.com/office/drawing/2014/main" id="{304676A8-B6DA-C843-88F3-EBB756B35E5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556056" y="1866900"/>
                <a:ext cx="1539944" cy="0"/>
              </a:xfrm>
              <a:prstGeom prst="line">
                <a:avLst/>
              </a:prstGeom>
              <a:ln>
                <a:headEnd type="arrow" w="med" len="med"/>
                <a:tailEnd type="arrow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46" name="Group 45">
              <a:extLst>
                <a:ext uri="{FF2B5EF4-FFF2-40B4-BE49-F238E27FC236}">
                  <a16:creationId xmlns:a16="http://schemas.microsoft.com/office/drawing/2014/main" id="{A358F391-01F8-914C-B2B7-32F4F02C1634}"/>
                </a:ext>
              </a:extLst>
            </p:cNvPr>
            <p:cNvGrpSpPr/>
            <p:nvPr/>
          </p:nvGrpSpPr>
          <p:grpSpPr>
            <a:xfrm>
              <a:off x="9319784" y="2438400"/>
              <a:ext cx="1539944" cy="76200"/>
              <a:chOff x="4556056" y="1828800"/>
              <a:chExt cx="1539944" cy="76200"/>
            </a:xfrm>
          </p:grpSpPr>
          <p:cxnSp>
            <p:nvCxnSpPr>
              <p:cNvPr id="47" name="Straight Connector 46">
                <a:extLst>
                  <a:ext uri="{FF2B5EF4-FFF2-40B4-BE49-F238E27FC236}">
                    <a16:creationId xmlns:a16="http://schemas.microsoft.com/office/drawing/2014/main" id="{60D3773E-8B01-4449-9BA3-C12938CE57DF}"/>
                  </a:ext>
                </a:extLst>
              </p:cNvPr>
              <p:cNvCxnSpPr/>
              <p:nvPr/>
            </p:nvCxnSpPr>
            <p:spPr>
              <a:xfrm>
                <a:off x="4556058" y="1828800"/>
                <a:ext cx="0" cy="76200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8" name="Straight Connector 47">
                <a:extLst>
                  <a:ext uri="{FF2B5EF4-FFF2-40B4-BE49-F238E27FC236}">
                    <a16:creationId xmlns:a16="http://schemas.microsoft.com/office/drawing/2014/main" id="{FCD66532-3C9D-DB48-A839-61EA7E6D18C5}"/>
                  </a:ext>
                </a:extLst>
              </p:cNvPr>
              <p:cNvCxnSpPr/>
              <p:nvPr/>
            </p:nvCxnSpPr>
            <p:spPr>
              <a:xfrm>
                <a:off x="6096000" y="1828800"/>
                <a:ext cx="0" cy="76200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9" name="Straight Connector 48">
                <a:extLst>
                  <a:ext uri="{FF2B5EF4-FFF2-40B4-BE49-F238E27FC236}">
                    <a16:creationId xmlns:a16="http://schemas.microsoft.com/office/drawing/2014/main" id="{FBD186B3-BC97-1141-8942-8F6A83DC11F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556056" y="1866900"/>
                <a:ext cx="1539944" cy="0"/>
              </a:xfrm>
              <a:prstGeom prst="line">
                <a:avLst/>
              </a:prstGeom>
              <a:ln>
                <a:headEnd type="arrow" w="med" len="med"/>
                <a:tailEnd type="arrow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DD0DB7E7-85D4-7943-BEFC-C7C72996EC34}"/>
                </a:ext>
              </a:extLst>
            </p:cNvPr>
            <p:cNvSpPr/>
            <p:nvPr/>
          </p:nvSpPr>
          <p:spPr>
            <a:xfrm>
              <a:off x="6934200" y="1981200"/>
              <a:ext cx="5105400" cy="2539183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noFill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704552365"/>
      </p:ext>
    </p:extLst>
  </p:cSld>
  <p:clrMapOvr>
    <a:masterClrMapping/>
  </p:clrMapOvr>
  <p:transition/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06C697-E885-42AE-AEF7-1154D8176997}" type="slidenum">
              <a:rPr lang="en-US" altLang="zh-TW"/>
              <a:pPr/>
              <a:t>23</a:t>
            </a:fld>
            <a:endParaRPr lang="en-US" altLang="zh-TW"/>
          </a:p>
        </p:txBody>
      </p:sp>
      <p:sp>
        <p:nvSpPr>
          <p:cNvPr id="78848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Example: </a:t>
            </a:r>
            <a:r>
              <a:rPr lang="en-US" altLang="zh-TW" dirty="0">
                <a:solidFill>
                  <a:srgbClr val="FF0000"/>
                </a:solidFill>
              </a:rPr>
              <a:t>64-bit Subtraction</a:t>
            </a:r>
            <a:endParaRPr lang="zh-TW" altLang="en-US" dirty="0">
              <a:solidFill>
                <a:srgbClr val="FF0000"/>
              </a:solidFill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617220" y="1487517"/>
            <a:ext cx="8712200" cy="4524315"/>
          </a:xfrm>
          <a:prstGeom prst="rect">
            <a:avLst/>
          </a:prstGeom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start</a:t>
            </a:r>
          </a:p>
          <a:p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; C = A - B</a:t>
            </a:r>
          </a:p>
          <a:p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; Two 64-bit integers A (r1,r0) and B (r3,r2).</a:t>
            </a:r>
          </a:p>
          <a:p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; Result C (r5, r4)</a:t>
            </a:r>
          </a:p>
          <a:p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; A = 00000002FFFFFFFF</a:t>
            </a:r>
          </a:p>
          <a:p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; B = 0000000400000001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LDR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r0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, =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0xFFFFFFFF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 A’s lower 32 bits 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LDR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r1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, =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0x00000002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 A’s upper 32 bits 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LDR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r2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, =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0x00000001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 B’s lower 32 bits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LDR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r3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, =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0x00000004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 B’s upper 32 bits</a:t>
            </a:r>
          </a:p>
          <a:p>
            <a:endParaRPr lang="en-US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 Subtract B from A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SUB</a:t>
            </a:r>
            <a:r>
              <a:rPr lang="en-US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r4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, r0,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r2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C[31..0]= A[31..0] - B[31..0],  </a:t>
            </a:r>
            <a:r>
              <a:rPr lang="en-US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update Carry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SBC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r5, r1, r3 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C[64..32]= A[64..32] - B[64..32] – (1 – Carry)</a:t>
            </a:r>
          </a:p>
          <a:p>
            <a:endParaRPr lang="en-US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stop  B  stop</a:t>
            </a:r>
          </a:p>
        </p:txBody>
      </p:sp>
      <p:grpSp>
        <p:nvGrpSpPr>
          <p:cNvPr id="5" name="Group 4"/>
          <p:cNvGrpSpPr/>
          <p:nvPr/>
        </p:nvGrpSpPr>
        <p:grpSpPr>
          <a:xfrm>
            <a:off x="8763000" y="2057400"/>
            <a:ext cx="2819400" cy="1828800"/>
            <a:chOff x="6019800" y="2438400"/>
            <a:chExt cx="2819400" cy="1828800"/>
          </a:xfrm>
        </p:grpSpPr>
        <p:sp>
          <p:nvSpPr>
            <p:cNvPr id="7" name="Rectangle 6"/>
            <p:cNvSpPr/>
            <p:nvPr/>
          </p:nvSpPr>
          <p:spPr>
            <a:xfrm>
              <a:off x="6019800" y="2438400"/>
              <a:ext cx="2819400" cy="18288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6624234" y="2590800"/>
              <a:ext cx="838200" cy="369332"/>
            </a:xfrm>
            <a:prstGeom prst="rect">
              <a:avLst/>
            </a:prstGeom>
            <a:solidFill>
              <a:schemeClr val="accent1">
                <a:lumMod val="60000"/>
                <a:lumOff val="40000"/>
              </a:schemeClr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>
                  <a:latin typeface="Consolas" panose="020B0609020204030204" pitchFamily="49" charset="0"/>
                </a:rPr>
                <a:t>r1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7467600" y="2590800"/>
              <a:ext cx="838200" cy="369332"/>
            </a:xfrm>
            <a:prstGeom prst="rect">
              <a:avLst/>
            </a:prstGeom>
            <a:solidFill>
              <a:schemeClr val="accent1">
                <a:lumMod val="60000"/>
                <a:lumOff val="40000"/>
              </a:schemeClr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>
                  <a:latin typeface="Consolas" panose="020B0609020204030204" pitchFamily="49" charset="0"/>
                </a:rPr>
                <a:t>r0</a:t>
              </a:r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6631983" y="3048000"/>
              <a:ext cx="838200" cy="369332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>
                  <a:latin typeface="Consolas" panose="020B0609020204030204" pitchFamily="49" charset="0"/>
                </a:rPr>
                <a:t>r3</a:t>
              </a:r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7475349" y="3048000"/>
              <a:ext cx="838200" cy="369332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>
                  <a:latin typeface="Consolas" panose="020B0609020204030204" pitchFamily="49" charset="0"/>
                </a:rPr>
                <a:t>r2</a:t>
              </a:r>
            </a:p>
          </p:txBody>
        </p:sp>
        <p:sp>
          <p:nvSpPr>
            <p:cNvPr id="12" name="TextBox 11"/>
            <p:cNvSpPr txBox="1"/>
            <p:nvPr/>
          </p:nvSpPr>
          <p:spPr>
            <a:xfrm>
              <a:off x="6619068" y="3645425"/>
              <a:ext cx="838200" cy="369332"/>
            </a:xfrm>
            <a:prstGeom prst="rect">
              <a:avLst/>
            </a:prstGeom>
            <a:solidFill>
              <a:srgbClr val="FFC000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>
                  <a:latin typeface="Consolas" panose="020B0609020204030204" pitchFamily="49" charset="0"/>
                </a:rPr>
                <a:t>r5</a:t>
              </a:r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7462434" y="3645425"/>
              <a:ext cx="838200" cy="369332"/>
            </a:xfrm>
            <a:prstGeom prst="rect">
              <a:avLst/>
            </a:prstGeom>
            <a:solidFill>
              <a:srgbClr val="FFC000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>
                  <a:latin typeface="Consolas" panose="020B0609020204030204" pitchFamily="49" charset="0"/>
                </a:rPr>
                <a:t>r4</a:t>
              </a:r>
            </a:p>
          </p:txBody>
        </p:sp>
        <p:cxnSp>
          <p:nvCxnSpPr>
            <p:cNvPr id="14" name="Straight Connector 13"/>
            <p:cNvCxnSpPr/>
            <p:nvPr/>
          </p:nvCxnSpPr>
          <p:spPr>
            <a:xfrm>
              <a:off x="6172200" y="3530838"/>
              <a:ext cx="2438400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/>
            <p:cNvCxnSpPr/>
            <p:nvPr/>
          </p:nvCxnSpPr>
          <p:spPr>
            <a:xfrm>
              <a:off x="6172200" y="3232667"/>
              <a:ext cx="162732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6" name="TextBox 15"/>
            <p:cNvSpPr txBox="1"/>
            <p:nvPr/>
          </p:nvSpPr>
          <p:spPr>
            <a:xfrm>
              <a:off x="8388788" y="2563245"/>
              <a:ext cx="31130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dirty="0">
                  <a:latin typeface="Consolas" panose="020B0609020204030204" pitchFamily="49" charset="0"/>
                </a:rPr>
                <a:t>A</a:t>
              </a:r>
            </a:p>
          </p:txBody>
        </p:sp>
        <p:sp>
          <p:nvSpPr>
            <p:cNvPr id="17" name="TextBox 16"/>
            <p:cNvSpPr txBox="1"/>
            <p:nvPr/>
          </p:nvSpPr>
          <p:spPr>
            <a:xfrm>
              <a:off x="8382000" y="3048000"/>
              <a:ext cx="31451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dirty="0">
                  <a:latin typeface="Consolas" panose="020B0609020204030204" pitchFamily="49" charset="0"/>
                </a:rPr>
                <a:t>B</a:t>
              </a:r>
            </a:p>
          </p:txBody>
        </p:sp>
        <p:sp>
          <p:nvSpPr>
            <p:cNvPr id="18" name="TextBox 17"/>
            <p:cNvSpPr txBox="1"/>
            <p:nvPr/>
          </p:nvSpPr>
          <p:spPr>
            <a:xfrm>
              <a:off x="8382000" y="3645425"/>
              <a:ext cx="31130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dirty="0">
                  <a:latin typeface="Consolas" panose="020B0609020204030204" pitchFamily="49" charset="0"/>
                </a:rPr>
                <a:t>C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9255324"/>
      </p:ext>
    </p:extLst>
  </p:cSld>
  <p:clrMapOvr>
    <a:masterClrMapping/>
  </p:clrMapOvr>
  <p:transition/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E3C7A-4433-DFDC-D1E8-3637706B71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Example: </a:t>
            </a:r>
            <a:r>
              <a:rPr lang="en-US" dirty="0">
                <a:solidFill>
                  <a:srgbClr val="FF0000"/>
                </a:solidFill>
              </a:rPr>
              <a:t>96-bit Subtraction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B7A5132-E7E8-7019-33DA-90E8F7FCB3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24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CC4AC64-8321-F0C2-90D0-690A73E2CD18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4191000" y="4999990"/>
            <a:ext cx="2514600" cy="135636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000" b="1" dirty="0">
                <a:latin typeface="Consolas" panose="020B0609020204030204" pitchFamily="49" charset="0"/>
              </a:rPr>
              <a:t>SUBS r6, r0, r3</a:t>
            </a:r>
          </a:p>
          <a:p>
            <a:pPr marL="0" indent="0">
              <a:buNone/>
            </a:pPr>
            <a:r>
              <a:rPr lang="en-US" sz="2000" b="1" dirty="0">
                <a:latin typeface="Consolas" panose="020B0609020204030204" pitchFamily="49" charset="0"/>
              </a:rPr>
              <a:t>SBCS r7, r1, r4</a:t>
            </a:r>
          </a:p>
          <a:p>
            <a:pPr marL="0" indent="0">
              <a:buNone/>
            </a:pPr>
            <a:r>
              <a:rPr lang="en-US" sz="2000" b="1" dirty="0">
                <a:latin typeface="Consolas" panose="020B0609020204030204" pitchFamily="49" charset="0"/>
              </a:rPr>
              <a:t>SBC  r8, r2, r5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9298055C-BDDB-836D-9BC5-4411736C86F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95400" y="1295400"/>
            <a:ext cx="9197578" cy="34286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3674267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06C697-E885-42AE-AEF7-1154D8176997}" type="slidenum">
              <a:rPr lang="en-US" altLang="zh-TW"/>
              <a:pPr/>
              <a:t>25</a:t>
            </a:fld>
            <a:endParaRPr lang="en-US" altLang="zh-TW"/>
          </a:p>
        </p:txBody>
      </p:sp>
      <p:sp>
        <p:nvSpPr>
          <p:cNvPr id="788482" name="Rectangle 2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zh-TW" dirty="0"/>
              <a:t>Example: </a:t>
            </a:r>
            <a:r>
              <a:rPr lang="en-US" altLang="zh-TW" dirty="0">
                <a:solidFill>
                  <a:srgbClr val="FF0000"/>
                </a:solidFill>
              </a:rPr>
              <a:t>Short Multiplication </a:t>
            </a:r>
            <a:r>
              <a:rPr lang="en-US" altLang="zh-TW" dirty="0"/>
              <a:t>and</a:t>
            </a:r>
            <a:r>
              <a:rPr lang="en-US" altLang="zh-TW" dirty="0">
                <a:solidFill>
                  <a:schemeClr val="accent1"/>
                </a:solidFill>
              </a:rPr>
              <a:t> </a:t>
            </a:r>
            <a:r>
              <a:rPr lang="en-US" altLang="zh-TW" dirty="0">
                <a:solidFill>
                  <a:srgbClr val="FF0000"/>
                </a:solidFill>
              </a:rPr>
              <a:t>Division</a:t>
            </a:r>
            <a:endParaRPr lang="zh-TW" altLang="en-US" dirty="0">
              <a:solidFill>
                <a:srgbClr val="FF0000"/>
              </a:solidFill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647700" y="1690305"/>
            <a:ext cx="8458200" cy="31393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b="1" dirty="0">
                <a:solidFill>
                  <a:schemeClr val="tx2">
                    <a:lumMod val="60000"/>
                    <a:lumOff val="4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MUL: Signed multiply</a:t>
            </a:r>
          </a:p>
          <a:p>
            <a:r>
              <a:rPr lang="en-US" b="1" dirty="0" err="1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MUL</a:t>
            </a:r>
            <a:r>
              <a:rPr lang="en-US" b="1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b="1" dirty="0" err="1">
                <a:latin typeface="Consolas" panose="020B0609020204030204" pitchFamily="49" charset="0"/>
                <a:cs typeface="Consolas" panose="020B0609020204030204" pitchFamily="49" charset="0"/>
              </a:rPr>
              <a:t>r6</a:t>
            </a:r>
            <a:r>
              <a:rPr lang="en-US" b="1" dirty="0"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  <a:r>
              <a:rPr lang="en-US" b="1" dirty="0" err="1">
                <a:latin typeface="Consolas" panose="020B0609020204030204" pitchFamily="49" charset="0"/>
                <a:cs typeface="Consolas" panose="020B0609020204030204" pitchFamily="49" charset="0"/>
              </a:rPr>
              <a:t>r4</a:t>
            </a:r>
            <a:r>
              <a:rPr lang="en-US" b="1" dirty="0"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  <a:r>
              <a:rPr lang="en-US" b="1" dirty="0" err="1">
                <a:latin typeface="Consolas" panose="020B0609020204030204" pitchFamily="49" charset="0"/>
                <a:cs typeface="Consolas" panose="020B0609020204030204" pitchFamily="49" charset="0"/>
              </a:rPr>
              <a:t>r2</a:t>
            </a:r>
            <a:r>
              <a:rPr lang="en-US" b="1" dirty="0">
                <a:latin typeface="Consolas" panose="020B0609020204030204" pitchFamily="49" charset="0"/>
                <a:cs typeface="Consolas" panose="020B0609020204030204" pitchFamily="49" charset="0"/>
              </a:rPr>
              <a:t>       </a:t>
            </a:r>
            <a:r>
              <a:rPr lang="en-US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</a:t>
            </a:r>
            <a:r>
              <a:rPr lang="en-US" b="1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r6</a:t>
            </a:r>
            <a:r>
              <a:rPr lang="en-US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= </a:t>
            </a:r>
            <a:r>
              <a:rPr lang="en-US" b="1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LSB32</a:t>
            </a:r>
            <a:r>
              <a:rPr lang="en-US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 </a:t>
            </a:r>
            <a:r>
              <a:rPr lang="en-US" b="1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r4</a:t>
            </a:r>
            <a:r>
              <a:rPr lang="en-US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× </a:t>
            </a:r>
            <a:r>
              <a:rPr lang="en-US" b="1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r2</a:t>
            </a:r>
            <a:r>
              <a:rPr lang="en-US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)</a:t>
            </a:r>
          </a:p>
          <a:p>
            <a:endParaRPr lang="en-US" b="1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b="1" dirty="0">
                <a:solidFill>
                  <a:schemeClr val="tx2">
                    <a:lumMod val="60000"/>
                    <a:lumOff val="4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UMUL: Unsigned multiply </a:t>
            </a:r>
          </a:p>
          <a:p>
            <a:r>
              <a:rPr lang="en-US" b="1" dirty="0" err="1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UMUL</a:t>
            </a:r>
            <a:r>
              <a:rPr lang="en-US" b="1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b="1" dirty="0" err="1">
                <a:latin typeface="Consolas" panose="020B0609020204030204" pitchFamily="49" charset="0"/>
                <a:cs typeface="Consolas" panose="020B0609020204030204" pitchFamily="49" charset="0"/>
              </a:rPr>
              <a:t>r6</a:t>
            </a:r>
            <a:r>
              <a:rPr lang="en-US" b="1" dirty="0"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  <a:r>
              <a:rPr lang="en-US" b="1" dirty="0" err="1">
                <a:latin typeface="Consolas" panose="020B0609020204030204" pitchFamily="49" charset="0"/>
                <a:cs typeface="Consolas" panose="020B0609020204030204" pitchFamily="49" charset="0"/>
              </a:rPr>
              <a:t>r4</a:t>
            </a:r>
            <a:r>
              <a:rPr lang="en-US" b="1" dirty="0"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  <a:r>
              <a:rPr lang="en-US" b="1" dirty="0" err="1">
                <a:latin typeface="Consolas" panose="020B0609020204030204" pitchFamily="49" charset="0"/>
                <a:cs typeface="Consolas" panose="020B0609020204030204" pitchFamily="49" charset="0"/>
              </a:rPr>
              <a:t>r2</a:t>
            </a:r>
            <a:r>
              <a:rPr lang="en-US" b="1" dirty="0">
                <a:latin typeface="Consolas" panose="020B0609020204030204" pitchFamily="49" charset="0"/>
                <a:cs typeface="Consolas" panose="020B0609020204030204" pitchFamily="49" charset="0"/>
              </a:rPr>
              <a:t>       </a:t>
            </a:r>
            <a:r>
              <a:rPr lang="en-US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</a:t>
            </a:r>
            <a:r>
              <a:rPr lang="en-US" b="1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r6</a:t>
            </a:r>
            <a:r>
              <a:rPr lang="en-US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= </a:t>
            </a:r>
            <a:r>
              <a:rPr lang="en-US" b="1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LSB32</a:t>
            </a:r>
            <a:r>
              <a:rPr lang="en-US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 </a:t>
            </a:r>
            <a:r>
              <a:rPr lang="en-US" b="1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r4</a:t>
            </a:r>
            <a:r>
              <a:rPr lang="en-US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× </a:t>
            </a:r>
            <a:r>
              <a:rPr lang="en-US" b="1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r2</a:t>
            </a:r>
            <a:r>
              <a:rPr lang="en-US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)</a:t>
            </a:r>
          </a:p>
          <a:p>
            <a:endParaRPr lang="en-US" b="1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b="1" dirty="0">
                <a:solidFill>
                  <a:schemeClr val="tx2">
                    <a:lumMod val="60000"/>
                    <a:lumOff val="4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MLA: Multiply with accumulation</a:t>
            </a:r>
          </a:p>
          <a:p>
            <a:r>
              <a:rPr lang="en-US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MLA</a:t>
            </a:r>
            <a:r>
              <a:rPr lang="en-US" b="1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b="1" dirty="0" err="1">
                <a:latin typeface="Consolas" panose="020B0609020204030204" pitchFamily="49" charset="0"/>
                <a:cs typeface="Consolas" panose="020B0609020204030204" pitchFamily="49" charset="0"/>
              </a:rPr>
              <a:t>r6</a:t>
            </a:r>
            <a:r>
              <a:rPr lang="en-US" b="1" dirty="0"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  <a:r>
              <a:rPr lang="en-US" b="1" dirty="0" err="1">
                <a:latin typeface="Consolas" panose="020B0609020204030204" pitchFamily="49" charset="0"/>
                <a:cs typeface="Consolas" panose="020B0609020204030204" pitchFamily="49" charset="0"/>
              </a:rPr>
              <a:t>r4</a:t>
            </a:r>
            <a:r>
              <a:rPr lang="en-US" b="1" dirty="0"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  <a:r>
              <a:rPr lang="en-US" b="1" dirty="0" err="1">
                <a:latin typeface="Consolas" panose="020B0609020204030204" pitchFamily="49" charset="0"/>
                <a:cs typeface="Consolas" panose="020B0609020204030204" pitchFamily="49" charset="0"/>
              </a:rPr>
              <a:t>r1</a:t>
            </a:r>
            <a:r>
              <a:rPr lang="en-US" b="1" dirty="0"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  <a:r>
              <a:rPr lang="en-US" b="1" dirty="0" err="1">
                <a:latin typeface="Consolas" panose="020B0609020204030204" pitchFamily="49" charset="0"/>
                <a:cs typeface="Consolas" panose="020B0609020204030204" pitchFamily="49" charset="0"/>
              </a:rPr>
              <a:t>r0</a:t>
            </a:r>
            <a:r>
              <a:rPr lang="en-US" b="1" dirty="0">
                <a:latin typeface="Consolas" panose="020B0609020204030204" pitchFamily="49" charset="0"/>
                <a:cs typeface="Consolas" panose="020B0609020204030204" pitchFamily="49" charset="0"/>
              </a:rPr>
              <a:t>   </a:t>
            </a:r>
            <a:r>
              <a:rPr lang="en-US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</a:t>
            </a:r>
            <a:r>
              <a:rPr lang="en-US" b="1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r6</a:t>
            </a:r>
            <a:r>
              <a:rPr lang="en-US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= </a:t>
            </a:r>
            <a:r>
              <a:rPr lang="en-US" b="1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LSB32</a:t>
            </a:r>
            <a:r>
              <a:rPr lang="en-US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 </a:t>
            </a:r>
            <a:r>
              <a:rPr lang="en-US" b="1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r4</a:t>
            </a:r>
            <a:r>
              <a:rPr lang="en-US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× </a:t>
            </a:r>
            <a:r>
              <a:rPr lang="en-US" b="1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r1</a:t>
            </a:r>
            <a:r>
              <a:rPr lang="en-US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) + </a:t>
            </a:r>
            <a:r>
              <a:rPr lang="en-US" b="1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r0</a:t>
            </a:r>
            <a:endParaRPr lang="en-US" b="1" dirty="0">
              <a:solidFill>
                <a:schemeClr val="bg1">
                  <a:lumMod val="50000"/>
                </a:schemeClr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endParaRPr lang="en-US" b="1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b="1" dirty="0">
                <a:solidFill>
                  <a:schemeClr val="tx2">
                    <a:lumMod val="60000"/>
                    <a:lumOff val="4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MLS:  Multiply with subtract</a:t>
            </a:r>
          </a:p>
          <a:p>
            <a:r>
              <a:rPr lang="en-US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MLS</a:t>
            </a:r>
            <a:r>
              <a:rPr lang="en-US" b="1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b="1" dirty="0" err="1">
                <a:latin typeface="Consolas" panose="020B0609020204030204" pitchFamily="49" charset="0"/>
                <a:cs typeface="Consolas" panose="020B0609020204030204" pitchFamily="49" charset="0"/>
              </a:rPr>
              <a:t>r6</a:t>
            </a:r>
            <a:r>
              <a:rPr lang="en-US" b="1" dirty="0"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  <a:r>
              <a:rPr lang="en-US" b="1" dirty="0" err="1">
                <a:latin typeface="Consolas" panose="020B0609020204030204" pitchFamily="49" charset="0"/>
                <a:cs typeface="Consolas" panose="020B0609020204030204" pitchFamily="49" charset="0"/>
              </a:rPr>
              <a:t>r4</a:t>
            </a:r>
            <a:r>
              <a:rPr lang="en-US" b="1" dirty="0"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  <a:r>
              <a:rPr lang="en-US" b="1" dirty="0" err="1">
                <a:latin typeface="Consolas" panose="020B0609020204030204" pitchFamily="49" charset="0"/>
                <a:cs typeface="Consolas" panose="020B0609020204030204" pitchFamily="49" charset="0"/>
              </a:rPr>
              <a:t>r1</a:t>
            </a:r>
            <a:r>
              <a:rPr lang="en-US" b="1" dirty="0"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  <a:r>
              <a:rPr lang="en-US" b="1" dirty="0" err="1">
                <a:latin typeface="Consolas" panose="020B0609020204030204" pitchFamily="49" charset="0"/>
                <a:cs typeface="Consolas" panose="020B0609020204030204" pitchFamily="49" charset="0"/>
              </a:rPr>
              <a:t>r0</a:t>
            </a:r>
            <a:r>
              <a:rPr lang="en-US" b="1" dirty="0">
                <a:latin typeface="Consolas" panose="020B0609020204030204" pitchFamily="49" charset="0"/>
                <a:cs typeface="Consolas" panose="020B0609020204030204" pitchFamily="49" charset="0"/>
              </a:rPr>
              <a:t>   </a:t>
            </a:r>
            <a:r>
              <a:rPr lang="en-US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</a:t>
            </a:r>
            <a:r>
              <a:rPr lang="en-US" b="1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r6</a:t>
            </a:r>
            <a:r>
              <a:rPr lang="en-US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= </a:t>
            </a:r>
            <a:r>
              <a:rPr lang="en-US" b="1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LSB32</a:t>
            </a:r>
            <a:r>
              <a:rPr lang="en-US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 </a:t>
            </a:r>
            <a:r>
              <a:rPr lang="en-US" b="1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r4</a:t>
            </a:r>
            <a:r>
              <a:rPr lang="en-US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× </a:t>
            </a:r>
            <a:r>
              <a:rPr lang="en-US" b="1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r1</a:t>
            </a:r>
            <a:r>
              <a:rPr lang="en-US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) - </a:t>
            </a:r>
            <a:r>
              <a:rPr lang="en-US" b="1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r0</a:t>
            </a:r>
            <a:endParaRPr lang="en-US" b="1" dirty="0">
              <a:solidFill>
                <a:schemeClr val="bg1">
                  <a:lumMod val="50000"/>
                </a:schemeClr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5CED3BF-EAA9-AC49-B8FA-6515C69C7BC2}"/>
              </a:ext>
            </a:extLst>
          </p:cNvPr>
          <p:cNvSpPr txBox="1"/>
          <p:nvPr/>
        </p:nvSpPr>
        <p:spPr>
          <a:xfrm>
            <a:off x="4267201" y="5315972"/>
            <a:ext cx="303576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latin typeface="Consolas" panose="020B0609020204030204" pitchFamily="49" charset="0"/>
              </a:rPr>
              <a:t>LSB32</a:t>
            </a:r>
            <a:r>
              <a:rPr lang="en-US" dirty="0"/>
              <a:t>: Least significant 32 bits</a:t>
            </a:r>
          </a:p>
        </p:txBody>
      </p:sp>
    </p:spTree>
    <p:extLst>
      <p:ext uri="{BB962C8B-B14F-4D97-AF65-F5344CB8AC3E}">
        <p14:creationId xmlns:p14="http://schemas.microsoft.com/office/powerpoint/2010/main" val="1771709229"/>
      </p:ext>
    </p:extLst>
  </p:cSld>
  <p:clrMapOvr>
    <a:masterClrMapping/>
  </p:clrMapOvr>
  <p:transition/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06C697-E885-42AE-AEF7-1154D8176997}" type="slidenum">
              <a:rPr lang="en-US" altLang="zh-TW"/>
              <a:pPr/>
              <a:t>26</a:t>
            </a:fld>
            <a:endParaRPr lang="en-US" altLang="zh-TW"/>
          </a:p>
        </p:txBody>
      </p:sp>
      <p:sp>
        <p:nvSpPr>
          <p:cNvPr id="788482" name="Rectangle 2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zh-TW" dirty="0"/>
              <a:t>Example: </a:t>
            </a:r>
            <a:r>
              <a:rPr lang="en-US" altLang="zh-TW" dirty="0">
                <a:solidFill>
                  <a:srgbClr val="FF0000"/>
                </a:solidFill>
              </a:rPr>
              <a:t>Long Multiplication</a:t>
            </a:r>
            <a:endParaRPr lang="zh-TW" altLang="en-US" dirty="0">
              <a:solidFill>
                <a:srgbClr val="FF0000"/>
              </a:solidFill>
            </a:endParaRP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sz="quarter" idx="1"/>
            <p:extLst>
              <p:ext uri="{D42A27DB-BD31-4B8C-83A1-F6EECF244321}">
                <p14:modId xmlns:p14="http://schemas.microsoft.com/office/powerpoint/2010/main" val="61383402"/>
              </p:ext>
            </p:extLst>
          </p:nvPr>
        </p:nvGraphicFramePr>
        <p:xfrm>
          <a:off x="1790700" y="1371600"/>
          <a:ext cx="8724900" cy="2743200"/>
        </p:xfrm>
        <a:graphic>
          <a:graphicData uri="http://schemas.openxmlformats.org/drawingml/2006/table">
            <a:tbl>
              <a:tblPr firstCol="1" bandRow="1">
                <a:tableStyleId>{BC89EF96-8CEA-46FF-86C4-4CE0E7609802}</a:tableStyleId>
              </a:tblPr>
              <a:tblGrid>
                <a:gridCol w="293403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79086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685800"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 err="1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</a:rPr>
                        <a:t>UMULL</a:t>
                      </a:r>
                      <a:r>
                        <a:rPr lang="en-US" sz="1600" b="0" dirty="0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</a:rPr>
                        <a:t>RdLo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, 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</a:rPr>
                        <a:t>RdHi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, Rn, Rm</a:t>
                      </a:r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>
                          <a:effectLst/>
                          <a:latin typeface="Consolas" panose="020B0609020204030204" pitchFamily="49" charset="0"/>
                        </a:rPr>
                        <a:t>Unsigned long multiply</a:t>
                      </a:r>
                    </a:p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</a:rPr>
                        <a:t>RdHi,RdLo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200" b="0" dirty="0"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 unsigned(Rn × Rm)</a:t>
                      </a:r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85800"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 err="1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</a:rPr>
                        <a:t>SMULL</a:t>
                      </a:r>
                      <a:r>
                        <a:rPr lang="en-US" sz="1600" b="0" dirty="0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</a:rPr>
                        <a:t>RdLo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, 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</a:rPr>
                        <a:t>RdHi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, Rn, Rm</a:t>
                      </a:r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>
                          <a:effectLst/>
                          <a:latin typeface="Consolas" panose="020B0609020204030204" pitchFamily="49" charset="0"/>
                        </a:rPr>
                        <a:t>Signed long multiply</a:t>
                      </a:r>
                    </a:p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</a:rPr>
                        <a:t>RdHi,RdLo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200" b="0" dirty="0"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 signed(Rn × Rm)</a:t>
                      </a:r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85800"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 err="1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</a:rPr>
                        <a:t>UMLAL</a:t>
                      </a:r>
                      <a:r>
                        <a:rPr lang="en-US" sz="1600" b="0" dirty="0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</a:rPr>
                        <a:t>RdLo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, 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</a:rPr>
                        <a:t>RdHi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, Rn, Rm</a:t>
                      </a:r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>
                          <a:effectLst/>
                          <a:latin typeface="Consolas" panose="020B0609020204030204" pitchFamily="49" charset="0"/>
                        </a:rPr>
                        <a:t>Unsigned multiply with accumulate</a:t>
                      </a:r>
                    </a:p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</a:rPr>
                        <a:t>RdHi,RdLo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200" b="0" dirty="0"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 unsigned(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</a:rPr>
                        <a:t>RdHi,RdLo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 + Rn × Rm)</a:t>
                      </a:r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85800"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 err="1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</a:rPr>
                        <a:t>SMLAL</a:t>
                      </a:r>
                      <a:r>
                        <a:rPr lang="en-US" sz="1600" b="0" dirty="0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</a:rPr>
                        <a:t>RdLo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, 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</a:rPr>
                        <a:t>RdHi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, Rn, Rm</a:t>
                      </a:r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>
                          <a:effectLst/>
                          <a:latin typeface="Consolas" panose="020B0609020204030204" pitchFamily="49" charset="0"/>
                        </a:rPr>
                        <a:t>Signed multiply with accumulate</a:t>
                      </a:r>
                    </a:p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</a:rPr>
                        <a:t>RdHi,RdLo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200" b="0" dirty="0"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 signed(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</a:rPr>
                        <a:t>RdHi,RdLo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 + Rn × Rm)</a:t>
                      </a:r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1828800" y="4724400"/>
            <a:ext cx="8077200" cy="110799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600" b="1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1600" b="1" dirty="0" err="1">
                <a:latin typeface="Consolas" panose="020B0609020204030204" pitchFamily="49" charset="0"/>
                <a:cs typeface="Consolas" panose="020B0609020204030204" pitchFamily="49" charset="0"/>
              </a:rPr>
              <a:t>UMULL</a:t>
            </a:r>
            <a:r>
              <a:rPr lang="en-US" sz="1600" b="1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1600" b="1" dirty="0" err="1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r3</a:t>
            </a:r>
            <a:r>
              <a:rPr lang="en-US" sz="1600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  <a:r>
              <a:rPr lang="en-US" sz="1600" b="1" dirty="0" err="1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r4</a:t>
            </a:r>
            <a:r>
              <a:rPr lang="en-US" sz="1600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  <a:r>
              <a:rPr lang="en-US" sz="1600" b="1" dirty="0" err="1">
                <a:latin typeface="Consolas" panose="020B0609020204030204" pitchFamily="49" charset="0"/>
                <a:cs typeface="Consolas" panose="020B0609020204030204" pitchFamily="49" charset="0"/>
              </a:rPr>
              <a:t>r0</a:t>
            </a:r>
            <a:r>
              <a:rPr lang="en-US" sz="1600" b="1" dirty="0"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  <a:r>
              <a:rPr lang="en-US" sz="1600" b="1" dirty="0" err="1">
                <a:latin typeface="Consolas" panose="020B0609020204030204" pitchFamily="49" charset="0"/>
                <a:cs typeface="Consolas" panose="020B0609020204030204" pitchFamily="49" charset="0"/>
              </a:rPr>
              <a:t>r1</a:t>
            </a:r>
            <a:r>
              <a:rPr lang="en-US" sz="1600" b="1" dirty="0">
                <a:latin typeface="Consolas" panose="020B0609020204030204" pitchFamily="49" charset="0"/>
                <a:cs typeface="Consolas" panose="020B0609020204030204" pitchFamily="49" charset="0"/>
              </a:rPr>
              <a:t>   </a:t>
            </a:r>
            <a:r>
              <a:rPr lang="en-US" sz="16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</a:t>
            </a:r>
            <a:r>
              <a:rPr lang="en-US" sz="1600" b="1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r4:r3</a:t>
            </a:r>
            <a:r>
              <a:rPr lang="en-US" sz="16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= </a:t>
            </a:r>
            <a:r>
              <a:rPr lang="en-US" sz="1600" b="1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r0</a:t>
            </a:r>
            <a:r>
              <a:rPr lang="en-US" sz="16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16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  <a:sym typeface="Symbol"/>
              </a:rPr>
              <a:t></a:t>
            </a:r>
            <a:r>
              <a:rPr lang="en-US" sz="16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1600" b="1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r1</a:t>
            </a:r>
            <a:r>
              <a:rPr lang="en-US" sz="16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  <a:r>
              <a:rPr lang="en-US" sz="1600" b="1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r4</a:t>
            </a:r>
            <a:r>
              <a:rPr lang="en-US" sz="16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= </a:t>
            </a:r>
            <a:r>
              <a:rPr lang="en-US" sz="1600" b="1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MSB</a:t>
            </a:r>
            <a:r>
              <a:rPr lang="en-US" sz="16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bits, </a:t>
            </a:r>
            <a:r>
              <a:rPr lang="en-US" sz="1600" b="1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r3</a:t>
            </a:r>
            <a:r>
              <a:rPr lang="en-US" sz="16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= </a:t>
            </a:r>
            <a:r>
              <a:rPr lang="en-US" sz="1600" b="1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LSB</a:t>
            </a:r>
            <a:r>
              <a:rPr lang="en-US" sz="16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bits</a:t>
            </a:r>
          </a:p>
          <a:p>
            <a:r>
              <a:rPr lang="en-US" sz="1600" b="1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1600" b="1" dirty="0" err="1">
                <a:latin typeface="Consolas" panose="020B0609020204030204" pitchFamily="49" charset="0"/>
                <a:cs typeface="Consolas" panose="020B0609020204030204" pitchFamily="49" charset="0"/>
              </a:rPr>
              <a:t>SMULL</a:t>
            </a:r>
            <a:r>
              <a:rPr lang="en-US" sz="1600" b="1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1600" b="1" dirty="0" err="1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r3</a:t>
            </a:r>
            <a:r>
              <a:rPr lang="en-US" sz="1600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  <a:r>
              <a:rPr lang="en-US" sz="1600" b="1" dirty="0" err="1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r4</a:t>
            </a:r>
            <a:r>
              <a:rPr lang="en-US" sz="1600" b="1" dirty="0"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  <a:r>
              <a:rPr lang="en-US" sz="1600" b="1" dirty="0" err="1">
                <a:latin typeface="Consolas" panose="020B0609020204030204" pitchFamily="49" charset="0"/>
                <a:cs typeface="Consolas" panose="020B0609020204030204" pitchFamily="49" charset="0"/>
              </a:rPr>
              <a:t>r0</a:t>
            </a:r>
            <a:r>
              <a:rPr lang="en-US" sz="1600" b="1" dirty="0"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  <a:r>
              <a:rPr lang="en-US" sz="1600" b="1" dirty="0" err="1">
                <a:latin typeface="Consolas" panose="020B0609020204030204" pitchFamily="49" charset="0"/>
                <a:cs typeface="Consolas" panose="020B0609020204030204" pitchFamily="49" charset="0"/>
              </a:rPr>
              <a:t>r1</a:t>
            </a:r>
            <a:r>
              <a:rPr lang="en-US" sz="1600" b="1" dirty="0">
                <a:latin typeface="Consolas" panose="020B0609020204030204" pitchFamily="49" charset="0"/>
                <a:cs typeface="Consolas" panose="020B0609020204030204" pitchFamily="49" charset="0"/>
              </a:rPr>
              <a:t>   </a:t>
            </a:r>
            <a:r>
              <a:rPr lang="en-US" sz="16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</a:t>
            </a:r>
            <a:r>
              <a:rPr lang="en-US" sz="1600" b="1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r4:r3</a:t>
            </a:r>
            <a:r>
              <a:rPr lang="en-US" sz="16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= </a:t>
            </a:r>
            <a:r>
              <a:rPr lang="en-US" sz="1600" b="1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r0</a:t>
            </a:r>
            <a:r>
              <a:rPr lang="en-US" sz="16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16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  <a:sym typeface="Symbol"/>
              </a:rPr>
              <a:t></a:t>
            </a:r>
            <a:r>
              <a:rPr lang="en-US" sz="16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1600" b="1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r1</a:t>
            </a:r>
            <a:endParaRPr lang="en-US" sz="1600" b="1" dirty="0">
              <a:solidFill>
                <a:schemeClr val="bg1">
                  <a:lumMod val="50000"/>
                </a:schemeClr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1600" b="1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1600" b="1" dirty="0" err="1">
                <a:latin typeface="Consolas" panose="020B0609020204030204" pitchFamily="49" charset="0"/>
                <a:cs typeface="Consolas" panose="020B0609020204030204" pitchFamily="49" charset="0"/>
              </a:rPr>
              <a:t>UMLAL</a:t>
            </a:r>
            <a:r>
              <a:rPr lang="en-US" sz="1600" b="1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1600" b="1" dirty="0" err="1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r3</a:t>
            </a:r>
            <a:r>
              <a:rPr lang="en-US" sz="1600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  <a:r>
              <a:rPr lang="en-US" sz="1600" b="1" dirty="0" err="1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r4</a:t>
            </a:r>
            <a:r>
              <a:rPr lang="en-US" sz="1600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  <a:r>
              <a:rPr lang="en-US" sz="1600" b="1" dirty="0" err="1">
                <a:latin typeface="Consolas" panose="020B0609020204030204" pitchFamily="49" charset="0"/>
                <a:cs typeface="Consolas" panose="020B0609020204030204" pitchFamily="49" charset="0"/>
              </a:rPr>
              <a:t>r0</a:t>
            </a:r>
            <a:r>
              <a:rPr lang="en-US" sz="1600" b="1" dirty="0"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  <a:r>
              <a:rPr lang="en-US" sz="1600" b="1" dirty="0" err="1">
                <a:latin typeface="Consolas" panose="020B0609020204030204" pitchFamily="49" charset="0"/>
                <a:cs typeface="Consolas" panose="020B0609020204030204" pitchFamily="49" charset="0"/>
              </a:rPr>
              <a:t>r1</a:t>
            </a:r>
            <a:r>
              <a:rPr lang="en-US" sz="1600" b="1" dirty="0">
                <a:latin typeface="Consolas" panose="020B0609020204030204" pitchFamily="49" charset="0"/>
                <a:cs typeface="Consolas" panose="020B0609020204030204" pitchFamily="49" charset="0"/>
              </a:rPr>
              <a:t>   </a:t>
            </a:r>
            <a:r>
              <a:rPr lang="en-US" sz="16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</a:t>
            </a:r>
            <a:r>
              <a:rPr lang="en-US" sz="1600" b="1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r4:r3</a:t>
            </a:r>
            <a:r>
              <a:rPr lang="en-US" sz="16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= </a:t>
            </a:r>
            <a:r>
              <a:rPr lang="en-US" sz="1600" b="1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r4:r3</a:t>
            </a:r>
            <a:r>
              <a:rPr lang="en-US" sz="16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+ </a:t>
            </a:r>
            <a:r>
              <a:rPr lang="en-US" sz="1600" b="1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r0</a:t>
            </a:r>
            <a:r>
              <a:rPr lang="en-US" sz="16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16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  <a:sym typeface="Symbol"/>
              </a:rPr>
              <a:t></a:t>
            </a:r>
            <a:r>
              <a:rPr lang="en-US" sz="16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1600" b="1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r1</a:t>
            </a:r>
            <a:endParaRPr lang="en-US" sz="1600" b="1" dirty="0">
              <a:solidFill>
                <a:schemeClr val="bg1">
                  <a:lumMod val="50000"/>
                </a:schemeClr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1600" b="1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1600" b="1" dirty="0" err="1">
                <a:latin typeface="Consolas" panose="020B0609020204030204" pitchFamily="49" charset="0"/>
                <a:cs typeface="Consolas" panose="020B0609020204030204" pitchFamily="49" charset="0"/>
              </a:rPr>
              <a:t>SMLAL</a:t>
            </a:r>
            <a:r>
              <a:rPr lang="en-US" sz="1600" b="1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1600" b="1" dirty="0" err="1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r3</a:t>
            </a:r>
            <a:r>
              <a:rPr lang="en-US" sz="1600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  <a:r>
              <a:rPr lang="en-US" sz="1600" b="1" dirty="0" err="1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r4</a:t>
            </a:r>
            <a:r>
              <a:rPr lang="en-US" sz="1600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  <a:r>
              <a:rPr lang="en-US" sz="1600" b="1" dirty="0" err="1">
                <a:latin typeface="Consolas" panose="020B0609020204030204" pitchFamily="49" charset="0"/>
                <a:cs typeface="Consolas" panose="020B0609020204030204" pitchFamily="49" charset="0"/>
              </a:rPr>
              <a:t>r0</a:t>
            </a:r>
            <a:r>
              <a:rPr lang="en-US" sz="1600" b="1" dirty="0"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  <a:r>
              <a:rPr lang="en-US" sz="1600" b="1" dirty="0" err="1">
                <a:latin typeface="Consolas" panose="020B0609020204030204" pitchFamily="49" charset="0"/>
                <a:cs typeface="Consolas" panose="020B0609020204030204" pitchFamily="49" charset="0"/>
              </a:rPr>
              <a:t>r1</a:t>
            </a:r>
            <a:r>
              <a:rPr lang="en-US" sz="1600" b="1" dirty="0">
                <a:latin typeface="Consolas" panose="020B0609020204030204" pitchFamily="49" charset="0"/>
                <a:cs typeface="Consolas" panose="020B0609020204030204" pitchFamily="49" charset="0"/>
              </a:rPr>
              <a:t>   </a:t>
            </a:r>
            <a:r>
              <a:rPr lang="en-US" sz="16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</a:t>
            </a:r>
            <a:r>
              <a:rPr lang="en-US" sz="1600" b="1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r4:r3</a:t>
            </a:r>
            <a:r>
              <a:rPr lang="en-US" sz="16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= </a:t>
            </a:r>
            <a:r>
              <a:rPr lang="en-US" sz="1600" b="1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r4:r3</a:t>
            </a:r>
            <a:r>
              <a:rPr lang="en-US" sz="16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+ </a:t>
            </a:r>
            <a:r>
              <a:rPr lang="en-US" sz="1600" b="1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r0</a:t>
            </a:r>
            <a:r>
              <a:rPr lang="en-US" sz="16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16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  <a:sym typeface="Symbol"/>
              </a:rPr>
              <a:t></a:t>
            </a:r>
            <a:r>
              <a:rPr lang="en-US" sz="16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1600" b="1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r1</a:t>
            </a:r>
            <a:endParaRPr lang="en-US" sz="1600" b="1" dirty="0">
              <a:solidFill>
                <a:schemeClr val="bg1">
                  <a:lumMod val="50000"/>
                </a:schemeClr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2" name="TextBox 1"/>
          <p:cNvSpPr txBox="1"/>
          <p:nvPr/>
        </p:nvSpPr>
        <p:spPr>
          <a:xfrm>
            <a:off x="1690134" y="4234934"/>
            <a:ext cx="446301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The result has 64 bits, placed in two registers.</a:t>
            </a:r>
          </a:p>
        </p:txBody>
      </p:sp>
    </p:spTree>
    <p:extLst>
      <p:ext uri="{BB962C8B-B14F-4D97-AF65-F5344CB8AC3E}">
        <p14:creationId xmlns:p14="http://schemas.microsoft.com/office/powerpoint/2010/main" val="1277304446"/>
      </p:ext>
    </p:extLst>
  </p:cSld>
  <p:clrMapOvr>
    <a:masterClrMapping/>
  </p:clrMapOvr>
  <p:transition/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Bitwise Logic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27</a:t>
            </a:fld>
            <a:endParaRPr kumimoji="0" lang="en-US" dirty="0"/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72419708"/>
              </p:ext>
            </p:extLst>
          </p:nvPr>
        </p:nvGraphicFramePr>
        <p:xfrm>
          <a:off x="1981200" y="1295400"/>
          <a:ext cx="8458200" cy="4953002"/>
        </p:xfrm>
        <a:graphic>
          <a:graphicData uri="http://schemas.openxmlformats.org/drawingml/2006/table">
            <a:tbl>
              <a:tblPr firstCol="1" bandRow="1">
                <a:tableStyleId>{BC89EF96-8CEA-46FF-86C4-4CE0E7609802}</a:tableStyleId>
              </a:tblPr>
              <a:tblGrid>
                <a:gridCol w="2819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638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604160"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</a:rPr>
                        <a:t>AND</a:t>
                      </a:r>
                      <a:r>
                        <a:rPr lang="en-US" sz="1600" b="0" dirty="0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{Rd,} Rn, 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</a:rPr>
                        <a:t>Op2</a:t>
                      </a:r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>
                          <a:effectLst/>
                          <a:latin typeface="Consolas" panose="020B0609020204030204" pitchFamily="49" charset="0"/>
                        </a:rPr>
                        <a:t>Bitwise logic AND</a:t>
                      </a:r>
                    </a:p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Rd </a:t>
                      </a:r>
                      <a:r>
                        <a:rPr lang="en-US" sz="1200" b="0" dirty="0"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 Rn &amp; operand2</a:t>
                      </a:r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04160"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600"/>
                        </a:spcAft>
                      </a:pPr>
                      <a:r>
                        <a:rPr lang="en-US" sz="1600" b="1" dirty="0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</a:rPr>
                        <a:t>ORR</a:t>
                      </a:r>
                      <a:r>
                        <a:rPr lang="en-US" sz="1600" b="0" dirty="0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{Rd,} Rn, 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</a:rPr>
                        <a:t>Op2</a:t>
                      </a:r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>
                          <a:effectLst/>
                          <a:latin typeface="Consolas" panose="020B0609020204030204" pitchFamily="49" charset="0"/>
                        </a:rPr>
                        <a:t>Bitwise logic OR</a:t>
                      </a:r>
                    </a:p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Rd </a:t>
                      </a:r>
                      <a:r>
                        <a:rPr lang="en-US" sz="1200" b="0" dirty="0"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 Rn | operand2</a:t>
                      </a:r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04160"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 err="1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</a:rPr>
                        <a:t>EOR</a:t>
                      </a:r>
                      <a:r>
                        <a:rPr lang="en-US" sz="1600" b="0" dirty="0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{Rd,} Rn, 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</a:rPr>
                        <a:t>Op2</a:t>
                      </a:r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>
                          <a:effectLst/>
                          <a:latin typeface="Consolas" panose="020B0609020204030204" pitchFamily="49" charset="0"/>
                        </a:rPr>
                        <a:t>Bitwise logic exclusive OR</a:t>
                      </a:r>
                    </a:p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Rd </a:t>
                      </a:r>
                      <a:r>
                        <a:rPr lang="en-US" sz="1200" b="0" dirty="0"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 Rn ^ operand2</a:t>
                      </a:r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04160"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 err="1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</a:rPr>
                        <a:t>ORN</a:t>
                      </a:r>
                      <a:r>
                        <a:rPr lang="en-US" sz="1600" b="0" dirty="0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{Rd,} Rn, 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</a:rPr>
                        <a:t>Op2</a:t>
                      </a:r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>
                          <a:effectLst/>
                          <a:latin typeface="Consolas" panose="020B0609020204030204" pitchFamily="49" charset="0"/>
                        </a:rPr>
                        <a:t>Bitwise logic NOT OR</a:t>
                      </a:r>
                    </a:p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Rd </a:t>
                      </a:r>
                      <a:r>
                        <a:rPr lang="en-US" sz="1200" b="0" dirty="0"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 Rn | (NOT operand2)</a:t>
                      </a:r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04160"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 err="1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</a:rPr>
                        <a:t>BIC</a:t>
                      </a:r>
                      <a:r>
                        <a:rPr lang="en-US" sz="1600" b="0" dirty="0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{Rd,} Rn, 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</a:rPr>
                        <a:t>Op2</a:t>
                      </a:r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>
                          <a:effectLst/>
                          <a:latin typeface="Consolas" panose="020B0609020204030204" pitchFamily="49" charset="0"/>
                        </a:rPr>
                        <a:t>Bit clear</a:t>
                      </a:r>
                    </a:p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Rd </a:t>
                      </a:r>
                      <a:r>
                        <a:rPr lang="en-US" sz="1200" b="0" dirty="0"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 Rn &amp; NOT operand2</a:t>
                      </a:r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04160"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 err="1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</a:rPr>
                        <a:t>BFC</a:t>
                      </a:r>
                      <a:r>
                        <a:rPr lang="en-US" sz="1600" b="0" dirty="0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Rd, #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</a:rPr>
                        <a:t>lsb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, #width</a:t>
                      </a:r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>
                          <a:effectLst/>
                          <a:latin typeface="Consolas" panose="020B0609020204030204" pitchFamily="49" charset="0"/>
                        </a:rPr>
                        <a:t>Bit field clear</a:t>
                      </a:r>
                    </a:p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Rd[(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</a:rPr>
                        <a:t>width+lsb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–1):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</a:rPr>
                        <a:t>lsb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] </a:t>
                      </a:r>
                      <a:r>
                        <a:rPr lang="en-US" sz="1200" b="0" dirty="0"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 0</a:t>
                      </a:r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664021"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</a:rPr>
                        <a:t>BFI</a:t>
                      </a:r>
                      <a:r>
                        <a:rPr lang="en-US" sz="1600" b="0" dirty="0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Rd,</a:t>
                      </a:r>
                      <a:r>
                        <a:rPr lang="en-US" sz="1600" b="0" baseline="0" dirty="0"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Rn, #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</a:rPr>
                        <a:t>lsb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, #width</a:t>
                      </a:r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>
                          <a:effectLst/>
                          <a:latin typeface="Consolas" panose="020B0609020204030204" pitchFamily="49" charset="0"/>
                        </a:rPr>
                        <a:t>Bit field insert</a:t>
                      </a:r>
                    </a:p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Rd[(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</a:rPr>
                        <a:t>width+lsb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–1):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</a:rPr>
                        <a:t>lsb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] </a:t>
                      </a:r>
                      <a:r>
                        <a:rPr lang="en-US" sz="1200" b="0" dirty="0"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 Rn[(width-1):0]</a:t>
                      </a:r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664021"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 err="1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</a:rPr>
                        <a:t>MVN</a:t>
                      </a:r>
                      <a:r>
                        <a:rPr lang="en-US" sz="1600" b="0" dirty="0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Rd, 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</a:rPr>
                        <a:t>Op2</a:t>
                      </a:r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>
                          <a:effectLst/>
                          <a:latin typeface="Consolas" panose="020B0609020204030204" pitchFamily="49" charset="0"/>
                        </a:rPr>
                        <a:t>Move NOT, logically negate all bits</a:t>
                      </a:r>
                    </a:p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Rd </a:t>
                      </a:r>
                      <a:r>
                        <a:rPr lang="en-US" sz="1200" b="0" dirty="0"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</a:rPr>
                        <a:t>0xFFFFFFFF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</a:rPr>
                        <a:t>EOR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</a:rPr>
                        <a:t>Op2</a:t>
                      </a:r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64426592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06C697-E885-42AE-AEF7-1154D8176997}" type="slidenum">
              <a:rPr lang="en-US" altLang="zh-TW"/>
              <a:pPr/>
              <a:t>28</a:t>
            </a:fld>
            <a:endParaRPr lang="en-US" altLang="zh-TW"/>
          </a:p>
        </p:txBody>
      </p:sp>
      <p:sp>
        <p:nvSpPr>
          <p:cNvPr id="788482" name="Rectangle 2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zh-TW" dirty="0"/>
              <a:t>Example: </a:t>
            </a:r>
            <a:r>
              <a:rPr lang="en-US" altLang="zh-TW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AND r2, r0, r1</a:t>
            </a:r>
            <a:endParaRPr lang="zh-TW" altLang="en-US" dirty="0">
              <a:solidFill>
                <a:srgbClr val="FF000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cxnSp>
        <p:nvCxnSpPr>
          <p:cNvPr id="60" name="Straight Connector 59"/>
          <p:cNvCxnSpPr/>
          <p:nvPr/>
        </p:nvCxnSpPr>
        <p:spPr>
          <a:xfrm>
            <a:off x="1947460" y="2752635"/>
            <a:ext cx="8339541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Straight Connector 61"/>
          <p:cNvCxnSpPr/>
          <p:nvPr/>
        </p:nvCxnSpPr>
        <p:spPr>
          <a:xfrm>
            <a:off x="10234960" y="1743165"/>
            <a:ext cx="0" cy="295364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36" name="Straight Connector 3135"/>
          <p:cNvCxnSpPr/>
          <p:nvPr/>
        </p:nvCxnSpPr>
        <p:spPr>
          <a:xfrm>
            <a:off x="2105413" y="1676401"/>
            <a:ext cx="0" cy="314235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40" name="TextBox 3139"/>
          <p:cNvSpPr txBox="1"/>
          <p:nvPr/>
        </p:nvSpPr>
        <p:spPr>
          <a:xfrm>
            <a:off x="2138617" y="2008538"/>
            <a:ext cx="8237539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1  1  0  1  0  1  0  1  0  1  0  1  0  1  0  1  0  1  0  1  0  1  0  1  0  1  0  1  0  1  0  1</a:t>
            </a:r>
          </a:p>
          <a:p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1  0  1  0  1  0  1  0  1  0  1  0  1  0  1  1  1  0  1  0  1  0  1  0  1  0  1  0  1  0  1  1</a:t>
            </a:r>
          </a:p>
          <a:p>
            <a:r>
              <a:rPr lang="en-US" b="1" dirty="0"/>
              <a:t> </a:t>
            </a:r>
          </a:p>
          <a:p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1  0  0  0  0  0  0  0  0  0  0  0  0  0  0  1  0  0  0  0  0  0  0  0  0  0  0  0  0  0  0  1</a:t>
            </a:r>
          </a:p>
        </p:txBody>
      </p:sp>
      <p:cxnSp>
        <p:nvCxnSpPr>
          <p:cNvPr id="3144" name="Straight Arrow Connector 3143"/>
          <p:cNvCxnSpPr/>
          <p:nvPr/>
        </p:nvCxnSpPr>
        <p:spPr>
          <a:xfrm>
            <a:off x="2176060" y="1914435"/>
            <a:ext cx="8058901" cy="0"/>
          </a:xfrm>
          <a:prstGeom prst="straightConnector1">
            <a:avLst/>
          </a:prstGeom>
          <a:ln>
            <a:prstDash val="dash"/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48" name="TextBox 3147"/>
          <p:cNvSpPr txBox="1"/>
          <p:nvPr/>
        </p:nvSpPr>
        <p:spPr>
          <a:xfrm>
            <a:off x="5606250" y="1600200"/>
            <a:ext cx="74251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32 bits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71860" y="1992868"/>
            <a:ext cx="4379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771860" y="2262832"/>
            <a:ext cx="4379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754929" y="2819400"/>
            <a:ext cx="4379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91311" y="3505200"/>
            <a:ext cx="20370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Bit-wise Logic </a:t>
            </a:r>
            <a:r>
              <a:rPr lang="en-US" dirty="0">
                <a:solidFill>
                  <a:srgbClr val="FF0000"/>
                </a:solidFill>
              </a:rPr>
              <a:t>AND</a:t>
            </a:r>
          </a:p>
        </p:txBody>
      </p:sp>
    </p:spTree>
    <p:extLst>
      <p:ext uri="{BB962C8B-B14F-4D97-AF65-F5344CB8AC3E}">
        <p14:creationId xmlns:p14="http://schemas.microsoft.com/office/powerpoint/2010/main" val="3106604463"/>
      </p:ext>
    </p:extLst>
  </p:cSld>
  <p:clrMapOvr>
    <a:masterClrMapping/>
  </p:clrMapOvr>
  <p:transition/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06C697-E885-42AE-AEF7-1154D8176997}" type="slidenum">
              <a:rPr lang="en-US" altLang="zh-TW"/>
              <a:pPr/>
              <a:t>29</a:t>
            </a:fld>
            <a:endParaRPr lang="en-US" altLang="zh-TW"/>
          </a:p>
        </p:txBody>
      </p:sp>
      <p:sp>
        <p:nvSpPr>
          <p:cNvPr id="788482" name="Rectangle 2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zh-TW" dirty="0"/>
              <a:t>Example: </a:t>
            </a:r>
            <a:r>
              <a:rPr lang="en-US" altLang="zh-TW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ORR r2, r0, r1</a:t>
            </a:r>
            <a:endParaRPr lang="zh-TW" altLang="en-US" dirty="0">
              <a:solidFill>
                <a:srgbClr val="FF000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cxnSp>
        <p:nvCxnSpPr>
          <p:cNvPr id="60" name="Straight Connector 59"/>
          <p:cNvCxnSpPr/>
          <p:nvPr/>
        </p:nvCxnSpPr>
        <p:spPr>
          <a:xfrm>
            <a:off x="1950685" y="2752635"/>
            <a:ext cx="8339541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Straight Connector 61"/>
          <p:cNvCxnSpPr/>
          <p:nvPr/>
        </p:nvCxnSpPr>
        <p:spPr>
          <a:xfrm>
            <a:off x="10238185" y="1743165"/>
            <a:ext cx="0" cy="295364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36" name="Straight Connector 3135"/>
          <p:cNvCxnSpPr/>
          <p:nvPr/>
        </p:nvCxnSpPr>
        <p:spPr>
          <a:xfrm>
            <a:off x="2179284" y="1743166"/>
            <a:ext cx="0" cy="314235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40" name="TextBox 3139"/>
          <p:cNvSpPr txBox="1"/>
          <p:nvPr/>
        </p:nvSpPr>
        <p:spPr>
          <a:xfrm>
            <a:off x="2141842" y="2008538"/>
            <a:ext cx="8263801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1  1  0  1  0  1  0  1  0  1  0  1  0  1  0  1  0  1  0  1  0  1  0  1  0  1  0  1  0  1  0  1</a:t>
            </a:r>
          </a:p>
          <a:p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1  0  1  0  1  0  1  0  1  0  1  0  1  0  1  1  1  0  1  0  1  0  1  0  1  0  1  0  1  0  1  1</a:t>
            </a:r>
          </a:p>
          <a:p>
            <a:r>
              <a:rPr lang="en-US" b="1" dirty="0"/>
              <a:t> </a:t>
            </a:r>
          </a:p>
          <a:p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1  1  1  1  1  1  1  1  1  1  1  1  1  1  1  1  1  1  1  1  1  1  1  1  1  1  1  1  1  1  1  1</a:t>
            </a:r>
          </a:p>
        </p:txBody>
      </p:sp>
      <p:cxnSp>
        <p:nvCxnSpPr>
          <p:cNvPr id="3144" name="Straight Arrow Connector 3143"/>
          <p:cNvCxnSpPr/>
          <p:nvPr/>
        </p:nvCxnSpPr>
        <p:spPr>
          <a:xfrm>
            <a:off x="2179285" y="1914435"/>
            <a:ext cx="8058901" cy="0"/>
          </a:xfrm>
          <a:prstGeom prst="straightConnector1">
            <a:avLst/>
          </a:prstGeom>
          <a:ln>
            <a:prstDash val="dash"/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48" name="TextBox 3147"/>
          <p:cNvSpPr txBox="1"/>
          <p:nvPr/>
        </p:nvSpPr>
        <p:spPr>
          <a:xfrm>
            <a:off x="5609475" y="1600200"/>
            <a:ext cx="74251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32 bits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45731" y="2008537"/>
            <a:ext cx="4379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845731" y="2286000"/>
            <a:ext cx="4379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28800" y="2814137"/>
            <a:ext cx="4379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94537" y="3505200"/>
            <a:ext cx="18838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Bit-wise Logic </a:t>
            </a:r>
            <a:r>
              <a:rPr lang="en-US" dirty="0">
                <a:solidFill>
                  <a:srgbClr val="FF0000"/>
                </a:solidFill>
              </a:rPr>
              <a:t>OR</a:t>
            </a:r>
          </a:p>
        </p:txBody>
      </p:sp>
    </p:spTree>
    <p:extLst>
      <p:ext uri="{BB962C8B-B14F-4D97-AF65-F5344CB8AC3E}">
        <p14:creationId xmlns:p14="http://schemas.microsoft.com/office/powerpoint/2010/main" val="3646693943"/>
      </p:ext>
    </p:extLst>
  </p:cSld>
  <p:clrMapOvr>
    <a:masterClrMapping/>
  </p:clrMapOvr>
  <p:transition/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06C697-E885-42AE-AEF7-1154D8176997}" type="slidenum">
              <a:rPr lang="en-US" altLang="zh-TW"/>
              <a:pPr/>
              <a:t>30</a:t>
            </a:fld>
            <a:endParaRPr lang="en-US" altLang="zh-TW"/>
          </a:p>
        </p:txBody>
      </p:sp>
      <p:sp>
        <p:nvSpPr>
          <p:cNvPr id="788482" name="Rectangle 2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zh-TW" dirty="0"/>
              <a:t>Example: </a:t>
            </a:r>
            <a:r>
              <a:rPr lang="en-US" altLang="zh-TW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BIC r2, r0, r1</a:t>
            </a:r>
            <a:endParaRPr lang="zh-TW" altLang="en-US" dirty="0">
              <a:solidFill>
                <a:srgbClr val="FF000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cxnSp>
        <p:nvCxnSpPr>
          <p:cNvPr id="60" name="Straight Connector 59"/>
          <p:cNvCxnSpPr/>
          <p:nvPr/>
        </p:nvCxnSpPr>
        <p:spPr>
          <a:xfrm>
            <a:off x="2188139" y="4982570"/>
            <a:ext cx="8339541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40" name="TextBox 3139"/>
          <p:cNvSpPr txBox="1"/>
          <p:nvPr/>
        </p:nvSpPr>
        <p:spPr>
          <a:xfrm>
            <a:off x="2379296" y="4238473"/>
            <a:ext cx="8212505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1  1  1  1  1  1  1  1  1  1  1  1  1  1  1  1  1  1  1  1  1  1  1  1  1  1  1  1  1  1  1  1</a:t>
            </a:r>
          </a:p>
          <a:p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1  1  1  1  1  1  1  1  1  1  1  1  1  1  1  1  1  1  1  1  1  1  1  1  1  1  1  1  0  0  0  0</a:t>
            </a:r>
          </a:p>
          <a:p>
            <a:r>
              <a:rPr lang="en-US" b="1" dirty="0"/>
              <a:t> </a:t>
            </a:r>
          </a:p>
          <a:p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1  1  1  1  1  1  1  1  1  1  1  1  1  1  1  1  1  1  1  1  1  1  1  1  1  1  1  1  0  0  0  0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46946" y="4199467"/>
            <a:ext cx="4379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" y="4515935"/>
            <a:ext cx="14478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NOT r1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981200" y="5044072"/>
            <a:ext cx="4379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291961" y="1307068"/>
            <a:ext cx="102143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Bit Clear</a:t>
            </a:r>
            <a:endParaRPr lang="en-US" dirty="0">
              <a:solidFill>
                <a:srgbClr val="FF0000"/>
              </a:solidFill>
            </a:endParaRPr>
          </a:p>
        </p:txBody>
      </p:sp>
      <p:sp>
        <p:nvSpPr>
          <p:cNvPr id="2" name="Rectangle 1"/>
          <p:cNvSpPr/>
          <p:nvPr/>
        </p:nvSpPr>
        <p:spPr>
          <a:xfrm>
            <a:off x="4697245" y="1717034"/>
            <a:ext cx="2210862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r2 = r0 &amp; NOT r1</a:t>
            </a:r>
          </a:p>
        </p:txBody>
      </p:sp>
      <p:sp>
        <p:nvSpPr>
          <p:cNvPr id="3" name="Rectangle 2"/>
          <p:cNvSpPr/>
          <p:nvPr/>
        </p:nvSpPr>
        <p:spPr>
          <a:xfrm>
            <a:off x="2402300" y="2711398"/>
            <a:ext cx="8570500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0  0  0  0  0  0  0  0  0  0  0  0  0  0  0  0  0  0  0  0  0  0  0  0  0  0  0  0  1  1  1  1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057400" y="2693744"/>
            <a:ext cx="4379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r1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402300" y="3080730"/>
            <a:ext cx="8570500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1  1  1  1  1  1  1  1  1  1  1  1  1  1  1  1  1  1  1  1  1  1  1  1  1  1  1  1  0  0  0  0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24000" y="3059668"/>
            <a:ext cx="158011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NOT r1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776005" y="2297668"/>
            <a:ext cx="82426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Step 1: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76168" y="3810000"/>
            <a:ext cx="82426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Step 2:</a:t>
            </a:r>
          </a:p>
        </p:txBody>
      </p:sp>
    </p:spTree>
    <p:extLst>
      <p:ext uri="{BB962C8B-B14F-4D97-AF65-F5344CB8AC3E}">
        <p14:creationId xmlns:p14="http://schemas.microsoft.com/office/powerpoint/2010/main" val="2844324683"/>
      </p:ext>
    </p:extLst>
  </p:cSld>
  <p:clrMapOvr>
    <a:masterClrMapping/>
  </p:clrMapOvr>
  <p:transition/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571338-9B12-4444-96ED-A487C6365C40}" type="slidenum">
              <a:rPr lang="en-US" altLang="zh-TW"/>
              <a:pPr/>
              <a:t>31</a:t>
            </a:fld>
            <a:endParaRPr lang="en-US" altLang="zh-TW"/>
          </a:p>
        </p:txBody>
      </p:sp>
      <p:sp>
        <p:nvSpPr>
          <p:cNvPr id="78950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Example: </a:t>
            </a:r>
            <a:r>
              <a:rPr lang="en-US" altLang="zh-TW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BFC</a:t>
            </a:r>
            <a:r>
              <a:rPr lang="en-US" altLang="zh-TW" dirty="0"/>
              <a:t> and </a:t>
            </a:r>
            <a:r>
              <a:rPr lang="en-US" altLang="zh-TW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BFI</a:t>
            </a:r>
            <a:endParaRPr lang="zh-TW" altLang="en-US" dirty="0">
              <a:solidFill>
                <a:srgbClr val="FF000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789507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685800" y="1295400"/>
            <a:ext cx="7696200" cy="4632960"/>
          </a:xfrm>
        </p:spPr>
        <p:txBody>
          <a:bodyPr>
            <a:normAutofit lnSpcReduction="10000"/>
          </a:bodyPr>
          <a:lstStyle/>
          <a:p>
            <a:pPr>
              <a:lnSpc>
                <a:spcPct val="90000"/>
              </a:lnSpc>
            </a:pPr>
            <a:r>
              <a:rPr lang="en-US" altLang="zh-TW" sz="2800" dirty="0"/>
              <a:t>Bit Field Clear (</a:t>
            </a:r>
            <a:r>
              <a:rPr lang="en-US" altLang="zh-TW" sz="2800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BFC</a:t>
            </a:r>
            <a:r>
              <a:rPr lang="en-US" altLang="zh-TW" sz="2800" dirty="0"/>
              <a:t>) and Bit Field Insert (</a:t>
            </a:r>
            <a:r>
              <a:rPr lang="en-US" altLang="zh-TW" sz="2800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BFI</a:t>
            </a:r>
            <a:r>
              <a:rPr lang="en-US" altLang="zh-TW" sz="2800" dirty="0"/>
              <a:t>).</a:t>
            </a:r>
          </a:p>
          <a:p>
            <a:pPr>
              <a:lnSpc>
                <a:spcPct val="90000"/>
              </a:lnSpc>
            </a:pPr>
            <a:r>
              <a:rPr lang="en-US" altLang="zh-TW" sz="2800" dirty="0"/>
              <a:t>Syntax</a:t>
            </a:r>
          </a:p>
          <a:p>
            <a:pPr lvl="1">
              <a:lnSpc>
                <a:spcPct val="90000"/>
              </a:lnSpc>
            </a:pPr>
            <a:r>
              <a:rPr lang="en-US" altLang="zh-TW" sz="2500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BFC</a:t>
            </a:r>
            <a:r>
              <a:rPr lang="en-US" altLang="zh-TW" sz="2500" dirty="0">
                <a:latin typeface="Consolas" panose="020B0609020204030204" pitchFamily="49" charset="0"/>
                <a:cs typeface="Consolas" panose="020B0609020204030204" pitchFamily="49" charset="0"/>
              </a:rPr>
              <a:t> Rd, #</a:t>
            </a:r>
            <a:r>
              <a:rPr lang="en-US" altLang="zh-TW" sz="2500" dirty="0" err="1">
                <a:latin typeface="Consolas" panose="020B0609020204030204" pitchFamily="49" charset="0"/>
                <a:cs typeface="Consolas" panose="020B0609020204030204" pitchFamily="49" charset="0"/>
              </a:rPr>
              <a:t>lsb</a:t>
            </a:r>
            <a:r>
              <a:rPr lang="en-US" altLang="zh-TW" sz="2500" dirty="0">
                <a:latin typeface="Consolas" panose="020B0609020204030204" pitchFamily="49" charset="0"/>
                <a:cs typeface="Consolas" panose="020B0609020204030204" pitchFamily="49" charset="0"/>
              </a:rPr>
              <a:t>, #width</a:t>
            </a:r>
            <a:endParaRPr lang="en-US" altLang="zh-TW" sz="28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1">
              <a:lnSpc>
                <a:spcPct val="90000"/>
              </a:lnSpc>
            </a:pPr>
            <a:r>
              <a:rPr lang="en-US" altLang="zh-TW" sz="2500" b="1" dirty="0" err="1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BFI</a:t>
            </a:r>
            <a:r>
              <a:rPr lang="en-US" altLang="zh-TW" sz="2500" dirty="0">
                <a:latin typeface="Consolas" panose="020B0609020204030204" pitchFamily="49" charset="0"/>
                <a:cs typeface="Consolas" panose="020B0609020204030204" pitchFamily="49" charset="0"/>
              </a:rPr>
              <a:t> Rd, Rn, #</a:t>
            </a:r>
            <a:r>
              <a:rPr lang="en-US" altLang="zh-TW" sz="2500" dirty="0" err="1">
                <a:latin typeface="Consolas" panose="020B0609020204030204" pitchFamily="49" charset="0"/>
                <a:cs typeface="Consolas" panose="020B0609020204030204" pitchFamily="49" charset="0"/>
              </a:rPr>
              <a:t>lsb</a:t>
            </a:r>
            <a:r>
              <a:rPr lang="en-US" altLang="zh-TW" sz="2500" dirty="0">
                <a:latin typeface="Consolas" panose="020B0609020204030204" pitchFamily="49" charset="0"/>
                <a:cs typeface="Consolas" panose="020B0609020204030204" pitchFamily="49" charset="0"/>
              </a:rPr>
              <a:t>, #width</a:t>
            </a:r>
          </a:p>
          <a:p>
            <a:pPr lvl="1">
              <a:lnSpc>
                <a:spcPct val="90000"/>
              </a:lnSpc>
            </a:pPr>
            <a:endParaRPr lang="en-US" altLang="zh-TW" sz="2500" dirty="0"/>
          </a:p>
          <a:p>
            <a:pPr>
              <a:lnSpc>
                <a:spcPct val="90000"/>
              </a:lnSpc>
            </a:pPr>
            <a:r>
              <a:rPr lang="en-US" altLang="zh-TW" sz="2800" dirty="0"/>
              <a:t>Examples:  </a:t>
            </a:r>
          </a:p>
          <a:p>
            <a:pPr marL="274320" lvl="1" indent="0">
              <a:lnSpc>
                <a:spcPct val="90000"/>
              </a:lnSpc>
              <a:buNone/>
            </a:pPr>
            <a:r>
              <a:rPr lang="en-US" altLang="zh-TW" sz="2500" dirty="0" err="1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BFC</a:t>
            </a:r>
            <a:r>
              <a:rPr lang="en-US" altLang="zh-TW" sz="25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altLang="zh-TW" sz="2500" dirty="0" err="1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R4</a:t>
            </a:r>
            <a:r>
              <a:rPr lang="en-US" altLang="zh-TW" sz="25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, #8, #12       </a:t>
            </a:r>
          </a:p>
          <a:p>
            <a:pPr marL="274320" lvl="1" indent="0">
              <a:lnSpc>
                <a:spcPct val="90000"/>
              </a:lnSpc>
              <a:buNone/>
            </a:pPr>
            <a:r>
              <a:rPr lang="en-US" altLang="zh-TW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; Clear bit 8 to bit 19 (a total of 12 bits) of R4</a:t>
            </a:r>
          </a:p>
          <a:p>
            <a:pPr marL="274320" lvl="1" indent="0">
              <a:lnSpc>
                <a:spcPct val="90000"/>
              </a:lnSpc>
              <a:buNone/>
            </a:pPr>
            <a:endParaRPr lang="en-US" altLang="zh-TW" sz="2500" dirty="0"/>
          </a:p>
          <a:p>
            <a:pPr marL="274320" lvl="1" indent="0">
              <a:lnSpc>
                <a:spcPct val="90000"/>
              </a:lnSpc>
              <a:buNone/>
            </a:pPr>
            <a:r>
              <a:rPr lang="en-US" altLang="zh-TW" sz="2500" dirty="0" err="1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BFI</a:t>
            </a:r>
            <a:r>
              <a:rPr lang="en-US" altLang="zh-TW" sz="25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altLang="zh-TW" sz="2500" dirty="0" err="1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R9</a:t>
            </a:r>
            <a:r>
              <a:rPr lang="en-US" altLang="zh-TW" sz="25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, R2, #8, #12   </a:t>
            </a:r>
          </a:p>
          <a:p>
            <a:pPr marL="274320" lvl="1" indent="0">
              <a:lnSpc>
                <a:spcPct val="90000"/>
              </a:lnSpc>
              <a:buNone/>
            </a:pPr>
            <a:r>
              <a:rPr lang="en-US" altLang="zh-TW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; Replace bit 8 to bit 19 (12 bits) of R9 </a:t>
            </a:r>
          </a:p>
          <a:p>
            <a:pPr marL="274320" lvl="1" indent="0">
              <a:lnSpc>
                <a:spcPct val="90000"/>
              </a:lnSpc>
              <a:buNone/>
            </a:pPr>
            <a:r>
              <a:rPr lang="en-US" altLang="zh-TW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; with bit 0 to bit 11 from R2.</a:t>
            </a:r>
            <a:endParaRPr lang="en-US" altLang="zh-TW" sz="2000" b="1" dirty="0">
              <a:solidFill>
                <a:schemeClr val="bg1">
                  <a:lumMod val="50000"/>
                </a:schemeClr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84958220"/>
      </p:ext>
    </p:extLst>
  </p:cSld>
  <p:clrMapOvr>
    <a:masterClrMapping/>
  </p:clrMapOvr>
  <p:transition/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3400" y="94229"/>
            <a:ext cx="11125200" cy="990600"/>
          </a:xfrm>
        </p:spPr>
        <p:txBody>
          <a:bodyPr>
            <a:normAutofit/>
          </a:bodyPr>
          <a:lstStyle/>
          <a:p>
            <a:r>
              <a:rPr lang="en-US" sz="2800" dirty="0">
                <a:ea typeface="DejaVu Sans" charset="0"/>
                <a:cs typeface="DejaVu Sans" charset="0"/>
              </a:rPr>
              <a:t>Bit Operators </a:t>
            </a:r>
            <a:r>
              <a:rPr lang="en-US" sz="2800" dirty="0">
                <a:solidFill>
                  <a:schemeClr val="tx1"/>
                </a:solidFill>
                <a:ea typeface="DejaVu Sans" charset="0"/>
                <a:cs typeface="DejaVu Sans" charset="0"/>
              </a:rPr>
              <a:t>(</a:t>
            </a:r>
            <a:r>
              <a:rPr lang="en-US" sz="2800" dirty="0">
                <a:solidFill>
                  <a:srgbClr val="C00000"/>
                </a:solidFill>
                <a:ea typeface="DejaVu Sans" charset="0"/>
                <a:cs typeface="DejaVu Sans" charset="0"/>
              </a:rPr>
              <a:t>&amp;</a:t>
            </a:r>
            <a:r>
              <a:rPr lang="en-US" sz="2800" dirty="0">
                <a:solidFill>
                  <a:schemeClr val="tx1"/>
                </a:solidFill>
                <a:ea typeface="DejaVu Sans" charset="0"/>
                <a:cs typeface="DejaVu Sans" charset="0"/>
              </a:rPr>
              <a:t>,</a:t>
            </a:r>
            <a:r>
              <a:rPr lang="en-US" sz="2800" dirty="0">
                <a:solidFill>
                  <a:srgbClr val="C00000"/>
                </a:solidFill>
                <a:ea typeface="DejaVu Sans" charset="0"/>
                <a:cs typeface="DejaVu Sans" charset="0"/>
              </a:rPr>
              <a:t> |</a:t>
            </a:r>
            <a:r>
              <a:rPr lang="en-US" sz="2800" dirty="0">
                <a:solidFill>
                  <a:schemeClr val="tx1"/>
                </a:solidFill>
                <a:ea typeface="DejaVu Sans" charset="0"/>
                <a:cs typeface="DejaVu Sans" charset="0"/>
              </a:rPr>
              <a:t>, </a:t>
            </a:r>
            <a:r>
              <a:rPr lang="en-US" sz="2800" dirty="0">
                <a:solidFill>
                  <a:srgbClr val="C00000"/>
                </a:solidFill>
                <a:ea typeface="DejaVu Sans" charset="0"/>
                <a:cs typeface="DejaVu Sans" charset="0"/>
              </a:rPr>
              <a:t>~</a:t>
            </a:r>
            <a:r>
              <a:rPr lang="en-US" sz="2800" dirty="0">
                <a:solidFill>
                  <a:schemeClr val="tx1"/>
                </a:solidFill>
                <a:ea typeface="DejaVu Sans" charset="0"/>
                <a:cs typeface="DejaVu Sans" charset="0"/>
              </a:rPr>
              <a:t>)</a:t>
            </a:r>
            <a:r>
              <a:rPr lang="en-US" sz="2800" dirty="0">
                <a:solidFill>
                  <a:srgbClr val="C00000"/>
                </a:solidFill>
                <a:ea typeface="DejaVu Sans" charset="0"/>
                <a:cs typeface="DejaVu Sans" charset="0"/>
              </a:rPr>
              <a:t> </a:t>
            </a:r>
            <a:r>
              <a:rPr lang="en-US" sz="2800" i="1" dirty="0">
                <a:solidFill>
                  <a:schemeClr val="tx1"/>
                </a:solidFill>
                <a:ea typeface="DejaVu Sans" charset="0"/>
                <a:cs typeface="DejaVu Sans" charset="0"/>
              </a:rPr>
              <a:t>vs  </a:t>
            </a:r>
            <a:r>
              <a:rPr lang="en-US" sz="2800" dirty="0">
                <a:ea typeface="DejaVu Sans" charset="0"/>
                <a:cs typeface="DejaVu Sans" charset="0"/>
              </a:rPr>
              <a:t>Boolean Operators </a:t>
            </a:r>
            <a:r>
              <a:rPr lang="en-US" sz="2800" dirty="0">
                <a:solidFill>
                  <a:schemeClr val="tx1"/>
                </a:solidFill>
                <a:ea typeface="DejaVu Sans" charset="0"/>
                <a:cs typeface="DejaVu Sans" charset="0"/>
              </a:rPr>
              <a:t>(</a:t>
            </a:r>
            <a:r>
              <a:rPr lang="en-US" sz="2800" b="1" dirty="0">
                <a:solidFill>
                  <a:srgbClr val="0066FF"/>
                </a:solidFill>
                <a:ea typeface="DejaVu Sans" charset="0"/>
                <a:cs typeface="DejaVu Sans" charset="0"/>
              </a:rPr>
              <a:t>&amp;&amp;</a:t>
            </a:r>
            <a:r>
              <a:rPr lang="en-US" sz="2800" dirty="0">
                <a:solidFill>
                  <a:srgbClr val="000000"/>
                </a:solidFill>
                <a:ea typeface="DejaVu Sans" charset="0"/>
                <a:cs typeface="DejaVu Sans" charset="0"/>
              </a:rPr>
              <a:t> ,</a:t>
            </a:r>
            <a:r>
              <a:rPr lang="en-US" sz="2800" b="1" dirty="0">
                <a:solidFill>
                  <a:srgbClr val="0066FF"/>
                </a:solidFill>
                <a:ea typeface="DejaVu Sans" charset="0"/>
                <a:cs typeface="DejaVu Sans" charset="0"/>
              </a:rPr>
              <a:t>||</a:t>
            </a:r>
            <a:r>
              <a:rPr lang="en-US" sz="2800" dirty="0">
                <a:solidFill>
                  <a:schemeClr val="tx1"/>
                </a:solidFill>
                <a:ea typeface="DejaVu Sans" charset="0"/>
                <a:cs typeface="DejaVu Sans" charset="0"/>
              </a:rPr>
              <a:t>, </a:t>
            </a:r>
            <a:r>
              <a:rPr lang="en-US" sz="2800" b="1" dirty="0">
                <a:solidFill>
                  <a:srgbClr val="0066FF"/>
                </a:solidFill>
                <a:ea typeface="DejaVu Sans" charset="0"/>
                <a:cs typeface="DejaVu Sans" charset="0"/>
              </a:rPr>
              <a:t>!</a:t>
            </a:r>
            <a:r>
              <a:rPr lang="en-US" sz="2800" dirty="0">
                <a:solidFill>
                  <a:srgbClr val="000000"/>
                </a:solidFill>
                <a:ea typeface="DejaVu Sans" charset="0"/>
                <a:cs typeface="DejaVu Sans" charset="0"/>
              </a:rPr>
              <a:t>)</a:t>
            </a:r>
            <a:endParaRPr lang="en-US" sz="2800" i="1" dirty="0">
              <a:solidFill>
                <a:schemeClr val="tx1"/>
              </a:solidFill>
            </a:endParaRP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32</a:t>
            </a:fld>
            <a:endParaRPr kumimoji="0"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quarter" idx="1"/>
          </p:nvPr>
        </p:nvSpPr>
        <p:spPr>
          <a:xfrm>
            <a:off x="762000" y="3581400"/>
            <a:ext cx="9982200" cy="2499360"/>
          </a:xfrm>
        </p:spPr>
        <p:txBody>
          <a:bodyPr>
            <a:normAutofit/>
          </a:bodyPr>
          <a:lstStyle/>
          <a:p>
            <a:pPr lvl="0"/>
            <a:r>
              <a:rPr lang="en-US" sz="2400" dirty="0"/>
              <a:t>The Boolean operators perform word-wide operations, not bitwise. </a:t>
            </a:r>
          </a:p>
          <a:p>
            <a:pPr lvl="0"/>
            <a:r>
              <a:rPr lang="en-US" sz="2400" dirty="0"/>
              <a:t>For example, </a:t>
            </a:r>
          </a:p>
          <a:p>
            <a:pPr lvl="1"/>
            <a:r>
              <a:rPr lang="en-US" sz="1800" dirty="0">
                <a:cs typeface="Consolas" panose="020B0609020204030204" pitchFamily="49" charset="0"/>
              </a:rPr>
              <a:t>“0x10 &amp; 0x01” = 0x00,  but  “0x10 &amp;&amp; 0x01” = 0x01. (true &amp;&amp; true = true, any non-zero value is logical true)</a:t>
            </a:r>
          </a:p>
          <a:p>
            <a:pPr lvl="1"/>
            <a:r>
              <a:rPr lang="en-US" sz="1800" dirty="0">
                <a:cs typeface="Consolas" panose="020B0609020204030204" pitchFamily="49" charset="0"/>
              </a:rPr>
              <a:t>“~0x01” = 0xFFFFFFFE,  but  “!0x01” = 0x00. </a:t>
            </a:r>
            <a:r>
              <a:rPr lang="en-US" sz="1800" dirty="0"/>
              <a:t>(!true = false)</a:t>
            </a:r>
          </a:p>
          <a:p>
            <a:pPr lvl="1"/>
            <a:endParaRPr lang="en-US" sz="1600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97428375"/>
              </p:ext>
            </p:extLst>
          </p:nvPr>
        </p:nvGraphicFramePr>
        <p:xfrm>
          <a:off x="2438400" y="1600200"/>
          <a:ext cx="7010400" cy="137160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752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52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52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752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2400" b="1" dirty="0">
                          <a:solidFill>
                            <a:srgbClr val="C00000"/>
                          </a:solidFill>
                        </a:rPr>
                        <a:t>A &amp;&amp; B</a:t>
                      </a:r>
                      <a:r>
                        <a:rPr lang="en-US" sz="2400" dirty="0">
                          <a:solidFill>
                            <a:srgbClr val="C00000"/>
                          </a:solidFill>
                        </a:rPr>
                        <a:t> </a:t>
                      </a:r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400" dirty="0"/>
                        <a:t>Boolean and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400" b="1" dirty="0">
                          <a:solidFill>
                            <a:srgbClr val="C00000"/>
                          </a:solidFill>
                        </a:rPr>
                        <a:t>A &amp; B</a:t>
                      </a:r>
                      <a:r>
                        <a:rPr lang="en-US" sz="2400" dirty="0">
                          <a:solidFill>
                            <a:srgbClr val="C00000"/>
                          </a:solidFill>
                        </a:rPr>
                        <a:t> </a:t>
                      </a:r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400" dirty="0"/>
                        <a:t>Bitwise</a:t>
                      </a:r>
                      <a:r>
                        <a:rPr lang="en-US" sz="2400" baseline="0" dirty="0"/>
                        <a:t> </a:t>
                      </a:r>
                      <a:r>
                        <a:rPr lang="en-US" sz="2400" dirty="0"/>
                        <a:t>and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400" b="1" dirty="0">
                          <a:solidFill>
                            <a:srgbClr val="C00000"/>
                          </a:solidFill>
                        </a:rPr>
                        <a:t>A||B</a:t>
                      </a:r>
                      <a:r>
                        <a:rPr lang="en-US" sz="2400" dirty="0">
                          <a:solidFill>
                            <a:srgbClr val="C00000"/>
                          </a:solidFill>
                        </a:rPr>
                        <a:t> </a:t>
                      </a:r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400" dirty="0"/>
                        <a:t>Boolean 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400" b="1" dirty="0" err="1">
                          <a:solidFill>
                            <a:srgbClr val="C00000"/>
                          </a:solidFill>
                        </a:rPr>
                        <a:t>A|B</a:t>
                      </a:r>
                      <a:r>
                        <a:rPr lang="en-US" sz="2400" dirty="0">
                          <a:solidFill>
                            <a:srgbClr val="C00000"/>
                          </a:solidFill>
                        </a:rPr>
                        <a:t> </a:t>
                      </a:r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400" dirty="0"/>
                        <a:t>Bitwise</a:t>
                      </a:r>
                      <a:r>
                        <a:rPr lang="en-US" sz="2400" baseline="0" dirty="0"/>
                        <a:t> </a:t>
                      </a:r>
                      <a:r>
                        <a:rPr lang="en-US" sz="2400" dirty="0"/>
                        <a:t>or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400" b="1" dirty="0">
                          <a:solidFill>
                            <a:srgbClr val="C00000"/>
                          </a:solidFill>
                        </a:rPr>
                        <a:t>!B </a:t>
                      </a:r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400" dirty="0"/>
                        <a:t>Boolean not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400" b="1" dirty="0">
                          <a:solidFill>
                            <a:srgbClr val="C00000"/>
                          </a:solidFill>
                        </a:rPr>
                        <a:t>~B </a:t>
                      </a:r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400" dirty="0"/>
                        <a:t>Bitwise</a:t>
                      </a:r>
                      <a:r>
                        <a:rPr lang="en-US" sz="2400" baseline="0" dirty="0"/>
                        <a:t> </a:t>
                      </a:r>
                      <a:r>
                        <a:rPr lang="en-US" sz="2400" dirty="0"/>
                        <a:t>not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785807384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Saturating Instruction: </a:t>
            </a:r>
            <a:r>
              <a:rPr lang="en-US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SSAT</a:t>
            </a:r>
            <a:r>
              <a:rPr lang="en-US" dirty="0"/>
              <a:t> and </a:t>
            </a:r>
            <a:r>
              <a:rPr lang="en-US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USAT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sz="quarter" idx="1"/>
              </p:nvPr>
            </p:nvSpPr>
            <p:spPr>
              <a:xfrm>
                <a:off x="609600" y="1219200"/>
                <a:ext cx="8839200" cy="4937760"/>
              </a:xfrm>
            </p:spPr>
            <p:txBody>
              <a:bodyPr>
                <a:normAutofit fontScale="92500" lnSpcReduction="20000"/>
              </a:bodyPr>
              <a:lstStyle/>
              <a:p>
                <a:r>
                  <a:rPr lang="en-US" dirty="0"/>
                  <a:t>Syntax: </a:t>
                </a:r>
              </a:p>
              <a:p>
                <a:pPr lvl="1"/>
                <a:r>
                  <a:rPr lang="en-US" dirty="0"/>
                  <a:t>op{</a:t>
                </a:r>
                <a:r>
                  <a:rPr lang="en-US" dirty="0" err="1"/>
                  <a:t>cond</a:t>
                </a:r>
                <a:r>
                  <a:rPr lang="en-US" dirty="0"/>
                  <a:t>} Rd, </a:t>
                </a:r>
                <a:r>
                  <a:rPr lang="en-US" dirty="0">
                    <a:solidFill>
                      <a:srgbClr val="FF0000"/>
                    </a:solidFill>
                  </a:rPr>
                  <a:t>#n</a:t>
                </a:r>
                <a:r>
                  <a:rPr lang="en-US" dirty="0"/>
                  <a:t>, Rm{, shift}</a:t>
                </a:r>
              </a:p>
              <a:p>
                <a:r>
                  <a:rPr lang="en-US" dirty="0">
                    <a:solidFill>
                      <a:srgbClr val="FF0000"/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SSAT</a:t>
                </a:r>
                <a:r>
                  <a:rPr lang="en-US" dirty="0"/>
                  <a:t> saturates a signed value to the signed range -2</a:t>
                </a:r>
                <a:r>
                  <a:rPr lang="en-US" baseline="30000" dirty="0"/>
                  <a:t>n-1</a:t>
                </a:r>
                <a:r>
                  <a:rPr lang="en-US" dirty="0"/>
                  <a:t> ≤ x ≤ 2</a:t>
                </a:r>
                <a:r>
                  <a:rPr lang="en-US" baseline="30000" dirty="0"/>
                  <a:t>n-1</a:t>
                </a:r>
                <a:r>
                  <a:rPr lang="en-US" dirty="0"/>
                  <a:t> -1.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/>
                        </a:rPr>
                        <m:t>𝑆𝐴𝑇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/>
                            </a:rPr>
                            <m:t>𝑥</m:t>
                          </m:r>
                        </m:e>
                      </m:d>
                      <m:r>
                        <a:rPr lang="en-US" i="1">
                          <a:latin typeface="Cambria Math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p>
                                  <m:sSup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i="1">
                                        <a:latin typeface="Cambria Math"/>
                                      </a:rPr>
                                      <m:t>2</m:t>
                                    </m:r>
                                  </m:e>
                                  <m:sup>
                                    <m:r>
                                      <a:rPr lang="en-US" i="1">
                                        <a:latin typeface="Cambria Math"/>
                                      </a:rPr>
                                      <m:t>𝑛</m:t>
                                    </m:r>
                                    <m:r>
                                      <a:rPr lang="en-US" i="1">
                                        <a:latin typeface="Cambria Math"/>
                                      </a:rPr>
                                      <m:t>−</m:t>
                                    </m:r>
                                    <m:r>
                                      <a:rPr lang="en-US" i="1">
                                        <a:latin typeface="Cambria Math"/>
                                      </a:rPr>
                                      <m:t>1</m:t>
                                    </m:r>
                                  </m:sup>
                                </m:sSup>
                                <m:r>
                                  <a:rPr lang="en-US" i="1">
                                    <a:latin typeface="Cambria Math"/>
                                  </a:rPr>
                                  <m:t>−</m:t>
                                </m:r>
                                <m:r>
                                  <a:rPr lang="en-US" i="1">
                                    <a:latin typeface="Cambria Math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en-US" i="1">
                                    <a:latin typeface="Cambria Math"/>
                                  </a:rPr>
                                  <m:t>𝑖𝑓</m:t>
                                </m:r>
                                <m:r>
                                  <a:rPr lang="en-US" i="1">
                                    <a:latin typeface="Cambria Math"/>
                                  </a:rPr>
                                  <m:t> </m:t>
                                </m:r>
                                <m:r>
                                  <a:rPr lang="en-US" i="1">
                                    <a:latin typeface="Cambria Math"/>
                                  </a:rPr>
                                  <m:t>𝑥</m:t>
                                </m:r>
                                <m:r>
                                  <a:rPr lang="en-US" i="1">
                                    <a:latin typeface="Cambria Math"/>
                                  </a:rPr>
                                  <m:t>&gt;</m:t>
                                </m:r>
                                <m:sSup>
                                  <m:sSup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i="1">
                                        <a:latin typeface="Cambria Math"/>
                                      </a:rPr>
                                      <m:t>2</m:t>
                                    </m:r>
                                  </m:e>
                                  <m:sup>
                                    <m:r>
                                      <a:rPr lang="en-US" i="1">
                                        <a:latin typeface="Cambria Math"/>
                                      </a:rPr>
                                      <m:t>𝑛</m:t>
                                    </m:r>
                                    <m:r>
                                      <a:rPr lang="en-US" i="1">
                                        <a:latin typeface="Cambria Math"/>
                                      </a:rPr>
                                      <m:t>−</m:t>
                                    </m:r>
                                    <m:r>
                                      <a:rPr lang="en-US" i="1">
                                        <a:latin typeface="Cambria Math"/>
                                      </a:rPr>
                                      <m:t>1</m:t>
                                    </m:r>
                                  </m:sup>
                                </m:sSup>
                                <m:r>
                                  <a:rPr lang="en-US" i="1">
                                    <a:latin typeface="Cambria Math"/>
                                  </a:rPr>
                                  <m:t>−</m:t>
                                </m:r>
                                <m:r>
                                  <a:rPr lang="en-US" i="1">
                                    <a:latin typeface="Cambria Math"/>
                                  </a:rPr>
                                  <m:t>1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i="1">
                                    <a:latin typeface="Cambria Math"/>
                                  </a:rPr>
                                  <m:t>−</m:t>
                                </m:r>
                                <m:sSup>
                                  <m:sSup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i="1">
                                        <a:latin typeface="Cambria Math"/>
                                      </a:rPr>
                                      <m:t>2</m:t>
                                    </m:r>
                                  </m:e>
                                  <m:sup>
                                    <m:r>
                                      <a:rPr lang="en-US" i="1">
                                        <a:latin typeface="Cambria Math"/>
                                      </a:rPr>
                                      <m:t>𝑛</m:t>
                                    </m:r>
                                    <m:r>
                                      <a:rPr lang="en-US" i="1">
                                        <a:latin typeface="Cambria Math"/>
                                      </a:rPr>
                                      <m:t>−</m:t>
                                    </m:r>
                                    <m:r>
                                      <a:rPr lang="en-US" i="1">
                                        <a:latin typeface="Cambria Math"/>
                                      </a:rPr>
                                      <m:t>1</m:t>
                                    </m:r>
                                  </m:sup>
                                </m:sSup>
                              </m:e>
                              <m:e>
                                <m:r>
                                  <a:rPr lang="en-US" i="1">
                                    <a:latin typeface="Cambria Math"/>
                                  </a:rPr>
                                  <m:t>𝑖𝑓</m:t>
                                </m:r>
                                <m:r>
                                  <a:rPr lang="en-US" i="1">
                                    <a:latin typeface="Cambria Math"/>
                                  </a:rPr>
                                  <m:t> </m:t>
                                </m:r>
                                <m:r>
                                  <a:rPr lang="en-US" i="1">
                                    <a:latin typeface="Cambria Math"/>
                                  </a:rPr>
                                  <m:t>𝑥</m:t>
                                </m:r>
                                <m:r>
                                  <a:rPr lang="en-US" i="1">
                                    <a:latin typeface="Cambria Math"/>
                                  </a:rPr>
                                  <m:t>&lt;</m:t>
                                </m:r>
                                <m:sSup>
                                  <m:sSup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i="1">
                                        <a:latin typeface="Cambria Math"/>
                                      </a:rPr>
                                      <m:t>2</m:t>
                                    </m:r>
                                  </m:e>
                                  <m:sup>
                                    <m:r>
                                      <a:rPr lang="en-US" i="1">
                                        <a:latin typeface="Cambria Math"/>
                                      </a:rPr>
                                      <m:t>𝑛</m:t>
                                    </m:r>
                                    <m:r>
                                      <a:rPr lang="en-US" i="1">
                                        <a:latin typeface="Cambria Math"/>
                                      </a:rPr>
                                      <m:t>−</m:t>
                                    </m:r>
                                    <m:r>
                                      <a:rPr lang="en-US" i="1">
                                        <a:latin typeface="Cambria Math"/>
                                      </a:rPr>
                                      <m:t>1</m:t>
                                    </m:r>
                                  </m:sup>
                                </m:sSup>
                              </m:e>
                            </m:mr>
                            <m:mr>
                              <m:e>
                                <m:r>
                                  <a:rPr lang="en-US" i="1">
                                    <a:latin typeface="Cambria Math"/>
                                  </a:rPr>
                                  <m:t>𝑥</m:t>
                                </m:r>
                              </m:e>
                              <m:e>
                                <m:r>
                                  <a:rPr lang="en-US" i="1">
                                    <a:latin typeface="Cambria Math"/>
                                  </a:rPr>
                                  <m:t>𝑜𝑡</m:t>
                                </m:r>
                                <m:r>
                                  <a:rPr lang="en-US" i="1">
                                    <a:latin typeface="Cambria Math"/>
                                  </a:rPr>
                                  <m:t>h</m:t>
                                </m:r>
                                <m:r>
                                  <a:rPr lang="en-US" i="1">
                                    <a:latin typeface="Cambria Math"/>
                                  </a:rPr>
                                  <m:t>𝑒𝑟𝑤𝑖𝑠𝑒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dirty="0">
                  <a:solidFill>
                    <a:srgbClr val="FF0000"/>
                  </a:solidFill>
                </a:endParaRPr>
              </a:p>
              <a:p>
                <a:r>
                  <a:rPr lang="en-US" dirty="0" err="1">
                    <a:solidFill>
                      <a:srgbClr val="FF0000"/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USAT</a:t>
                </a:r>
                <a:r>
                  <a:rPr lang="en-US" dirty="0"/>
                  <a:t> saturates a signed value to the unsigned range 0 ≤ x ≤ 2</a:t>
                </a:r>
                <a:r>
                  <a:rPr lang="en-US" baseline="30000" dirty="0"/>
                  <a:t>n</a:t>
                </a:r>
                <a:r>
                  <a:rPr lang="en-US" dirty="0"/>
                  <a:t> - 1.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/>
                        </a:rPr>
                        <m:t>𝑈𝑆𝐴𝑇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/>
                            </a:rPr>
                            <m:t>𝑥</m:t>
                          </m:r>
                        </m:e>
                      </m:d>
                      <m:r>
                        <a:rPr lang="en-US" i="1">
                          <a:latin typeface="Cambria Math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p>
                                  <m:sSup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i="1">
                                        <a:latin typeface="Cambria Math"/>
                                      </a:rPr>
                                      <m:t>2</m:t>
                                    </m:r>
                                  </m:e>
                                  <m:sup>
                                    <m:r>
                                      <a:rPr lang="en-US" i="1">
                                        <a:latin typeface="Cambria Math"/>
                                      </a:rPr>
                                      <m:t>𝑛</m:t>
                                    </m:r>
                                  </m:sup>
                                </m:sSup>
                                <m:r>
                                  <a:rPr lang="en-US" i="1">
                                    <a:latin typeface="Cambria Math"/>
                                  </a:rPr>
                                  <m:t>−</m:t>
                                </m:r>
                                <m:r>
                                  <a:rPr lang="en-US" i="1">
                                    <a:latin typeface="Cambria Math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en-US" i="1">
                                    <a:latin typeface="Cambria Math"/>
                                  </a:rPr>
                                  <m:t>𝑖𝑓</m:t>
                                </m:r>
                                <m:r>
                                  <a:rPr lang="en-US" i="1">
                                    <a:latin typeface="Cambria Math"/>
                                  </a:rPr>
                                  <m:t> </m:t>
                                </m:r>
                                <m:r>
                                  <a:rPr lang="en-US" i="1">
                                    <a:latin typeface="Cambria Math"/>
                                  </a:rPr>
                                  <m:t>𝑥</m:t>
                                </m:r>
                                <m:r>
                                  <a:rPr lang="en-US" i="1">
                                    <a:latin typeface="Cambria Math"/>
                                  </a:rPr>
                                  <m:t>&gt;</m:t>
                                </m:r>
                                <m:sSup>
                                  <m:sSup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i="1">
                                        <a:latin typeface="Cambria Math"/>
                                      </a:rPr>
                                      <m:t>2</m:t>
                                    </m:r>
                                  </m:e>
                                  <m:sup>
                                    <m:r>
                                      <a:rPr lang="en-US" i="1">
                                        <a:latin typeface="Cambria Math"/>
                                      </a:rPr>
                                      <m:t>𝑛</m:t>
                                    </m:r>
                                  </m:sup>
                                </m:sSup>
                                <m:r>
                                  <a:rPr lang="en-US" i="1">
                                    <a:latin typeface="Cambria Math"/>
                                  </a:rPr>
                                  <m:t>−</m:t>
                                </m:r>
                                <m:r>
                                  <a:rPr lang="en-US" i="1">
                                    <a:latin typeface="Cambria Math"/>
                                  </a:rPr>
                                  <m:t>1</m:t>
                                </m:r>
                                <m:r>
                                  <a:rPr lang="en-US" i="1">
                                    <a:latin typeface="Cambria Math"/>
                                  </a:rPr>
                                  <m:t> 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i="1">
                                    <a:latin typeface="Cambria Math"/>
                                  </a:rPr>
                                  <m:t>𝑥</m:t>
                                </m:r>
                              </m:e>
                              <m:e>
                                <m:r>
                                  <a:rPr lang="en-US" i="1">
                                    <a:latin typeface="Cambria Math"/>
                                  </a:rPr>
                                  <m:t>𝑜𝑡</m:t>
                                </m:r>
                                <m:r>
                                  <a:rPr lang="en-US" i="1">
                                    <a:latin typeface="Cambria Math"/>
                                  </a:rPr>
                                  <m:t>h</m:t>
                                </m:r>
                                <m:r>
                                  <a:rPr lang="en-US" i="1">
                                    <a:latin typeface="Cambria Math"/>
                                  </a:rPr>
                                  <m:t>𝑒𝑟𝑤𝑖𝑠𝑒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dirty="0"/>
              </a:p>
              <a:p>
                <a:r>
                  <a:rPr lang="en-US" dirty="0"/>
                  <a:t>Examples:</a:t>
                </a:r>
              </a:p>
              <a:p>
                <a:pPr lvl="1"/>
                <a:r>
                  <a:rPr lang="en-US" sz="2500" dirty="0" err="1">
                    <a:latin typeface="Consolas" panose="020B0609020204030204" pitchFamily="49" charset="0"/>
                    <a:cs typeface="Consolas" panose="020B0609020204030204" pitchFamily="49" charset="0"/>
                  </a:rPr>
                  <a:t>SSAT</a:t>
                </a:r>
                <a:r>
                  <a:rPr lang="en-US" sz="25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 </a:t>
                </a:r>
                <a:r>
                  <a:rPr lang="en-US" sz="2500" dirty="0" err="1">
                    <a:latin typeface="Consolas" panose="020B0609020204030204" pitchFamily="49" charset="0"/>
                    <a:cs typeface="Consolas" panose="020B0609020204030204" pitchFamily="49" charset="0"/>
                  </a:rPr>
                  <a:t>r2</a:t>
                </a:r>
                <a:r>
                  <a:rPr lang="en-US" sz="25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, #11, </a:t>
                </a:r>
                <a:r>
                  <a:rPr lang="en-US" sz="2500" dirty="0" err="1">
                    <a:latin typeface="Consolas" panose="020B0609020204030204" pitchFamily="49" charset="0"/>
                    <a:cs typeface="Consolas" panose="020B0609020204030204" pitchFamily="49" charset="0"/>
                  </a:rPr>
                  <a:t>r1</a:t>
                </a:r>
                <a:r>
                  <a:rPr lang="en-US" sz="25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    ; output range: -2</a:t>
                </a:r>
                <a:r>
                  <a:rPr lang="en-US" sz="2500" baseline="300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10</a:t>
                </a:r>
                <a:r>
                  <a:rPr lang="en-US" sz="25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 </a:t>
                </a:r>
                <a:r>
                  <a:rPr lang="en-US" sz="2500" dirty="0">
                    <a:latin typeface="Consolas" panose="020B0609020204030204" pitchFamily="49" charset="0"/>
                    <a:cs typeface="Consolas" panose="020B0609020204030204" pitchFamily="49" charset="0"/>
                    <a:sym typeface="Symbol"/>
                  </a:rPr>
                  <a:t></a:t>
                </a:r>
                <a:r>
                  <a:rPr lang="en-US" sz="25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 </a:t>
                </a:r>
                <a:r>
                  <a:rPr lang="en-US" sz="2500" dirty="0" err="1">
                    <a:latin typeface="Consolas" panose="020B0609020204030204" pitchFamily="49" charset="0"/>
                    <a:cs typeface="Consolas" panose="020B0609020204030204" pitchFamily="49" charset="0"/>
                  </a:rPr>
                  <a:t>r2</a:t>
                </a:r>
                <a:r>
                  <a:rPr lang="en-US" sz="25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 </a:t>
                </a:r>
                <a:r>
                  <a:rPr lang="en-US" sz="2500" dirty="0">
                    <a:latin typeface="Consolas" panose="020B0609020204030204" pitchFamily="49" charset="0"/>
                    <a:cs typeface="Consolas" panose="020B0609020204030204" pitchFamily="49" charset="0"/>
                    <a:sym typeface="Symbol"/>
                  </a:rPr>
                  <a:t></a:t>
                </a:r>
                <a:r>
                  <a:rPr lang="en-US" sz="25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 2</a:t>
                </a:r>
                <a:r>
                  <a:rPr lang="en-US" sz="2500" baseline="300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10</a:t>
                </a:r>
                <a:endParaRPr lang="en-US" sz="3300" dirty="0">
                  <a:latin typeface="Consolas" panose="020B0609020204030204" pitchFamily="49" charset="0"/>
                  <a:cs typeface="Consolas" panose="020B0609020204030204" pitchFamily="49" charset="0"/>
                </a:endParaRPr>
              </a:p>
              <a:p>
                <a:pPr lvl="1"/>
                <a:r>
                  <a:rPr lang="en-US" sz="2500" dirty="0" err="1">
                    <a:latin typeface="Consolas" panose="020B0609020204030204" pitchFamily="49" charset="0"/>
                    <a:cs typeface="Consolas" panose="020B0609020204030204" pitchFamily="49" charset="0"/>
                  </a:rPr>
                  <a:t>USAT</a:t>
                </a:r>
                <a:r>
                  <a:rPr lang="en-US" sz="25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 </a:t>
                </a:r>
                <a:r>
                  <a:rPr lang="en-US" sz="2500" dirty="0" err="1">
                    <a:latin typeface="Consolas" panose="020B0609020204030204" pitchFamily="49" charset="0"/>
                    <a:cs typeface="Consolas" panose="020B0609020204030204" pitchFamily="49" charset="0"/>
                  </a:rPr>
                  <a:t>r2</a:t>
                </a:r>
                <a:r>
                  <a:rPr lang="en-US" sz="25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, #11, </a:t>
                </a:r>
                <a:r>
                  <a:rPr lang="en-US" sz="2500" dirty="0" err="1">
                    <a:latin typeface="Consolas" panose="020B0609020204030204" pitchFamily="49" charset="0"/>
                    <a:cs typeface="Consolas" panose="020B0609020204030204" pitchFamily="49" charset="0"/>
                  </a:rPr>
                  <a:t>r3</a:t>
                </a:r>
                <a:r>
                  <a:rPr lang="en-US" sz="25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    ; output range: 0 </a:t>
                </a:r>
                <a:r>
                  <a:rPr lang="en-US" sz="2500" dirty="0">
                    <a:latin typeface="Consolas" panose="020B0609020204030204" pitchFamily="49" charset="0"/>
                    <a:cs typeface="Consolas" panose="020B0609020204030204" pitchFamily="49" charset="0"/>
                    <a:sym typeface="Symbol"/>
                  </a:rPr>
                  <a:t></a:t>
                </a:r>
                <a:r>
                  <a:rPr lang="en-US" sz="25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 </a:t>
                </a:r>
                <a:r>
                  <a:rPr lang="en-US" sz="2500" dirty="0" err="1">
                    <a:latin typeface="Consolas" panose="020B0609020204030204" pitchFamily="49" charset="0"/>
                    <a:cs typeface="Consolas" panose="020B0609020204030204" pitchFamily="49" charset="0"/>
                  </a:rPr>
                  <a:t>r2</a:t>
                </a:r>
                <a:r>
                  <a:rPr lang="en-US" sz="25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 </a:t>
                </a:r>
                <a:r>
                  <a:rPr lang="en-US" sz="2500" dirty="0">
                    <a:latin typeface="Consolas" panose="020B0609020204030204" pitchFamily="49" charset="0"/>
                    <a:cs typeface="Consolas" panose="020B0609020204030204" pitchFamily="49" charset="0"/>
                    <a:sym typeface="Symbol"/>
                  </a:rPr>
                  <a:t></a:t>
                </a:r>
                <a:r>
                  <a:rPr lang="en-US" sz="25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 2</a:t>
                </a:r>
                <a:r>
                  <a:rPr lang="en-US" sz="2500" baseline="300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11</a:t>
                </a:r>
                <a:endParaRPr lang="en-US" dirty="0">
                  <a:latin typeface="Consolas" panose="020B0609020204030204" pitchFamily="49" charset="0"/>
                  <a:cs typeface="Consolas" panose="020B0609020204030204" pitchFamily="49" charset="0"/>
                </a:endParaRP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"/>
              </p:nvPr>
            </p:nvSpPr>
            <p:spPr>
              <a:xfrm>
                <a:off x="609600" y="1219200"/>
                <a:ext cx="8839200" cy="4937760"/>
              </a:xfrm>
              <a:blipFill>
                <a:blip r:embed="rId2"/>
                <a:stretch>
                  <a:fillRect l="-483" t="-2469" r="-966" b="-98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33</a:t>
            </a:fld>
            <a:endParaRPr kumimoji="0" lang="en-US" dirty="0"/>
          </a:p>
        </p:txBody>
      </p:sp>
    </p:spTree>
    <p:extLst>
      <p:ext uri="{BB962C8B-B14F-4D97-AF65-F5344CB8AC3E}">
        <p14:creationId xmlns:p14="http://schemas.microsoft.com/office/powerpoint/2010/main" val="1337576135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Example of Saturation</a:t>
            </a:r>
            <a:endParaRPr lang="en-US" dirty="0">
              <a:solidFill>
                <a:srgbClr val="FF0000"/>
              </a:solidFill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34</a:t>
            </a:fld>
            <a:endParaRPr kumimoji="0" lang="en-US" dirty="0"/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76400" y="2590800"/>
            <a:ext cx="3454400" cy="2590800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24600" y="1219200"/>
            <a:ext cx="3759200" cy="2819400"/>
          </a:xfrm>
          <a:prstGeom prst="rect">
            <a:avLst/>
          </a:prstGeom>
        </p:spPr>
      </p:pic>
      <p:pic>
        <p:nvPicPr>
          <p:cNvPr id="8" name="Picture 7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00800" y="3981450"/>
            <a:ext cx="3683000" cy="2762250"/>
          </a:xfrm>
          <a:prstGeom prst="rect">
            <a:avLst/>
          </a:prstGeom>
        </p:spPr>
      </p:pic>
      <p:cxnSp>
        <p:nvCxnSpPr>
          <p:cNvPr id="10" name="Straight Arrow Connector 9"/>
          <p:cNvCxnSpPr>
            <a:stCxn id="6" idx="3"/>
            <a:endCxn id="7" idx="1"/>
          </p:cNvCxnSpPr>
          <p:nvPr/>
        </p:nvCxnSpPr>
        <p:spPr>
          <a:xfrm flipV="1">
            <a:off x="5130800" y="2628900"/>
            <a:ext cx="1193800" cy="125730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/>
          <p:cNvCxnSpPr>
            <a:stCxn id="6" idx="3"/>
            <a:endCxn id="8" idx="1"/>
          </p:cNvCxnSpPr>
          <p:nvPr/>
        </p:nvCxnSpPr>
        <p:spPr>
          <a:xfrm>
            <a:off x="5130800" y="3886201"/>
            <a:ext cx="1270000" cy="147637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5024121" y="2309546"/>
            <a:ext cx="114299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Without saturation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53002" y="4611470"/>
            <a:ext cx="114299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With saturation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1" y="1370052"/>
            <a:ext cx="339086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Assume data are limited to </a:t>
            </a:r>
            <a:r>
              <a:rPr lang="en-US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16</a:t>
            </a:r>
            <a:r>
              <a:rPr lang="en-US" dirty="0"/>
              <a:t> bits</a:t>
            </a:r>
          </a:p>
        </p:txBody>
      </p:sp>
    </p:spTree>
    <p:extLst>
      <p:ext uri="{BB962C8B-B14F-4D97-AF65-F5344CB8AC3E}">
        <p14:creationId xmlns:p14="http://schemas.microsoft.com/office/powerpoint/2010/main" val="975851832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Reverse Order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35</a:t>
            </a:fld>
            <a:endParaRPr kumimoji="0" lang="en-US" dirty="0"/>
          </a:p>
        </p:txBody>
      </p:sp>
      <p:graphicFrame>
        <p:nvGraphicFramePr>
          <p:cNvPr id="7" name="Table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17189798"/>
              </p:ext>
            </p:extLst>
          </p:nvPr>
        </p:nvGraphicFramePr>
        <p:xfrm>
          <a:off x="2188762" y="1304806"/>
          <a:ext cx="7679925" cy="2346960"/>
        </p:xfrm>
        <a:graphic>
          <a:graphicData uri="http://schemas.openxmlformats.org/drawingml/2006/table">
            <a:tbl>
              <a:tblPr firstCol="1" bandRow="1">
                <a:tableStyleId>{BC89EF96-8CEA-46FF-86C4-4CE0E7609802}</a:tableStyleId>
              </a:tblPr>
              <a:tblGrid>
                <a:gridCol w="15839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96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kern="1200" dirty="0" err="1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</a:rPr>
                        <a:t>RBIT</a:t>
                      </a:r>
                      <a:r>
                        <a:rPr lang="en-US" sz="1400" b="0" dirty="0">
                          <a:solidFill>
                            <a:srgbClr val="C00000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400" b="0" kern="1200" dirty="0">
                          <a:effectLst/>
                          <a:latin typeface="Consolas" panose="020B0609020204030204" pitchFamily="49" charset="0"/>
                        </a:rPr>
                        <a:t>Rd, Rn</a:t>
                      </a:r>
                      <a:endParaRPr lang="en-US" sz="14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kern="1200" dirty="0">
                          <a:effectLst/>
                          <a:latin typeface="Consolas" panose="020B0609020204030204" pitchFamily="49" charset="0"/>
                        </a:rPr>
                        <a:t>Reverse bit order in a word</a:t>
                      </a:r>
                      <a:endParaRPr lang="en-US" sz="1400" b="1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dirty="0">
                          <a:effectLst/>
                          <a:latin typeface="Consolas" panose="020B0609020204030204" pitchFamily="49" charset="0"/>
                        </a:rPr>
                        <a:t>for (</a:t>
                      </a:r>
                      <a:r>
                        <a:rPr lang="en-US" sz="1400" b="0" dirty="0" err="1">
                          <a:effectLst/>
                          <a:latin typeface="Consolas" panose="020B0609020204030204" pitchFamily="49" charset="0"/>
                        </a:rPr>
                        <a:t>i</a:t>
                      </a:r>
                      <a:r>
                        <a:rPr lang="en-US" sz="1400" b="0" dirty="0">
                          <a:effectLst/>
                          <a:latin typeface="Consolas" panose="020B0609020204030204" pitchFamily="49" charset="0"/>
                        </a:rPr>
                        <a:t> = 0; </a:t>
                      </a:r>
                      <a:r>
                        <a:rPr lang="en-US" sz="1400" b="0" dirty="0" err="1">
                          <a:effectLst/>
                          <a:latin typeface="Consolas" panose="020B0609020204030204" pitchFamily="49" charset="0"/>
                        </a:rPr>
                        <a:t>i</a:t>
                      </a:r>
                      <a:r>
                        <a:rPr lang="en-US" sz="1400" b="0" dirty="0">
                          <a:effectLst/>
                          <a:latin typeface="Consolas" panose="020B0609020204030204" pitchFamily="49" charset="0"/>
                        </a:rPr>
                        <a:t> &lt; 32; </a:t>
                      </a:r>
                      <a:r>
                        <a:rPr lang="en-US" sz="1400" b="0" dirty="0" err="1">
                          <a:effectLst/>
                          <a:latin typeface="Consolas" panose="020B0609020204030204" pitchFamily="49" charset="0"/>
                        </a:rPr>
                        <a:t>i</a:t>
                      </a:r>
                      <a:r>
                        <a:rPr lang="en-US" sz="1400" b="0" dirty="0">
                          <a:effectLst/>
                          <a:latin typeface="Consolas" panose="020B0609020204030204" pitchFamily="49" charset="0"/>
                        </a:rPr>
                        <a:t>++)  Rd[</a:t>
                      </a:r>
                      <a:r>
                        <a:rPr lang="en-US" sz="1400" b="0" dirty="0" err="1">
                          <a:effectLst/>
                          <a:latin typeface="Consolas" panose="020B0609020204030204" pitchFamily="49" charset="0"/>
                        </a:rPr>
                        <a:t>i</a:t>
                      </a:r>
                      <a:r>
                        <a:rPr lang="en-US" sz="1400" b="0" dirty="0">
                          <a:effectLst/>
                          <a:latin typeface="Consolas" panose="020B0609020204030204" pitchFamily="49" charset="0"/>
                        </a:rPr>
                        <a:t>] </a:t>
                      </a:r>
                      <a:r>
                        <a:rPr lang="en-US" sz="1100" b="0" dirty="0"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effectLst/>
                          <a:latin typeface="Consolas" panose="020B0609020204030204" pitchFamily="49" charset="0"/>
                        </a:rPr>
                        <a:t> RN[31– </a:t>
                      </a:r>
                      <a:r>
                        <a:rPr lang="en-US" sz="1400" b="0" dirty="0" err="1">
                          <a:effectLst/>
                          <a:latin typeface="Consolas" panose="020B0609020204030204" pitchFamily="49" charset="0"/>
                        </a:rPr>
                        <a:t>i</a:t>
                      </a:r>
                      <a:r>
                        <a:rPr lang="en-US" sz="1400" b="0" dirty="0">
                          <a:effectLst/>
                          <a:latin typeface="Consolas" panose="020B0609020204030204" pitchFamily="49" charset="0"/>
                        </a:rPr>
                        <a:t>]</a:t>
                      </a:r>
                      <a:endParaRPr lang="en-US" sz="14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kern="120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REV</a:t>
                      </a:r>
                      <a:r>
                        <a:rPr lang="en-US" sz="14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400" b="0" kern="120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Rd, Rn</a:t>
                      </a:r>
                      <a:endParaRPr lang="en-US" sz="1400" b="0" dirty="0">
                        <a:solidFill>
                          <a:schemeClr val="bg1">
                            <a:lumMod val="65000"/>
                          </a:schemeClr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kern="120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Reverse byte order in a word</a:t>
                      </a:r>
                      <a:endParaRPr lang="en-US" sz="1400" b="1" dirty="0">
                        <a:solidFill>
                          <a:schemeClr val="bg1">
                            <a:lumMod val="65000"/>
                          </a:schemeClr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Rd[31:24] </a:t>
                      </a:r>
                      <a:r>
                        <a:rPr lang="en-US" sz="11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 Rn[7:0], Rd[23:16] </a:t>
                      </a:r>
                      <a:r>
                        <a:rPr lang="en-US" sz="11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 Rn[15:8],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Rd[15:8] </a:t>
                      </a:r>
                      <a:r>
                        <a:rPr lang="en-US" sz="11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 Rn[23:16], Rd[7:0] </a:t>
                      </a:r>
                      <a:r>
                        <a:rPr lang="en-US" sz="11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 Rn[31:24]</a:t>
                      </a:r>
                      <a:endParaRPr lang="en-US" sz="1400" b="0" dirty="0">
                        <a:solidFill>
                          <a:schemeClr val="bg1">
                            <a:lumMod val="65000"/>
                          </a:schemeClr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kern="1200" dirty="0" err="1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REV16</a:t>
                      </a:r>
                      <a:r>
                        <a:rPr lang="en-US" sz="14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400" b="0" kern="120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Rd, Rn</a:t>
                      </a:r>
                      <a:endParaRPr lang="en-US" sz="1400" b="0" dirty="0">
                        <a:solidFill>
                          <a:schemeClr val="bg1">
                            <a:lumMod val="65000"/>
                          </a:schemeClr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kern="120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R</a:t>
                      </a:r>
                      <a:r>
                        <a:rPr lang="en-US" sz="1400" b="1" kern="120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everse byte order in each half-word</a:t>
                      </a:r>
                      <a:endParaRPr lang="en-US" sz="1400" b="1" dirty="0">
                        <a:solidFill>
                          <a:schemeClr val="bg1">
                            <a:lumMod val="65000"/>
                          </a:schemeClr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Rd[15:8] </a:t>
                      </a:r>
                      <a:r>
                        <a:rPr lang="en-US" sz="11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 Rn[7:0], Rd[7:0] </a:t>
                      </a:r>
                      <a:r>
                        <a:rPr lang="en-US" sz="11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 Rn[15:8],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Rd[31:24] </a:t>
                      </a:r>
                      <a:r>
                        <a:rPr lang="en-US" sz="11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 Rn[23:16], Rd[23:16] </a:t>
                      </a:r>
                      <a:r>
                        <a:rPr lang="en-US" sz="11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 Rn[31:24]</a:t>
                      </a:r>
                      <a:endParaRPr lang="en-US" sz="1400" b="0" dirty="0">
                        <a:solidFill>
                          <a:schemeClr val="bg1">
                            <a:lumMod val="65000"/>
                          </a:schemeClr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kern="1200" dirty="0" err="1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REVSH</a:t>
                      </a:r>
                      <a:r>
                        <a:rPr lang="en-US" sz="14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400" b="0" kern="120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Rd, Rn</a:t>
                      </a:r>
                      <a:endParaRPr lang="en-US" sz="1400" b="0" dirty="0">
                        <a:solidFill>
                          <a:schemeClr val="bg1">
                            <a:lumMod val="65000"/>
                          </a:schemeClr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kern="120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Reverse byte order in bottom half-word and sign extend</a:t>
                      </a:r>
                      <a:endParaRPr lang="en-US" sz="1400" b="1" dirty="0">
                        <a:solidFill>
                          <a:schemeClr val="bg1">
                            <a:lumMod val="65000"/>
                          </a:schemeClr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Rd[15:8] </a:t>
                      </a:r>
                      <a:r>
                        <a:rPr lang="en-US" sz="11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 Rn[7:0], Rd[7:0] </a:t>
                      </a:r>
                      <a:r>
                        <a:rPr lang="en-US" sz="11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 Rn[15:8], 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Rd[31:16] </a:t>
                      </a:r>
                      <a:r>
                        <a:rPr lang="en-US" sz="11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 Rn[7] &amp; </a:t>
                      </a:r>
                      <a:r>
                        <a:rPr lang="en-US" sz="1400" b="0" dirty="0" err="1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0xFFFF</a:t>
                      </a:r>
                      <a:endParaRPr lang="en-US" sz="1400" b="0" dirty="0">
                        <a:solidFill>
                          <a:schemeClr val="bg1">
                            <a:lumMod val="65000"/>
                          </a:schemeClr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pic>
        <p:nvPicPr>
          <p:cNvPr id="12290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28875" y="4267200"/>
            <a:ext cx="7334250" cy="7048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" name="Rectangle 2"/>
          <p:cNvSpPr/>
          <p:nvPr/>
        </p:nvSpPr>
        <p:spPr>
          <a:xfrm>
            <a:off x="1822926" y="3733800"/>
            <a:ext cx="157767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just"/>
            <a:r>
              <a:rPr lang="en-US" b="1" dirty="0" err="1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RBIT</a:t>
            </a:r>
            <a:r>
              <a:rPr lang="en-US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Rd, Rn</a:t>
            </a:r>
            <a:endParaRPr lang="en-US" dirty="0">
              <a:latin typeface="Consolas" panose="020B0609020204030204" pitchFamily="49" charset="0"/>
              <a:ea typeface="宋体"/>
              <a:cs typeface="Consolas" panose="020B0609020204030204" pitchFamily="49" charset="0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1997475" y="4191000"/>
            <a:ext cx="43954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just"/>
            <a:r>
              <a:rPr lang="en-US" dirty="0"/>
              <a:t>Rn</a:t>
            </a:r>
            <a:endParaRPr lang="en-US" dirty="0">
              <a:latin typeface="Palatino Linotype"/>
              <a:ea typeface="宋体"/>
              <a:cs typeface="Times New Roman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1997475" y="4648200"/>
            <a:ext cx="44114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/>
              <a:t>Rd</a:t>
            </a:r>
          </a:p>
        </p:txBody>
      </p:sp>
      <p:sp>
        <p:nvSpPr>
          <p:cNvPr id="9" name="Rectangle 8"/>
          <p:cNvSpPr/>
          <p:nvPr/>
        </p:nvSpPr>
        <p:spPr>
          <a:xfrm>
            <a:off x="2414915" y="5565475"/>
            <a:ext cx="8153400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b="1" dirty="0" err="1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LDR</a:t>
            </a:r>
            <a:r>
              <a:rPr lang="en-US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b="1" dirty="0" err="1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r0</a:t>
            </a:r>
            <a:r>
              <a:rPr lang="en-US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, =</a:t>
            </a:r>
            <a:r>
              <a:rPr lang="en-US" b="1" dirty="0" err="1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0x12345678</a:t>
            </a:r>
            <a:r>
              <a:rPr lang="en-US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	</a:t>
            </a:r>
            <a:r>
              <a:rPr lang="en-US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</a:t>
            </a:r>
            <a:r>
              <a:rPr lang="en-US" b="1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r0</a:t>
            </a:r>
            <a:r>
              <a:rPr lang="en-US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= </a:t>
            </a:r>
            <a:r>
              <a:rPr lang="en-US" b="1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0x12345678</a:t>
            </a:r>
            <a:r>
              <a:rPr lang="en-US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</a:t>
            </a:r>
          </a:p>
          <a:p>
            <a:r>
              <a:rPr lang="en-US" b="1" dirty="0" err="1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RBIT</a:t>
            </a:r>
            <a:r>
              <a:rPr lang="en-US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b="1" dirty="0" err="1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r1</a:t>
            </a:r>
            <a:r>
              <a:rPr lang="en-US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  <a:r>
              <a:rPr lang="en-US" b="1" dirty="0" err="1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r0</a:t>
            </a:r>
            <a:r>
              <a:rPr lang="en-US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	     	</a:t>
            </a:r>
            <a:r>
              <a:rPr lang="en-US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Reverse bits, </a:t>
            </a:r>
            <a:r>
              <a:rPr lang="en-US" b="1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r1</a:t>
            </a:r>
            <a:r>
              <a:rPr lang="en-US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= </a:t>
            </a:r>
            <a:r>
              <a:rPr lang="en-US" b="1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0x1E6A2C48</a:t>
            </a:r>
            <a:endParaRPr lang="en-US" b="1" dirty="0">
              <a:solidFill>
                <a:schemeClr val="bg1">
                  <a:lumMod val="50000"/>
                </a:schemeClr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1898441" y="5181600"/>
            <a:ext cx="106086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Example: </a:t>
            </a:r>
          </a:p>
        </p:txBody>
      </p:sp>
    </p:spTree>
    <p:extLst>
      <p:ext uri="{BB962C8B-B14F-4D97-AF65-F5344CB8AC3E}">
        <p14:creationId xmlns:p14="http://schemas.microsoft.com/office/powerpoint/2010/main" val="430688265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Reverse Order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36</a:t>
            </a:fld>
            <a:endParaRPr kumimoji="0" lang="en-US" dirty="0"/>
          </a:p>
        </p:txBody>
      </p:sp>
      <p:sp>
        <p:nvSpPr>
          <p:cNvPr id="3" name="Rectangle 2"/>
          <p:cNvSpPr/>
          <p:nvPr/>
        </p:nvSpPr>
        <p:spPr>
          <a:xfrm>
            <a:off x="1951487" y="3733800"/>
            <a:ext cx="132055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just"/>
            <a:r>
              <a:rPr lang="en-US" b="1" dirty="0">
                <a:solidFill>
                  <a:srgbClr val="C00000"/>
                </a:solidFill>
              </a:rPr>
              <a:t>REV</a:t>
            </a:r>
            <a:r>
              <a:rPr lang="en-US" dirty="0">
                <a:solidFill>
                  <a:srgbClr val="C00000"/>
                </a:solidFill>
              </a:rPr>
              <a:t> </a:t>
            </a:r>
            <a:r>
              <a:rPr lang="en-US" dirty="0"/>
              <a:t>Rd, Rn</a:t>
            </a:r>
            <a:endParaRPr lang="en-US" dirty="0">
              <a:latin typeface="Palatino Linotype"/>
              <a:ea typeface="宋体"/>
              <a:cs typeface="Times New Roman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2133600" y="4103132"/>
            <a:ext cx="43954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just"/>
            <a:r>
              <a:rPr lang="en-US" dirty="0"/>
              <a:t>Rn</a:t>
            </a:r>
            <a:endParaRPr lang="en-US" dirty="0">
              <a:latin typeface="Palatino Linotype"/>
              <a:ea typeface="宋体"/>
              <a:cs typeface="Times New Roman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2057400" y="4805033"/>
            <a:ext cx="44114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/>
              <a:t>Rd</a:t>
            </a:r>
          </a:p>
        </p:txBody>
      </p:sp>
      <p:sp>
        <p:nvSpPr>
          <p:cNvPr id="9" name="Rectangle 8"/>
          <p:cNvSpPr/>
          <p:nvPr/>
        </p:nvSpPr>
        <p:spPr>
          <a:xfrm>
            <a:off x="2414915" y="5565475"/>
            <a:ext cx="8153400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pt-BR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LDR R0, =0x12345678    </a:t>
            </a:r>
            <a:r>
              <a:rPr lang="pt-BR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R0 = 0x12345678</a:t>
            </a:r>
          </a:p>
          <a:p>
            <a:r>
              <a:rPr lang="pt-BR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REV R1, R0             </a:t>
            </a:r>
            <a:r>
              <a:rPr lang="pt-BR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R1 = 0x78563412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98441" y="5181600"/>
            <a:ext cx="106086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Example: </a:t>
            </a:r>
          </a:p>
        </p:txBody>
      </p:sp>
      <p:pic>
        <p:nvPicPr>
          <p:cNvPr id="13314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11764" y="4191001"/>
            <a:ext cx="7334250" cy="942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graphicFrame>
        <p:nvGraphicFramePr>
          <p:cNvPr id="11" name="Table 1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49632627"/>
              </p:ext>
            </p:extLst>
          </p:nvPr>
        </p:nvGraphicFramePr>
        <p:xfrm>
          <a:off x="2188762" y="1304806"/>
          <a:ext cx="7679925" cy="2346960"/>
        </p:xfrm>
        <a:graphic>
          <a:graphicData uri="http://schemas.openxmlformats.org/drawingml/2006/table">
            <a:tbl>
              <a:tblPr firstCol="1" bandRow="1">
                <a:tableStyleId>{BC89EF96-8CEA-46FF-86C4-4CE0E7609802}</a:tableStyleId>
              </a:tblPr>
              <a:tblGrid>
                <a:gridCol w="15839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96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kern="1200" dirty="0" err="1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</a:rPr>
                        <a:t>RBIT</a:t>
                      </a:r>
                      <a:r>
                        <a:rPr lang="en-US" sz="1400" b="0" dirty="0">
                          <a:solidFill>
                            <a:srgbClr val="C00000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400" b="0" kern="1200" dirty="0">
                          <a:effectLst/>
                          <a:latin typeface="Consolas" panose="020B0609020204030204" pitchFamily="49" charset="0"/>
                        </a:rPr>
                        <a:t>Rd, Rn</a:t>
                      </a:r>
                      <a:endParaRPr lang="en-US" sz="14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kern="1200" dirty="0">
                          <a:effectLst/>
                          <a:latin typeface="Consolas" panose="020B0609020204030204" pitchFamily="49" charset="0"/>
                        </a:rPr>
                        <a:t>Reverse bit order in a word</a:t>
                      </a:r>
                      <a:endParaRPr lang="en-US" sz="1400" b="1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dirty="0">
                          <a:effectLst/>
                          <a:latin typeface="Consolas" panose="020B0609020204030204" pitchFamily="49" charset="0"/>
                        </a:rPr>
                        <a:t>for (</a:t>
                      </a:r>
                      <a:r>
                        <a:rPr lang="en-US" sz="1400" b="0" dirty="0" err="1">
                          <a:effectLst/>
                          <a:latin typeface="Consolas" panose="020B0609020204030204" pitchFamily="49" charset="0"/>
                        </a:rPr>
                        <a:t>i</a:t>
                      </a:r>
                      <a:r>
                        <a:rPr lang="en-US" sz="1400" b="0" dirty="0">
                          <a:effectLst/>
                          <a:latin typeface="Consolas" panose="020B0609020204030204" pitchFamily="49" charset="0"/>
                        </a:rPr>
                        <a:t> = 0; </a:t>
                      </a:r>
                      <a:r>
                        <a:rPr lang="en-US" sz="1400" b="0" dirty="0" err="1">
                          <a:effectLst/>
                          <a:latin typeface="Consolas" panose="020B0609020204030204" pitchFamily="49" charset="0"/>
                        </a:rPr>
                        <a:t>i</a:t>
                      </a:r>
                      <a:r>
                        <a:rPr lang="en-US" sz="1400" b="0" dirty="0">
                          <a:effectLst/>
                          <a:latin typeface="Consolas" panose="020B0609020204030204" pitchFamily="49" charset="0"/>
                        </a:rPr>
                        <a:t> &lt; 32; </a:t>
                      </a:r>
                      <a:r>
                        <a:rPr lang="en-US" sz="1400" b="0" dirty="0" err="1">
                          <a:effectLst/>
                          <a:latin typeface="Consolas" panose="020B0609020204030204" pitchFamily="49" charset="0"/>
                        </a:rPr>
                        <a:t>i</a:t>
                      </a:r>
                      <a:r>
                        <a:rPr lang="en-US" sz="1400" b="0" dirty="0">
                          <a:effectLst/>
                          <a:latin typeface="Consolas" panose="020B0609020204030204" pitchFamily="49" charset="0"/>
                        </a:rPr>
                        <a:t>++)  Rd[</a:t>
                      </a:r>
                      <a:r>
                        <a:rPr lang="en-US" sz="1400" b="0" dirty="0" err="1">
                          <a:effectLst/>
                          <a:latin typeface="Consolas" panose="020B0609020204030204" pitchFamily="49" charset="0"/>
                        </a:rPr>
                        <a:t>i</a:t>
                      </a:r>
                      <a:r>
                        <a:rPr lang="en-US" sz="1400" b="0" dirty="0">
                          <a:effectLst/>
                          <a:latin typeface="Consolas" panose="020B0609020204030204" pitchFamily="49" charset="0"/>
                        </a:rPr>
                        <a:t>] </a:t>
                      </a:r>
                      <a:r>
                        <a:rPr lang="en-US" sz="1100" b="0" dirty="0"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effectLst/>
                          <a:latin typeface="Consolas" panose="020B0609020204030204" pitchFamily="49" charset="0"/>
                        </a:rPr>
                        <a:t> RN[31– </a:t>
                      </a:r>
                      <a:r>
                        <a:rPr lang="en-US" sz="1400" b="0" dirty="0" err="1">
                          <a:effectLst/>
                          <a:latin typeface="Consolas" panose="020B0609020204030204" pitchFamily="49" charset="0"/>
                        </a:rPr>
                        <a:t>i</a:t>
                      </a:r>
                      <a:r>
                        <a:rPr lang="en-US" sz="1400" b="0" dirty="0">
                          <a:effectLst/>
                          <a:latin typeface="Consolas" panose="020B0609020204030204" pitchFamily="49" charset="0"/>
                        </a:rPr>
                        <a:t>]</a:t>
                      </a:r>
                      <a:endParaRPr lang="en-US" sz="14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kern="1200" dirty="0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</a:rPr>
                        <a:t>REV</a:t>
                      </a: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400" b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Rd, Rn</a:t>
                      </a:r>
                      <a:endParaRPr lang="en-US" sz="1400" b="0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Reverse byte order in a word</a:t>
                      </a:r>
                      <a:endParaRPr lang="en-US" sz="1400" b="1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Rd[31:24] </a:t>
                      </a:r>
                      <a:r>
                        <a:rPr lang="en-US" sz="11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 Rn[7:0], Rd[23:16] </a:t>
                      </a:r>
                      <a:r>
                        <a:rPr lang="en-US" sz="11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 Rn[15:8],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Rd[15:8] </a:t>
                      </a:r>
                      <a:r>
                        <a:rPr lang="en-US" sz="11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 Rn[23:16], Rd[7:0] </a:t>
                      </a:r>
                      <a:r>
                        <a:rPr lang="en-US" sz="11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 Rn[31:24]</a:t>
                      </a:r>
                      <a:endParaRPr lang="en-US" sz="1400" b="0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kern="1200" dirty="0" err="1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REV16</a:t>
                      </a:r>
                      <a:r>
                        <a:rPr lang="en-US" sz="14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400" b="0" kern="120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Rd, Rn</a:t>
                      </a:r>
                      <a:endParaRPr lang="en-US" sz="1400" b="0" dirty="0">
                        <a:solidFill>
                          <a:schemeClr val="bg1">
                            <a:lumMod val="65000"/>
                          </a:schemeClr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kern="120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R</a:t>
                      </a:r>
                      <a:r>
                        <a:rPr lang="en-US" sz="1400" b="1" kern="120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everse byte order in each half-word</a:t>
                      </a:r>
                      <a:endParaRPr lang="en-US" sz="1400" b="1" dirty="0">
                        <a:solidFill>
                          <a:schemeClr val="bg1">
                            <a:lumMod val="65000"/>
                          </a:schemeClr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Rd[15:8] </a:t>
                      </a:r>
                      <a:r>
                        <a:rPr lang="en-US" sz="11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 Rn[7:0], Rd[7:0] </a:t>
                      </a:r>
                      <a:r>
                        <a:rPr lang="en-US" sz="11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 Rn[15:8],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Rd[31:24] </a:t>
                      </a:r>
                      <a:r>
                        <a:rPr lang="en-US" sz="11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 Rn[23:16], Rd[23:16] </a:t>
                      </a:r>
                      <a:r>
                        <a:rPr lang="en-US" sz="11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 Rn[31:24]</a:t>
                      </a:r>
                      <a:endParaRPr lang="en-US" sz="1400" b="0" dirty="0">
                        <a:solidFill>
                          <a:schemeClr val="bg1">
                            <a:lumMod val="65000"/>
                          </a:schemeClr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kern="1200" dirty="0" err="1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REVSH</a:t>
                      </a:r>
                      <a:r>
                        <a:rPr lang="en-US" sz="14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400" b="0" kern="120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Rd, Rn</a:t>
                      </a:r>
                      <a:endParaRPr lang="en-US" sz="1400" b="0" dirty="0">
                        <a:solidFill>
                          <a:schemeClr val="bg1">
                            <a:lumMod val="65000"/>
                          </a:schemeClr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kern="120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Reverse byte order in bottom half-word and sign extend</a:t>
                      </a:r>
                      <a:endParaRPr lang="en-US" sz="1400" b="1" dirty="0">
                        <a:solidFill>
                          <a:schemeClr val="bg1">
                            <a:lumMod val="65000"/>
                          </a:schemeClr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Rd[15:8] </a:t>
                      </a:r>
                      <a:r>
                        <a:rPr lang="en-US" sz="11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 Rn[7:0], Rd[7:0] </a:t>
                      </a:r>
                      <a:r>
                        <a:rPr lang="en-US" sz="11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 Rn[15:8], 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Rd[31:16] </a:t>
                      </a:r>
                      <a:r>
                        <a:rPr lang="en-US" sz="11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 Rn[7] &amp; </a:t>
                      </a:r>
                      <a:r>
                        <a:rPr lang="en-US" sz="1400" b="0" dirty="0" err="1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0xFFFF</a:t>
                      </a:r>
                      <a:endParaRPr lang="en-US" sz="1400" b="0" dirty="0">
                        <a:solidFill>
                          <a:schemeClr val="bg1">
                            <a:lumMod val="65000"/>
                          </a:schemeClr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128225317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Reverse Order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37</a:t>
            </a:fld>
            <a:endParaRPr kumimoji="0" lang="en-US" dirty="0"/>
          </a:p>
        </p:txBody>
      </p:sp>
      <p:sp>
        <p:nvSpPr>
          <p:cNvPr id="3" name="Rectangle 2"/>
          <p:cNvSpPr/>
          <p:nvPr/>
        </p:nvSpPr>
        <p:spPr>
          <a:xfrm>
            <a:off x="1824851" y="3733800"/>
            <a:ext cx="1573829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just"/>
            <a:r>
              <a:rPr lang="en-US" b="1" dirty="0" err="1">
                <a:solidFill>
                  <a:srgbClr val="C00000"/>
                </a:solidFill>
              </a:rPr>
              <a:t>REV16</a:t>
            </a:r>
            <a:r>
              <a:rPr lang="en-US" dirty="0">
                <a:solidFill>
                  <a:srgbClr val="C00000"/>
                </a:solidFill>
              </a:rPr>
              <a:t> </a:t>
            </a:r>
            <a:r>
              <a:rPr lang="en-US" dirty="0"/>
              <a:t>Rd, Rn</a:t>
            </a:r>
            <a:endParaRPr lang="en-US" dirty="0">
              <a:latin typeface="Palatino Linotype"/>
              <a:ea typeface="宋体"/>
              <a:cs typeface="Times New Roman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2000240" y="4050268"/>
            <a:ext cx="43954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just"/>
            <a:r>
              <a:rPr lang="en-US" dirty="0"/>
              <a:t>Rn</a:t>
            </a:r>
            <a:endParaRPr lang="en-US" dirty="0">
              <a:latin typeface="Palatino Linotype"/>
              <a:ea typeface="宋体"/>
              <a:cs typeface="Times New Roman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2001403" y="4724400"/>
            <a:ext cx="44114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/>
              <a:t>Rd</a:t>
            </a:r>
          </a:p>
        </p:txBody>
      </p:sp>
      <p:sp>
        <p:nvSpPr>
          <p:cNvPr id="9" name="Rectangle 8"/>
          <p:cNvSpPr/>
          <p:nvPr/>
        </p:nvSpPr>
        <p:spPr>
          <a:xfrm>
            <a:off x="2414915" y="5565475"/>
            <a:ext cx="8153400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pt-BR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LDR R0, =0x12345678    </a:t>
            </a:r>
            <a:r>
              <a:rPr lang="pt-BR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R0 = 0x12345678</a:t>
            </a:r>
          </a:p>
          <a:p>
            <a:r>
              <a:rPr lang="pt-BR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REV16 R2, R0           </a:t>
            </a:r>
            <a:r>
              <a:rPr lang="pt-BR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R2 = 0x34127856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98441" y="5181600"/>
            <a:ext cx="106086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Example: </a:t>
            </a:r>
          </a:p>
        </p:txBody>
      </p:sp>
      <p:pic>
        <p:nvPicPr>
          <p:cNvPr id="14338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14600" y="4110040"/>
            <a:ext cx="7334250" cy="942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graphicFrame>
        <p:nvGraphicFramePr>
          <p:cNvPr id="11" name="Table 1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32271935"/>
              </p:ext>
            </p:extLst>
          </p:nvPr>
        </p:nvGraphicFramePr>
        <p:xfrm>
          <a:off x="2188762" y="1304806"/>
          <a:ext cx="7679925" cy="2346960"/>
        </p:xfrm>
        <a:graphic>
          <a:graphicData uri="http://schemas.openxmlformats.org/drawingml/2006/table">
            <a:tbl>
              <a:tblPr firstCol="1" bandRow="1">
                <a:tableStyleId>{BC89EF96-8CEA-46FF-86C4-4CE0E7609802}</a:tableStyleId>
              </a:tblPr>
              <a:tblGrid>
                <a:gridCol w="15839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96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kern="1200" dirty="0" err="1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</a:rPr>
                        <a:t>RBIT</a:t>
                      </a:r>
                      <a:r>
                        <a:rPr lang="en-US" sz="1400" b="0" dirty="0">
                          <a:solidFill>
                            <a:srgbClr val="C00000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400" b="0" kern="1200" dirty="0">
                          <a:effectLst/>
                          <a:latin typeface="Consolas" panose="020B0609020204030204" pitchFamily="49" charset="0"/>
                        </a:rPr>
                        <a:t>Rd, Rn</a:t>
                      </a:r>
                      <a:endParaRPr lang="en-US" sz="14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kern="1200" dirty="0">
                          <a:effectLst/>
                          <a:latin typeface="Consolas" panose="020B0609020204030204" pitchFamily="49" charset="0"/>
                        </a:rPr>
                        <a:t>Reverse bit order in a word</a:t>
                      </a:r>
                      <a:endParaRPr lang="en-US" sz="1400" b="1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dirty="0">
                          <a:effectLst/>
                          <a:latin typeface="Consolas" panose="020B0609020204030204" pitchFamily="49" charset="0"/>
                        </a:rPr>
                        <a:t>for (</a:t>
                      </a:r>
                      <a:r>
                        <a:rPr lang="en-US" sz="1400" b="0" dirty="0" err="1">
                          <a:effectLst/>
                          <a:latin typeface="Consolas" panose="020B0609020204030204" pitchFamily="49" charset="0"/>
                        </a:rPr>
                        <a:t>i</a:t>
                      </a:r>
                      <a:r>
                        <a:rPr lang="en-US" sz="1400" b="0" dirty="0">
                          <a:effectLst/>
                          <a:latin typeface="Consolas" panose="020B0609020204030204" pitchFamily="49" charset="0"/>
                        </a:rPr>
                        <a:t> = 0; </a:t>
                      </a:r>
                      <a:r>
                        <a:rPr lang="en-US" sz="1400" b="0" dirty="0" err="1">
                          <a:effectLst/>
                          <a:latin typeface="Consolas" panose="020B0609020204030204" pitchFamily="49" charset="0"/>
                        </a:rPr>
                        <a:t>i</a:t>
                      </a:r>
                      <a:r>
                        <a:rPr lang="en-US" sz="1400" b="0" dirty="0">
                          <a:effectLst/>
                          <a:latin typeface="Consolas" panose="020B0609020204030204" pitchFamily="49" charset="0"/>
                        </a:rPr>
                        <a:t> &lt; 32; </a:t>
                      </a:r>
                      <a:r>
                        <a:rPr lang="en-US" sz="1400" b="0" dirty="0" err="1">
                          <a:effectLst/>
                          <a:latin typeface="Consolas" panose="020B0609020204030204" pitchFamily="49" charset="0"/>
                        </a:rPr>
                        <a:t>i</a:t>
                      </a:r>
                      <a:r>
                        <a:rPr lang="en-US" sz="1400" b="0" dirty="0">
                          <a:effectLst/>
                          <a:latin typeface="Consolas" panose="020B0609020204030204" pitchFamily="49" charset="0"/>
                        </a:rPr>
                        <a:t>++)  Rd[</a:t>
                      </a:r>
                      <a:r>
                        <a:rPr lang="en-US" sz="1400" b="0" dirty="0" err="1">
                          <a:effectLst/>
                          <a:latin typeface="Consolas" panose="020B0609020204030204" pitchFamily="49" charset="0"/>
                        </a:rPr>
                        <a:t>i</a:t>
                      </a:r>
                      <a:r>
                        <a:rPr lang="en-US" sz="1400" b="0" dirty="0">
                          <a:effectLst/>
                          <a:latin typeface="Consolas" panose="020B0609020204030204" pitchFamily="49" charset="0"/>
                        </a:rPr>
                        <a:t>] </a:t>
                      </a:r>
                      <a:r>
                        <a:rPr lang="en-US" sz="1100" b="0" dirty="0"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effectLst/>
                          <a:latin typeface="Consolas" panose="020B0609020204030204" pitchFamily="49" charset="0"/>
                        </a:rPr>
                        <a:t> RN[31– </a:t>
                      </a:r>
                      <a:r>
                        <a:rPr lang="en-US" sz="1400" b="0" dirty="0" err="1">
                          <a:effectLst/>
                          <a:latin typeface="Consolas" panose="020B0609020204030204" pitchFamily="49" charset="0"/>
                        </a:rPr>
                        <a:t>i</a:t>
                      </a:r>
                      <a:r>
                        <a:rPr lang="en-US" sz="1400" b="0" dirty="0">
                          <a:effectLst/>
                          <a:latin typeface="Consolas" panose="020B0609020204030204" pitchFamily="49" charset="0"/>
                        </a:rPr>
                        <a:t>]</a:t>
                      </a:r>
                      <a:endParaRPr lang="en-US" sz="14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kern="1200" dirty="0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</a:rPr>
                        <a:t>REV</a:t>
                      </a: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400" b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Rd, Rn</a:t>
                      </a:r>
                      <a:endParaRPr lang="en-US" sz="1400" b="0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Reverse byte order in a word</a:t>
                      </a:r>
                      <a:endParaRPr lang="en-US" sz="1400" b="1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Rd[31:24] </a:t>
                      </a:r>
                      <a:r>
                        <a:rPr lang="en-US" sz="11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 Rn[7:0], Rd[23:16] </a:t>
                      </a:r>
                      <a:r>
                        <a:rPr lang="en-US" sz="11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 Rn[15:8],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Rd[15:8] </a:t>
                      </a:r>
                      <a:r>
                        <a:rPr lang="en-US" sz="11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 Rn[23:16], Rd[7:0] </a:t>
                      </a:r>
                      <a:r>
                        <a:rPr lang="en-US" sz="11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 Rn[31:24]</a:t>
                      </a:r>
                      <a:endParaRPr lang="en-US" sz="1400" b="0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kern="1200" dirty="0" err="1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</a:rPr>
                        <a:t>REV16</a:t>
                      </a: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400" b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Rd, Rn</a:t>
                      </a:r>
                      <a:endParaRPr lang="en-US" sz="1400" b="0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R</a:t>
                      </a:r>
                      <a:r>
                        <a:rPr lang="en-US" sz="1400" b="1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everse byte order in each half-word</a:t>
                      </a:r>
                      <a:endParaRPr lang="en-US" sz="1400" b="1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Rd[15:8] </a:t>
                      </a:r>
                      <a:r>
                        <a:rPr lang="en-US" sz="11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 Rn[7:0], Rd[7:0] </a:t>
                      </a:r>
                      <a:r>
                        <a:rPr lang="en-US" sz="11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 Rn[15:8],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Rd[31:24] </a:t>
                      </a:r>
                      <a:r>
                        <a:rPr lang="en-US" sz="11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 Rn[23:16], Rd[23:16] </a:t>
                      </a:r>
                      <a:r>
                        <a:rPr lang="en-US" sz="11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 Rn[31:24]</a:t>
                      </a:r>
                      <a:endParaRPr lang="en-US" sz="1400" b="0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kern="1200" dirty="0" err="1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REVSH</a:t>
                      </a:r>
                      <a:r>
                        <a:rPr lang="en-US" sz="14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400" b="0" kern="120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Rd, Rn</a:t>
                      </a:r>
                      <a:endParaRPr lang="en-US" sz="1400" b="0" dirty="0">
                        <a:solidFill>
                          <a:schemeClr val="bg1">
                            <a:lumMod val="65000"/>
                          </a:schemeClr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kern="120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Reverse byte order in bottom half-word and sign extend</a:t>
                      </a:r>
                      <a:endParaRPr lang="en-US" sz="1400" b="1" dirty="0">
                        <a:solidFill>
                          <a:schemeClr val="bg1">
                            <a:lumMod val="65000"/>
                          </a:schemeClr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Rd[15:8] </a:t>
                      </a:r>
                      <a:r>
                        <a:rPr lang="en-US" sz="11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 Rn[7:0], Rd[7:0] </a:t>
                      </a:r>
                      <a:r>
                        <a:rPr lang="en-US" sz="11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 Rn[15:8], 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Rd[31:16] </a:t>
                      </a:r>
                      <a:r>
                        <a:rPr lang="en-US" sz="11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 Rn[7] &amp; </a:t>
                      </a:r>
                      <a:r>
                        <a:rPr lang="en-US" sz="1400" b="0" dirty="0" err="1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0xFFFF</a:t>
                      </a:r>
                      <a:endParaRPr lang="en-US" sz="1400" b="0" dirty="0">
                        <a:solidFill>
                          <a:schemeClr val="bg1">
                            <a:lumMod val="65000"/>
                          </a:schemeClr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703302262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Reverse Order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38</a:t>
            </a:fld>
            <a:endParaRPr kumimoji="0" lang="en-US" dirty="0"/>
          </a:p>
        </p:txBody>
      </p:sp>
      <p:sp>
        <p:nvSpPr>
          <p:cNvPr id="3" name="Rectangle 2"/>
          <p:cNvSpPr/>
          <p:nvPr/>
        </p:nvSpPr>
        <p:spPr>
          <a:xfrm>
            <a:off x="1785578" y="3733800"/>
            <a:ext cx="1652375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just"/>
            <a:r>
              <a:rPr lang="en-US" b="1" dirty="0" err="1">
                <a:solidFill>
                  <a:srgbClr val="C00000"/>
                </a:solidFill>
              </a:rPr>
              <a:t>REVSH</a:t>
            </a:r>
            <a:r>
              <a:rPr lang="en-US" dirty="0">
                <a:solidFill>
                  <a:srgbClr val="C00000"/>
                </a:solidFill>
              </a:rPr>
              <a:t> </a:t>
            </a:r>
            <a:r>
              <a:rPr lang="en-US" dirty="0"/>
              <a:t>Rd, Rn</a:t>
            </a:r>
            <a:endParaRPr lang="en-US" dirty="0">
              <a:latin typeface="Palatino Linotype"/>
              <a:ea typeface="宋体"/>
              <a:cs typeface="Times New Roman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2170618" y="4114800"/>
            <a:ext cx="43954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just"/>
            <a:r>
              <a:rPr lang="en-US" dirty="0"/>
              <a:t>Rn</a:t>
            </a:r>
            <a:endParaRPr lang="en-US" dirty="0">
              <a:latin typeface="Palatino Linotype"/>
              <a:ea typeface="宋体"/>
              <a:cs typeface="Times New Roman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2170618" y="4724400"/>
            <a:ext cx="44114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/>
              <a:t>Rd</a:t>
            </a:r>
          </a:p>
        </p:txBody>
      </p:sp>
      <p:sp>
        <p:nvSpPr>
          <p:cNvPr id="9" name="Rectangle 8"/>
          <p:cNvSpPr/>
          <p:nvPr/>
        </p:nvSpPr>
        <p:spPr>
          <a:xfrm>
            <a:off x="2414915" y="5565475"/>
            <a:ext cx="8153400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pt-BR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LDR R0, =0x33448899    </a:t>
            </a:r>
            <a:r>
              <a:rPr lang="pt-BR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R0 = 0x33448899</a:t>
            </a:r>
          </a:p>
          <a:p>
            <a:r>
              <a:rPr lang="pt-BR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REVSH R1, R0           </a:t>
            </a:r>
            <a:r>
              <a:rPr lang="pt-BR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R0 = 0xFFFF9988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98441" y="5181600"/>
            <a:ext cx="106086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Example: </a:t>
            </a:r>
          </a:p>
        </p:txBody>
      </p:sp>
      <p:pic>
        <p:nvPicPr>
          <p:cNvPr id="15362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11764" y="4162426"/>
            <a:ext cx="7334250" cy="942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graphicFrame>
        <p:nvGraphicFramePr>
          <p:cNvPr id="11" name="Table 1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73070377"/>
              </p:ext>
            </p:extLst>
          </p:nvPr>
        </p:nvGraphicFramePr>
        <p:xfrm>
          <a:off x="2188762" y="1304806"/>
          <a:ext cx="7679925" cy="2346960"/>
        </p:xfrm>
        <a:graphic>
          <a:graphicData uri="http://schemas.openxmlformats.org/drawingml/2006/table">
            <a:tbl>
              <a:tblPr firstCol="1" bandRow="1">
                <a:tableStyleId>{BC89EF96-8CEA-46FF-86C4-4CE0E7609802}</a:tableStyleId>
              </a:tblPr>
              <a:tblGrid>
                <a:gridCol w="15839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96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kern="1200" dirty="0" err="1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</a:rPr>
                        <a:t>RBIT</a:t>
                      </a:r>
                      <a:r>
                        <a:rPr lang="en-US" sz="1400" b="0" dirty="0">
                          <a:solidFill>
                            <a:srgbClr val="C00000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400" b="0" kern="1200" dirty="0">
                          <a:effectLst/>
                          <a:latin typeface="Consolas" panose="020B0609020204030204" pitchFamily="49" charset="0"/>
                        </a:rPr>
                        <a:t>Rd, Rn</a:t>
                      </a:r>
                      <a:endParaRPr lang="en-US" sz="14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kern="1200" dirty="0">
                          <a:effectLst/>
                          <a:latin typeface="Consolas" panose="020B0609020204030204" pitchFamily="49" charset="0"/>
                        </a:rPr>
                        <a:t>Reverse bit order in a word</a:t>
                      </a:r>
                      <a:endParaRPr lang="en-US" sz="1400" b="1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dirty="0">
                          <a:effectLst/>
                          <a:latin typeface="Consolas" panose="020B0609020204030204" pitchFamily="49" charset="0"/>
                        </a:rPr>
                        <a:t>for (</a:t>
                      </a:r>
                      <a:r>
                        <a:rPr lang="en-US" sz="1400" b="0" dirty="0" err="1">
                          <a:effectLst/>
                          <a:latin typeface="Consolas" panose="020B0609020204030204" pitchFamily="49" charset="0"/>
                        </a:rPr>
                        <a:t>i</a:t>
                      </a:r>
                      <a:r>
                        <a:rPr lang="en-US" sz="1400" b="0" dirty="0">
                          <a:effectLst/>
                          <a:latin typeface="Consolas" panose="020B0609020204030204" pitchFamily="49" charset="0"/>
                        </a:rPr>
                        <a:t> = 0; </a:t>
                      </a:r>
                      <a:r>
                        <a:rPr lang="en-US" sz="1400" b="0" dirty="0" err="1">
                          <a:effectLst/>
                          <a:latin typeface="Consolas" panose="020B0609020204030204" pitchFamily="49" charset="0"/>
                        </a:rPr>
                        <a:t>i</a:t>
                      </a:r>
                      <a:r>
                        <a:rPr lang="en-US" sz="1400" b="0" dirty="0">
                          <a:effectLst/>
                          <a:latin typeface="Consolas" panose="020B0609020204030204" pitchFamily="49" charset="0"/>
                        </a:rPr>
                        <a:t> &lt; 32; </a:t>
                      </a:r>
                      <a:r>
                        <a:rPr lang="en-US" sz="1400" b="0" dirty="0" err="1">
                          <a:effectLst/>
                          <a:latin typeface="Consolas" panose="020B0609020204030204" pitchFamily="49" charset="0"/>
                        </a:rPr>
                        <a:t>i</a:t>
                      </a:r>
                      <a:r>
                        <a:rPr lang="en-US" sz="1400" b="0" dirty="0">
                          <a:effectLst/>
                          <a:latin typeface="Consolas" panose="020B0609020204030204" pitchFamily="49" charset="0"/>
                        </a:rPr>
                        <a:t>++)  Rd[</a:t>
                      </a:r>
                      <a:r>
                        <a:rPr lang="en-US" sz="1400" b="0" dirty="0" err="1">
                          <a:effectLst/>
                          <a:latin typeface="Consolas" panose="020B0609020204030204" pitchFamily="49" charset="0"/>
                        </a:rPr>
                        <a:t>i</a:t>
                      </a:r>
                      <a:r>
                        <a:rPr lang="en-US" sz="1400" b="0" dirty="0">
                          <a:effectLst/>
                          <a:latin typeface="Consolas" panose="020B0609020204030204" pitchFamily="49" charset="0"/>
                        </a:rPr>
                        <a:t>] </a:t>
                      </a:r>
                      <a:r>
                        <a:rPr lang="en-US" sz="1100" b="0" dirty="0"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effectLst/>
                          <a:latin typeface="Consolas" panose="020B0609020204030204" pitchFamily="49" charset="0"/>
                        </a:rPr>
                        <a:t> RN[31– </a:t>
                      </a:r>
                      <a:r>
                        <a:rPr lang="en-US" sz="1400" b="0" dirty="0" err="1">
                          <a:effectLst/>
                          <a:latin typeface="Consolas" panose="020B0609020204030204" pitchFamily="49" charset="0"/>
                        </a:rPr>
                        <a:t>i</a:t>
                      </a:r>
                      <a:r>
                        <a:rPr lang="en-US" sz="1400" b="0" dirty="0">
                          <a:effectLst/>
                          <a:latin typeface="Consolas" panose="020B0609020204030204" pitchFamily="49" charset="0"/>
                        </a:rPr>
                        <a:t>]</a:t>
                      </a:r>
                      <a:endParaRPr lang="en-US" sz="14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kern="1200" dirty="0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</a:rPr>
                        <a:t>REV</a:t>
                      </a: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400" b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Rd, Rn</a:t>
                      </a:r>
                      <a:endParaRPr lang="en-US" sz="1400" b="0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Reverse byte order in a word</a:t>
                      </a:r>
                      <a:endParaRPr lang="en-US" sz="1400" b="1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Rd[31:24] </a:t>
                      </a:r>
                      <a:r>
                        <a:rPr lang="en-US" sz="11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 Rn[7:0], Rd[23:16] </a:t>
                      </a:r>
                      <a:r>
                        <a:rPr lang="en-US" sz="11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 Rn[15:8],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Rd[15:8] </a:t>
                      </a:r>
                      <a:r>
                        <a:rPr lang="en-US" sz="11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 Rn[23:16], Rd[7:0] </a:t>
                      </a:r>
                      <a:r>
                        <a:rPr lang="en-US" sz="11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 Rn[31:24]</a:t>
                      </a:r>
                      <a:endParaRPr lang="en-US" sz="1400" b="0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kern="1200" dirty="0" err="1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</a:rPr>
                        <a:t>REV16</a:t>
                      </a: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400" b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Rd, Rn</a:t>
                      </a:r>
                      <a:endParaRPr lang="en-US" sz="1400" b="0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R</a:t>
                      </a:r>
                      <a:r>
                        <a:rPr lang="en-US" sz="1400" b="1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everse byte order in each half-word</a:t>
                      </a:r>
                      <a:endParaRPr lang="en-US" sz="1400" b="1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Rd[15:8] </a:t>
                      </a:r>
                      <a:r>
                        <a:rPr lang="en-US" sz="11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 Rn[7:0], Rd[7:0] </a:t>
                      </a:r>
                      <a:r>
                        <a:rPr lang="en-US" sz="11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 Rn[15:8],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Rd[31:24] </a:t>
                      </a:r>
                      <a:r>
                        <a:rPr lang="en-US" sz="11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 Rn[23:16], Rd[23:16] </a:t>
                      </a:r>
                      <a:r>
                        <a:rPr lang="en-US" sz="11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 Rn[31:24]</a:t>
                      </a:r>
                      <a:endParaRPr lang="en-US" sz="1400" b="0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kern="1200" dirty="0" err="1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</a:rPr>
                        <a:t>REVSH</a:t>
                      </a: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400" b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Rd, Rn</a:t>
                      </a:r>
                      <a:endParaRPr lang="en-US" sz="1400" b="0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Reverse byte order in bottom half-word and sign extend</a:t>
                      </a:r>
                      <a:endParaRPr lang="en-US" sz="1400" b="1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Rd[15:8] </a:t>
                      </a:r>
                      <a:r>
                        <a:rPr lang="en-US" sz="11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 Rn[7:0], Rd[7:0] </a:t>
                      </a:r>
                      <a:r>
                        <a:rPr lang="en-US" sz="11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 Rn[15:8], 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Rd[31:16] </a:t>
                      </a:r>
                      <a:r>
                        <a:rPr lang="en-US" sz="11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 Rn[7] &amp; </a:t>
                      </a:r>
                      <a:r>
                        <a:rPr lang="en-US" sz="1400" b="0" dirty="0" err="1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0xFFFF</a:t>
                      </a:r>
                      <a:endParaRPr lang="en-US" sz="1400" b="0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321944581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Sign and Zero Extension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39</a:t>
            </a:fld>
            <a:endParaRPr kumimoji="0" lang="en-US" dirty="0"/>
          </a:p>
        </p:txBody>
      </p:sp>
      <p:sp>
        <p:nvSpPr>
          <p:cNvPr id="6" name="Rectangle 5"/>
          <p:cNvSpPr/>
          <p:nvPr/>
        </p:nvSpPr>
        <p:spPr>
          <a:xfrm>
            <a:off x="2095500" y="1995349"/>
            <a:ext cx="8001000" cy="1754326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int8_t  a = -1;  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// a signed 8-bit integer,  a = 0xFF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int16_t b = -2;  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// a signed 16-bit integer, b = 0xFFFE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int32_t c;       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// a signed 32-bit integer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c = a;           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// sign extension required, </a:t>
            </a:r>
            <a:r>
              <a:rPr lang="en-US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 = 0xFFFFFFFF 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c = b;           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// sign extension required, </a:t>
            </a:r>
            <a:r>
              <a:rPr lang="en-US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 = 0xFFFFFFFE</a:t>
            </a:r>
          </a:p>
        </p:txBody>
      </p:sp>
    </p:spTree>
    <p:extLst>
      <p:ext uri="{BB962C8B-B14F-4D97-AF65-F5344CB8AC3E}">
        <p14:creationId xmlns:p14="http://schemas.microsoft.com/office/powerpoint/2010/main" val="3152283833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Sign and Zero Extension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40</a:t>
            </a:fld>
            <a:endParaRPr kumimoji="0" lang="en-US" dirty="0"/>
          </a:p>
        </p:txBody>
      </p:sp>
      <p:sp>
        <p:nvSpPr>
          <p:cNvPr id="6" name="Rectangle 5"/>
          <p:cNvSpPr/>
          <p:nvPr/>
        </p:nvSpPr>
        <p:spPr>
          <a:xfrm>
            <a:off x="3505200" y="4420711"/>
            <a:ext cx="4572000" cy="1477328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>
            <a:spAutoFit/>
          </a:bodyPr>
          <a:lstStyle/>
          <a:p>
            <a:r>
              <a:rPr lang="pt-BR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LDR R0, =0x55AA8765</a:t>
            </a:r>
          </a:p>
          <a:p>
            <a:r>
              <a:rPr lang="pt-BR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SXTB R1, R0	</a:t>
            </a:r>
            <a:r>
              <a:rPr lang="pt-BR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R1 = 0x00000065</a:t>
            </a:r>
          </a:p>
          <a:p>
            <a:r>
              <a:rPr lang="pt-BR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SXTH R1, R0	</a:t>
            </a:r>
            <a:r>
              <a:rPr lang="pt-BR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R1 = 0xFFFF8765</a:t>
            </a:r>
          </a:p>
          <a:p>
            <a:r>
              <a:rPr lang="pt-BR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UXTB R1, R0	</a:t>
            </a:r>
            <a:r>
              <a:rPr lang="pt-BR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R1 = 0x00000065</a:t>
            </a:r>
          </a:p>
          <a:p>
            <a:r>
              <a:rPr lang="pt-BR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UXTH R1, R0	</a:t>
            </a:r>
            <a:r>
              <a:rPr lang="pt-BR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R1 = 0x00008765</a:t>
            </a:r>
            <a:endParaRPr lang="en-US" b="1" dirty="0">
              <a:solidFill>
                <a:schemeClr val="bg1">
                  <a:lumMod val="50000"/>
                </a:schemeClr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66680916"/>
              </p:ext>
            </p:extLst>
          </p:nvPr>
        </p:nvGraphicFramePr>
        <p:xfrm>
          <a:off x="1981200" y="1371600"/>
          <a:ext cx="8458200" cy="2590800"/>
        </p:xfrm>
        <a:graphic>
          <a:graphicData uri="http://schemas.openxmlformats.org/drawingml/2006/table">
            <a:tbl>
              <a:tblPr firstCol="1" bandRow="1">
                <a:tableStyleId>{BC89EF96-8CEA-46FF-86C4-4CE0E7609802}</a:tableStyleId>
              </a:tblPr>
              <a:tblGrid>
                <a:gridCol w="307997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37822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647700"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 err="1">
                          <a:solidFill>
                            <a:srgbClr val="C00000"/>
                          </a:solidFill>
                          <a:effectLst/>
                          <a:latin typeface="Consolas" panose="020B0609020204030204" pitchFamily="49" charset="0"/>
                        </a:rPr>
                        <a:t>SXTB</a:t>
                      </a:r>
                      <a:r>
                        <a:rPr lang="en-US" sz="1600" b="0" dirty="0">
                          <a:solidFill>
                            <a:srgbClr val="C00000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{Rd,} Rm {,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</a:rPr>
                        <a:t>ROR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 #n}</a:t>
                      </a:r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>
                          <a:effectLst/>
                          <a:latin typeface="Consolas" panose="020B0609020204030204" pitchFamily="49" charset="0"/>
                        </a:rPr>
                        <a:t>Sign extend a byte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Rd[31:0] 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 Sign Extend((Rm ROR (8 × n))[7:0])</a:t>
                      </a:r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47700"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 err="1">
                          <a:solidFill>
                            <a:srgbClr val="C00000"/>
                          </a:solidFill>
                          <a:effectLst/>
                          <a:latin typeface="Consolas" panose="020B0609020204030204" pitchFamily="49" charset="0"/>
                        </a:rPr>
                        <a:t>SXTH</a:t>
                      </a:r>
                      <a:r>
                        <a:rPr lang="en-US" sz="1600" b="0" dirty="0">
                          <a:solidFill>
                            <a:srgbClr val="C00000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{Rd,} Rm {,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</a:rPr>
                        <a:t>ROR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 #n}</a:t>
                      </a:r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>
                          <a:effectLst/>
                          <a:latin typeface="Consolas" panose="020B0609020204030204" pitchFamily="49" charset="0"/>
                        </a:rPr>
                        <a:t>Sign extend a half-word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Rd[31:0] 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 Sign Extend((Rm ROR (8 × n))[15:0])</a:t>
                      </a:r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47700"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 err="1">
                          <a:solidFill>
                            <a:srgbClr val="C00000"/>
                          </a:solidFill>
                          <a:effectLst/>
                          <a:latin typeface="Consolas" panose="020B0609020204030204" pitchFamily="49" charset="0"/>
                        </a:rPr>
                        <a:t>UXTB</a:t>
                      </a:r>
                      <a:r>
                        <a:rPr lang="en-US" sz="1600" b="0" dirty="0">
                          <a:solidFill>
                            <a:srgbClr val="C00000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{Rd,} Rm {,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</a:rPr>
                        <a:t>ROR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 #n}</a:t>
                      </a:r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>
                          <a:effectLst/>
                          <a:latin typeface="Consolas" panose="020B0609020204030204" pitchFamily="49" charset="0"/>
                        </a:rPr>
                        <a:t>Zero extend a byte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Rd[31:0] 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 Zero Extend((Rm ROR (8 × n))[7:0])</a:t>
                      </a:r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47700"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 err="1">
                          <a:solidFill>
                            <a:srgbClr val="C00000"/>
                          </a:solidFill>
                          <a:effectLst/>
                          <a:latin typeface="Consolas" panose="020B0609020204030204" pitchFamily="49" charset="0"/>
                        </a:rPr>
                        <a:t>UXTH</a:t>
                      </a:r>
                      <a:r>
                        <a:rPr lang="en-US" sz="1600" b="0" dirty="0">
                          <a:solidFill>
                            <a:srgbClr val="C00000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{Rd,} Rm {,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</a:rPr>
                        <a:t>ROR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 #n}</a:t>
                      </a:r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>
                          <a:effectLst/>
                          <a:latin typeface="Consolas" panose="020B0609020204030204" pitchFamily="49" charset="0"/>
                        </a:rPr>
                        <a:t>Zero extend a half-word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Rd[31:0] 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 Zero Extend((Rm 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</a:rPr>
                        <a:t>ROR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 (8 × n))[15:0])</a:t>
                      </a:r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459654649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571338-9B12-4444-96ED-A487C6365C40}" type="slidenum">
              <a:rPr lang="en-US" altLang="zh-TW"/>
              <a:pPr/>
              <a:t>41</a:t>
            </a:fld>
            <a:endParaRPr lang="en-US" altLang="zh-TW"/>
          </a:p>
        </p:txBody>
      </p:sp>
      <p:sp>
        <p:nvSpPr>
          <p:cNvPr id="78950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Move Data between Registers</a:t>
            </a:r>
            <a:endParaRPr lang="zh-TW" altLang="en-US" dirty="0"/>
          </a:p>
        </p:txBody>
      </p:sp>
      <p:sp>
        <p:nvSpPr>
          <p:cNvPr id="789507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2286000" y="3352800"/>
            <a:ext cx="7391400" cy="1600200"/>
          </a:xfr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>
            <a:noAutofit/>
          </a:bodyPr>
          <a:lstStyle/>
          <a:p>
            <a:pPr marL="0" indent="0">
              <a:lnSpc>
                <a:spcPct val="90000"/>
              </a:lnSpc>
              <a:buNone/>
            </a:pPr>
            <a:r>
              <a:rPr lang="pt-BR" altLang="zh-TW" sz="18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MOV r4, r5            </a:t>
            </a:r>
            <a:r>
              <a:rPr lang="pt-BR" altLang="zh-TW" sz="18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Copy r5 to r4</a:t>
            </a:r>
          </a:p>
          <a:p>
            <a:pPr marL="0" indent="0">
              <a:lnSpc>
                <a:spcPct val="90000"/>
              </a:lnSpc>
              <a:buNone/>
            </a:pPr>
            <a:r>
              <a:rPr lang="pt-BR" altLang="zh-TW" sz="18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MVN r4, r5            </a:t>
            </a:r>
            <a:r>
              <a:rPr lang="pt-BR" altLang="zh-TW" sz="18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r4 = bitwise logical NOT of r5</a:t>
            </a:r>
          </a:p>
          <a:p>
            <a:pPr marL="0" indent="0">
              <a:lnSpc>
                <a:spcPct val="90000"/>
              </a:lnSpc>
              <a:buNone/>
            </a:pPr>
            <a:r>
              <a:rPr lang="pt-BR" altLang="zh-TW" sz="18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MOV r1, r2, LSL #3    </a:t>
            </a:r>
            <a:r>
              <a:rPr lang="pt-BR" altLang="zh-TW" sz="18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r1 = r2 &lt;&lt; 3</a:t>
            </a:r>
          </a:p>
          <a:p>
            <a:pPr marL="0" indent="0">
              <a:lnSpc>
                <a:spcPct val="90000"/>
              </a:lnSpc>
              <a:buNone/>
            </a:pPr>
            <a:r>
              <a:rPr lang="pt-BR" altLang="zh-TW" sz="18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MOV r0, PC            </a:t>
            </a:r>
            <a:r>
              <a:rPr lang="pt-BR" altLang="zh-TW" sz="18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Copy PC (r15) to r0</a:t>
            </a:r>
          </a:p>
          <a:p>
            <a:pPr marL="0" indent="0">
              <a:lnSpc>
                <a:spcPct val="90000"/>
              </a:lnSpc>
              <a:buNone/>
            </a:pPr>
            <a:r>
              <a:rPr lang="pt-BR" altLang="zh-TW" sz="18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MOV r1, SP            </a:t>
            </a:r>
            <a:r>
              <a:rPr lang="pt-BR" altLang="zh-TW" sz="18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Copy SP (r14) to r1</a:t>
            </a:r>
          </a:p>
        </p:txBody>
      </p:sp>
      <p:graphicFrame>
        <p:nvGraphicFramePr>
          <p:cNvPr id="2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86674935"/>
              </p:ext>
            </p:extLst>
          </p:nvPr>
        </p:nvGraphicFramePr>
        <p:xfrm>
          <a:off x="2136648" y="1447800"/>
          <a:ext cx="7696200" cy="1295400"/>
        </p:xfrm>
        <a:graphic>
          <a:graphicData uri="http://schemas.openxmlformats.org/drawingml/2006/table">
            <a:tbl>
              <a:tblPr firstCol="1" bandRow="1">
                <a:tableStyleId>{BC89EF96-8CEA-46FF-86C4-4CE0E7609802}</a:tableStyleId>
              </a:tblPr>
              <a:tblGrid>
                <a:gridCol w="228717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40902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23850"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 err="1">
                          <a:solidFill>
                            <a:srgbClr val="C00000"/>
                          </a:solidFill>
                          <a:effectLst/>
                          <a:latin typeface="Consolas" panose="020B0609020204030204" pitchFamily="49" charset="0"/>
                        </a:rPr>
                        <a:t>MOV</a:t>
                      </a:r>
                      <a:endParaRPr lang="en-US" sz="1600" b="1" dirty="0">
                        <a:solidFill>
                          <a:srgbClr val="C00000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0">
                          <a:effectLst/>
                          <a:latin typeface="Consolas" panose="020B0609020204030204" pitchFamily="49" charset="0"/>
                        </a:rPr>
                        <a:t>Rd </a:t>
                      </a:r>
                      <a:r>
                        <a:rPr lang="en-US" sz="1600" b="0"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600" b="0">
                          <a:effectLst/>
                          <a:latin typeface="Consolas" panose="020B0609020204030204" pitchFamily="49" charset="0"/>
                        </a:rPr>
                        <a:t> operand2</a:t>
                      </a:r>
                      <a:endParaRPr lang="en-US" sz="1600" b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3850"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 err="1">
                          <a:solidFill>
                            <a:srgbClr val="C00000"/>
                          </a:solidFill>
                          <a:effectLst/>
                          <a:latin typeface="Consolas" panose="020B0609020204030204" pitchFamily="49" charset="0"/>
                        </a:rPr>
                        <a:t>MVN</a:t>
                      </a:r>
                      <a:endParaRPr lang="en-US" sz="1600" b="1" dirty="0">
                        <a:solidFill>
                          <a:srgbClr val="C00000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0">
                          <a:effectLst/>
                          <a:latin typeface="Consolas" panose="020B0609020204030204" pitchFamily="49" charset="0"/>
                        </a:rPr>
                        <a:t>Rd </a:t>
                      </a:r>
                      <a:r>
                        <a:rPr lang="en-US" sz="1600" b="0"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600" b="0">
                          <a:effectLst/>
                          <a:latin typeface="Consolas" panose="020B0609020204030204" pitchFamily="49" charset="0"/>
                        </a:rPr>
                        <a:t> NOT operand2</a:t>
                      </a:r>
                      <a:endParaRPr lang="en-US" sz="1600" b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3850"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 err="1">
                          <a:solidFill>
                            <a:srgbClr val="C00000"/>
                          </a:solidFill>
                          <a:effectLst/>
                          <a:latin typeface="Consolas" panose="020B0609020204030204" pitchFamily="49" charset="0"/>
                        </a:rPr>
                        <a:t>MRS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 Rd, 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</a:rPr>
                        <a:t>spec_reg</a:t>
                      </a:r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0">
                          <a:effectLst/>
                          <a:latin typeface="Consolas" panose="020B0609020204030204" pitchFamily="49" charset="0"/>
                        </a:rPr>
                        <a:t>Move from special register to general register</a:t>
                      </a:r>
                      <a:endParaRPr lang="en-US" sz="1600" b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3850"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 err="1">
                          <a:solidFill>
                            <a:srgbClr val="C00000"/>
                          </a:solidFill>
                          <a:effectLst/>
                          <a:latin typeface="Consolas" panose="020B0609020204030204" pitchFamily="49" charset="0"/>
                        </a:rPr>
                        <a:t>MSR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</a:rPr>
                        <a:t>spec_reg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, Rm</a:t>
                      </a:r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Move from general register to special register</a:t>
                      </a:r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059043100"/>
      </p:ext>
    </p:extLst>
  </p:cSld>
  <p:clrMapOvr>
    <a:masterClrMapping/>
  </p:clrMapOvr>
  <p:transition/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571338-9B12-4444-96ED-A487C6365C40}" type="slidenum">
              <a:rPr lang="en-US" altLang="zh-TW"/>
              <a:pPr/>
              <a:t>42</a:t>
            </a:fld>
            <a:endParaRPr lang="en-US" altLang="zh-TW"/>
          </a:p>
        </p:txBody>
      </p:sp>
      <p:sp>
        <p:nvSpPr>
          <p:cNvPr id="78950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Move Immediate Number to Register</a:t>
            </a:r>
            <a:endParaRPr lang="zh-TW" altLang="en-US" dirty="0"/>
          </a:p>
        </p:txBody>
      </p:sp>
      <p:sp>
        <p:nvSpPr>
          <p:cNvPr id="789507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3962400" y="3218020"/>
            <a:ext cx="5105400" cy="762000"/>
          </a:xfr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>
            <a:noAutofit/>
          </a:bodyPr>
          <a:lstStyle/>
          <a:p>
            <a:pPr marL="0" indent="0">
              <a:lnSpc>
                <a:spcPct val="90000"/>
              </a:lnSpc>
              <a:buNone/>
            </a:pPr>
            <a:r>
              <a:rPr lang="pt-BR" altLang="zh-TW" sz="18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MOVW r0, #0x4321    </a:t>
            </a:r>
            <a:r>
              <a:rPr lang="pt-BR" altLang="zh-TW" sz="18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r0 = 0x00004321</a:t>
            </a:r>
          </a:p>
          <a:p>
            <a:pPr marL="0" indent="0">
              <a:lnSpc>
                <a:spcPct val="90000"/>
              </a:lnSpc>
              <a:buNone/>
            </a:pPr>
            <a:r>
              <a:rPr lang="pt-BR" altLang="zh-TW" sz="18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MOVT r0, #0x8765    </a:t>
            </a:r>
            <a:r>
              <a:rPr lang="pt-BR" altLang="zh-TW" sz="18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r0 = 0x87654321</a:t>
            </a:r>
          </a:p>
          <a:p>
            <a:pPr marL="0" indent="0">
              <a:lnSpc>
                <a:spcPct val="90000"/>
              </a:lnSpc>
              <a:buNone/>
            </a:pPr>
            <a:endParaRPr lang="pt-BR" altLang="zh-TW" sz="1800" b="1" dirty="0">
              <a:solidFill>
                <a:srgbClr val="C0000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graphicFrame>
        <p:nvGraphicFramePr>
          <p:cNvPr id="2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5002443"/>
              </p:ext>
            </p:extLst>
          </p:nvPr>
        </p:nvGraphicFramePr>
        <p:xfrm>
          <a:off x="3543300" y="1316326"/>
          <a:ext cx="5943600" cy="1247829"/>
        </p:xfrm>
        <a:graphic>
          <a:graphicData uri="http://schemas.openxmlformats.org/drawingml/2006/table">
            <a:tbl>
              <a:tblPr firstCol="1" bandRow="1">
                <a:tableStyleId>{BC89EF96-8CEA-46FF-86C4-4CE0E7609802}</a:tableStyleId>
              </a:tblPr>
              <a:tblGrid>
                <a:gridCol w="225877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8482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15943"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>
                          <a:solidFill>
                            <a:srgbClr val="C00000"/>
                          </a:solidFill>
                          <a:effectLst/>
                          <a:latin typeface="Consolas" panose="020B0609020204030204" pitchFamily="49" charset="0"/>
                        </a:rPr>
                        <a:t>MOVW 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Rd, #imm16</a:t>
                      </a:r>
                      <a:endParaRPr lang="en-US" sz="1600" b="1" dirty="0">
                        <a:solidFill>
                          <a:srgbClr val="C00000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>
                          <a:effectLst/>
                          <a:latin typeface="Consolas" panose="020B0609020204030204" pitchFamily="49" charset="0"/>
                        </a:rPr>
                        <a:t>Move Wide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,  Rd 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 #imm16</a:t>
                      </a:r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5943"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>
                          <a:solidFill>
                            <a:srgbClr val="C00000"/>
                          </a:solidFill>
                          <a:effectLst/>
                          <a:latin typeface="Consolas" panose="020B0609020204030204" pitchFamily="49" charset="0"/>
                        </a:rPr>
                        <a:t>MOVT 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Rd, #imm16</a:t>
                      </a:r>
                      <a:endParaRPr lang="en-US" sz="1600" b="1" dirty="0">
                        <a:solidFill>
                          <a:srgbClr val="C00000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>
                          <a:effectLst/>
                          <a:latin typeface="Consolas" panose="020B0609020204030204" pitchFamily="49" charset="0"/>
                        </a:rPr>
                        <a:t>Move Top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, Rd 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 #imm16 &lt;&lt; 16</a:t>
                      </a:r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5943"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>
                          <a:solidFill>
                            <a:srgbClr val="C00000"/>
                          </a:solidFill>
                          <a:effectLst/>
                          <a:latin typeface="Consolas" panose="020B0609020204030204" pitchFamily="49" charset="0"/>
                        </a:rPr>
                        <a:t>MOV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 Rd, #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</a:rPr>
                        <a:t>const</a:t>
                      </a:r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>
                          <a:effectLst/>
                          <a:latin typeface="Consolas" panose="020B0609020204030204" pitchFamily="49" charset="0"/>
                        </a:rPr>
                        <a:t>Move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, Rd 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sym typeface="Symbol"/>
                        </a:rPr>
                        <a:t> 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  <a:sym typeface="Symbol"/>
                        </a:rPr>
                        <a:t>const</a:t>
                      </a:r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3" name="Rectangle 2">
            <a:extLst>
              <a:ext uri="{FF2B5EF4-FFF2-40B4-BE49-F238E27FC236}">
                <a16:creationId xmlns:a16="http://schemas.microsoft.com/office/drawing/2014/main" id="{5EBE0760-6769-4463-87A6-B11275CD8231}"/>
              </a:ext>
            </a:extLst>
          </p:cNvPr>
          <p:cNvSpPr/>
          <p:nvPr/>
        </p:nvSpPr>
        <p:spPr>
          <a:xfrm>
            <a:off x="3200401" y="4492823"/>
            <a:ext cx="3901133" cy="646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latin typeface="Consolas" panose="020B0609020204030204" pitchFamily="49" charset="0"/>
              </a:rPr>
              <a:t>MOVW</a:t>
            </a:r>
            <a:r>
              <a:rPr lang="en-US" dirty="0"/>
              <a:t> will zero the upper halfword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latin typeface="Consolas" panose="020B0609020204030204" pitchFamily="49" charset="0"/>
              </a:rPr>
              <a:t>MOVT</a:t>
            </a:r>
            <a:r>
              <a:rPr lang="en-US" dirty="0"/>
              <a:t> won’t zero the lower halfword</a:t>
            </a:r>
          </a:p>
        </p:txBody>
      </p:sp>
      <p:sp>
        <p:nvSpPr>
          <p:cNvPr id="7" name="Rectangle 3">
            <a:extLst>
              <a:ext uri="{FF2B5EF4-FFF2-40B4-BE49-F238E27FC236}">
                <a16:creationId xmlns:a16="http://schemas.microsoft.com/office/drawing/2014/main" id="{B27B3EE2-112D-476A-AEA7-FFD0C40971E1}"/>
              </a:ext>
            </a:extLst>
          </p:cNvPr>
          <p:cNvSpPr txBox="1">
            <a:spLocks noChangeArrowheads="1"/>
          </p:cNvSpPr>
          <p:nvPr/>
        </p:nvSpPr>
        <p:spPr>
          <a:xfrm>
            <a:off x="3962400" y="5257800"/>
            <a:ext cx="5105400" cy="762000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vert="horz">
            <a:noAutofit/>
          </a:bodyPr>
          <a:lstStyle>
            <a:lvl1pPr marL="274320" indent="-274320" algn="l" rtl="0" eaLnBrk="1" latinLnBrk="0" hangingPunct="1">
              <a:spcBef>
                <a:spcPts val="600"/>
              </a:spcBef>
              <a:buClr>
                <a:schemeClr val="accent1"/>
              </a:buClr>
              <a:buSzPct val="76000"/>
              <a:buFont typeface="Wingdings 3"/>
              <a:buChar char=""/>
              <a:defRPr kumimoji="0" sz="26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548640" indent="-274320" algn="l" rtl="0" eaLnBrk="1" latinLnBrk="0" hangingPunct="1">
              <a:spcBef>
                <a:spcPts val="500"/>
              </a:spcBef>
              <a:buClr>
                <a:schemeClr val="accent2"/>
              </a:buClr>
              <a:buSzPct val="76000"/>
              <a:buFont typeface="Wingdings 3"/>
              <a:buChar char=""/>
              <a:defRPr kumimoji="0" sz="23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822960" indent="-228600" algn="l" rtl="0" eaLnBrk="1" latinLnBrk="0" hangingPunct="1">
              <a:spcBef>
                <a:spcPts val="500"/>
              </a:spcBef>
              <a:buClr>
                <a:schemeClr val="bg1">
                  <a:shade val="50000"/>
                </a:schemeClr>
              </a:buClr>
              <a:buSzPct val="76000"/>
              <a:buFont typeface="Wingdings 3"/>
              <a:buChar char=""/>
              <a:defRPr kumimoji="0" sz="20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097280" indent="-228600" algn="l" rtl="0" eaLnBrk="1" latinLnBrk="0" hangingPunct="1">
              <a:spcBef>
                <a:spcPts val="400"/>
              </a:spcBef>
              <a:buClr>
                <a:schemeClr val="accent2">
                  <a:shade val="75000"/>
                </a:schemeClr>
              </a:buClr>
              <a:buSzPct val="70000"/>
              <a:buFont typeface="Wingdings"/>
              <a:buChar char=""/>
              <a:defRPr kumimoji="0"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371600" indent="-228600" algn="l" rtl="0" eaLnBrk="1" latinLnBrk="0" hangingPunct="1">
              <a:spcBef>
                <a:spcPts val="300"/>
              </a:spcBef>
              <a:buClr>
                <a:schemeClr val="accent2"/>
              </a:buClr>
              <a:buSzPct val="70000"/>
              <a:buFont typeface="Wingdings"/>
              <a:buChar char=""/>
              <a:defRPr kumimoji="0" sz="16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1645920" indent="-182880" algn="l" rtl="0" eaLnBrk="1" latinLnBrk="0" hangingPunct="1">
              <a:spcBef>
                <a:spcPts val="300"/>
              </a:spcBef>
              <a:buClr>
                <a:srgbClr val="9FB8CD">
                  <a:shade val="75000"/>
                </a:srgbClr>
              </a:buClr>
              <a:buSzPct val="75000"/>
              <a:buFont typeface="Wingdings 3"/>
              <a:buChar char=""/>
              <a:defRPr kumimoji="0" lang="en-US" sz="1600" kern="1200" smtClean="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1828800" indent="-182880" algn="l" rtl="0" eaLnBrk="1" latinLnBrk="0" hangingPunct="1">
              <a:spcBef>
                <a:spcPts val="300"/>
              </a:spcBef>
              <a:buClr>
                <a:srgbClr val="727CA3">
                  <a:shade val="75000"/>
                </a:srgbClr>
              </a:buClr>
              <a:buSzPct val="75000"/>
              <a:buFont typeface="Wingdings 3"/>
              <a:buChar char=""/>
              <a:defRPr kumimoji="0" lang="en-US" sz="1400" kern="1200" smtClean="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2011680" indent="-182880" algn="l" rtl="0" eaLnBrk="1" latinLnBrk="0" hangingPunct="1">
              <a:spcBef>
                <a:spcPts val="300"/>
              </a:spcBef>
              <a:buClr>
                <a:prstClr val="white">
                  <a:shade val="50000"/>
                </a:prstClr>
              </a:buClr>
              <a:buSzPct val="75000"/>
              <a:buFont typeface="Wingdings 3"/>
              <a:buChar char=""/>
              <a:defRPr kumimoji="0" lang="en-US" sz="1400" kern="1200" smtClean="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2194560" indent="-182880" algn="l" rtl="0" eaLnBrk="1" latinLnBrk="0" hangingPunct="1">
              <a:spcBef>
                <a:spcPts val="300"/>
              </a:spcBef>
              <a:buClr>
                <a:srgbClr val="9FB8CD"/>
              </a:buClr>
              <a:buSzPct val="75000"/>
              <a:buFont typeface="Wingdings 3"/>
              <a:buChar char=""/>
              <a:defRPr kumimoji="0" lang="en-US" sz="1200" kern="1200" smtClean="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90000"/>
              </a:lnSpc>
              <a:buNone/>
            </a:pPr>
            <a:r>
              <a:rPr lang="pt-BR" altLang="zh-TW" sz="18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MOVT r0, #0x8765    </a:t>
            </a:r>
            <a:r>
              <a:rPr lang="pt-BR" altLang="zh-TW" sz="18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r0 = 0x8765xxxx</a:t>
            </a:r>
          </a:p>
          <a:p>
            <a:pPr marL="0" indent="0">
              <a:lnSpc>
                <a:spcPct val="90000"/>
              </a:lnSpc>
              <a:buNone/>
            </a:pPr>
            <a:r>
              <a:rPr lang="pt-BR" altLang="zh-TW" sz="18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MOVW r0, #0x4321    </a:t>
            </a:r>
            <a:r>
              <a:rPr lang="pt-BR" altLang="zh-TW" sz="18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r0 = 0x00004321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816001C-16DC-44CD-A44F-4F1CF6EF3D3C}"/>
              </a:ext>
            </a:extLst>
          </p:cNvPr>
          <p:cNvSpPr txBox="1"/>
          <p:nvPr/>
        </p:nvSpPr>
        <p:spPr>
          <a:xfrm>
            <a:off x="2667001" y="4133080"/>
            <a:ext cx="204709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1">
                    <a:lumMod val="75000"/>
                  </a:schemeClr>
                </a:solidFill>
              </a:rPr>
              <a:t>Order does matter!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4C49EE0-C28A-47E9-BF5E-0848074C94F1}"/>
              </a:ext>
            </a:extLst>
          </p:cNvPr>
          <p:cNvSpPr txBox="1"/>
          <p:nvPr/>
        </p:nvSpPr>
        <p:spPr>
          <a:xfrm>
            <a:off x="2023025" y="2695628"/>
            <a:ext cx="492032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Example: Load a 32-bit number into a register</a:t>
            </a:r>
          </a:p>
        </p:txBody>
      </p:sp>
    </p:spTree>
    <p:extLst>
      <p:ext uri="{BB962C8B-B14F-4D97-AF65-F5344CB8AC3E}">
        <p14:creationId xmlns:p14="http://schemas.microsoft.com/office/powerpoint/2010/main" val="1380735846"/>
      </p:ext>
    </p:extLst>
  </p:cSld>
  <p:clrMapOvr>
    <a:masterClrMapping/>
  </p:clrMapOvr>
  <p:transition/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8FF2F1-5CB1-474C-B3BA-56EA6EC288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Flexible 2</a:t>
            </a:r>
            <a:r>
              <a:rPr lang="en-US" baseline="30000" dirty="0"/>
              <a:t>nd</a:t>
            </a:r>
            <a:r>
              <a:rPr lang="en-US" dirty="0"/>
              <a:t> Source Operand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1E1CD31-2F76-5044-9C79-FD9248977D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43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292989E-5BA0-3248-ACDD-E59483B687AB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609600" y="4128497"/>
            <a:ext cx="10972800" cy="2055024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US" sz="2400" b="1" dirty="0">
                <a:latin typeface="Consolas" panose="020B0609020204030204" pitchFamily="49" charset="0"/>
                <a:cs typeface="Consolas" panose="020B0609020204030204" pitchFamily="49" charset="0"/>
              </a:rPr>
              <a:t>ADD r0, r1, </a:t>
            </a:r>
            <a:r>
              <a:rPr lang="en-US" sz="2400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Operand2</a:t>
            </a:r>
          </a:p>
          <a:p>
            <a:pPr marL="0" indent="0">
              <a:buNone/>
            </a:pPr>
            <a:endParaRPr lang="en-US" sz="7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Add r0, r1, 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r2 </a:t>
            </a:r>
            <a:r>
              <a:rPr lang="en-US" sz="24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r0 = r1 + r2</a:t>
            </a: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Add r0, r1, </a:t>
            </a:r>
            <a:r>
              <a:rPr lang="en-US" sz="2400" dirty="0">
                <a:solidFill>
                  <a:srgbClr val="00B05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#1 </a:t>
            </a:r>
            <a:r>
              <a:rPr lang="en-US" sz="24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r0 = r1 + 1</a:t>
            </a: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Add r0, r1, 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r2 LSL </a:t>
            </a:r>
            <a:r>
              <a:rPr lang="en-US" sz="2400" dirty="0">
                <a:solidFill>
                  <a:srgbClr val="00B05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#2 </a:t>
            </a:r>
            <a:r>
              <a:rPr lang="en-US" sz="24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r0 = r1 + r2 &lt;&lt; 2</a:t>
            </a:r>
          </a:p>
          <a:p>
            <a:endParaRPr lang="en-US" sz="2400" dirty="0">
              <a:solidFill>
                <a:schemeClr val="bg1">
                  <a:lumMod val="50000"/>
                </a:schemeClr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endParaRPr lang="en-US" sz="2400" dirty="0">
              <a:solidFill>
                <a:srgbClr val="FF000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5484C1CC-A4A2-C84E-A828-32DAA7FED6FA}"/>
              </a:ext>
            </a:extLst>
          </p:cNvPr>
          <p:cNvGrpSpPr/>
          <p:nvPr/>
        </p:nvGrpSpPr>
        <p:grpSpPr>
          <a:xfrm>
            <a:off x="2743200" y="1498409"/>
            <a:ext cx="7194288" cy="2536686"/>
            <a:chOff x="2498856" y="3655224"/>
            <a:chExt cx="7194288" cy="2536686"/>
          </a:xfrm>
        </p:grpSpPr>
        <p:pic>
          <p:nvPicPr>
            <p:cNvPr id="6" name="Picture 2">
              <a:extLst>
                <a:ext uri="{FF2B5EF4-FFF2-40B4-BE49-F238E27FC236}">
                  <a16:creationId xmlns:a16="http://schemas.microsoft.com/office/drawing/2014/main" id="{043F6647-7BEA-1347-BCBA-CA3092CF71D7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498856" y="3655224"/>
              <a:ext cx="7194288" cy="182880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76453D5C-05CB-BD41-92C5-48E2C985D8EF}"/>
                </a:ext>
              </a:extLst>
            </p:cNvPr>
            <p:cNvSpPr/>
            <p:nvPr/>
          </p:nvSpPr>
          <p:spPr>
            <a:xfrm>
              <a:off x="4241800" y="5484024"/>
              <a:ext cx="1879600" cy="707886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en-US" sz="2000" dirty="0">
                  <a:solidFill>
                    <a:srgbClr val="0432FF"/>
                  </a:solidFill>
                  <a:latin typeface="Consolas" panose="020B0609020204030204" pitchFamily="49" charset="0"/>
                </a:rPr>
                <a:t>LSL,LSR,ASR,</a:t>
              </a:r>
            </a:p>
            <a:p>
              <a:pPr algn="ctr"/>
              <a:r>
                <a:rPr lang="en-US" sz="2000" dirty="0">
                  <a:solidFill>
                    <a:srgbClr val="0432FF"/>
                  </a:solidFill>
                  <a:latin typeface="Consolas" panose="020B0609020204030204" pitchFamily="49" charset="0"/>
                </a:rPr>
                <a:t>ROR,RRX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315523500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Use Shifts To Implement Multiplication And Division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44</a:t>
            </a:fld>
            <a:endParaRPr kumimoji="0"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quarter" idx="1"/>
          </p:nvPr>
        </p:nvSpPr>
        <p:spPr>
          <a:xfrm>
            <a:off x="609600" y="1219200"/>
            <a:ext cx="8915400" cy="4937760"/>
          </a:xfrm>
        </p:spPr>
        <p:txBody>
          <a:bodyPr>
            <a:normAutofit/>
          </a:bodyPr>
          <a:lstStyle/>
          <a:p>
            <a:r>
              <a:rPr lang="en-US" sz="2400" dirty="0"/>
              <a:t>Use Barrel shifter to speed up multiplication and division</a:t>
            </a:r>
          </a:p>
          <a:p>
            <a:pPr lvl="1"/>
            <a:r>
              <a:rPr lang="en-US" sz="2100" dirty="0"/>
              <a:t>Shifting left 1 bit &lt;=&gt; multiplication by 2</a:t>
            </a:r>
          </a:p>
          <a:p>
            <a:r>
              <a:rPr lang="en-US" sz="2400" dirty="0"/>
              <a:t>Examples:</a:t>
            </a:r>
          </a:p>
          <a:p>
            <a:pPr lvl="1"/>
            <a:r>
              <a:rPr lang="en-US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r1 = 9 × r0 = r0 + 8 × r0 </a:t>
            </a:r>
          </a:p>
          <a:p>
            <a:pPr marL="274320" lvl="1" indent="0">
              <a:buNone/>
            </a:pP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sz="2000" b="1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ADD r1, r0, </a:t>
            </a:r>
            <a:r>
              <a:rPr lang="en-US" sz="2000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r0, LSL #3  </a:t>
            </a:r>
            <a:r>
              <a:rPr lang="en-US" sz="2000" b="1" dirty="0">
                <a:latin typeface="Consolas" panose="020B0609020204030204" pitchFamily="49" charset="0"/>
                <a:cs typeface="Consolas" panose="020B0609020204030204" pitchFamily="49" charset="0"/>
              </a:rPr>
              <a:t>&lt;=&gt;  MOV r2, #9     </a:t>
            </a:r>
            <a:r>
              <a:rPr lang="en-US" sz="20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r2 = 9</a:t>
            </a:r>
          </a:p>
          <a:p>
            <a:pPr marL="274320" lvl="1" indent="0">
              <a:buNone/>
            </a:pPr>
            <a:r>
              <a:rPr lang="en-US" sz="2000" b="1" dirty="0">
                <a:latin typeface="Consolas" panose="020B0609020204030204" pitchFamily="49" charset="0"/>
                <a:cs typeface="Consolas" panose="020B0609020204030204" pitchFamily="49" charset="0"/>
              </a:rPr>
              <a:t>                                MUL r1, r0, r2 </a:t>
            </a:r>
            <a:r>
              <a:rPr lang="en-US" sz="20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r1 = r0 * 9</a:t>
            </a:r>
          </a:p>
          <a:p>
            <a:endParaRPr lang="en-US" dirty="0"/>
          </a:p>
          <a:p>
            <a:pPr marL="0" indent="0">
              <a:buNone/>
            </a:pPr>
            <a:endParaRPr lang="en-US" dirty="0"/>
          </a:p>
        </p:txBody>
      </p:sp>
      <p:sp>
        <p:nvSpPr>
          <p:cNvPr id="5" name="Rectangle 4"/>
          <p:cNvSpPr/>
          <p:nvPr/>
        </p:nvSpPr>
        <p:spPr>
          <a:xfrm>
            <a:off x="2514600" y="4655016"/>
            <a:ext cx="6324600" cy="1631216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en-US" sz="2000" b="1" dirty="0">
                <a:latin typeface="Consolas" panose="020B0609020204030204" pitchFamily="49" charset="0"/>
                <a:cs typeface="Consolas" panose="020B0609020204030204" pitchFamily="49" charset="0"/>
              </a:rPr>
              <a:t>ADD r1, r0, </a:t>
            </a:r>
            <a:r>
              <a:rPr lang="en-US" sz="2000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r0, LSR #3   </a:t>
            </a:r>
          </a:p>
          <a:p>
            <a:pPr indent="-182880"/>
            <a:r>
              <a:rPr lang="en-US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r1 = r0 + r0 &gt;&gt; 3 = r0 + r0/8 (unsigned) </a:t>
            </a:r>
          </a:p>
          <a:p>
            <a:endParaRPr lang="en-US" sz="20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2000" b="1" dirty="0">
                <a:latin typeface="Consolas" panose="020B0609020204030204" pitchFamily="49" charset="0"/>
                <a:cs typeface="Consolas" panose="020B0609020204030204" pitchFamily="49" charset="0"/>
              </a:rPr>
              <a:t>ADD r1, r0, </a:t>
            </a:r>
            <a:r>
              <a:rPr lang="en-US" sz="2000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r0, ASR #3   </a:t>
            </a:r>
          </a:p>
          <a:p>
            <a:r>
              <a:rPr lang="en-US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r1 = r0 + r0 &gt;&gt; 3 = r0 + r0/8 (signed) </a:t>
            </a:r>
          </a:p>
        </p:txBody>
      </p:sp>
      <p:sp>
        <p:nvSpPr>
          <p:cNvPr id="9" name="内容占位符 2">
            <a:extLst>
              <a:ext uri="{FF2B5EF4-FFF2-40B4-BE49-F238E27FC236}">
                <a16:creationId xmlns:a16="http://schemas.microsoft.com/office/drawing/2014/main" id="{0C368B6E-859A-A6F2-2671-57A134705926}"/>
              </a:ext>
            </a:extLst>
          </p:cNvPr>
          <p:cNvSpPr txBox="1">
            <a:spLocks/>
          </p:cNvSpPr>
          <p:nvPr/>
        </p:nvSpPr>
        <p:spPr bwMode="auto">
          <a:xfrm>
            <a:off x="2514600" y="3778354"/>
            <a:ext cx="6324600" cy="677272"/>
          </a:xfrm>
          <a:prstGeom prst="rect">
            <a:avLst/>
          </a:prstGeom>
          <a:solidFill>
            <a:schemeClr val="bg1">
              <a:lumMod val="85000"/>
            </a:schemeClr>
          </a:solidFill>
          <a:ln/>
          <a:extLst>
            <a:ext uri="{FAA26D3D-D897-4be2-8F04-BA451C77F1D7}">
              <ma14:placeholderFlag xmlns:ma14="http://schemas.microsoft.com/office/mac/drawingml/2011/main" xmlns="" val="1"/>
            </a:ext>
            <a:ext uri="{909E8E84-426E-40dd-AFC4-6F175D3DCCD1}">
              <a14:hiddenFill xmlns:a14="http://schemas.microsoft.com/office/drawing/2010/main" xmlns="">
                <a:solidFill>
                  <a:schemeClr val="bg1"/>
                </a:solidFill>
              </a14:hiddenFill>
            </a:ext>
            <a:ext uri="{91240B29-F687-4f45-9708-019B960494DF}">
              <a14:hiddenLine xmlns:a14="http://schemas.microsoft.com/office/drawing/2010/main" xmlns="" w="12700">
                <a:pattFill prst="narHorz">
                  <a:fgClr>
                    <a:schemeClr val="tx1"/>
                  </a:fgClr>
                  <a:bgClr>
                    <a:schemeClr val="bg1"/>
                  </a:bgClr>
                </a:patt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vert="horz" wrap="square" lIns="90478" tIns="44445" rIns="90478" bIns="44445" numCol="1" anchor="t" anchorCtr="0" compatLnSpc="1">
            <a:prstTxWarp prst="textNoShape">
              <a:avLst/>
            </a:prstTxWarp>
          </a:bodyPr>
          <a:lstStyle>
            <a:lvl1pPr marL="285750" indent="-285750" algn="l" rtl="0" eaLnBrk="0" fontAlgn="base" hangingPunct="0">
              <a:lnSpc>
                <a:spcPct val="90000"/>
              </a:lnSpc>
              <a:spcBef>
                <a:spcPct val="30000"/>
              </a:spcBef>
              <a:spcAft>
                <a:spcPct val="0"/>
              </a:spcAft>
              <a:buSzPct val="100000"/>
              <a:buChar char="•"/>
              <a:defRPr sz="2400">
                <a:solidFill>
                  <a:schemeClr val="tx1"/>
                </a:solidFill>
                <a:latin typeface="Gill Sans" charset="0"/>
                <a:ea typeface="ＭＳ Ｐゴシック" charset="0"/>
                <a:cs typeface="Gill Sans" charset="0"/>
              </a:defRPr>
            </a:lvl1pPr>
            <a:lvl2pPr marL="685800" indent="-228600" algn="l" rtl="0" eaLnBrk="0" fontAlgn="base" hangingPunct="0">
              <a:lnSpc>
                <a:spcPct val="90000"/>
              </a:lnSpc>
              <a:spcBef>
                <a:spcPct val="30000"/>
              </a:spcBef>
              <a:spcAft>
                <a:spcPct val="0"/>
              </a:spcAft>
              <a:buSzPct val="100000"/>
              <a:buChar char="–"/>
              <a:defRPr sz="2200">
                <a:solidFill>
                  <a:schemeClr val="tx1"/>
                </a:solidFill>
                <a:latin typeface="Gill Sans" charset="0"/>
                <a:ea typeface="Gill Sans" charset="0"/>
                <a:cs typeface="Gill Sans" charset="0"/>
              </a:defRPr>
            </a:lvl2pPr>
            <a:lvl3pPr marL="1143000" indent="-228600" algn="l" rtl="0" eaLnBrk="0" fontAlgn="base" hangingPunct="0">
              <a:lnSpc>
                <a:spcPct val="90000"/>
              </a:lnSpc>
              <a:spcBef>
                <a:spcPct val="30000"/>
              </a:spcBef>
              <a:spcAft>
                <a:spcPct val="0"/>
              </a:spcAft>
              <a:buSzPct val="100000"/>
              <a:buChar char="»"/>
              <a:defRPr sz="2000">
                <a:solidFill>
                  <a:schemeClr val="tx1"/>
                </a:solidFill>
                <a:latin typeface="Gill Sans" charset="0"/>
                <a:ea typeface="Gill Sans" charset="0"/>
                <a:cs typeface="Gill Sans" charset="0"/>
              </a:defRPr>
            </a:lvl3pPr>
            <a:lvl4pPr marL="1543050" indent="-171450" algn="l" rtl="0" eaLnBrk="0" fontAlgn="base" hangingPunct="0">
              <a:lnSpc>
                <a:spcPct val="90000"/>
              </a:lnSpc>
              <a:spcBef>
                <a:spcPct val="30000"/>
              </a:spcBef>
              <a:spcAft>
                <a:spcPct val="0"/>
              </a:spcAft>
              <a:buSzPct val="100000"/>
              <a:buChar char="•"/>
              <a:defRPr sz="2000">
                <a:solidFill>
                  <a:schemeClr val="tx1"/>
                </a:solidFill>
                <a:latin typeface="Gill Sans" charset="0"/>
                <a:ea typeface="Gill Sans" charset="0"/>
                <a:cs typeface="Gill Sans" charset="0"/>
              </a:defRPr>
            </a:lvl4pPr>
            <a:lvl5pPr marL="2000250" indent="-171450" algn="l" rtl="0" eaLnBrk="0" fontAlgn="base" hangingPunct="0">
              <a:lnSpc>
                <a:spcPct val="90000"/>
              </a:lnSpc>
              <a:spcBef>
                <a:spcPct val="30000"/>
              </a:spcBef>
              <a:spcAft>
                <a:spcPct val="0"/>
              </a:spcAft>
              <a:buSzPct val="100000"/>
              <a:buChar char="–"/>
              <a:defRPr sz="2000">
                <a:solidFill>
                  <a:schemeClr val="tx1"/>
                </a:solidFill>
                <a:latin typeface="Gill Sans" charset="0"/>
                <a:ea typeface="Gill Sans" charset="0"/>
                <a:cs typeface="Gill Sans" charset="0"/>
              </a:defRPr>
            </a:lvl5pPr>
            <a:lvl6pPr marL="2457450" indent="-171450" algn="l" rtl="0" eaLnBrk="0" fontAlgn="base" hangingPunct="0">
              <a:lnSpc>
                <a:spcPct val="90000"/>
              </a:lnSpc>
              <a:spcBef>
                <a:spcPct val="30000"/>
              </a:spcBef>
              <a:spcAft>
                <a:spcPct val="0"/>
              </a:spcAft>
              <a:buSzPct val="100000"/>
              <a:buChar char="–"/>
              <a:defRPr sz="2000" b="1">
                <a:solidFill>
                  <a:schemeClr val="tx1"/>
                </a:solidFill>
                <a:latin typeface="+mn-lt"/>
              </a:defRPr>
            </a:lvl6pPr>
            <a:lvl7pPr marL="2914650" indent="-171450" algn="l" rtl="0" eaLnBrk="0" fontAlgn="base" hangingPunct="0">
              <a:lnSpc>
                <a:spcPct val="90000"/>
              </a:lnSpc>
              <a:spcBef>
                <a:spcPct val="30000"/>
              </a:spcBef>
              <a:spcAft>
                <a:spcPct val="0"/>
              </a:spcAft>
              <a:buSzPct val="100000"/>
              <a:buChar char="–"/>
              <a:defRPr sz="2000" b="1">
                <a:solidFill>
                  <a:schemeClr val="tx1"/>
                </a:solidFill>
                <a:latin typeface="+mn-lt"/>
              </a:defRPr>
            </a:lvl7pPr>
            <a:lvl8pPr marL="3371850" indent="-171450" algn="l" rtl="0" eaLnBrk="0" fontAlgn="base" hangingPunct="0">
              <a:lnSpc>
                <a:spcPct val="90000"/>
              </a:lnSpc>
              <a:spcBef>
                <a:spcPct val="30000"/>
              </a:spcBef>
              <a:spcAft>
                <a:spcPct val="0"/>
              </a:spcAft>
              <a:buSzPct val="100000"/>
              <a:buChar char="–"/>
              <a:defRPr sz="2000" b="1">
                <a:solidFill>
                  <a:schemeClr val="tx1"/>
                </a:solidFill>
                <a:latin typeface="+mn-lt"/>
              </a:defRPr>
            </a:lvl8pPr>
            <a:lvl9pPr marL="3829050" indent="-171450" algn="l" rtl="0" eaLnBrk="0" fontAlgn="base" hangingPunct="0">
              <a:lnSpc>
                <a:spcPct val="90000"/>
              </a:lnSpc>
              <a:spcBef>
                <a:spcPct val="30000"/>
              </a:spcBef>
              <a:spcAft>
                <a:spcPct val="0"/>
              </a:spcAft>
              <a:buSzPct val="100000"/>
              <a:buChar char="–"/>
              <a:defRPr sz="2000" b="1">
                <a:solidFill>
                  <a:schemeClr val="tx1"/>
                </a:solidFill>
                <a:latin typeface="+mn-lt"/>
              </a:defRPr>
            </a:lvl9pPr>
          </a:lstStyle>
          <a:p>
            <a:pPr marL="0" indent="0">
              <a:buNone/>
            </a:pPr>
            <a:r>
              <a:rPr lang="en-US" sz="2000" dirty="0"/>
              <a:t>MUL instruction takes only registers, not an immediate, so “MUL r1, r0, #9” is invalid syntax</a:t>
            </a:r>
          </a:p>
        </p:txBody>
      </p:sp>
    </p:spTree>
    <p:extLst>
      <p:ext uri="{BB962C8B-B14F-4D97-AF65-F5344CB8AC3E}">
        <p14:creationId xmlns:p14="http://schemas.microsoft.com/office/powerpoint/2010/main" val="18612462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Rectangle 2"/>
          <p:cNvSpPr>
            <a:spLocks noChangeArrowheads="1"/>
          </p:cNvSpPr>
          <p:nvPr/>
        </p:nvSpPr>
        <p:spPr bwMode="auto">
          <a:xfrm>
            <a:off x="2214563" y="6243638"/>
            <a:ext cx="1903412" cy="4556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18435" name="Rectangle 3"/>
          <p:cNvSpPr>
            <a:spLocks noChangeArrowheads="1"/>
          </p:cNvSpPr>
          <p:nvPr/>
        </p:nvSpPr>
        <p:spPr bwMode="auto">
          <a:xfrm>
            <a:off x="4649789" y="6243638"/>
            <a:ext cx="2892425" cy="4556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18436" name="Rectangle 4"/>
          <p:cNvSpPr>
            <a:spLocks noGrp="1" noChangeArrowheads="1"/>
          </p:cNvSpPr>
          <p:nvPr>
            <p:ph type="title"/>
          </p:nvPr>
        </p:nvSpPr>
        <p:spPr>
          <a:noFill/>
        </p:spPr>
        <p:txBody>
          <a:bodyPr vert="horz" lIns="92075" tIns="46038" rIns="92075" bIns="46038" anchor="b" anchorCtr="0">
            <a:normAutofit/>
          </a:bodyPr>
          <a:lstStyle/>
          <a:p>
            <a:pPr defTabSz="938213"/>
            <a:r>
              <a:rPr lang="en-US" dirty="0"/>
              <a:t>Barrel Shifter</a:t>
            </a:r>
          </a:p>
        </p:txBody>
      </p:sp>
      <p:sp>
        <p:nvSpPr>
          <p:cNvPr id="18450" name="Rectangle 18"/>
          <p:cNvSpPr>
            <a:spLocks noChangeArrowheads="1"/>
          </p:cNvSpPr>
          <p:nvPr/>
        </p:nvSpPr>
        <p:spPr bwMode="auto">
          <a:xfrm>
            <a:off x="839724" y="1472945"/>
            <a:ext cx="3111500" cy="34689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dirty="0">
                <a:latin typeface="Arial" pitchFamily="34" charset="0"/>
              </a:rPr>
              <a:t>Logical Shift Left (</a:t>
            </a:r>
            <a:r>
              <a:rPr lang="en-US" b="1" dirty="0" err="1">
                <a:latin typeface="Arial" pitchFamily="34" charset="0"/>
              </a:rPr>
              <a:t>LSL</a:t>
            </a:r>
            <a:r>
              <a:rPr lang="en-US" dirty="0">
                <a:latin typeface="Arial" pitchFamily="34" charset="0"/>
              </a:rPr>
              <a:t>)</a:t>
            </a:r>
          </a:p>
        </p:txBody>
      </p:sp>
      <p:sp>
        <p:nvSpPr>
          <p:cNvPr id="18451" name="Rectangle 19"/>
          <p:cNvSpPr>
            <a:spLocks noChangeArrowheads="1"/>
          </p:cNvSpPr>
          <p:nvPr/>
        </p:nvSpPr>
        <p:spPr bwMode="auto">
          <a:xfrm>
            <a:off x="7247979" y="1547978"/>
            <a:ext cx="3332163" cy="3397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dirty="0">
                <a:latin typeface="Arial" pitchFamily="34" charset="0"/>
              </a:rPr>
              <a:t>Arithmetic Shift Right (</a:t>
            </a:r>
            <a:r>
              <a:rPr lang="en-US" b="1" dirty="0">
                <a:latin typeface="Arial" pitchFamily="34" charset="0"/>
              </a:rPr>
              <a:t>ASR</a:t>
            </a:r>
            <a:r>
              <a:rPr lang="en-US" dirty="0">
                <a:latin typeface="Arial" pitchFamily="34" charset="0"/>
              </a:rPr>
              <a:t>)</a:t>
            </a:r>
          </a:p>
        </p:txBody>
      </p:sp>
      <p:sp>
        <p:nvSpPr>
          <p:cNvPr id="18466" name="Rectangle 34"/>
          <p:cNvSpPr>
            <a:spLocks noChangeArrowheads="1"/>
          </p:cNvSpPr>
          <p:nvPr/>
        </p:nvSpPr>
        <p:spPr bwMode="auto">
          <a:xfrm>
            <a:off x="915924" y="3078671"/>
            <a:ext cx="3111500" cy="3397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dirty="0">
                <a:latin typeface="Arial" pitchFamily="34" charset="0"/>
              </a:rPr>
              <a:t>Logical Shift Right (</a:t>
            </a:r>
            <a:r>
              <a:rPr lang="en-US" b="1" dirty="0" err="1">
                <a:latin typeface="Arial" pitchFamily="34" charset="0"/>
              </a:rPr>
              <a:t>LSR</a:t>
            </a:r>
            <a:r>
              <a:rPr lang="en-US" dirty="0">
                <a:latin typeface="Arial" pitchFamily="34" charset="0"/>
              </a:rPr>
              <a:t>)</a:t>
            </a:r>
          </a:p>
        </p:txBody>
      </p:sp>
      <p:sp>
        <p:nvSpPr>
          <p:cNvPr id="18467" name="Rectangle 35"/>
          <p:cNvSpPr>
            <a:spLocks noChangeArrowheads="1"/>
          </p:cNvSpPr>
          <p:nvPr/>
        </p:nvSpPr>
        <p:spPr bwMode="auto">
          <a:xfrm>
            <a:off x="7247979" y="3146539"/>
            <a:ext cx="3113087" cy="3397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dirty="0">
                <a:latin typeface="Arial" pitchFamily="34" charset="0"/>
              </a:rPr>
              <a:t>Rotate Right (</a:t>
            </a:r>
            <a:r>
              <a:rPr lang="en-US" b="1" dirty="0" err="1">
                <a:latin typeface="Arial" pitchFamily="34" charset="0"/>
              </a:rPr>
              <a:t>ROR</a:t>
            </a:r>
            <a:r>
              <a:rPr lang="en-US" dirty="0">
                <a:latin typeface="Arial" pitchFamily="34" charset="0"/>
              </a:rPr>
              <a:t>)</a:t>
            </a:r>
          </a:p>
        </p:txBody>
      </p:sp>
      <p:sp>
        <p:nvSpPr>
          <p:cNvPr id="18476" name="Rectangle 44"/>
          <p:cNvSpPr>
            <a:spLocks noChangeArrowheads="1"/>
          </p:cNvSpPr>
          <p:nvPr/>
        </p:nvSpPr>
        <p:spPr bwMode="auto">
          <a:xfrm>
            <a:off x="915925" y="4456674"/>
            <a:ext cx="3351213" cy="3397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dirty="0">
                <a:latin typeface="Arial" pitchFamily="34" charset="0"/>
              </a:rPr>
              <a:t>Rotate Right Extended (</a:t>
            </a:r>
            <a:r>
              <a:rPr lang="en-US" b="1" dirty="0" err="1">
                <a:latin typeface="Arial" pitchFamily="34" charset="0"/>
              </a:rPr>
              <a:t>RRX</a:t>
            </a:r>
            <a:r>
              <a:rPr lang="en-US" dirty="0">
                <a:latin typeface="Arial" pitchFamily="34" charset="0"/>
              </a:rPr>
              <a:t>)</a:t>
            </a:r>
          </a:p>
        </p:txBody>
      </p:sp>
      <p:sp>
        <p:nvSpPr>
          <p:cNvPr id="47" name="Slide Number Placeholder 4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E14D4A-FE32-40AF-B06D-E9622816B101}" type="slidenum">
              <a:rPr lang="en-US" smtClean="0"/>
              <a:pPr/>
              <a:t>45</a:t>
            </a:fld>
            <a:endParaRPr lang="en-US"/>
          </a:p>
        </p:txBody>
      </p:sp>
      <p:sp>
        <p:nvSpPr>
          <p:cNvPr id="48" name="TextBox 47"/>
          <p:cNvSpPr txBox="1"/>
          <p:nvPr/>
        </p:nvSpPr>
        <p:spPr>
          <a:xfrm>
            <a:off x="6936496" y="4756382"/>
            <a:ext cx="301370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solidFill>
                  <a:srgbClr val="C00000"/>
                </a:solidFill>
              </a:rPr>
              <a:t>Why is there rotate right but no rotate left?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010400" y="5343457"/>
            <a:ext cx="339471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solidFill>
                  <a:srgbClr val="0041FF"/>
                </a:solidFill>
              </a:rPr>
              <a:t>Rotate left can be replaced by a rotate right with a different rotate offset.</a:t>
            </a:r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2613" y="1879919"/>
            <a:ext cx="4284972" cy="4929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027" name="Picture 3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15924" y="3461313"/>
            <a:ext cx="4267200" cy="49796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028" name="Picture 4"/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247979" y="1987570"/>
            <a:ext cx="3796275" cy="71502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029" name="Picture 5"/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342115" y="3718653"/>
            <a:ext cx="3629836" cy="67034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030" name="Picture 6"/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20096" y="4964086"/>
            <a:ext cx="3536950" cy="67964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cxnSp>
        <p:nvCxnSpPr>
          <p:cNvPr id="3" name="Straight Connector 2"/>
          <p:cNvCxnSpPr/>
          <p:nvPr/>
        </p:nvCxnSpPr>
        <p:spPr>
          <a:xfrm>
            <a:off x="6457440" y="1169728"/>
            <a:ext cx="19561" cy="515487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90796456"/>
      </p:ext>
    </p:extLst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8" grpId="0"/>
      <p:bldP spid="49" grpId="0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Updating APSR Flags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46</a:t>
            </a:fld>
            <a:endParaRPr kumimoji="0" lang="en-US"/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4458821"/>
              </p:ext>
            </p:extLst>
          </p:nvPr>
        </p:nvGraphicFramePr>
        <p:xfrm>
          <a:off x="2438400" y="2041956"/>
          <a:ext cx="7162800" cy="73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90700">
                  <a:extLst>
                    <a:ext uri="{9D8B030D-6E8A-4147-A177-3AD203B41FA5}">
                      <a16:colId xmlns:a16="http://schemas.microsoft.com/office/drawing/2014/main" val="698963818"/>
                    </a:ext>
                  </a:extLst>
                </a:gridCol>
                <a:gridCol w="1790700">
                  <a:extLst>
                    <a:ext uri="{9D8B030D-6E8A-4147-A177-3AD203B41FA5}">
                      <a16:colId xmlns:a16="http://schemas.microsoft.com/office/drawing/2014/main" val="2068253491"/>
                    </a:ext>
                  </a:extLst>
                </a:gridCol>
                <a:gridCol w="1790700">
                  <a:extLst>
                    <a:ext uri="{9D8B030D-6E8A-4147-A177-3AD203B41FA5}">
                      <a16:colId xmlns:a16="http://schemas.microsoft.com/office/drawing/2014/main" val="747652145"/>
                    </a:ext>
                  </a:extLst>
                </a:gridCol>
                <a:gridCol w="1790700">
                  <a:extLst>
                    <a:ext uri="{9D8B030D-6E8A-4147-A177-3AD203B41FA5}">
                      <a16:colId xmlns:a16="http://schemas.microsoft.com/office/drawing/2014/main" val="281914669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Z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V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630039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Consolas" panose="020B0609020204030204" pitchFamily="49" charset="0"/>
                        </a:rPr>
                        <a:t>R&lt;31&gt;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 err="1">
                          <a:latin typeface="Consolas" panose="020B0609020204030204" pitchFamily="49" charset="0"/>
                        </a:rPr>
                        <a:t>IsZeroBit</a:t>
                      </a:r>
                      <a:r>
                        <a:rPr lang="en-US" dirty="0">
                          <a:latin typeface="Consolas" panose="020B0609020204030204" pitchFamily="49" charset="0"/>
                        </a:rPr>
                        <a:t>(R)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Consolas" panose="020B0609020204030204" pitchFamily="49" charset="0"/>
                        </a:rPr>
                        <a:t>carry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Consolas" panose="020B0609020204030204" pitchFamily="49" charset="0"/>
                        </a:rPr>
                        <a:t>unchanged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44426033"/>
                  </a:ext>
                </a:extLst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876956" y="1276150"/>
            <a:ext cx="801873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If “S” is present, the instruction update flags. Otherwise, the flags are not updated.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Let </a:t>
            </a:r>
            <a:r>
              <a:rPr lang="en-US" b="1" dirty="0">
                <a:latin typeface="Consolas" panose="020B0609020204030204" pitchFamily="49" charset="0"/>
              </a:rPr>
              <a:t>R</a:t>
            </a:r>
            <a:r>
              <a:rPr lang="en-US" dirty="0"/>
              <a:t> be the final 32-bit result</a:t>
            </a:r>
          </a:p>
        </p:txBody>
      </p:sp>
      <p:pic>
        <p:nvPicPr>
          <p:cNvPr id="6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76956" y="3276600"/>
            <a:ext cx="4284972" cy="4929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7" name="Picture 3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30394" y="4206666"/>
            <a:ext cx="4267200" cy="49796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8" name="Picture 4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04750" y="3310806"/>
            <a:ext cx="3796275" cy="71502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9" name="Picture 5"/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37037" y="4536478"/>
            <a:ext cx="3629836" cy="67034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0" name="Picture 6"/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50967" y="5036279"/>
            <a:ext cx="3536950" cy="67964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1" name="TextBox 10"/>
          <p:cNvSpPr txBox="1"/>
          <p:nvPr/>
        </p:nvSpPr>
        <p:spPr>
          <a:xfrm>
            <a:off x="3480411" y="3687842"/>
            <a:ext cx="6912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latin typeface="Consolas" panose="020B0609020204030204" pitchFamily="49" charset="0"/>
              </a:rPr>
              <a:t>LSLS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82995" y="4624443"/>
            <a:ext cx="6912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latin typeface="Consolas" panose="020B0609020204030204" pitchFamily="49" charset="0"/>
              </a:rPr>
              <a:t>LSRS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82994" y="5732619"/>
            <a:ext cx="6912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latin typeface="Consolas" panose="020B0609020204030204" pitchFamily="49" charset="0"/>
              </a:rPr>
              <a:t>RRXS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78795" y="4062129"/>
            <a:ext cx="6912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latin typeface="Consolas" panose="020B0609020204030204" pitchFamily="49" charset="0"/>
              </a:rPr>
              <a:t>ASRS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78795" y="5311836"/>
            <a:ext cx="6912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latin typeface="Consolas" panose="020B0609020204030204" pitchFamily="49" charset="0"/>
              </a:rPr>
              <a:t>RORS</a:t>
            </a:r>
          </a:p>
        </p:txBody>
      </p:sp>
    </p:spTree>
    <p:extLst>
      <p:ext uri="{BB962C8B-B14F-4D97-AF65-F5344CB8AC3E}">
        <p14:creationId xmlns:p14="http://schemas.microsoft.com/office/powerpoint/2010/main" val="4134758979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D6F502-DB5A-8F9C-A5EB-10BBD9248E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Barrel Shifter: Explanations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125D8ACB-98F6-A4F1-CB73-635D27ADCB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47</a:t>
            </a:fld>
            <a:endParaRPr kumimoji="0"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B7C9F849-B760-6B86-0795-1026F14FB21B}"/>
                  </a:ext>
                </a:extLst>
              </p:cNvPr>
              <p:cNvSpPr>
                <a:spLocks noGrp="1"/>
              </p:cNvSpPr>
              <p:nvPr>
                <p:ph sz="quarter" idx="1"/>
              </p:nvPr>
            </p:nvSpPr>
            <p:spPr/>
            <p:txBody>
              <a:bodyPr>
                <a:normAutofit lnSpcReduction="10000"/>
              </a:bodyPr>
              <a:lstStyle/>
              <a:p>
                <a:r>
                  <a:rPr lang="en-US" dirty="0">
                    <a:latin typeface="Gill Sans Light"/>
                  </a:rPr>
                  <a:t>LSL (logical shift left): </a:t>
                </a:r>
                <a:r>
                  <a:rPr lang="en-US" dirty="0">
                    <a:solidFill>
                      <a:srgbClr val="FF0000"/>
                    </a:solidFill>
                    <a:latin typeface="Gill Sans Light"/>
                  </a:rPr>
                  <a:t>shifts left, fills zeros on the right; </a:t>
                </a:r>
                <a:r>
                  <a:rPr lang="en-US" dirty="0">
                    <a:latin typeface="Gill Sans Light"/>
                  </a:rPr>
                  <a:t>C gets the last bit shifted out of bit 31. This is multiply by 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</m:sSup>
                  </m:oMath>
                </a14:m>
                <a:r>
                  <a:rPr lang="en-US" dirty="0">
                    <a:latin typeface="Gill Sans Light"/>
                  </a:rPr>
                  <a:t>.</a:t>
                </a:r>
              </a:p>
              <a:p>
                <a:r>
                  <a:rPr lang="en-US" dirty="0">
                    <a:latin typeface="Gill Sans Light"/>
                  </a:rPr>
                  <a:t>LSR (logical shift right): </a:t>
                </a:r>
                <a:r>
                  <a:rPr lang="en-US" dirty="0">
                    <a:solidFill>
                      <a:srgbClr val="FF0000"/>
                    </a:solidFill>
                    <a:latin typeface="Gill Sans Light"/>
                  </a:rPr>
                  <a:t>shifts right, fills zeros on the left; </a:t>
                </a:r>
                <a:r>
                  <a:rPr lang="en-US" dirty="0">
                    <a:latin typeface="Gill Sans Light"/>
                  </a:rPr>
                  <a:t>C gets the last bit shifted out of bit 0. This is unsigned division by 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</m:sSup>
                  </m:oMath>
                </a14:m>
                <a:r>
                  <a:rPr lang="ar-AE" dirty="0">
                    <a:latin typeface="Gill Sans Light"/>
                  </a:rPr>
                  <a:t>.</a:t>
                </a:r>
                <a:r>
                  <a:rPr lang="en-US" dirty="0">
                    <a:latin typeface="Gill Sans Light"/>
                  </a:rPr>
                  <a:t> </a:t>
                </a:r>
              </a:p>
              <a:p>
                <a:r>
                  <a:rPr lang="en-US" dirty="0">
                    <a:latin typeface="Gill Sans Light"/>
                  </a:rPr>
                  <a:t>ASR (arithmetic shift right): </a:t>
                </a:r>
                <a:r>
                  <a:rPr lang="en-US" dirty="0">
                    <a:solidFill>
                      <a:srgbClr val="FF0000"/>
                    </a:solidFill>
                    <a:latin typeface="Gill Sans Light"/>
                  </a:rPr>
                  <a:t>shifts right, fills the sign bit on the left </a:t>
                </a:r>
                <a:r>
                  <a:rPr lang="en-US" dirty="0">
                    <a:latin typeface="Gill Sans Light"/>
                  </a:rPr>
                  <a:t>to preserving the sign; C gets the last bit shifted out of bit 0. This is signed division by 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</m:sSup>
                  </m:oMath>
                </a14:m>
                <a:r>
                  <a:rPr lang="ar-AE" dirty="0">
                    <a:latin typeface="Gill Sans Light"/>
                  </a:rPr>
                  <a:t> </a:t>
                </a:r>
                <a:r>
                  <a:rPr lang="en-US" dirty="0">
                    <a:latin typeface="Gill Sans Light"/>
                  </a:rPr>
                  <a:t>with sign extension</a:t>
                </a:r>
              </a:p>
              <a:p>
                <a:r>
                  <a:rPr lang="en-US" dirty="0">
                    <a:latin typeface="Gill Sans Light"/>
                  </a:rPr>
                  <a:t>ROR (rotate right): </a:t>
                </a:r>
                <a:r>
                  <a:rPr lang="en-US" dirty="0">
                    <a:solidFill>
                      <a:srgbClr val="FF0000"/>
                    </a:solidFill>
                    <a:latin typeface="Gill Sans Light"/>
                  </a:rPr>
                  <a:t>rotates bits right with wraparound</a:t>
                </a:r>
                <a:r>
                  <a:rPr lang="en-US" dirty="0">
                    <a:latin typeface="Gill Sans Light"/>
                  </a:rPr>
                  <a:t>; bits leaving bit 0 re-enter at bit 31, and C gets the bit hat was rotated from bit 0 to bit 31. This is a pure rotation without data loss.</a:t>
                </a:r>
              </a:p>
              <a:p>
                <a:r>
                  <a:rPr lang="en-US" dirty="0">
                    <a:latin typeface="Gill Sans Light"/>
                  </a:rPr>
                  <a:t>RRX (rotate right extended): </a:t>
                </a:r>
                <a:r>
                  <a:rPr lang="en-US" dirty="0">
                    <a:solidFill>
                      <a:srgbClr val="FF0000"/>
                    </a:solidFill>
                    <a:latin typeface="Gill Sans Light"/>
                  </a:rPr>
                  <a:t>rotates right by one through the carry flag</a:t>
                </a:r>
                <a:r>
                  <a:rPr lang="en-US" dirty="0">
                    <a:latin typeface="Gill Sans Light"/>
                  </a:rPr>
                  <a:t>, treating C as a 33rd bit; new bit 31 comes from old C, and C receives old bit 0.</a:t>
                </a:r>
              </a:p>
            </p:txBody>
          </p:sp>
        </mc:Choice>
        <mc:Fallback xmlns="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B7C9F849-B760-6B86-0795-1026F14FB21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"/>
              </p:nvPr>
            </p:nvSpPr>
            <p:spPr>
              <a:blipFill>
                <a:blip r:embed="rId3"/>
                <a:stretch>
                  <a:fillRect l="-500" t="-1852" r="-27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996946337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A99A2D-9384-2736-2578-E53F47EF0B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Examples (shifting by 4)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8EC04B3-1C3E-759B-A297-7C141F2AD8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48</a:t>
            </a:fld>
            <a:endParaRPr kumimoji="0" lang="en-US"/>
          </a:p>
        </p:txBody>
      </p:sp>
      <p:pic>
        <p:nvPicPr>
          <p:cNvPr id="1026" name="Picture 2" descr="LSL diagram.">
            <a:extLst>
              <a:ext uri="{FF2B5EF4-FFF2-40B4-BE49-F238E27FC236}">
                <a16:creationId xmlns:a16="http://schemas.microsoft.com/office/drawing/2014/main" id="{DB0FAD2D-A109-8FF7-915D-0C781BA9290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68031" y="1143000"/>
            <a:ext cx="4343400" cy="13716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Rectangle 18">
            <a:extLst>
              <a:ext uri="{FF2B5EF4-FFF2-40B4-BE49-F238E27FC236}">
                <a16:creationId xmlns:a16="http://schemas.microsoft.com/office/drawing/2014/main" id="{2271E411-9C25-D0D4-4F6D-1428AEC5D696}"/>
              </a:ext>
            </a:extLst>
          </p:cNvPr>
          <p:cNvSpPr>
            <a:spLocks noChangeArrowheads="1"/>
          </p:cNvSpPr>
          <p:nvPr/>
        </p:nvSpPr>
        <p:spPr bwMode="auto">
          <a:xfrm>
            <a:off x="1752600" y="1283472"/>
            <a:ext cx="3111500" cy="34689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dirty="0">
                <a:latin typeface="Arial" pitchFamily="34" charset="0"/>
              </a:rPr>
              <a:t>Logical Shift Left (</a:t>
            </a:r>
            <a:r>
              <a:rPr lang="en-US" b="1" dirty="0" err="1">
                <a:latin typeface="Arial" pitchFamily="34" charset="0"/>
              </a:rPr>
              <a:t>LSL</a:t>
            </a:r>
            <a:r>
              <a:rPr lang="en-US" dirty="0">
                <a:latin typeface="Arial" pitchFamily="34" charset="0"/>
              </a:rPr>
              <a:t>)</a:t>
            </a:r>
          </a:p>
        </p:txBody>
      </p:sp>
      <p:pic>
        <p:nvPicPr>
          <p:cNvPr id="5" name="Picture 2">
            <a:extLst>
              <a:ext uri="{FF2B5EF4-FFF2-40B4-BE49-F238E27FC236}">
                <a16:creationId xmlns:a16="http://schemas.microsoft.com/office/drawing/2014/main" id="{DFB7463D-BACC-3527-43B2-2E8B0F26FA1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52600" y="1690446"/>
            <a:ext cx="4284972" cy="4929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028" name="Picture 4" descr="LSR diagram.">
            <a:extLst>
              <a:ext uri="{FF2B5EF4-FFF2-40B4-BE49-F238E27FC236}">
                <a16:creationId xmlns:a16="http://schemas.microsoft.com/office/drawing/2014/main" id="{8DF8733A-295C-13B1-7072-BE76084474B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60461" y="2441119"/>
            <a:ext cx="4343400" cy="13716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Rectangle 34">
            <a:extLst>
              <a:ext uri="{FF2B5EF4-FFF2-40B4-BE49-F238E27FC236}">
                <a16:creationId xmlns:a16="http://schemas.microsoft.com/office/drawing/2014/main" id="{3D3A8BE7-DA07-7984-BA12-900333DB6814}"/>
              </a:ext>
            </a:extLst>
          </p:cNvPr>
          <p:cNvSpPr>
            <a:spLocks noChangeArrowheads="1"/>
          </p:cNvSpPr>
          <p:nvPr/>
        </p:nvSpPr>
        <p:spPr bwMode="auto">
          <a:xfrm>
            <a:off x="1752600" y="2610614"/>
            <a:ext cx="3111500" cy="3397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dirty="0">
                <a:latin typeface="Arial" pitchFamily="34" charset="0"/>
              </a:rPr>
              <a:t>Logical Shift Right (</a:t>
            </a:r>
            <a:r>
              <a:rPr lang="en-US" b="1" dirty="0" err="1">
                <a:latin typeface="Arial" pitchFamily="34" charset="0"/>
              </a:rPr>
              <a:t>LSR</a:t>
            </a:r>
            <a:r>
              <a:rPr lang="en-US" dirty="0">
                <a:latin typeface="Arial" pitchFamily="34" charset="0"/>
              </a:rPr>
              <a:t>)</a:t>
            </a:r>
          </a:p>
        </p:txBody>
      </p:sp>
      <p:pic>
        <p:nvPicPr>
          <p:cNvPr id="7" name="Picture 3">
            <a:extLst>
              <a:ext uri="{FF2B5EF4-FFF2-40B4-BE49-F238E27FC236}">
                <a16:creationId xmlns:a16="http://schemas.microsoft.com/office/drawing/2014/main" id="{389A5FA2-BF73-CF63-4FCF-BE52B9E1E7C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52600" y="2993256"/>
            <a:ext cx="4267200" cy="49796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030" name="Picture 6" descr="ASR shifting in zero diagram.">
            <a:extLst>
              <a:ext uri="{FF2B5EF4-FFF2-40B4-BE49-F238E27FC236}">
                <a16:creationId xmlns:a16="http://schemas.microsoft.com/office/drawing/2014/main" id="{76675F7E-56E1-B77B-2F26-966D307675D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60461" y="3795954"/>
            <a:ext cx="4343400" cy="13716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7" name="Rectangle 19">
            <a:extLst>
              <a:ext uri="{FF2B5EF4-FFF2-40B4-BE49-F238E27FC236}">
                <a16:creationId xmlns:a16="http://schemas.microsoft.com/office/drawing/2014/main" id="{678E69C3-115A-65AD-8A82-79F7B3FE5D32}"/>
              </a:ext>
            </a:extLst>
          </p:cNvPr>
          <p:cNvSpPr>
            <a:spLocks noChangeArrowheads="1"/>
          </p:cNvSpPr>
          <p:nvPr/>
        </p:nvSpPr>
        <p:spPr bwMode="auto">
          <a:xfrm>
            <a:off x="1752601" y="4686246"/>
            <a:ext cx="3332163" cy="3397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dirty="0">
                <a:latin typeface="Arial" pitchFamily="34" charset="0"/>
              </a:rPr>
              <a:t>Arithmetic Shift Right (</a:t>
            </a:r>
            <a:r>
              <a:rPr lang="en-US" b="1" dirty="0">
                <a:latin typeface="Arial" pitchFamily="34" charset="0"/>
              </a:rPr>
              <a:t>ASR</a:t>
            </a:r>
            <a:r>
              <a:rPr lang="en-US" dirty="0">
                <a:latin typeface="Arial" pitchFamily="34" charset="0"/>
              </a:rPr>
              <a:t>)</a:t>
            </a:r>
          </a:p>
        </p:txBody>
      </p:sp>
      <p:pic>
        <p:nvPicPr>
          <p:cNvPr id="18" name="Picture 4">
            <a:extLst>
              <a:ext uri="{FF2B5EF4-FFF2-40B4-BE49-F238E27FC236}">
                <a16:creationId xmlns:a16="http://schemas.microsoft.com/office/drawing/2014/main" id="{882A2A42-60C7-7EC3-E17E-7D71A779345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52601" y="5125838"/>
            <a:ext cx="3796275" cy="71502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032" name="Picture 8" descr="ASR shifting in one diagram.">
            <a:extLst>
              <a:ext uri="{FF2B5EF4-FFF2-40B4-BE49-F238E27FC236}">
                <a16:creationId xmlns:a16="http://schemas.microsoft.com/office/drawing/2014/main" id="{BCD390CB-5DC7-5CC4-2EC1-70B8114F6C2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68031" y="5216552"/>
            <a:ext cx="4343400" cy="13716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979249148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DAC65A-5128-11A7-1E1C-6DEF22C7BE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Examples (rotate)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0E16548-D40D-E878-CF93-A04E3A9152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49</a:t>
            </a:fld>
            <a:endParaRPr kumimoji="0" lang="en-US"/>
          </a:p>
        </p:txBody>
      </p:sp>
      <p:pic>
        <p:nvPicPr>
          <p:cNvPr id="2050" name="Picture 2" descr="ROR diagram.">
            <a:extLst>
              <a:ext uri="{FF2B5EF4-FFF2-40B4-BE49-F238E27FC236}">
                <a16:creationId xmlns:a16="http://schemas.microsoft.com/office/drawing/2014/main" id="{7FDB1EA3-667A-183C-4A99-4D706789267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67400" y="1272129"/>
            <a:ext cx="4343400" cy="13716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Rectangle 35">
            <a:extLst>
              <a:ext uri="{FF2B5EF4-FFF2-40B4-BE49-F238E27FC236}">
                <a16:creationId xmlns:a16="http://schemas.microsoft.com/office/drawing/2014/main" id="{CE165587-299D-EEAE-2768-D104CEB63827}"/>
              </a:ext>
            </a:extLst>
          </p:cNvPr>
          <p:cNvSpPr>
            <a:spLocks noChangeArrowheads="1"/>
          </p:cNvSpPr>
          <p:nvPr/>
        </p:nvSpPr>
        <p:spPr bwMode="auto">
          <a:xfrm>
            <a:off x="1889760" y="1261969"/>
            <a:ext cx="3536950" cy="34227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dirty="0">
                <a:latin typeface="Arial" pitchFamily="34" charset="0"/>
              </a:rPr>
              <a:t>Rotate Right (</a:t>
            </a:r>
            <a:r>
              <a:rPr lang="en-US" b="1" dirty="0">
                <a:latin typeface="Arial" pitchFamily="34" charset="0"/>
              </a:rPr>
              <a:t>ROR</a:t>
            </a:r>
            <a:r>
              <a:rPr lang="en-US" dirty="0">
                <a:latin typeface="Arial" pitchFamily="34" charset="0"/>
              </a:rPr>
              <a:t>) (rotate by 4)</a:t>
            </a:r>
          </a:p>
        </p:txBody>
      </p:sp>
      <p:pic>
        <p:nvPicPr>
          <p:cNvPr id="5" name="Picture 5">
            <a:extLst>
              <a:ext uri="{FF2B5EF4-FFF2-40B4-BE49-F238E27FC236}">
                <a16:creationId xmlns:a16="http://schemas.microsoft.com/office/drawing/2014/main" id="{76D8098E-6E5C-6B4E-65BC-711220C7466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89760" y="1834084"/>
            <a:ext cx="3629836" cy="67034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6" name="Rectangle 44">
            <a:extLst>
              <a:ext uri="{FF2B5EF4-FFF2-40B4-BE49-F238E27FC236}">
                <a16:creationId xmlns:a16="http://schemas.microsoft.com/office/drawing/2014/main" id="{695B445C-F279-7DB8-4C45-EDA2E7A4E95C}"/>
              </a:ext>
            </a:extLst>
          </p:cNvPr>
          <p:cNvSpPr>
            <a:spLocks noChangeArrowheads="1"/>
          </p:cNvSpPr>
          <p:nvPr/>
        </p:nvSpPr>
        <p:spPr bwMode="auto">
          <a:xfrm>
            <a:off x="1880468" y="3046542"/>
            <a:ext cx="3351213" cy="73007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dirty="0">
                <a:latin typeface="Arial" pitchFamily="34" charset="0"/>
              </a:rPr>
              <a:t>Rotate Right Extended (</a:t>
            </a:r>
            <a:r>
              <a:rPr lang="en-US" b="1" dirty="0">
                <a:latin typeface="Arial" pitchFamily="34" charset="0"/>
              </a:rPr>
              <a:t>RRX</a:t>
            </a:r>
            <a:r>
              <a:rPr lang="en-US" dirty="0">
                <a:latin typeface="Arial" pitchFamily="34" charset="0"/>
              </a:rPr>
              <a:t>)</a:t>
            </a:r>
          </a:p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dirty="0">
                <a:latin typeface="Arial" pitchFamily="34" charset="0"/>
              </a:rPr>
              <a:t>(can only rotate by 1)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A61E19EB-640B-D3B8-510F-A03161E40F2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89760" y="3743161"/>
            <a:ext cx="3536950" cy="67964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2052" name="Picture 4" descr="RRX diagram.">
            <a:extLst>
              <a:ext uri="{FF2B5EF4-FFF2-40B4-BE49-F238E27FC236}">
                <a16:creationId xmlns:a16="http://schemas.microsoft.com/office/drawing/2014/main" id="{946F170A-B3A8-2FFB-3779-9DE7D91A891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15000" y="3057360"/>
            <a:ext cx="4789170" cy="13716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085096451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Rectangle 2"/>
          <p:cNvSpPr>
            <a:spLocks noChangeArrowheads="1"/>
          </p:cNvSpPr>
          <p:nvPr/>
        </p:nvSpPr>
        <p:spPr bwMode="auto">
          <a:xfrm>
            <a:off x="2214563" y="6243638"/>
            <a:ext cx="1903412" cy="4556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18436" name="Rectangle 4"/>
          <p:cNvSpPr>
            <a:spLocks noGrp="1" noChangeArrowheads="1"/>
          </p:cNvSpPr>
          <p:nvPr>
            <p:ph type="title"/>
          </p:nvPr>
        </p:nvSpPr>
        <p:spPr>
          <a:noFill/>
        </p:spPr>
        <p:txBody>
          <a:bodyPr vert="horz" lIns="92075" tIns="46038" rIns="92075" bIns="46038" anchor="b" anchorCtr="0">
            <a:normAutofit/>
          </a:bodyPr>
          <a:lstStyle/>
          <a:p>
            <a:pPr defTabSz="938213"/>
            <a:r>
              <a:rPr lang="en-US" dirty="0"/>
              <a:t>Shift Operations</a:t>
            </a:r>
          </a:p>
        </p:txBody>
      </p:sp>
      <p:sp>
        <p:nvSpPr>
          <p:cNvPr id="18450" name="Rectangle 18"/>
          <p:cNvSpPr>
            <a:spLocks noChangeArrowheads="1"/>
          </p:cNvSpPr>
          <p:nvPr/>
        </p:nvSpPr>
        <p:spPr bwMode="auto">
          <a:xfrm>
            <a:off x="685800" y="1283472"/>
            <a:ext cx="3111500" cy="34689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b="1" dirty="0">
                <a:latin typeface="Arial" pitchFamily="34" charset="0"/>
              </a:rPr>
              <a:t>Logical Shift Left (</a:t>
            </a:r>
            <a:r>
              <a:rPr lang="en-US" b="1" dirty="0" err="1">
                <a:latin typeface="Arial" pitchFamily="34" charset="0"/>
              </a:rPr>
              <a:t>LSL</a:t>
            </a:r>
            <a:r>
              <a:rPr lang="en-US" b="1" dirty="0">
                <a:latin typeface="Arial" pitchFamily="34" charset="0"/>
              </a:rPr>
              <a:t>)</a:t>
            </a:r>
          </a:p>
        </p:txBody>
      </p:sp>
      <p:sp>
        <p:nvSpPr>
          <p:cNvPr id="18467" name="Rectangle 35"/>
          <p:cNvSpPr>
            <a:spLocks noChangeArrowheads="1"/>
          </p:cNvSpPr>
          <p:nvPr/>
        </p:nvSpPr>
        <p:spPr bwMode="auto">
          <a:xfrm>
            <a:off x="881575" y="2398217"/>
            <a:ext cx="3113087" cy="3397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LSL {S} Rd, Rn, &lt;shift&gt; </a:t>
            </a:r>
          </a:p>
        </p:txBody>
      </p:sp>
      <p:sp>
        <p:nvSpPr>
          <p:cNvPr id="47" name="Slide Number Placeholder 4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E14D4A-FE32-40AF-B06D-E9622816B101}" type="slidenum">
              <a:rPr lang="en-US" smtClean="0"/>
              <a:pPr/>
              <a:t>50</a:t>
            </a:fld>
            <a:endParaRPr lang="en-US"/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2000" y="1690446"/>
            <a:ext cx="4284972" cy="4929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cxnSp>
        <p:nvCxnSpPr>
          <p:cNvPr id="3" name="Straight Connector 2"/>
          <p:cNvCxnSpPr/>
          <p:nvPr/>
        </p:nvCxnSpPr>
        <p:spPr>
          <a:xfrm>
            <a:off x="6248401" y="1169728"/>
            <a:ext cx="19561" cy="515487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Rectangle 35"/>
          <p:cNvSpPr>
            <a:spLocks noChangeArrowheads="1"/>
          </p:cNvSpPr>
          <p:nvPr/>
        </p:nvSpPr>
        <p:spPr bwMode="auto">
          <a:xfrm>
            <a:off x="914399" y="2895601"/>
            <a:ext cx="4761477" cy="97937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dirty="0">
                <a:latin typeface="Arial" pitchFamily="34" charset="0"/>
              </a:rPr>
              <a:t>moves all the bits of a register by </a:t>
            </a:r>
            <a:r>
              <a:rPr lang="en-US" i="1" dirty="0">
                <a:latin typeface="Arial" pitchFamily="34" charset="0"/>
              </a:rPr>
              <a:t>n</a:t>
            </a:r>
            <a:r>
              <a:rPr lang="en-US" dirty="0">
                <a:latin typeface="Arial" pitchFamily="34" charset="0"/>
              </a:rPr>
              <a:t> positions to the </a:t>
            </a:r>
            <a:r>
              <a:rPr lang="en-US" dirty="0">
                <a:solidFill>
                  <a:srgbClr val="0000FF"/>
                </a:solidFill>
                <a:latin typeface="Arial" pitchFamily="34" charset="0"/>
              </a:rPr>
              <a:t>left</a:t>
            </a:r>
            <a:r>
              <a:rPr lang="en-US" dirty="0">
                <a:latin typeface="Arial" pitchFamily="34" charset="0"/>
              </a:rPr>
              <a:t> and inserts </a:t>
            </a:r>
            <a:r>
              <a:rPr lang="en-US" i="1" dirty="0">
                <a:latin typeface="Arial" pitchFamily="34" charset="0"/>
              </a:rPr>
              <a:t>n</a:t>
            </a:r>
            <a:r>
              <a:rPr lang="en-US" dirty="0">
                <a:latin typeface="Arial" pitchFamily="34" charset="0"/>
              </a:rPr>
              <a:t> zeros in the right end </a:t>
            </a:r>
          </a:p>
          <a:p>
            <a:pPr algn="ctr">
              <a:lnSpc>
                <a:spcPct val="90000"/>
              </a:lnSpc>
              <a:spcBef>
                <a:spcPct val="50000"/>
              </a:spcBef>
            </a:pPr>
            <a:r>
              <a:rPr lang="en-US" dirty="0">
                <a:latin typeface="Arial" pitchFamily="34" charset="0"/>
              </a:rPr>
              <a:t>0 ≤ n ≤ 31</a:t>
            </a:r>
          </a:p>
        </p:txBody>
      </p:sp>
      <p:sp>
        <p:nvSpPr>
          <p:cNvPr id="20" name="Rectangle 35"/>
          <p:cNvSpPr>
            <a:spLocks noChangeArrowheads="1"/>
          </p:cNvSpPr>
          <p:nvPr/>
        </p:nvSpPr>
        <p:spPr bwMode="auto">
          <a:xfrm>
            <a:off x="990600" y="4035929"/>
            <a:ext cx="3863410" cy="111787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b="1" dirty="0">
                <a:solidFill>
                  <a:srgbClr val="0070C0"/>
                </a:solidFill>
                <a:latin typeface="Arial" pitchFamily="34" charset="0"/>
              </a:rPr>
              <a:t>Example 1</a:t>
            </a:r>
          </a:p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; r2 = 0x0000_0001 (#1)</a:t>
            </a:r>
          </a:p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LSL r3, r2, #3</a:t>
            </a:r>
          </a:p>
        </p:txBody>
      </p:sp>
      <p:sp>
        <p:nvSpPr>
          <p:cNvPr id="21" name="Rectangle 35"/>
          <p:cNvSpPr>
            <a:spLocks noChangeArrowheads="1"/>
          </p:cNvSpPr>
          <p:nvPr/>
        </p:nvSpPr>
        <p:spPr bwMode="auto">
          <a:xfrm>
            <a:off x="6477000" y="1293674"/>
            <a:ext cx="3863410" cy="111787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b="1" dirty="0">
                <a:solidFill>
                  <a:srgbClr val="0070C0"/>
                </a:solidFill>
                <a:latin typeface="Arial" pitchFamily="34" charset="0"/>
              </a:rPr>
              <a:t>Example 2</a:t>
            </a:r>
          </a:p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; r2 = 0x0000_0003 (#3)</a:t>
            </a:r>
          </a:p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LSL r3, r2, #2</a:t>
            </a:r>
          </a:p>
        </p:txBody>
      </p:sp>
      <p:sp>
        <p:nvSpPr>
          <p:cNvPr id="22" name="Rectangle 35"/>
          <p:cNvSpPr>
            <a:spLocks noChangeArrowheads="1"/>
          </p:cNvSpPr>
          <p:nvPr/>
        </p:nvSpPr>
        <p:spPr bwMode="auto">
          <a:xfrm>
            <a:off x="6400799" y="3198674"/>
            <a:ext cx="5114191" cy="111787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b="1" dirty="0">
                <a:solidFill>
                  <a:srgbClr val="0070C0"/>
                </a:solidFill>
                <a:latin typeface="Arial" pitchFamily="34" charset="0"/>
              </a:rPr>
              <a:t>Example 3</a:t>
            </a:r>
          </a:p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; r3 = 0xFFFF_0000 (#-65536)</a:t>
            </a:r>
          </a:p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b="1" dirty="0">
                <a:solidFill>
                  <a:schemeClr val="bg1">
                    <a:lumMod val="6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b="1" dirty="0">
                <a:latin typeface="Consolas" panose="020B0609020204030204" pitchFamily="49" charset="0"/>
                <a:cs typeface="Consolas" panose="020B0609020204030204" pitchFamily="49" charset="0"/>
              </a:rPr>
              <a:t>LSL</a:t>
            </a:r>
            <a:r>
              <a:rPr lang="en-US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</a:t>
            </a:r>
            <a:r>
              <a:rPr lang="en-US" b="1" dirty="0">
                <a:latin typeface="Consolas" panose="020B0609020204030204" pitchFamily="49" charset="0"/>
                <a:cs typeface="Consolas" panose="020B0609020204030204" pitchFamily="49" charset="0"/>
              </a:rPr>
              <a:t> r2, r3, #1</a:t>
            </a:r>
            <a:endParaRPr lang="en-US" b="1" dirty="0">
              <a:solidFill>
                <a:schemeClr val="bg1">
                  <a:lumMod val="65000"/>
                </a:schemeClr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/>
              <p:cNvSpPr txBox="1"/>
              <p:nvPr/>
            </p:nvSpPr>
            <p:spPr>
              <a:xfrm>
                <a:off x="945677" y="5165771"/>
                <a:ext cx="3473923" cy="10064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lnSpc>
                    <a:spcPct val="90000"/>
                  </a:lnSpc>
                  <a:spcBef>
                    <a:spcPct val="50000"/>
                  </a:spcBef>
                </a:pPr>
                <a:r>
                  <a:rPr lang="en-US" dirty="0">
                    <a:solidFill>
                      <a:schemeClr val="bg1">
                        <a:lumMod val="65000"/>
                      </a:schemeClr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 ; </a:t>
                </a:r>
                <a:r>
                  <a:rPr lang="en-US" dirty="0">
                    <a:solidFill>
                      <a:srgbClr val="00B050"/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r3 = 0x0000_0008 (#8)</a:t>
                </a:r>
              </a:p>
              <a:p>
                <a:pPr>
                  <a:lnSpc>
                    <a:spcPct val="90000"/>
                  </a:lnSpc>
                  <a:spcBef>
                    <a:spcPct val="50000"/>
                  </a:spcBef>
                </a:pPr>
                <a:r>
                  <a:rPr lang="en-US" dirty="0">
                    <a:solidFill>
                      <a:schemeClr val="bg1">
                        <a:lumMod val="50000"/>
                      </a:schemeClr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 ; 8 =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solidFill>
                              <a:schemeClr val="bg1">
                                <a:lumMod val="50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solidFill>
                              <a:schemeClr val="bg1">
                                <a:lumMod val="5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en-US" i="1">
                            <a:solidFill>
                              <a:schemeClr val="bg1">
                                <a:lumMod val="5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sup>
                    </m:sSup>
                    <m:r>
                      <a:rPr lang="en-US" i="1">
                        <a:solidFill>
                          <a:schemeClr val="bg1">
                            <a:lumMod val="50000"/>
                          </a:schemeClr>
                        </a:solidFill>
                        <a:latin typeface="Cambria Math" panose="02040503050406030204" pitchFamily="18" charset="0"/>
                      </a:rPr>
                      <m:t>∗</m:t>
                    </m:r>
                    <m:r>
                      <a:rPr lang="en-US" i="1">
                        <a:solidFill>
                          <a:schemeClr val="bg1">
                            <a:lumMod val="50000"/>
                          </a:schemeClr>
                        </a:solidFill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endParaRPr lang="en-US" b="1" dirty="0">
                  <a:solidFill>
                    <a:schemeClr val="bg1">
                      <a:lumMod val="50000"/>
                    </a:schemeClr>
                  </a:solidFill>
                  <a:latin typeface="Consolas" panose="020B0609020204030204" pitchFamily="49" charset="0"/>
                  <a:cs typeface="Consolas" panose="020B0609020204030204" pitchFamily="49" charset="0"/>
                </a:endParaRP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2" name="TextBox 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45677" y="5165771"/>
                <a:ext cx="3473923" cy="1006429"/>
              </a:xfrm>
              <a:prstGeom prst="rect">
                <a:avLst/>
              </a:prstGeom>
              <a:blipFill>
                <a:blip r:embed="rId4"/>
                <a:stretch>
                  <a:fillRect t="-493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/>
              <p:cNvSpPr txBox="1"/>
              <p:nvPr/>
            </p:nvSpPr>
            <p:spPr>
              <a:xfrm>
                <a:off x="6477000" y="2360474"/>
                <a:ext cx="3886200" cy="10064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lnSpc>
                    <a:spcPct val="90000"/>
                  </a:lnSpc>
                  <a:spcBef>
                    <a:spcPct val="50000"/>
                  </a:spcBef>
                </a:pPr>
                <a:r>
                  <a:rPr lang="en-US" dirty="0">
                    <a:solidFill>
                      <a:srgbClr val="00B050"/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 ; r3 = 0x0000_000C (#12)</a:t>
                </a:r>
              </a:p>
              <a:p>
                <a:pPr>
                  <a:lnSpc>
                    <a:spcPct val="90000"/>
                  </a:lnSpc>
                  <a:spcBef>
                    <a:spcPct val="50000"/>
                  </a:spcBef>
                </a:pPr>
                <a:r>
                  <a:rPr lang="en-US" dirty="0">
                    <a:solidFill>
                      <a:schemeClr val="bg1">
                        <a:lumMod val="50000"/>
                      </a:schemeClr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 ; 12 =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solidFill>
                              <a:schemeClr val="bg1">
                                <a:lumMod val="50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solidFill>
                              <a:schemeClr val="bg1">
                                <a:lumMod val="5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en-US" i="1">
                            <a:solidFill>
                              <a:schemeClr val="bg1">
                                <a:lumMod val="5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i="1">
                        <a:solidFill>
                          <a:schemeClr val="bg1">
                            <a:lumMod val="50000"/>
                          </a:schemeClr>
                        </a:solidFill>
                        <a:latin typeface="Cambria Math" panose="02040503050406030204" pitchFamily="18" charset="0"/>
                      </a:rPr>
                      <m:t>∗</m:t>
                    </m:r>
                    <m:r>
                      <a:rPr lang="en-US" i="1">
                        <a:solidFill>
                          <a:schemeClr val="bg1">
                            <a:lumMod val="50000"/>
                          </a:schemeClr>
                        </a:solidFill>
                        <a:latin typeface="Cambria Math" panose="02040503050406030204" pitchFamily="18" charset="0"/>
                      </a:rPr>
                      <m:t>3</m:t>
                    </m:r>
                  </m:oMath>
                </a14:m>
                <a:endParaRPr lang="en-US" b="1" dirty="0">
                  <a:solidFill>
                    <a:schemeClr val="bg1">
                      <a:lumMod val="50000"/>
                    </a:schemeClr>
                  </a:solidFill>
                  <a:latin typeface="Consolas" panose="020B0609020204030204" pitchFamily="49" charset="0"/>
                  <a:cs typeface="Consolas" panose="020B0609020204030204" pitchFamily="49" charset="0"/>
                </a:endParaRP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4" name="TextBox 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77000" y="2360474"/>
                <a:ext cx="3886200" cy="1006429"/>
              </a:xfrm>
              <a:prstGeom prst="rect">
                <a:avLst/>
              </a:prstGeom>
              <a:blipFill>
                <a:blip r:embed="rId5"/>
                <a:stretch>
                  <a:fillRect t="-5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/>
              <p:cNvSpPr txBox="1"/>
              <p:nvPr/>
            </p:nvSpPr>
            <p:spPr>
              <a:xfrm>
                <a:off x="6477000" y="4341674"/>
                <a:ext cx="5029200" cy="150502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lnSpc>
                    <a:spcPct val="90000"/>
                  </a:lnSpc>
                  <a:spcBef>
                    <a:spcPct val="50000"/>
                  </a:spcBef>
                </a:pPr>
                <a:r>
                  <a:rPr lang="en-US" dirty="0">
                    <a:solidFill>
                      <a:schemeClr val="bg1">
                        <a:lumMod val="50000"/>
                      </a:schemeClr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; r2 = 0xFFFE_0000 (#-131072)</a:t>
                </a:r>
              </a:p>
              <a:p>
                <a:pPr>
                  <a:lnSpc>
                    <a:spcPct val="90000"/>
                  </a:lnSpc>
                  <a:spcBef>
                    <a:spcPct val="50000"/>
                  </a:spcBef>
                </a:pPr>
                <a:r>
                  <a:rPr lang="en-US" dirty="0">
                    <a:solidFill>
                      <a:schemeClr val="bg1">
                        <a:lumMod val="50000"/>
                      </a:schemeClr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; -131072 =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solidFill>
                              <a:schemeClr val="bg1">
                                <a:lumMod val="50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solidFill>
                              <a:schemeClr val="bg1">
                                <a:lumMod val="5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en-US" i="1">
                            <a:solidFill>
                              <a:schemeClr val="bg1">
                                <a:lumMod val="5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  <m:r>
                      <a:rPr lang="en-US" i="1">
                        <a:solidFill>
                          <a:schemeClr val="bg1">
                            <a:lumMod val="50000"/>
                          </a:schemeClr>
                        </a:solidFill>
                        <a:latin typeface="Cambria Math" panose="02040503050406030204" pitchFamily="18" charset="0"/>
                      </a:rPr>
                      <m:t>∗−</m:t>
                    </m:r>
                    <m:r>
                      <a:rPr lang="en-US" i="1">
                        <a:solidFill>
                          <a:schemeClr val="bg1">
                            <a:lumMod val="50000"/>
                          </a:schemeClr>
                        </a:solidFill>
                        <a:latin typeface="Cambria Math" panose="02040503050406030204" pitchFamily="18" charset="0"/>
                      </a:rPr>
                      <m:t>65536</m:t>
                    </m:r>
                  </m:oMath>
                </a14:m>
                <a:endParaRPr lang="en-US" b="1" dirty="0">
                  <a:solidFill>
                    <a:schemeClr val="bg1">
                      <a:lumMod val="50000"/>
                    </a:schemeClr>
                  </a:solidFill>
                  <a:latin typeface="Consolas" panose="020B0609020204030204" pitchFamily="49" charset="0"/>
                  <a:cs typeface="Consolas" panose="020B0609020204030204" pitchFamily="49" charset="0"/>
                </a:endParaRPr>
              </a:p>
              <a:p>
                <a:pPr>
                  <a:lnSpc>
                    <a:spcPct val="90000"/>
                  </a:lnSpc>
                  <a:spcBef>
                    <a:spcPct val="50000"/>
                  </a:spcBef>
                </a:pPr>
                <a:r>
                  <a:rPr lang="en-US" dirty="0">
                    <a:solidFill>
                      <a:srgbClr val="0041FF"/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C=1, N=1, Z=0, V=not updated</a:t>
                </a:r>
              </a:p>
              <a:p>
                <a:pPr>
                  <a:lnSpc>
                    <a:spcPct val="90000"/>
                  </a:lnSpc>
                  <a:spcBef>
                    <a:spcPct val="50000"/>
                  </a:spcBef>
                </a:pPr>
                <a:endParaRPr lang="en-US" b="1" dirty="0">
                  <a:latin typeface="Arial" pitchFamily="34" charset="0"/>
                </a:endParaRPr>
              </a:p>
            </p:txBody>
          </p:sp>
        </mc:Choice>
        <mc:Fallback xmlns="">
          <p:sp>
            <p:nvSpPr>
              <p:cNvPr id="5" name="TextBox 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77000" y="4341674"/>
                <a:ext cx="5029200" cy="1505027"/>
              </a:xfrm>
              <a:prstGeom prst="rect">
                <a:avLst/>
              </a:prstGeom>
              <a:blipFill>
                <a:blip r:embed="rId6"/>
                <a:stretch>
                  <a:fillRect l="-1259" t="-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Rectangle 5"/>
          <p:cNvSpPr/>
          <p:nvPr/>
        </p:nvSpPr>
        <p:spPr>
          <a:xfrm>
            <a:off x="6448646" y="5590219"/>
            <a:ext cx="5342791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Note:</a:t>
            </a:r>
            <a:r>
              <a:rPr lang="en-US" dirty="0"/>
              <a:t> 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If the suffix S is used,  the carry flag is updated to the value of  the last shifted bit. </a:t>
            </a:r>
          </a:p>
        </p:txBody>
      </p:sp>
    </p:spTree>
    <p:extLst>
      <p:ext uri="{BB962C8B-B14F-4D97-AF65-F5344CB8AC3E}">
        <p14:creationId xmlns:p14="http://schemas.microsoft.com/office/powerpoint/2010/main" val="1990400050"/>
      </p:ext>
    </p:extLst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4" grpId="0"/>
      <p:bldP spid="5" grpId="0"/>
      <p:bldP spid="6" grpId="0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6" name="Rectangle 4"/>
          <p:cNvSpPr>
            <a:spLocks noGrp="1" noChangeArrowheads="1"/>
          </p:cNvSpPr>
          <p:nvPr>
            <p:ph type="title"/>
          </p:nvPr>
        </p:nvSpPr>
        <p:spPr>
          <a:noFill/>
        </p:spPr>
        <p:txBody>
          <a:bodyPr vert="horz" lIns="92075" tIns="46038" rIns="92075" bIns="46038" anchor="b" anchorCtr="0">
            <a:normAutofit/>
          </a:bodyPr>
          <a:lstStyle/>
          <a:p>
            <a:pPr defTabSz="938213"/>
            <a:r>
              <a:rPr lang="en-US" dirty="0"/>
              <a:t>Shift Operations</a:t>
            </a:r>
          </a:p>
        </p:txBody>
      </p:sp>
      <p:sp>
        <p:nvSpPr>
          <p:cNvPr id="18450" name="Rectangle 18"/>
          <p:cNvSpPr>
            <a:spLocks noChangeArrowheads="1"/>
          </p:cNvSpPr>
          <p:nvPr/>
        </p:nvSpPr>
        <p:spPr bwMode="auto">
          <a:xfrm>
            <a:off x="630494" y="1247854"/>
            <a:ext cx="3111500" cy="34689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b="1" dirty="0">
                <a:latin typeface="Arial" pitchFamily="34" charset="0"/>
              </a:rPr>
              <a:t>Logical Shift Right (LSR)</a:t>
            </a:r>
          </a:p>
        </p:txBody>
      </p:sp>
      <p:sp>
        <p:nvSpPr>
          <p:cNvPr id="47" name="Slide Number Placeholder 4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E14D4A-FE32-40AF-B06D-E9622816B101}" type="slidenum">
              <a:rPr lang="en-US" smtClean="0"/>
              <a:pPr/>
              <a:t>51</a:t>
            </a:fld>
            <a:endParaRPr lang="en-US"/>
          </a:p>
        </p:txBody>
      </p:sp>
      <p:cxnSp>
        <p:nvCxnSpPr>
          <p:cNvPr id="3" name="Straight Connector 2"/>
          <p:cNvCxnSpPr/>
          <p:nvPr/>
        </p:nvCxnSpPr>
        <p:spPr>
          <a:xfrm>
            <a:off x="6248401" y="1169728"/>
            <a:ext cx="19561" cy="515487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Rectangle 35"/>
          <p:cNvSpPr>
            <a:spLocks noChangeArrowheads="1"/>
          </p:cNvSpPr>
          <p:nvPr/>
        </p:nvSpPr>
        <p:spPr bwMode="auto">
          <a:xfrm>
            <a:off x="859094" y="2859983"/>
            <a:ext cx="4932106" cy="97937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dirty="0">
                <a:latin typeface="Arial" pitchFamily="34" charset="0"/>
              </a:rPr>
              <a:t>moves all the bits of a register by </a:t>
            </a:r>
            <a:r>
              <a:rPr lang="en-US" i="1" dirty="0">
                <a:latin typeface="Arial" pitchFamily="34" charset="0"/>
              </a:rPr>
              <a:t>n</a:t>
            </a:r>
            <a:r>
              <a:rPr lang="en-US" dirty="0">
                <a:latin typeface="Arial" pitchFamily="34" charset="0"/>
              </a:rPr>
              <a:t> positions to the right and inserts </a:t>
            </a:r>
            <a:r>
              <a:rPr lang="en-US" i="1" dirty="0">
                <a:latin typeface="Arial" pitchFamily="34" charset="0"/>
              </a:rPr>
              <a:t>n</a:t>
            </a:r>
            <a:r>
              <a:rPr lang="en-US" dirty="0">
                <a:latin typeface="Arial" pitchFamily="34" charset="0"/>
              </a:rPr>
              <a:t> zeros in the left end </a:t>
            </a:r>
          </a:p>
          <a:p>
            <a:pPr algn="ctr">
              <a:lnSpc>
                <a:spcPct val="90000"/>
              </a:lnSpc>
              <a:spcBef>
                <a:spcPct val="50000"/>
              </a:spcBef>
            </a:pPr>
            <a:r>
              <a:rPr lang="en-US" dirty="0">
                <a:latin typeface="Arial" pitchFamily="34" charset="0"/>
              </a:rPr>
              <a:t>1 ≤ n ≤ 32</a:t>
            </a:r>
          </a:p>
        </p:txBody>
      </p:sp>
      <p:sp>
        <p:nvSpPr>
          <p:cNvPr id="20" name="Rectangle 35"/>
          <p:cNvSpPr>
            <a:spLocks noChangeArrowheads="1"/>
          </p:cNvSpPr>
          <p:nvPr/>
        </p:nvSpPr>
        <p:spPr bwMode="auto">
          <a:xfrm>
            <a:off x="935294" y="4249912"/>
            <a:ext cx="3863410" cy="150567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b="1" dirty="0">
                <a:solidFill>
                  <a:srgbClr val="0070C0"/>
                </a:solidFill>
                <a:latin typeface="Arial" pitchFamily="34" charset="0"/>
              </a:rPr>
              <a:t>Example 1</a:t>
            </a:r>
          </a:p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; r2 = 0x0000_0010 (#16)</a:t>
            </a:r>
          </a:p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LSR r1, r2, #3</a:t>
            </a:r>
          </a:p>
          <a:p>
            <a:pPr>
              <a:lnSpc>
                <a:spcPct val="90000"/>
              </a:lnSpc>
              <a:spcBef>
                <a:spcPct val="50000"/>
              </a:spcBef>
            </a:pPr>
            <a:endParaRPr lang="en-US" b="1" dirty="0">
              <a:latin typeface="Arial" pitchFamily="34" charset="0"/>
            </a:endParaRPr>
          </a:p>
        </p:txBody>
      </p:sp>
      <p:sp>
        <p:nvSpPr>
          <p:cNvPr id="21" name="Rectangle 35"/>
          <p:cNvSpPr>
            <a:spLocks noChangeArrowheads="1"/>
          </p:cNvSpPr>
          <p:nvPr/>
        </p:nvSpPr>
        <p:spPr bwMode="auto">
          <a:xfrm>
            <a:off x="6400801" y="1295401"/>
            <a:ext cx="5371077" cy="111787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b="1" dirty="0">
                <a:solidFill>
                  <a:srgbClr val="0070C0"/>
                </a:solidFill>
                <a:latin typeface="Arial" pitchFamily="34" charset="0"/>
              </a:rPr>
              <a:t>Example 2</a:t>
            </a:r>
          </a:p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; r2 = 0x8000_0000 (# -2,147,483,648)</a:t>
            </a:r>
          </a:p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LSR r2, r2, #2</a:t>
            </a:r>
          </a:p>
        </p:txBody>
      </p:sp>
      <p:sp>
        <p:nvSpPr>
          <p:cNvPr id="22" name="Rectangle 35"/>
          <p:cNvSpPr>
            <a:spLocks noChangeArrowheads="1"/>
          </p:cNvSpPr>
          <p:nvPr/>
        </p:nvSpPr>
        <p:spPr bwMode="auto">
          <a:xfrm>
            <a:off x="6400800" y="3835770"/>
            <a:ext cx="3863410" cy="150567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b="1" dirty="0">
                <a:solidFill>
                  <a:srgbClr val="0070C0"/>
                </a:solidFill>
                <a:latin typeface="Arial" pitchFamily="34" charset="0"/>
              </a:rPr>
              <a:t>Example 3</a:t>
            </a:r>
          </a:p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; r2 = 0x0000_0001 (#1)</a:t>
            </a:r>
          </a:p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b="1" dirty="0">
                <a:solidFill>
                  <a:schemeClr val="bg1">
                    <a:lumMod val="6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b="1" dirty="0">
                <a:latin typeface="Consolas" panose="020B0609020204030204" pitchFamily="49" charset="0"/>
                <a:cs typeface="Consolas" panose="020B0609020204030204" pitchFamily="49" charset="0"/>
              </a:rPr>
              <a:t>LSR</a:t>
            </a:r>
            <a:r>
              <a:rPr lang="en-US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</a:t>
            </a:r>
            <a:r>
              <a:rPr lang="en-US" b="1" dirty="0">
                <a:latin typeface="Consolas" panose="020B0609020204030204" pitchFamily="49" charset="0"/>
                <a:cs typeface="Consolas" panose="020B0609020204030204" pitchFamily="49" charset="0"/>
              </a:rPr>
              <a:t> r3, r2, #1</a:t>
            </a:r>
            <a:endParaRPr lang="en-US" b="1" dirty="0">
              <a:solidFill>
                <a:schemeClr val="bg1">
                  <a:lumMod val="65000"/>
                </a:schemeClr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>
              <a:lnSpc>
                <a:spcPct val="90000"/>
              </a:lnSpc>
              <a:spcBef>
                <a:spcPct val="50000"/>
              </a:spcBef>
            </a:pPr>
            <a:endParaRPr lang="en-US" b="1" dirty="0">
              <a:latin typeface="Arial" pitchFamily="34" charset="0"/>
            </a:endParaRPr>
          </a:p>
        </p:txBody>
      </p:sp>
      <p:pic>
        <p:nvPicPr>
          <p:cNvPr id="15" name="Picture 3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06694" y="1716982"/>
            <a:ext cx="4267200" cy="49796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7" name="Rectangle 35"/>
          <p:cNvSpPr>
            <a:spLocks noChangeArrowheads="1"/>
          </p:cNvSpPr>
          <p:nvPr/>
        </p:nvSpPr>
        <p:spPr bwMode="auto">
          <a:xfrm>
            <a:off x="706694" y="2386319"/>
            <a:ext cx="4359583" cy="34227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LSR{S}  Rd, Rn, &lt;shift&gt;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/>
              <p:cNvSpPr txBox="1"/>
              <p:nvPr/>
            </p:nvSpPr>
            <p:spPr>
              <a:xfrm>
                <a:off x="935294" y="5374582"/>
                <a:ext cx="3787210" cy="72943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lnSpc>
                    <a:spcPct val="90000"/>
                  </a:lnSpc>
                  <a:spcBef>
                    <a:spcPct val="50000"/>
                  </a:spcBef>
                </a:pPr>
                <a:r>
                  <a:rPr lang="en-US" dirty="0">
                    <a:solidFill>
                      <a:srgbClr val="00B050"/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 ; r1 =0x0000_0002 (#2)</a:t>
                </a:r>
              </a:p>
              <a:p>
                <a:pPr>
                  <a:lnSpc>
                    <a:spcPct val="90000"/>
                  </a:lnSpc>
                  <a:spcBef>
                    <a:spcPct val="50000"/>
                  </a:spcBef>
                </a:pPr>
                <a:r>
                  <a:rPr lang="en-US" dirty="0">
                    <a:solidFill>
                      <a:schemeClr val="bg1">
                        <a:lumMod val="65000"/>
                      </a:schemeClr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 ; 2 =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solidFill>
                              <a:schemeClr val="bg1">
                                <a:lumMod val="6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solidFill>
                              <a:schemeClr val="bg1">
                                <a:lumMod val="6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16/2</m:t>
                        </m:r>
                      </m:e>
                      <m:sup>
                        <m:r>
                          <a:rPr lang="en-US" i="1">
                            <a:solidFill>
                              <a:schemeClr val="bg1">
                                <a:lumMod val="6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sup>
                    </m:sSup>
                  </m:oMath>
                </a14:m>
                <a:endParaRPr lang="en-US" dirty="0">
                  <a:latin typeface="Consolas" panose="020B0609020204030204" pitchFamily="49" charset="0"/>
                  <a:cs typeface="Consolas" panose="020B0609020204030204" pitchFamily="49" charset="0"/>
                </a:endParaRPr>
              </a:p>
            </p:txBody>
          </p:sp>
        </mc:Choice>
        <mc:Fallback xmlns="">
          <p:sp>
            <p:nvSpPr>
              <p:cNvPr id="4" name="TextBox 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5294" y="5374582"/>
                <a:ext cx="3787210" cy="729430"/>
              </a:xfrm>
              <a:prstGeom prst="rect">
                <a:avLst/>
              </a:prstGeom>
              <a:blipFill>
                <a:blip r:embed="rId4"/>
                <a:stretch>
                  <a:fillRect t="-6897" b="-1379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/>
              <p:cNvSpPr txBox="1"/>
              <p:nvPr/>
            </p:nvSpPr>
            <p:spPr>
              <a:xfrm>
                <a:off x="6400801" y="2464171"/>
                <a:ext cx="5371077" cy="136652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lnSpc>
                    <a:spcPct val="90000"/>
                  </a:lnSpc>
                  <a:spcBef>
                    <a:spcPct val="50000"/>
                  </a:spcBef>
                </a:pPr>
                <a:r>
                  <a:rPr lang="en-US" dirty="0">
                    <a:solidFill>
                      <a:srgbClr val="00B050"/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 ; r2 = 0x2000_0000 (# 536,870,912)</a:t>
                </a:r>
              </a:p>
              <a:p>
                <a:pPr>
                  <a:lnSpc>
                    <a:spcPct val="90000"/>
                  </a:lnSpc>
                  <a:spcBef>
                    <a:spcPct val="50000"/>
                  </a:spcBef>
                </a:pPr>
                <a:r>
                  <a:rPr lang="en-US" dirty="0">
                    <a:solidFill>
                      <a:schemeClr val="bg1">
                        <a:lumMod val="50000"/>
                      </a:schemeClr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 ; 536,870,912 = -2,147,483,648/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solidFill>
                              <a:schemeClr val="bg1">
                                <a:lumMod val="50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solidFill>
                              <a:schemeClr val="bg1">
                                <a:lumMod val="5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en-US" i="1">
                            <a:solidFill>
                              <a:schemeClr val="bg1">
                                <a:lumMod val="5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en-US" b="1" dirty="0">
                    <a:solidFill>
                      <a:schemeClr val="bg1">
                        <a:lumMod val="50000"/>
                      </a:schemeClr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 </a:t>
                </a:r>
              </a:p>
              <a:p>
                <a:pPr>
                  <a:lnSpc>
                    <a:spcPct val="90000"/>
                  </a:lnSpc>
                  <a:spcBef>
                    <a:spcPct val="50000"/>
                  </a:spcBef>
                </a:pPr>
                <a:r>
                  <a:rPr lang="en-US" dirty="0">
                    <a:solidFill>
                      <a:srgbClr val="FF0000"/>
                    </a:solidFill>
                  </a:rPr>
                  <a:t>                 with LSR sign bit is lost (if r2 is a signed integer). So do not use logical shifts for signed integers!</a:t>
                </a:r>
                <a:endParaRPr lang="en-US" b="1" dirty="0">
                  <a:solidFill>
                    <a:srgbClr val="FF0000"/>
                  </a:solidFill>
                  <a:latin typeface="Arial" pitchFamily="34" charset="0"/>
                </a:endParaRPr>
              </a:p>
            </p:txBody>
          </p:sp>
        </mc:Choice>
        <mc:Fallback xmlns="">
          <p:sp>
            <p:nvSpPr>
              <p:cNvPr id="5" name="TextBox 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00801" y="2464171"/>
                <a:ext cx="5371077" cy="1366528"/>
              </a:xfrm>
              <a:prstGeom prst="rect">
                <a:avLst/>
              </a:prstGeom>
              <a:blipFill>
                <a:blip r:embed="rId5"/>
                <a:stretch>
                  <a:fillRect l="-908" t="-4018" b="-625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8" name="Right Arrow 17"/>
          <p:cNvSpPr/>
          <p:nvPr/>
        </p:nvSpPr>
        <p:spPr>
          <a:xfrm flipV="1">
            <a:off x="6973324" y="3347467"/>
            <a:ext cx="403172" cy="128903"/>
          </a:xfrm>
          <a:prstGeom prst="righ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/>
              <p:cNvSpPr txBox="1"/>
              <p:nvPr/>
            </p:nvSpPr>
            <p:spPr>
              <a:xfrm>
                <a:off x="6553200" y="4902571"/>
                <a:ext cx="5371077" cy="11172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lnSpc>
                    <a:spcPct val="90000"/>
                  </a:lnSpc>
                  <a:spcBef>
                    <a:spcPct val="50000"/>
                  </a:spcBef>
                </a:pPr>
                <a:r>
                  <a:rPr lang="en-US" dirty="0">
                    <a:solidFill>
                      <a:srgbClr val="00B050"/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; r3 = 0x0000_0000 (#0)</a:t>
                </a:r>
              </a:p>
              <a:p>
                <a:pPr>
                  <a:lnSpc>
                    <a:spcPct val="90000"/>
                  </a:lnSpc>
                  <a:spcBef>
                    <a:spcPct val="50000"/>
                  </a:spcBef>
                </a:pPr>
                <a:r>
                  <a:rPr lang="en-US" dirty="0">
                    <a:solidFill>
                      <a:schemeClr val="bg1">
                        <a:lumMod val="50000"/>
                      </a:schemeClr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; 0=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solidFill>
                              <a:schemeClr val="bg1">
                                <a:lumMod val="50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solidFill>
                              <a:schemeClr val="bg1">
                                <a:lumMod val="5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1/2</m:t>
                        </m:r>
                      </m:e>
                      <m:sup>
                        <m:r>
                          <a:rPr lang="en-US" i="1">
                            <a:solidFill>
                              <a:schemeClr val="bg1">
                                <a:lumMod val="5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</m:oMath>
                </a14:m>
                <a:endParaRPr lang="en-US" dirty="0">
                  <a:solidFill>
                    <a:schemeClr val="bg1">
                      <a:lumMod val="50000"/>
                    </a:schemeClr>
                  </a:solidFill>
                  <a:latin typeface="Consolas" panose="020B0609020204030204" pitchFamily="49" charset="0"/>
                  <a:cs typeface="Consolas" panose="020B0609020204030204" pitchFamily="49" charset="0"/>
                </a:endParaRPr>
              </a:p>
              <a:p>
                <a:pPr>
                  <a:lnSpc>
                    <a:spcPct val="90000"/>
                  </a:lnSpc>
                  <a:spcBef>
                    <a:spcPct val="50000"/>
                  </a:spcBef>
                </a:pPr>
                <a:r>
                  <a:rPr lang="en-US" dirty="0">
                    <a:solidFill>
                      <a:srgbClr val="0041FF"/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C=1, N=0, Z=1, </a:t>
                </a:r>
                <a:r>
                  <a:rPr lang="en-US" dirty="0">
                    <a:solidFill>
                      <a:srgbClr val="FF0000"/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V=not updated</a:t>
                </a:r>
                <a:endParaRPr lang="en-US" dirty="0">
                  <a:latin typeface="Consolas" panose="020B0609020204030204" pitchFamily="49" charset="0"/>
                  <a:cs typeface="Consolas" panose="020B0609020204030204" pitchFamily="49" charset="0"/>
                </a:endParaRPr>
              </a:p>
            </p:txBody>
          </p:sp>
        </mc:Choice>
        <mc:Fallback xmlns="">
          <p:sp>
            <p:nvSpPr>
              <p:cNvPr id="6" name="TextBox 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53200" y="4902571"/>
                <a:ext cx="5371077" cy="1117229"/>
              </a:xfrm>
              <a:prstGeom prst="rect">
                <a:avLst/>
              </a:prstGeom>
              <a:blipFill>
                <a:blip r:embed="rId6"/>
                <a:stretch>
                  <a:fillRect l="-908" t="-4891" b="-760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3" name="Rectangle 22"/>
          <p:cNvSpPr/>
          <p:nvPr/>
        </p:nvSpPr>
        <p:spPr>
          <a:xfrm>
            <a:off x="6422065" y="6001434"/>
            <a:ext cx="5641076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Note:</a:t>
            </a:r>
            <a:r>
              <a:rPr lang="en-US" dirty="0"/>
              <a:t> 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If the suffix S is used,  the carry flag is updated to the value of  the last shifted bit. </a:t>
            </a:r>
          </a:p>
        </p:txBody>
      </p:sp>
    </p:spTree>
    <p:extLst>
      <p:ext uri="{BB962C8B-B14F-4D97-AF65-F5344CB8AC3E}">
        <p14:creationId xmlns:p14="http://schemas.microsoft.com/office/powerpoint/2010/main" val="638370877"/>
      </p:ext>
    </p:extLst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  <p:bldP spid="18" grpId="0" animBg="1"/>
      <p:bldP spid="6" grpId="0"/>
      <p:bldP spid="23" grpId="0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Rectangle 2"/>
          <p:cNvSpPr>
            <a:spLocks noChangeArrowheads="1"/>
          </p:cNvSpPr>
          <p:nvPr/>
        </p:nvSpPr>
        <p:spPr bwMode="auto">
          <a:xfrm>
            <a:off x="2214563" y="6243638"/>
            <a:ext cx="1903412" cy="4556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18436" name="Rectangle 4"/>
          <p:cNvSpPr>
            <a:spLocks noGrp="1" noChangeArrowheads="1"/>
          </p:cNvSpPr>
          <p:nvPr>
            <p:ph type="title"/>
          </p:nvPr>
        </p:nvSpPr>
        <p:spPr>
          <a:noFill/>
        </p:spPr>
        <p:txBody>
          <a:bodyPr vert="horz" lIns="92075" tIns="46038" rIns="92075" bIns="46038" anchor="b" anchorCtr="0">
            <a:normAutofit/>
          </a:bodyPr>
          <a:lstStyle/>
          <a:p>
            <a:pPr defTabSz="938213"/>
            <a:r>
              <a:rPr lang="en-US" dirty="0"/>
              <a:t>Shift Operations</a:t>
            </a:r>
          </a:p>
        </p:txBody>
      </p:sp>
      <p:sp>
        <p:nvSpPr>
          <p:cNvPr id="47" name="Slide Number Placeholder 4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E14D4A-FE32-40AF-B06D-E9622816B101}" type="slidenum">
              <a:rPr lang="en-US" smtClean="0"/>
              <a:pPr/>
              <a:t>52</a:t>
            </a:fld>
            <a:endParaRPr lang="en-US" dirty="0"/>
          </a:p>
        </p:txBody>
      </p:sp>
      <p:cxnSp>
        <p:nvCxnSpPr>
          <p:cNvPr id="3" name="Straight Connector 2"/>
          <p:cNvCxnSpPr/>
          <p:nvPr/>
        </p:nvCxnSpPr>
        <p:spPr>
          <a:xfrm>
            <a:off x="6248401" y="1169728"/>
            <a:ext cx="19561" cy="515487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Rectangle 35"/>
          <p:cNvSpPr>
            <a:spLocks noChangeArrowheads="1"/>
          </p:cNvSpPr>
          <p:nvPr/>
        </p:nvSpPr>
        <p:spPr bwMode="auto">
          <a:xfrm>
            <a:off x="1046162" y="2971307"/>
            <a:ext cx="4897438" cy="122867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dirty="0">
                <a:latin typeface="Arial" pitchFamily="34" charset="0"/>
              </a:rPr>
              <a:t>moves all the bits of a register by </a:t>
            </a:r>
            <a:r>
              <a:rPr lang="en-US" i="1" dirty="0">
                <a:latin typeface="Arial" pitchFamily="34" charset="0"/>
              </a:rPr>
              <a:t>n</a:t>
            </a:r>
            <a:r>
              <a:rPr lang="en-US" dirty="0">
                <a:latin typeface="Arial" pitchFamily="34" charset="0"/>
              </a:rPr>
              <a:t> positions to the </a:t>
            </a:r>
            <a:r>
              <a:rPr lang="en-US" dirty="0">
                <a:solidFill>
                  <a:srgbClr val="0000FF"/>
                </a:solidFill>
                <a:latin typeface="Arial" pitchFamily="34" charset="0"/>
              </a:rPr>
              <a:t>right</a:t>
            </a:r>
            <a:r>
              <a:rPr lang="en-US" dirty="0">
                <a:latin typeface="Arial" pitchFamily="34" charset="0"/>
              </a:rPr>
              <a:t> and inserts </a:t>
            </a:r>
            <a:r>
              <a:rPr lang="en-US" i="1" dirty="0">
                <a:latin typeface="Arial" pitchFamily="34" charset="0"/>
              </a:rPr>
              <a:t>n</a:t>
            </a:r>
            <a:r>
              <a:rPr lang="en-US" dirty="0">
                <a:latin typeface="Arial" pitchFamily="34" charset="0"/>
              </a:rPr>
              <a:t> copies of the sign bit in the left end</a:t>
            </a:r>
          </a:p>
          <a:p>
            <a:pPr algn="ctr">
              <a:lnSpc>
                <a:spcPct val="90000"/>
              </a:lnSpc>
              <a:spcBef>
                <a:spcPct val="50000"/>
              </a:spcBef>
            </a:pPr>
            <a:r>
              <a:rPr lang="en-US" dirty="0">
                <a:latin typeface="Arial" pitchFamily="34" charset="0"/>
              </a:rPr>
              <a:t>1 ≤ n ≤ 32 </a:t>
            </a:r>
          </a:p>
        </p:txBody>
      </p:sp>
      <p:sp>
        <p:nvSpPr>
          <p:cNvPr id="20" name="Rectangle 35"/>
          <p:cNvSpPr>
            <a:spLocks noChangeArrowheads="1"/>
          </p:cNvSpPr>
          <p:nvPr/>
        </p:nvSpPr>
        <p:spPr bwMode="auto">
          <a:xfrm>
            <a:off x="838199" y="4209330"/>
            <a:ext cx="4400039" cy="150567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b="1" dirty="0">
                <a:solidFill>
                  <a:srgbClr val="0070C0"/>
                </a:solidFill>
                <a:latin typeface="Arial" pitchFamily="34" charset="0"/>
              </a:rPr>
              <a:t>Example 1</a:t>
            </a:r>
          </a:p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; r0 = 0xFFF8_0000 (-524288)</a:t>
            </a:r>
          </a:p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ASR r1, r0, #3</a:t>
            </a:r>
          </a:p>
          <a:p>
            <a:pPr>
              <a:lnSpc>
                <a:spcPct val="90000"/>
              </a:lnSpc>
              <a:spcBef>
                <a:spcPct val="50000"/>
              </a:spcBef>
            </a:pPr>
            <a:endParaRPr lang="en-US" b="1" dirty="0">
              <a:latin typeface="Arial" pitchFamily="34" charset="0"/>
            </a:endParaRPr>
          </a:p>
        </p:txBody>
      </p:sp>
      <p:sp>
        <p:nvSpPr>
          <p:cNvPr id="21" name="Rectangle 35"/>
          <p:cNvSpPr>
            <a:spLocks noChangeArrowheads="1"/>
          </p:cNvSpPr>
          <p:nvPr/>
        </p:nvSpPr>
        <p:spPr bwMode="auto">
          <a:xfrm>
            <a:off x="6400801" y="1355771"/>
            <a:ext cx="5181599" cy="111787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b="1" dirty="0">
                <a:solidFill>
                  <a:srgbClr val="0070C0"/>
                </a:solidFill>
                <a:latin typeface="Arial" pitchFamily="34" charset="0"/>
              </a:rPr>
              <a:t>Example 2</a:t>
            </a:r>
          </a:p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; r2 = 0x8000_0000 (-2,147,483,648)</a:t>
            </a:r>
          </a:p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ASR r2, r2, #2</a:t>
            </a:r>
          </a:p>
        </p:txBody>
      </p:sp>
      <p:sp>
        <p:nvSpPr>
          <p:cNvPr id="22" name="Rectangle 35"/>
          <p:cNvSpPr>
            <a:spLocks noChangeArrowheads="1"/>
          </p:cNvSpPr>
          <p:nvPr/>
        </p:nvSpPr>
        <p:spPr bwMode="auto">
          <a:xfrm>
            <a:off x="6400799" y="3657600"/>
            <a:ext cx="5314439" cy="150567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b="1" dirty="0">
                <a:solidFill>
                  <a:srgbClr val="0070C0"/>
                </a:solidFill>
                <a:latin typeface="Arial" pitchFamily="34" charset="0"/>
              </a:rPr>
              <a:t>Example 3</a:t>
            </a:r>
          </a:p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; r2 = 0xFFFF_F001 (#-4095)</a:t>
            </a:r>
          </a:p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b="1" dirty="0">
                <a:latin typeface="Consolas" panose="020B0609020204030204" pitchFamily="49" charset="0"/>
                <a:cs typeface="Consolas" panose="020B0609020204030204" pitchFamily="49" charset="0"/>
              </a:rPr>
              <a:t> ASR</a:t>
            </a:r>
            <a:r>
              <a:rPr lang="en-US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</a:t>
            </a:r>
            <a:r>
              <a:rPr lang="en-US" b="1" dirty="0">
                <a:latin typeface="Consolas" panose="020B0609020204030204" pitchFamily="49" charset="0"/>
                <a:cs typeface="Consolas" panose="020B0609020204030204" pitchFamily="49" charset="0"/>
              </a:rPr>
              <a:t> r3, r2, #1</a:t>
            </a:r>
            <a:endParaRPr lang="en-US" b="1" dirty="0">
              <a:solidFill>
                <a:schemeClr val="bg1">
                  <a:lumMod val="65000"/>
                </a:schemeClr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>
              <a:lnSpc>
                <a:spcPct val="90000"/>
              </a:lnSpc>
              <a:spcBef>
                <a:spcPct val="50000"/>
              </a:spcBef>
            </a:pPr>
            <a:endParaRPr lang="en-US" b="1" dirty="0">
              <a:latin typeface="Arial" pitchFamily="34" charset="0"/>
            </a:endParaRPr>
          </a:p>
        </p:txBody>
      </p:sp>
      <p:pic>
        <p:nvPicPr>
          <p:cNvPr id="17" name="Picture 4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7563" y="1730230"/>
            <a:ext cx="3796275" cy="71502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8" name="Rectangle 19"/>
          <p:cNvSpPr>
            <a:spLocks noChangeArrowheads="1"/>
          </p:cNvSpPr>
          <p:nvPr/>
        </p:nvSpPr>
        <p:spPr bwMode="auto">
          <a:xfrm>
            <a:off x="609600" y="1290638"/>
            <a:ext cx="3332163" cy="3397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b="1" dirty="0">
                <a:latin typeface="Arial" pitchFamily="34" charset="0"/>
              </a:rPr>
              <a:t>Arithmetic Shift Right </a:t>
            </a:r>
            <a:r>
              <a:rPr lang="en-US" dirty="0">
                <a:latin typeface="Arial" pitchFamily="34" charset="0"/>
              </a:rPr>
              <a:t>(</a:t>
            </a:r>
            <a:r>
              <a:rPr lang="en-US" b="1" dirty="0">
                <a:latin typeface="Arial" pitchFamily="34" charset="0"/>
              </a:rPr>
              <a:t>ASR</a:t>
            </a:r>
            <a:r>
              <a:rPr lang="en-US" dirty="0">
                <a:latin typeface="Arial" pitchFamily="34" charset="0"/>
              </a:rPr>
              <a:t>)</a:t>
            </a:r>
          </a:p>
        </p:txBody>
      </p:sp>
      <p:sp>
        <p:nvSpPr>
          <p:cNvPr id="23" name="Rectangle 35"/>
          <p:cNvSpPr>
            <a:spLocks noChangeArrowheads="1"/>
          </p:cNvSpPr>
          <p:nvPr/>
        </p:nvSpPr>
        <p:spPr bwMode="auto">
          <a:xfrm>
            <a:off x="969963" y="2590801"/>
            <a:ext cx="3113087" cy="3397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b="1" dirty="0">
                <a:solidFill>
                  <a:srgbClr val="C00000"/>
                </a:solidFill>
                <a:latin typeface="Consolas" panose="020B0609020204030204" pitchFamily="49" charset="0"/>
              </a:rPr>
              <a:t>ASR{S} Rd, Rn, &lt;shift&gt;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/>
              <p:cNvSpPr txBox="1"/>
              <p:nvPr/>
            </p:nvSpPr>
            <p:spPr>
              <a:xfrm>
                <a:off x="1046162" y="5334000"/>
                <a:ext cx="3886200" cy="73815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lnSpc>
                    <a:spcPct val="90000"/>
                  </a:lnSpc>
                  <a:spcBef>
                    <a:spcPct val="50000"/>
                  </a:spcBef>
                </a:pPr>
                <a:r>
                  <a:rPr lang="en-US" dirty="0">
                    <a:solidFill>
                      <a:schemeClr val="bg1">
                        <a:lumMod val="50000"/>
                      </a:schemeClr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; r1 = 0xFFFF_0000 (-65536)</a:t>
                </a:r>
              </a:p>
              <a:p>
                <a:pPr>
                  <a:lnSpc>
                    <a:spcPct val="90000"/>
                  </a:lnSpc>
                  <a:spcBef>
                    <a:spcPct val="50000"/>
                  </a:spcBef>
                </a:pPr>
                <a:r>
                  <a:rPr lang="en-US" dirty="0">
                    <a:solidFill>
                      <a:srgbClr val="00B050"/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; -65536=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−524288/2</m:t>
                        </m:r>
                      </m:e>
                      <m:sup>
                        <m:r>
                          <a:rPr lang="en-US" b="0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sup>
                    </m:sSup>
                  </m:oMath>
                </a14:m>
                <a:endParaRPr lang="en-US" dirty="0">
                  <a:solidFill>
                    <a:srgbClr val="00B050"/>
                  </a:solidFill>
                  <a:latin typeface="Consolas" panose="020B0609020204030204" pitchFamily="49" charset="0"/>
                  <a:cs typeface="Consolas" panose="020B0609020204030204" pitchFamily="49" charset="0"/>
                </a:endParaRPr>
              </a:p>
            </p:txBody>
          </p:sp>
        </mc:Choice>
        <mc:Fallback xmlns="">
          <p:sp>
            <p:nvSpPr>
              <p:cNvPr id="4" name="TextBox 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46162" y="5334000"/>
                <a:ext cx="3886200" cy="738151"/>
              </a:xfrm>
              <a:prstGeom prst="rect">
                <a:avLst/>
              </a:prstGeom>
              <a:blipFill>
                <a:blip r:embed="rId4"/>
                <a:stretch>
                  <a:fillRect l="-1303" t="-8475" b="-1016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/>
              <p:cNvSpPr txBox="1"/>
              <p:nvPr/>
            </p:nvSpPr>
            <p:spPr>
              <a:xfrm>
                <a:off x="6400800" y="2498771"/>
                <a:ext cx="5393866" cy="10064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lnSpc>
                    <a:spcPct val="90000"/>
                  </a:lnSpc>
                  <a:spcBef>
                    <a:spcPct val="50000"/>
                  </a:spcBef>
                </a:pPr>
                <a:r>
                  <a:rPr lang="en-US" dirty="0">
                    <a:solidFill>
                      <a:schemeClr val="bg1">
                        <a:lumMod val="50000"/>
                      </a:schemeClr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 ; r2 = 0xE000_0000 (# -536,870,912)</a:t>
                </a:r>
              </a:p>
              <a:p>
                <a:pPr>
                  <a:lnSpc>
                    <a:spcPct val="90000"/>
                  </a:lnSpc>
                  <a:spcBef>
                    <a:spcPct val="50000"/>
                  </a:spcBef>
                </a:pPr>
                <a:r>
                  <a:rPr lang="en-US" dirty="0">
                    <a:solidFill>
                      <a:srgbClr val="00B050"/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 ; -536,870,912= -2,147,483,648/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en-US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endParaRPr lang="en-US" b="1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endParaRPr>
              </a:p>
              <a:p>
                <a:r>
                  <a:rPr lang="en-US" dirty="0">
                    <a:solidFill>
                      <a:srgbClr val="FF0000"/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           </a:t>
                </a:r>
                <a:endParaRPr lang="en-US" dirty="0">
                  <a:latin typeface="Consolas" panose="020B0609020204030204" pitchFamily="49" charset="0"/>
                  <a:cs typeface="Consolas" panose="020B0609020204030204" pitchFamily="49" charset="0"/>
                </a:endParaRPr>
              </a:p>
            </p:txBody>
          </p:sp>
        </mc:Choice>
        <mc:Fallback xmlns="">
          <p:sp>
            <p:nvSpPr>
              <p:cNvPr id="5" name="TextBox 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00800" y="2498771"/>
                <a:ext cx="5393866" cy="1006429"/>
              </a:xfrm>
              <a:prstGeom prst="rect">
                <a:avLst/>
              </a:prstGeom>
              <a:blipFill>
                <a:blip r:embed="rId5"/>
                <a:stretch>
                  <a:fillRect t="-5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extBox 5"/>
          <p:cNvSpPr txBox="1"/>
          <p:nvPr/>
        </p:nvSpPr>
        <p:spPr>
          <a:xfrm>
            <a:off x="469335" y="6044762"/>
            <a:ext cx="539386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00B050"/>
                </a:solidFill>
              </a:rPr>
              <a:t>         ASR is equivalent to signed integer division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/>
              <p:cNvSpPr txBox="1"/>
              <p:nvPr/>
            </p:nvSpPr>
            <p:spPr>
              <a:xfrm>
                <a:off x="6400801" y="4724401"/>
                <a:ext cx="5393867" cy="150502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lnSpc>
                    <a:spcPct val="90000"/>
                  </a:lnSpc>
                  <a:spcBef>
                    <a:spcPct val="50000"/>
                  </a:spcBef>
                </a:pPr>
                <a:r>
                  <a:rPr lang="en-US" dirty="0">
                    <a:solidFill>
                      <a:schemeClr val="bg1">
                        <a:lumMod val="50000"/>
                      </a:schemeClr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 ; r3 = 0xFFFF_F800 (#-2048)</a:t>
                </a:r>
              </a:p>
              <a:p>
                <a:pPr>
                  <a:lnSpc>
                    <a:spcPct val="90000"/>
                  </a:lnSpc>
                  <a:spcBef>
                    <a:spcPct val="50000"/>
                  </a:spcBef>
                </a:pPr>
                <a:r>
                  <a:rPr lang="en-US" dirty="0">
                    <a:solidFill>
                      <a:srgbClr val="00B050"/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 ; -2048 =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−4096/2</m:t>
                        </m:r>
                      </m:e>
                      <m:sup>
                        <m:r>
                          <a:rPr lang="en-US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</m:oMath>
                </a14:m>
                <a:endParaRPr lang="en-US" dirty="0">
                  <a:latin typeface="Consolas" panose="020B0609020204030204" pitchFamily="49" charset="0"/>
                  <a:cs typeface="Consolas" panose="020B0609020204030204" pitchFamily="49" charset="0"/>
                </a:endParaRPr>
              </a:p>
              <a:p>
                <a:pPr>
                  <a:lnSpc>
                    <a:spcPct val="90000"/>
                  </a:lnSpc>
                  <a:spcBef>
                    <a:spcPct val="50000"/>
                  </a:spcBef>
                </a:pPr>
                <a:r>
                  <a:rPr lang="en-US" dirty="0">
                    <a:solidFill>
                      <a:srgbClr val="0041FF"/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 C=1, N=1, Z=0, </a:t>
                </a:r>
                <a:r>
                  <a:rPr lang="en-US" dirty="0">
                    <a:solidFill>
                      <a:srgbClr val="FF0000"/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V=not updated</a:t>
                </a:r>
              </a:p>
              <a:p>
                <a:pPr>
                  <a:lnSpc>
                    <a:spcPct val="90000"/>
                  </a:lnSpc>
                  <a:spcBef>
                    <a:spcPct val="50000"/>
                  </a:spcBef>
                </a:pPr>
                <a:endParaRPr lang="en-US" dirty="0">
                  <a:latin typeface="Consolas" panose="020B0609020204030204" pitchFamily="49" charset="0"/>
                  <a:cs typeface="Consolas" panose="020B0609020204030204" pitchFamily="49" charset="0"/>
                </a:endParaRPr>
              </a:p>
            </p:txBody>
          </p:sp>
        </mc:Choice>
        <mc:Fallback xmlns="">
          <p:sp>
            <p:nvSpPr>
              <p:cNvPr id="7" name="TextBox 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00801" y="4724401"/>
                <a:ext cx="5393867" cy="1505027"/>
              </a:xfrm>
              <a:prstGeom prst="rect">
                <a:avLst/>
              </a:prstGeom>
              <a:blipFill>
                <a:blip r:embed="rId6"/>
                <a:stretch>
                  <a:fillRect t="-420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5" name="Rectangle 24"/>
          <p:cNvSpPr/>
          <p:nvPr/>
        </p:nvSpPr>
        <p:spPr>
          <a:xfrm>
            <a:off x="6324600" y="5983070"/>
            <a:ext cx="5867400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Note:</a:t>
            </a:r>
            <a:r>
              <a:rPr lang="en-US" dirty="0"/>
              <a:t> 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If the suffix S is used,  the carry flag is updated to the value of  the last shifted bit. </a:t>
            </a:r>
          </a:p>
        </p:txBody>
      </p:sp>
    </p:spTree>
    <p:extLst>
      <p:ext uri="{BB962C8B-B14F-4D97-AF65-F5344CB8AC3E}">
        <p14:creationId xmlns:p14="http://schemas.microsoft.com/office/powerpoint/2010/main" val="1952014345"/>
      </p:ext>
    </p:extLst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  <p:bldP spid="6" grpId="0"/>
      <p:bldP spid="7" grpId="0"/>
      <p:bldP spid="25" grpId="0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6" name="Rectangle 4"/>
          <p:cNvSpPr>
            <a:spLocks noGrp="1" noChangeArrowheads="1"/>
          </p:cNvSpPr>
          <p:nvPr>
            <p:ph type="title"/>
          </p:nvPr>
        </p:nvSpPr>
        <p:spPr>
          <a:noFill/>
        </p:spPr>
        <p:txBody>
          <a:bodyPr vert="horz" lIns="92075" tIns="46038" rIns="92075" bIns="46038" anchor="b" anchorCtr="0">
            <a:normAutofit/>
          </a:bodyPr>
          <a:lstStyle/>
          <a:p>
            <a:pPr defTabSz="938213"/>
            <a:r>
              <a:rPr lang="en-US" dirty="0"/>
              <a:t>Rotate Operations</a:t>
            </a:r>
          </a:p>
        </p:txBody>
      </p:sp>
      <p:sp>
        <p:nvSpPr>
          <p:cNvPr id="47" name="Slide Number Placeholder 4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E14D4A-FE32-40AF-B06D-E9622816B101}" type="slidenum">
              <a:rPr lang="en-US" smtClean="0"/>
              <a:pPr/>
              <a:t>53</a:t>
            </a:fld>
            <a:endParaRPr lang="en-US"/>
          </a:p>
        </p:txBody>
      </p:sp>
      <p:cxnSp>
        <p:nvCxnSpPr>
          <p:cNvPr id="3" name="Straight Connector 2"/>
          <p:cNvCxnSpPr/>
          <p:nvPr/>
        </p:nvCxnSpPr>
        <p:spPr>
          <a:xfrm>
            <a:off x="6248401" y="1169728"/>
            <a:ext cx="19561" cy="515487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Rectangle 35"/>
          <p:cNvSpPr>
            <a:spLocks noChangeArrowheads="1"/>
          </p:cNvSpPr>
          <p:nvPr/>
        </p:nvSpPr>
        <p:spPr bwMode="auto">
          <a:xfrm>
            <a:off x="841672" y="2929390"/>
            <a:ext cx="5367607" cy="147797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dirty="0">
                <a:latin typeface="Arial" pitchFamily="34" charset="0"/>
              </a:rPr>
              <a:t>Circular shifts of all the bits of a register by </a:t>
            </a:r>
            <a:r>
              <a:rPr lang="en-US" i="1" dirty="0">
                <a:latin typeface="Arial" pitchFamily="34" charset="0"/>
              </a:rPr>
              <a:t>n</a:t>
            </a:r>
            <a:r>
              <a:rPr lang="en-US" dirty="0">
                <a:latin typeface="Arial" pitchFamily="34" charset="0"/>
              </a:rPr>
              <a:t> positions to the </a:t>
            </a:r>
            <a:r>
              <a:rPr lang="en-US" dirty="0">
                <a:solidFill>
                  <a:srgbClr val="0000FF"/>
                </a:solidFill>
                <a:latin typeface="Arial" pitchFamily="34" charset="0"/>
              </a:rPr>
              <a:t>right</a:t>
            </a:r>
            <a:r>
              <a:rPr lang="en-US" dirty="0">
                <a:latin typeface="Arial" pitchFamily="34" charset="0"/>
              </a:rPr>
              <a:t> as if the right end of the register is joined with its left end. The last shifted bit updates the carry bit</a:t>
            </a:r>
          </a:p>
          <a:p>
            <a:pPr algn="ctr">
              <a:lnSpc>
                <a:spcPct val="90000"/>
              </a:lnSpc>
              <a:spcBef>
                <a:spcPct val="50000"/>
              </a:spcBef>
            </a:pPr>
            <a:r>
              <a:rPr lang="en-US" dirty="0">
                <a:latin typeface="Arial" pitchFamily="34" charset="0"/>
              </a:rPr>
              <a:t>1 ≤ n ≤ 31</a:t>
            </a:r>
          </a:p>
        </p:txBody>
      </p:sp>
      <p:sp>
        <p:nvSpPr>
          <p:cNvPr id="20" name="Rectangle 35"/>
          <p:cNvSpPr>
            <a:spLocks noChangeArrowheads="1"/>
          </p:cNvSpPr>
          <p:nvPr/>
        </p:nvSpPr>
        <p:spPr bwMode="auto">
          <a:xfrm>
            <a:off x="914399" y="4673330"/>
            <a:ext cx="3863410" cy="111787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b="1" dirty="0">
                <a:solidFill>
                  <a:srgbClr val="0070C0"/>
                </a:solidFill>
                <a:latin typeface="Arial" pitchFamily="34" charset="0"/>
              </a:rPr>
              <a:t>Example 1</a:t>
            </a:r>
          </a:p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; r2 = 0x0008_0000 </a:t>
            </a:r>
          </a:p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b="1" dirty="0">
                <a:solidFill>
                  <a:schemeClr val="bg1">
                    <a:lumMod val="6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ROR r2, r2, #10</a:t>
            </a:r>
          </a:p>
        </p:txBody>
      </p:sp>
      <p:sp>
        <p:nvSpPr>
          <p:cNvPr id="21" name="Rectangle 35"/>
          <p:cNvSpPr>
            <a:spLocks noChangeArrowheads="1"/>
          </p:cNvSpPr>
          <p:nvPr/>
        </p:nvSpPr>
        <p:spPr bwMode="auto">
          <a:xfrm>
            <a:off x="6324601" y="1219200"/>
            <a:ext cx="4114801" cy="111787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b="1" dirty="0">
                <a:solidFill>
                  <a:srgbClr val="0070C0"/>
                </a:solidFill>
                <a:latin typeface="Arial" pitchFamily="34" charset="0"/>
              </a:rPr>
              <a:t>Example 2: rotate </a:t>
            </a:r>
            <a:r>
              <a:rPr lang="en-US" b="1" dirty="0">
                <a:solidFill>
                  <a:srgbClr val="FF0000"/>
                </a:solidFill>
                <a:latin typeface="Arial" pitchFamily="34" charset="0"/>
              </a:rPr>
              <a:t>left</a:t>
            </a:r>
            <a:r>
              <a:rPr lang="en-US" b="1" dirty="0">
                <a:solidFill>
                  <a:srgbClr val="0070C0"/>
                </a:solidFill>
                <a:latin typeface="Arial" pitchFamily="34" charset="0"/>
              </a:rPr>
              <a:t> by 12 bits</a:t>
            </a:r>
          </a:p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; r0 = 0xF000_0000 </a:t>
            </a:r>
          </a:p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ROR r2, r0, #20</a:t>
            </a:r>
          </a:p>
        </p:txBody>
      </p:sp>
      <p:sp>
        <p:nvSpPr>
          <p:cNvPr id="22" name="Rectangle 35"/>
          <p:cNvSpPr>
            <a:spLocks noChangeArrowheads="1"/>
          </p:cNvSpPr>
          <p:nvPr/>
        </p:nvSpPr>
        <p:spPr bwMode="auto">
          <a:xfrm>
            <a:off x="6400800" y="3657600"/>
            <a:ext cx="3863410" cy="150567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b="1" dirty="0">
                <a:solidFill>
                  <a:srgbClr val="0070C0"/>
                </a:solidFill>
                <a:latin typeface="Arial" pitchFamily="34" charset="0"/>
              </a:rPr>
              <a:t>Example 3</a:t>
            </a:r>
          </a:p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; r2 = 0xF0F0_F001</a:t>
            </a:r>
          </a:p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; r1 = 0x0000_000E </a:t>
            </a:r>
          </a:p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b="1" dirty="0">
                <a:latin typeface="Consolas" panose="020B0609020204030204" pitchFamily="49" charset="0"/>
                <a:cs typeface="Consolas" panose="020B0609020204030204" pitchFamily="49" charset="0"/>
              </a:rPr>
              <a:t> ROR</a:t>
            </a:r>
            <a:r>
              <a:rPr lang="en-US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</a:t>
            </a:r>
            <a:r>
              <a:rPr lang="en-US" b="1" dirty="0">
                <a:latin typeface="Consolas" panose="020B0609020204030204" pitchFamily="49" charset="0"/>
                <a:cs typeface="Consolas" panose="020B0609020204030204" pitchFamily="49" charset="0"/>
              </a:rPr>
              <a:t> r3, r2, r1</a:t>
            </a:r>
            <a:endParaRPr lang="en-US" b="1" dirty="0">
              <a:solidFill>
                <a:schemeClr val="bg1">
                  <a:lumMod val="65000"/>
                </a:schemeClr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6896852" y="2743200"/>
            <a:ext cx="462686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solidFill>
                  <a:srgbClr val="FF0000"/>
                </a:solidFill>
              </a:rPr>
              <a:t>Rotate left by m bits is equivalent to rotate right ROR by 32-m bits</a:t>
            </a:r>
          </a:p>
        </p:txBody>
      </p:sp>
      <p:pic>
        <p:nvPicPr>
          <p:cNvPr id="23" name="Picture 5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14399" y="1676401"/>
            <a:ext cx="3629836" cy="67034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4" name="Rectangle 35"/>
          <p:cNvSpPr>
            <a:spLocks noChangeArrowheads="1"/>
          </p:cNvSpPr>
          <p:nvPr/>
        </p:nvSpPr>
        <p:spPr bwMode="auto">
          <a:xfrm>
            <a:off x="609600" y="1285725"/>
            <a:ext cx="3113087" cy="3397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b="1" dirty="0">
                <a:latin typeface="Arial" pitchFamily="34" charset="0"/>
              </a:rPr>
              <a:t>Rotate Right (</a:t>
            </a:r>
            <a:r>
              <a:rPr lang="en-US" b="1" dirty="0" err="1">
                <a:latin typeface="Consolas" panose="020B0609020204030204" pitchFamily="49" charset="0"/>
                <a:cs typeface="Consolas" panose="020B0609020204030204" pitchFamily="49" charset="0"/>
              </a:rPr>
              <a:t>ROR</a:t>
            </a:r>
            <a:r>
              <a:rPr lang="en-US" b="1" dirty="0">
                <a:latin typeface="Arial" pitchFamily="34" charset="0"/>
              </a:rPr>
              <a:t>)</a:t>
            </a:r>
          </a:p>
        </p:txBody>
      </p:sp>
      <p:sp>
        <p:nvSpPr>
          <p:cNvPr id="17" name="Rectangle 35"/>
          <p:cNvSpPr>
            <a:spLocks noChangeArrowheads="1"/>
          </p:cNvSpPr>
          <p:nvPr/>
        </p:nvSpPr>
        <p:spPr bwMode="auto">
          <a:xfrm>
            <a:off x="914400" y="2555876"/>
            <a:ext cx="3610274" cy="34227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b="1" dirty="0">
                <a:solidFill>
                  <a:srgbClr val="C00000"/>
                </a:solidFill>
                <a:latin typeface="Consolas" panose="020B0609020204030204" pitchFamily="49" charset="0"/>
              </a:rPr>
              <a:t>ROR{S}  Rd, Rn, &lt;shift&gt; 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25513" y="5802868"/>
            <a:ext cx="38750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00B05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; r2 = 0x0000_0200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2362199"/>
            <a:ext cx="3124200" cy="3416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dirty="0">
                <a:solidFill>
                  <a:srgbClr val="00B05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; r2 = 0x0000_0F00</a:t>
            </a:r>
            <a:endParaRPr lang="en-US" b="1" dirty="0">
              <a:solidFill>
                <a:srgbClr val="00B05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6400799" y="5181600"/>
            <a:ext cx="396240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00B05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; r3 = 0xC007_C3C3</a:t>
            </a:r>
            <a:endParaRPr lang="en-US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6564315" y="5569262"/>
            <a:ext cx="38750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0041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C=1, N=1, Z=0, </a:t>
            </a:r>
            <a:r>
              <a:rPr lang="en-US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V=not updated</a:t>
            </a:r>
            <a:endParaRPr lang="en-US" dirty="0">
              <a:solidFill>
                <a:srgbClr val="00B05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25" name="Rectangle 24"/>
          <p:cNvSpPr/>
          <p:nvPr/>
        </p:nvSpPr>
        <p:spPr>
          <a:xfrm>
            <a:off x="6283200" y="5983070"/>
            <a:ext cx="5732741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Note:</a:t>
            </a:r>
            <a:r>
              <a:rPr lang="en-US" dirty="0"/>
              <a:t> 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If the suffix S is used,  the carry flag is updated to the value of  the last shifted bit. </a:t>
            </a:r>
          </a:p>
        </p:txBody>
      </p:sp>
    </p:spTree>
    <p:extLst>
      <p:ext uri="{BB962C8B-B14F-4D97-AF65-F5344CB8AC3E}">
        <p14:creationId xmlns:p14="http://schemas.microsoft.com/office/powerpoint/2010/main" val="2400318657"/>
      </p:ext>
    </p:extLst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4" grpId="0"/>
      <p:bldP spid="5" grpId="0"/>
      <p:bldP spid="6" grpId="0"/>
      <p:bldP spid="26" grpId="0"/>
      <p:bldP spid="25" grpId="0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Rectangle 2"/>
          <p:cNvSpPr>
            <a:spLocks noChangeArrowheads="1"/>
          </p:cNvSpPr>
          <p:nvPr/>
        </p:nvSpPr>
        <p:spPr bwMode="auto">
          <a:xfrm>
            <a:off x="2214563" y="6243638"/>
            <a:ext cx="1903412" cy="4556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18436" name="Rectangle 4"/>
          <p:cNvSpPr>
            <a:spLocks noGrp="1" noChangeArrowheads="1"/>
          </p:cNvSpPr>
          <p:nvPr>
            <p:ph type="title"/>
          </p:nvPr>
        </p:nvSpPr>
        <p:spPr>
          <a:noFill/>
        </p:spPr>
        <p:txBody>
          <a:bodyPr vert="horz" lIns="92075" tIns="46038" rIns="92075" bIns="46038" anchor="b" anchorCtr="0">
            <a:normAutofit/>
          </a:bodyPr>
          <a:lstStyle/>
          <a:p>
            <a:pPr defTabSz="938213"/>
            <a:r>
              <a:rPr lang="en-US" dirty="0"/>
              <a:t>Rotate Operations</a:t>
            </a:r>
          </a:p>
        </p:txBody>
      </p:sp>
      <p:sp>
        <p:nvSpPr>
          <p:cNvPr id="18467" name="Rectangle 35"/>
          <p:cNvSpPr>
            <a:spLocks noChangeArrowheads="1"/>
          </p:cNvSpPr>
          <p:nvPr/>
        </p:nvSpPr>
        <p:spPr bwMode="auto">
          <a:xfrm>
            <a:off x="838201" y="2438401"/>
            <a:ext cx="3113087" cy="3397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RRX{S}  Rd, Rn</a:t>
            </a:r>
          </a:p>
        </p:txBody>
      </p:sp>
      <p:sp>
        <p:nvSpPr>
          <p:cNvPr id="47" name="Slide Number Placeholder 4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E14D4A-FE32-40AF-B06D-E9622816B101}" type="slidenum">
              <a:rPr lang="en-US" smtClean="0"/>
              <a:pPr/>
              <a:t>54</a:t>
            </a:fld>
            <a:endParaRPr lang="en-US" dirty="0"/>
          </a:p>
        </p:txBody>
      </p:sp>
      <p:cxnSp>
        <p:nvCxnSpPr>
          <p:cNvPr id="3" name="Straight Connector 2"/>
          <p:cNvCxnSpPr/>
          <p:nvPr/>
        </p:nvCxnSpPr>
        <p:spPr>
          <a:xfrm>
            <a:off x="6248401" y="1169728"/>
            <a:ext cx="19561" cy="515487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Rectangle 35"/>
          <p:cNvSpPr>
            <a:spLocks noChangeArrowheads="1"/>
          </p:cNvSpPr>
          <p:nvPr/>
        </p:nvSpPr>
        <p:spPr bwMode="auto">
          <a:xfrm>
            <a:off x="762001" y="2859061"/>
            <a:ext cx="4953000" cy="34227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dirty="0">
                <a:latin typeface="Arial" pitchFamily="34" charset="0"/>
              </a:rPr>
              <a:t>This is a one-bit rotate instruction. </a:t>
            </a:r>
          </a:p>
        </p:txBody>
      </p:sp>
      <p:sp>
        <p:nvSpPr>
          <p:cNvPr id="20" name="Rectangle 35"/>
          <p:cNvSpPr>
            <a:spLocks noChangeArrowheads="1"/>
          </p:cNvSpPr>
          <p:nvPr/>
        </p:nvSpPr>
        <p:spPr bwMode="auto">
          <a:xfrm>
            <a:off x="866172" y="3935251"/>
            <a:ext cx="3863410" cy="111787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b="1" dirty="0">
                <a:solidFill>
                  <a:srgbClr val="0070C0"/>
                </a:solidFill>
                <a:latin typeface="Arial" pitchFamily="34" charset="0"/>
              </a:rPr>
              <a:t>Example 1 </a:t>
            </a:r>
          </a:p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dirty="0">
                <a:solidFill>
                  <a:schemeClr val="bg1">
                    <a:lumMod val="6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; r2 = 0x0008_0003, c = 1 </a:t>
            </a:r>
          </a:p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RRX r2, r2</a:t>
            </a:r>
          </a:p>
        </p:txBody>
      </p:sp>
      <p:sp>
        <p:nvSpPr>
          <p:cNvPr id="21" name="Rectangle 35"/>
          <p:cNvSpPr>
            <a:spLocks noChangeArrowheads="1"/>
          </p:cNvSpPr>
          <p:nvPr/>
        </p:nvSpPr>
        <p:spPr bwMode="auto">
          <a:xfrm>
            <a:off x="6477000" y="1383133"/>
            <a:ext cx="4114801" cy="111787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b="1" dirty="0">
                <a:solidFill>
                  <a:srgbClr val="0070C0"/>
                </a:solidFill>
                <a:latin typeface="Arial" pitchFamily="34" charset="0"/>
              </a:rPr>
              <a:t>Example 2:</a:t>
            </a:r>
          </a:p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dirty="0">
                <a:solidFill>
                  <a:schemeClr val="bg1">
                    <a:lumMod val="6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; r2 = 0xF000_0001, c = 0</a:t>
            </a:r>
          </a:p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RRX r1, r2</a:t>
            </a:r>
          </a:p>
        </p:txBody>
      </p:sp>
      <p:sp>
        <p:nvSpPr>
          <p:cNvPr id="22" name="Rectangle 35"/>
          <p:cNvSpPr>
            <a:spLocks noChangeArrowheads="1"/>
          </p:cNvSpPr>
          <p:nvPr/>
        </p:nvSpPr>
        <p:spPr bwMode="auto">
          <a:xfrm>
            <a:off x="6499790" y="3330714"/>
            <a:ext cx="3863410" cy="111787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b="1" dirty="0">
                <a:solidFill>
                  <a:srgbClr val="0070C0"/>
                </a:solidFill>
                <a:latin typeface="Arial" pitchFamily="34" charset="0"/>
              </a:rPr>
              <a:t>Example 3</a:t>
            </a:r>
          </a:p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dirty="0">
                <a:solidFill>
                  <a:schemeClr val="bg1">
                    <a:lumMod val="6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; r2 = 0xF0F0_F001, c = 0</a:t>
            </a:r>
          </a:p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b="1" dirty="0">
                <a:latin typeface="Consolas" panose="020B0609020204030204" pitchFamily="49" charset="0"/>
                <a:cs typeface="Consolas" panose="020B0609020204030204" pitchFamily="49" charset="0"/>
              </a:rPr>
              <a:t> RRX</a:t>
            </a:r>
            <a:r>
              <a:rPr lang="en-US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</a:t>
            </a:r>
            <a:r>
              <a:rPr lang="en-US" b="1" dirty="0">
                <a:latin typeface="Consolas" panose="020B0609020204030204" pitchFamily="49" charset="0"/>
                <a:cs typeface="Consolas" panose="020B0609020204030204" pitchFamily="49" charset="0"/>
              </a:rPr>
              <a:t> r3,r2</a:t>
            </a:r>
          </a:p>
        </p:txBody>
      </p:sp>
      <p:sp>
        <p:nvSpPr>
          <p:cNvPr id="17" name="Rectangle 44"/>
          <p:cNvSpPr>
            <a:spLocks noChangeArrowheads="1"/>
          </p:cNvSpPr>
          <p:nvPr/>
        </p:nvSpPr>
        <p:spPr bwMode="auto">
          <a:xfrm>
            <a:off x="762001" y="1260476"/>
            <a:ext cx="3351213" cy="3397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b="1" dirty="0">
                <a:latin typeface="Arial" pitchFamily="34" charset="0"/>
              </a:rPr>
              <a:t>Rotate Right Extended (</a:t>
            </a:r>
            <a:r>
              <a:rPr lang="en-US" b="1" dirty="0" err="1">
                <a:latin typeface="Arial" pitchFamily="34" charset="0"/>
              </a:rPr>
              <a:t>RRX</a:t>
            </a:r>
            <a:r>
              <a:rPr lang="en-US" b="1" dirty="0">
                <a:latin typeface="Arial" pitchFamily="34" charset="0"/>
              </a:rPr>
              <a:t>)</a:t>
            </a:r>
          </a:p>
        </p:txBody>
      </p:sp>
      <p:pic>
        <p:nvPicPr>
          <p:cNvPr id="18" name="Picture 6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66172" y="1682552"/>
            <a:ext cx="3536950" cy="67964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TextBox 1"/>
          <p:cNvSpPr txBox="1"/>
          <p:nvPr/>
        </p:nvSpPr>
        <p:spPr>
          <a:xfrm>
            <a:off x="866172" y="5016391"/>
            <a:ext cx="39624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00B05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; r2 = 0x8004_0001, c = 1</a:t>
            </a:r>
            <a:endParaRPr lang="en-US" b="1" dirty="0">
              <a:solidFill>
                <a:srgbClr val="00B05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endParaRPr lang="en-US" dirty="0">
              <a:solidFill>
                <a:srgbClr val="00B05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6499790" y="2514601"/>
            <a:ext cx="477781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00B05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; r1 = 0x7800_0000, c </a:t>
            </a:r>
            <a:r>
              <a:rPr lang="en-US">
                <a:solidFill>
                  <a:srgbClr val="00B05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= 1</a:t>
            </a:r>
            <a:endParaRPr lang="en-US" b="1" dirty="0">
              <a:solidFill>
                <a:srgbClr val="00B05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endParaRPr lang="en-US" dirty="0">
              <a:solidFill>
                <a:srgbClr val="00B050"/>
              </a:solidFill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6499790" y="4549914"/>
            <a:ext cx="386341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00B05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; r3 = 0x7878_7800, c = 1</a:t>
            </a:r>
            <a:endParaRPr lang="en-US" b="1" dirty="0">
              <a:solidFill>
                <a:srgbClr val="00B05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endParaRPr lang="en-US" dirty="0"/>
          </a:p>
        </p:txBody>
      </p:sp>
      <p:sp>
        <p:nvSpPr>
          <p:cNvPr id="16" name="TextBox 15"/>
          <p:cNvSpPr txBox="1"/>
          <p:nvPr/>
        </p:nvSpPr>
        <p:spPr>
          <a:xfrm>
            <a:off x="6656130" y="5112908"/>
            <a:ext cx="38750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0041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C=1, N=0, Z=0, </a:t>
            </a:r>
            <a:r>
              <a:rPr lang="en-US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V= not updated</a:t>
            </a:r>
            <a:endParaRPr lang="en-US" dirty="0">
              <a:solidFill>
                <a:srgbClr val="00B05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6400799" y="5540514"/>
            <a:ext cx="5599677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Note:</a:t>
            </a:r>
            <a:r>
              <a:rPr lang="en-US" dirty="0"/>
              <a:t> 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carry flag is updated by b</a:t>
            </a:r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0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only if the suffix S is used, otherwise it keeps its original value</a:t>
            </a:r>
          </a:p>
        </p:txBody>
      </p:sp>
    </p:spTree>
    <p:extLst>
      <p:ext uri="{BB962C8B-B14F-4D97-AF65-F5344CB8AC3E}">
        <p14:creationId xmlns:p14="http://schemas.microsoft.com/office/powerpoint/2010/main" val="605818005"/>
      </p:ext>
    </p:extLst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3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1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5" dur="1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6" dur="1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4" grpId="0"/>
      <p:bldP spid="5" grpId="0"/>
      <p:bldP spid="16" grpId="0"/>
      <p:bldP spid="23" grpId="0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34D0B4-10B1-D74B-5633-2E39C35F0A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Barrel Shifter More Examples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E4459EC-F664-8814-CB9C-6FAAA0F795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55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4CEE39B-0057-75CA-3B6B-799AFFD5AA90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609600" y="1143000"/>
            <a:ext cx="10363200" cy="5486400"/>
          </a:xfrm>
        </p:spPr>
        <p:txBody>
          <a:bodyPr>
            <a:normAutofit fontScale="77500" lnSpcReduction="20000"/>
          </a:bodyPr>
          <a:lstStyle/>
          <a:p>
            <a:r>
              <a:rPr lang="en-US" dirty="0"/>
              <a:t>MOV r0, r0, LSL #1</a:t>
            </a:r>
          </a:p>
          <a:p>
            <a:pPr lvl="1"/>
            <a:r>
              <a:rPr lang="en-US" dirty="0"/>
              <a:t>r0 = r0 * 2</a:t>
            </a:r>
          </a:p>
          <a:p>
            <a:r>
              <a:rPr lang="en-US" dirty="0"/>
              <a:t>MOV r1, r1, LSR #2</a:t>
            </a:r>
          </a:p>
          <a:p>
            <a:pPr lvl="1"/>
            <a:r>
              <a:rPr lang="en-US" dirty="0"/>
              <a:t>r1 = r1 / 4 (unsigned).</a:t>
            </a:r>
          </a:p>
          <a:p>
            <a:r>
              <a:rPr lang="en-US" dirty="0"/>
              <a:t>MOV r2, r2, ASR #2</a:t>
            </a:r>
          </a:p>
          <a:p>
            <a:pPr lvl="1"/>
            <a:r>
              <a:rPr lang="en-US" dirty="0"/>
              <a:t>r2 = r2 / 4 (signed).</a:t>
            </a:r>
          </a:p>
          <a:p>
            <a:r>
              <a:rPr lang="en-US" dirty="0"/>
              <a:t>MOV r3, r3, ROR #16</a:t>
            </a:r>
          </a:p>
          <a:p>
            <a:pPr lvl="1"/>
            <a:r>
              <a:rPr lang="en-US" dirty="0"/>
              <a:t>Swap the top and bottom halves of r3.</a:t>
            </a:r>
          </a:p>
          <a:p>
            <a:r>
              <a:rPr lang="en-US" dirty="0"/>
              <a:t>ADD r4, r4, r4, LSL #4</a:t>
            </a:r>
          </a:p>
          <a:p>
            <a:pPr lvl="1"/>
            <a:r>
              <a:rPr lang="en-US" dirty="0"/>
              <a:t>r4 = r4 * 17 (= r4 + r4 * 16)</a:t>
            </a:r>
          </a:p>
          <a:p>
            <a:r>
              <a:rPr lang="en-US" dirty="0"/>
              <a:t>RSB r5, r5, r5, LSL #5</a:t>
            </a:r>
          </a:p>
          <a:p>
            <a:pPr lvl="1"/>
            <a:r>
              <a:rPr lang="en-US" dirty="0"/>
              <a:t>r5 = r5 * 31 (= r5 * 32 – r5)</a:t>
            </a:r>
          </a:p>
          <a:p>
            <a:pPr lvl="1"/>
            <a:r>
              <a:rPr lang="en-US" dirty="0"/>
              <a:t>Reverse-subtract using barrel shifter on 2nd operand</a:t>
            </a:r>
          </a:p>
          <a:p>
            <a:r>
              <a:rPr lang="pt-BR" dirty="0"/>
              <a:t>SUB r5, r5, r5, LSR #5</a:t>
            </a:r>
          </a:p>
          <a:p>
            <a:pPr lvl="1"/>
            <a:r>
              <a:rPr lang="en-US" dirty="0"/>
              <a:t>r5 = r5 – (r5 / 32)</a:t>
            </a:r>
          </a:p>
          <a:p>
            <a:r>
              <a:rPr lang="pt-BR" dirty="0"/>
              <a:t>LDR r9, [r12, r8, LSL #2]</a:t>
            </a:r>
          </a:p>
          <a:p>
            <a:pPr lvl="1"/>
            <a:r>
              <a:rPr lang="en-US" dirty="0"/>
              <a:t>Load a 32‑bit word into r9 from the memory address computed as r12 + (r8 * 4) </a:t>
            </a:r>
          </a:p>
        </p:txBody>
      </p:sp>
    </p:spTree>
    <p:extLst>
      <p:ext uri="{BB962C8B-B14F-4D97-AF65-F5344CB8AC3E}">
        <p14:creationId xmlns:p14="http://schemas.microsoft.com/office/powerpoint/2010/main" val="2710425109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45B0E4-E014-05AB-4780-04187E0FFC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SUB vs. RSB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00ECD456-3579-C7C2-940F-7668CF7319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56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B7AB386-ABE0-69FA-5B1F-8605BE3FD0CE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609600" y="1219200"/>
            <a:ext cx="10668000" cy="5257800"/>
          </a:xfrm>
        </p:spPr>
        <p:txBody>
          <a:bodyPr>
            <a:normAutofit fontScale="77500" lnSpcReduction="20000"/>
          </a:bodyPr>
          <a:lstStyle/>
          <a:p>
            <a:r>
              <a:rPr lang="en-US" dirty="0"/>
              <a:t>SUB instruction: SUB Rd, Rn, Operand2 performs Rd = Rn - Operand2</a:t>
            </a:r>
          </a:p>
          <a:p>
            <a:r>
              <a:rPr lang="en-US" dirty="0"/>
              <a:t>RSB instruction: RSB Rd, Rn, Operand2 performs Rd = Operand2 – Rn</a:t>
            </a:r>
          </a:p>
          <a:p>
            <a:r>
              <a:rPr lang="en-US" dirty="0"/>
              <a:t>There are equivalent:</a:t>
            </a:r>
          </a:p>
          <a:p>
            <a:pPr lvl="1"/>
            <a:r>
              <a:rPr lang="pt-BR" dirty="0"/>
              <a:t>SUB R5, R3, #10         @ R5 = R3 - 10</a:t>
            </a:r>
          </a:p>
          <a:p>
            <a:pPr lvl="1"/>
            <a:r>
              <a:rPr lang="pt-BR" dirty="0"/>
              <a:t>RSB R5, R3, #10         @ R5 = 10 - R3</a:t>
            </a:r>
            <a:endParaRPr lang="en-US" dirty="0"/>
          </a:p>
          <a:p>
            <a:r>
              <a:rPr lang="en-US" dirty="0"/>
              <a:t>When to use RSB?</a:t>
            </a:r>
          </a:p>
          <a:p>
            <a:r>
              <a:rPr lang="en-US" dirty="0"/>
              <a:t>Subtracting from constants, since constants can only appear as Operand2 in ARM instructions. For example:</a:t>
            </a:r>
          </a:p>
          <a:p>
            <a:pPr lvl="1"/>
            <a:r>
              <a:rPr lang="en-US" dirty="0"/>
              <a:t>RSB R2, R4, #1 means R2 = 1 - R4</a:t>
            </a:r>
          </a:p>
          <a:p>
            <a:pPr lvl="1"/>
            <a:r>
              <a:rPr lang="en-US" dirty="0"/>
              <a:t>This cannot be done with SUB without first loading the constant into a register</a:t>
            </a:r>
          </a:p>
          <a:p>
            <a:r>
              <a:rPr lang="en-US" dirty="0"/>
              <a:t>Negation Operations by subtracting from zero:</a:t>
            </a:r>
          </a:p>
          <a:p>
            <a:pPr lvl="1"/>
            <a:r>
              <a:rPr lang="en-US" dirty="0"/>
              <a:t>RSB R0, R0, #0 effectively computes R0 = 0 - R0 = -R0</a:t>
            </a:r>
          </a:p>
          <a:p>
            <a:r>
              <a:rPr lang="en-US" dirty="0"/>
              <a:t>Complex Operand2 Operations</a:t>
            </a:r>
          </a:p>
          <a:p>
            <a:pPr lvl="1"/>
            <a:r>
              <a:rPr lang="en-US" dirty="0"/>
              <a:t>RSB is valuable when you want to perform operations on Operand2 before subtraction, such as shifting :</a:t>
            </a:r>
          </a:p>
          <a:p>
            <a:pPr lvl="1"/>
            <a:r>
              <a:rPr lang="en-US" dirty="0"/>
              <a:t>RSB R1, R2, R3, LSL #1 computes R1 = (R3 &lt;&lt; 1) - R2</a:t>
            </a:r>
          </a:p>
          <a:p>
            <a:pPr lvl="1"/>
            <a:r>
              <a:rPr lang="en-US" dirty="0"/>
              <a:t>This allows you to shift a value and then subtract from it in a single instruction</a:t>
            </a:r>
          </a:p>
        </p:txBody>
      </p:sp>
    </p:spTree>
    <p:extLst>
      <p:ext uri="{BB962C8B-B14F-4D97-AF65-F5344CB8AC3E}">
        <p14:creationId xmlns:p14="http://schemas.microsoft.com/office/powerpoint/2010/main" val="1536122626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D5DA4B-E91D-E17A-8214-41F9CBB230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Integer Array Access with LSL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11FD7FAA-3533-0204-E8C5-28200D70F4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57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22D6A4C-9A58-2739-559E-A48801D0DB3E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609600" y="1219200"/>
            <a:ext cx="10820400" cy="5334000"/>
          </a:xfrm>
        </p:spPr>
        <p:txBody>
          <a:bodyPr>
            <a:normAutofit/>
          </a:bodyPr>
          <a:lstStyle/>
          <a:p>
            <a:r>
              <a:rPr lang="en-US" sz="2400" dirty="0"/>
              <a:t>To calculate the address of element array[</a:t>
            </a:r>
            <a:r>
              <a:rPr lang="en-US" sz="2400" dirty="0" err="1"/>
              <a:t>i</a:t>
            </a:r>
            <a:r>
              <a:rPr lang="en-US" sz="2400" dirty="0"/>
              <a:t>] of 32-bit integers, we calculate (base address of array) + </a:t>
            </a:r>
            <a:r>
              <a:rPr lang="en-US" sz="2400" dirty="0" err="1"/>
              <a:t>i</a:t>
            </a:r>
            <a:r>
              <a:rPr lang="en-US" sz="2400" dirty="0"/>
              <a:t>*4 for an array of words. For example:</a:t>
            </a:r>
          </a:p>
          <a:p>
            <a:pPr lvl="1"/>
            <a:r>
              <a:rPr lang="en-US" sz="1800" dirty="0"/>
              <a:t>ADR r3, ARRAY      @ load base address of ARRAY into r3 (ARRAY contains 4-byte </a:t>
            </a:r>
            <a:r>
              <a:rPr lang="en-US" sz="1800" dirty="0" err="1"/>
              <a:t>ints</a:t>
            </a:r>
            <a:r>
              <a:rPr lang="en-US" sz="1800" dirty="0"/>
              <a:t>)</a:t>
            </a:r>
          </a:p>
          <a:p>
            <a:pPr lvl="1"/>
            <a:r>
              <a:rPr lang="en-US" sz="1800" dirty="0"/>
              <a:t>MOV r2, #6            @ Suppose we want to access ARRAY[6]</a:t>
            </a:r>
          </a:p>
          <a:p>
            <a:pPr lvl="1"/>
            <a:r>
              <a:rPr lang="en-US" sz="1800" dirty="0"/>
              <a:t>MOV r4, r2, LSL #2  @ logical shift i’s value in r2 by 2 to multiply its value by 4</a:t>
            </a:r>
          </a:p>
          <a:p>
            <a:pPr lvl="1"/>
            <a:r>
              <a:rPr lang="en-US" sz="1800" dirty="0"/>
              <a:t>ADD r5, r3, r4         @ finish calculation of the address of element array[</a:t>
            </a:r>
            <a:r>
              <a:rPr lang="en-US" sz="1800" dirty="0" err="1"/>
              <a:t>i</a:t>
            </a:r>
            <a:r>
              <a:rPr lang="en-US" sz="1800" dirty="0"/>
              <a:t>] in r5</a:t>
            </a:r>
          </a:p>
          <a:p>
            <a:pPr lvl="1"/>
            <a:r>
              <a:rPr lang="en-US" sz="1800" dirty="0"/>
              <a:t>LDR r6, [r5]             @ load value of array[</a:t>
            </a:r>
            <a:r>
              <a:rPr lang="en-US" sz="1800" dirty="0" err="1"/>
              <a:t>i</a:t>
            </a:r>
            <a:r>
              <a:rPr lang="en-US" sz="1800" dirty="0"/>
              <a:t>] into r6 using the address in r5</a:t>
            </a:r>
          </a:p>
          <a:p>
            <a:r>
              <a:rPr lang="en-US" sz="2400" dirty="0"/>
              <a:t>Alternatively, we can perform this same address calculation with a single ADD:</a:t>
            </a:r>
          </a:p>
          <a:p>
            <a:pPr lvl="1"/>
            <a:r>
              <a:rPr lang="en-US" sz="1800" dirty="0"/>
              <a:t>ADD r5, r3, r2, LSL #2 @ calculate address of array[</a:t>
            </a:r>
            <a:r>
              <a:rPr lang="en-US" sz="1800" dirty="0" err="1"/>
              <a:t>i</a:t>
            </a:r>
            <a:r>
              <a:rPr lang="en-US" sz="1800" dirty="0"/>
              <a:t>] in r5 with single ADD</a:t>
            </a:r>
          </a:p>
          <a:p>
            <a:pPr lvl="1"/>
            <a:r>
              <a:rPr lang="en-US" sz="1800" dirty="0"/>
              <a:t>LDR r6, [r5]                @ load value of array[</a:t>
            </a:r>
            <a:r>
              <a:rPr lang="en-US" sz="1800" dirty="0" err="1"/>
              <a:t>i</a:t>
            </a:r>
            <a:r>
              <a:rPr lang="en-US" sz="1800" dirty="0"/>
              <a:t>] into r4 using the address in r5</a:t>
            </a:r>
          </a:p>
          <a:p>
            <a:r>
              <a:rPr lang="en-US" sz="2400" dirty="0"/>
              <a:t>Alternatively, ARM has some nice addressing modes to speedup array item access:</a:t>
            </a:r>
          </a:p>
          <a:p>
            <a:pPr lvl="1"/>
            <a:r>
              <a:rPr lang="en-US" sz="1800" dirty="0"/>
              <a:t>LDR r6, [r3, r2, LSL #2]</a:t>
            </a:r>
          </a:p>
        </p:txBody>
      </p:sp>
    </p:spTree>
    <p:extLst>
      <p:ext uri="{BB962C8B-B14F-4D97-AF65-F5344CB8AC3E}">
        <p14:creationId xmlns:p14="http://schemas.microsoft.com/office/powerpoint/2010/main" val="759734560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Group 11"/>
          <p:cNvGrpSpPr/>
          <p:nvPr/>
        </p:nvGrpSpPr>
        <p:grpSpPr>
          <a:xfrm>
            <a:off x="3810000" y="2022826"/>
            <a:ext cx="6795194" cy="683213"/>
            <a:chOff x="2286000" y="2022826"/>
            <a:chExt cx="6795194" cy="683213"/>
          </a:xfrm>
        </p:grpSpPr>
        <p:sp>
          <p:nvSpPr>
            <p:cNvPr id="8" name="Rounded Rectangle 7"/>
            <p:cNvSpPr/>
            <p:nvPr/>
          </p:nvSpPr>
          <p:spPr>
            <a:xfrm>
              <a:off x="2286000" y="2022826"/>
              <a:ext cx="1676400" cy="263174"/>
            </a:xfrm>
            <a:prstGeom prst="roundRect">
              <a:avLst/>
            </a:prstGeom>
            <a:solidFill>
              <a:schemeClr val="accent6">
                <a:lumMod val="20000"/>
                <a:lumOff val="80000"/>
              </a:schemeClr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0" name="Straight Arrow Connector 9"/>
            <p:cNvCxnSpPr>
              <a:stCxn id="8" idx="3"/>
            </p:cNvCxnSpPr>
            <p:nvPr/>
          </p:nvCxnSpPr>
          <p:spPr>
            <a:xfrm>
              <a:off x="3962400" y="2154413"/>
              <a:ext cx="1219200" cy="89961"/>
            </a:xfrm>
            <a:prstGeom prst="straightConnector1">
              <a:avLst/>
            </a:prstGeom>
            <a:ln w="1905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TextBox 10"/>
            <p:cNvSpPr txBox="1"/>
            <p:nvPr/>
          </p:nvSpPr>
          <p:spPr>
            <a:xfrm>
              <a:off x="5181600" y="2059708"/>
              <a:ext cx="3899594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0000"/>
                  </a:solidFill>
                </a:rPr>
                <a:t>Updates carry flag, </a:t>
              </a:r>
            </a:p>
            <a:p>
              <a:r>
                <a:rPr lang="en-US" dirty="0"/>
                <a:t>since ANDS does not update carry flag</a:t>
              </a:r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1: </a:t>
            </a:r>
            <a:r>
              <a:rPr lang="en-US" dirty="0">
                <a:latin typeface="Consolas" panose="020B0609020204030204" pitchFamily="49" charset="0"/>
              </a:rPr>
              <a:t>ANDS</a:t>
            </a:r>
            <a:endParaRPr lang="en-US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58</a:t>
            </a:fld>
            <a:endParaRPr kumimoji="0" lang="en-US"/>
          </a:p>
        </p:txBody>
      </p:sp>
      <p:sp>
        <p:nvSpPr>
          <p:cNvPr id="4" name="Rectangle 3"/>
          <p:cNvSpPr/>
          <p:nvPr/>
        </p:nvSpPr>
        <p:spPr>
          <a:xfrm>
            <a:off x="1981200" y="1332530"/>
            <a:ext cx="3886200" cy="1015663"/>
          </a:xfrm>
          <a:prstGeom prst="rect">
            <a:avLst/>
          </a:prstGeom>
          <a:noFill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en-US" sz="2000" dirty="0">
                <a:latin typeface="Consolas" panose="020B0609020204030204" pitchFamily="49" charset="0"/>
              </a:rPr>
              <a:t>LDR  r0, =0xFFFFFF00      </a:t>
            </a:r>
          </a:p>
          <a:p>
            <a:r>
              <a:rPr lang="en-US" sz="2000" dirty="0">
                <a:latin typeface="Consolas" panose="020B0609020204030204" pitchFamily="49" charset="0"/>
              </a:rPr>
              <a:t>LDR  r1, =0x00000001      </a:t>
            </a:r>
          </a:p>
          <a:p>
            <a:r>
              <a:rPr lang="en-US" sz="2000" dirty="0">
                <a:latin typeface="Consolas" panose="020B0609020204030204" pitchFamily="49" charset="0"/>
              </a:rPr>
              <a:t>AND</a:t>
            </a:r>
            <a:r>
              <a:rPr lang="en-US" sz="2000" b="1" dirty="0">
                <a:solidFill>
                  <a:srgbClr val="FF0000"/>
                </a:solidFill>
                <a:latin typeface="Consolas" panose="020B0609020204030204" pitchFamily="49" charset="0"/>
              </a:rPr>
              <a:t>S</a:t>
            </a:r>
            <a:r>
              <a:rPr lang="en-US" sz="2000" dirty="0">
                <a:latin typeface="Consolas" panose="020B0609020204030204" pitchFamily="49" charset="0"/>
              </a:rPr>
              <a:t> r2, r1, r0, LSL #1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981200" y="2537721"/>
            <a:ext cx="51235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latin typeface="Consolas" panose="020B0609020204030204" pitchFamily="49" charset="0"/>
              </a:rPr>
              <a:t>N = </a:t>
            </a:r>
            <a:r>
              <a:rPr lang="en-US" b="1" dirty="0">
                <a:solidFill>
                  <a:srgbClr val="FF0000"/>
                </a:solidFill>
                <a:latin typeface="Consolas" panose="020B0609020204030204" pitchFamily="49" charset="0"/>
              </a:rPr>
              <a:t>0</a:t>
            </a:r>
            <a:r>
              <a:rPr lang="en-US" b="1" dirty="0">
                <a:latin typeface="Consolas" panose="020B0609020204030204" pitchFamily="49" charset="0"/>
              </a:rPr>
              <a:t>,  Z = </a:t>
            </a:r>
            <a:r>
              <a:rPr lang="en-US" b="1" dirty="0">
                <a:solidFill>
                  <a:srgbClr val="FF0000"/>
                </a:solidFill>
                <a:latin typeface="Consolas" panose="020B0609020204030204" pitchFamily="49" charset="0"/>
              </a:rPr>
              <a:t>1</a:t>
            </a:r>
            <a:r>
              <a:rPr lang="en-US" b="1" dirty="0">
                <a:latin typeface="Consolas" panose="020B0609020204030204" pitchFamily="49" charset="0"/>
              </a:rPr>
              <a:t>,  C = </a:t>
            </a:r>
            <a:r>
              <a:rPr lang="en-US" b="1" dirty="0">
                <a:solidFill>
                  <a:srgbClr val="FF0000"/>
                </a:solidFill>
                <a:latin typeface="Consolas" panose="020B0609020204030204" pitchFamily="49" charset="0"/>
              </a:rPr>
              <a:t>1</a:t>
            </a:r>
            <a:r>
              <a:rPr lang="en-US" b="1" dirty="0">
                <a:latin typeface="Consolas" panose="020B0609020204030204" pitchFamily="49" charset="0"/>
              </a:rPr>
              <a:t>,  V = </a:t>
            </a:r>
            <a:r>
              <a:rPr lang="en-US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not updated</a:t>
            </a:r>
            <a:endParaRPr lang="en-US" b="1" dirty="0">
              <a:solidFill>
                <a:srgbClr val="FF0000"/>
              </a:solidFill>
              <a:latin typeface="Consolas" panose="020B0609020204030204" pitchFamily="49" charset="0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2BA289E-808A-917F-A191-D39BD9F8BFF1}"/>
              </a:ext>
            </a:extLst>
          </p:cNvPr>
          <p:cNvSpPr/>
          <p:nvPr/>
        </p:nvSpPr>
        <p:spPr>
          <a:xfrm>
            <a:off x="457200" y="2999472"/>
            <a:ext cx="10415157" cy="3693319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en-US" b="1" dirty="0">
                <a:solidFill>
                  <a:srgbClr val="FF0000"/>
                </a:solidFill>
                <a:latin typeface="Consolas" panose="020B0609020204030204" pitchFamily="49" charset="0"/>
              </a:rPr>
              <a:t>AND{S}&lt;c&gt;&lt;q&gt; {&lt;Rd&gt;,} &lt;Rn&gt;, &lt;Rm&gt; {,&lt;shift&gt;}</a:t>
            </a:r>
          </a:p>
          <a:p>
            <a:r>
              <a:rPr lang="en-US" dirty="0"/>
              <a:t>r0 = 0xFFFFFF00</a:t>
            </a:r>
          </a:p>
          <a:p>
            <a:r>
              <a:rPr lang="en-US" dirty="0"/>
              <a:t>r1 = 0x00000001</a:t>
            </a:r>
          </a:p>
          <a:p>
            <a:r>
              <a:rPr lang="en-US" dirty="0"/>
              <a:t>r0, LSL #1 = 0xFFFFFE00</a:t>
            </a:r>
          </a:p>
          <a:p>
            <a:r>
              <a:rPr lang="en-US" dirty="0"/>
              <a:t>r2 = r1 AND (r0 &lt;&lt; 1) = 0x00000001 AND 0xFFFFFE00 = 0x00000000</a:t>
            </a:r>
          </a:p>
          <a:p>
            <a:r>
              <a:rPr lang="en-US" dirty="0"/>
              <a:t>ANDS sets flags:</a:t>
            </a:r>
          </a:p>
          <a:p>
            <a:r>
              <a:rPr lang="en-US" dirty="0"/>
              <a:t>Z = 1 (result r2 is zero)</a:t>
            </a:r>
          </a:p>
          <a:p>
            <a:r>
              <a:rPr lang="en-US" dirty="0"/>
              <a:t>N = 0 (bit 31 of result r2 is 0)</a:t>
            </a:r>
          </a:p>
          <a:p>
            <a:r>
              <a:rPr lang="en-US" dirty="0"/>
              <a:t>C is unaffected by ANDS, since logical operations don't affect overflow. It was set by previous shift “r0, LSL #1” to be C=1 </a:t>
            </a:r>
          </a:p>
          <a:p>
            <a:r>
              <a:rPr lang="en-US" dirty="0"/>
              <a:t>V is unaffected by either ANDS or shift (left unchanged from its previous value)</a:t>
            </a:r>
          </a:p>
          <a:p>
            <a:r>
              <a:rPr lang="en-US" b="1" dirty="0"/>
              <a:t>Note: </a:t>
            </a:r>
            <a:r>
              <a:rPr lang="en-US" dirty="0"/>
              <a:t>LSL updates the C flag when it is used within the ANDS instruction.  This is not a valid instruction: “</a:t>
            </a:r>
            <a:r>
              <a:rPr lang="pt-BR" dirty="0"/>
              <a:t>ANDS r2, r1, r0, LSLS #1</a:t>
            </a:r>
            <a:r>
              <a:rPr lang="en-US" dirty="0"/>
              <a:t>”, since LSL forms part of the second operand - it’s not a standalone instruction.</a:t>
            </a:r>
          </a:p>
        </p:txBody>
      </p:sp>
    </p:spTree>
    <p:extLst>
      <p:ext uri="{BB962C8B-B14F-4D97-AF65-F5344CB8AC3E}">
        <p14:creationId xmlns:p14="http://schemas.microsoft.com/office/powerpoint/2010/main" val="19131354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/>
          <p:cNvGrpSpPr/>
          <p:nvPr/>
        </p:nvGrpSpPr>
        <p:grpSpPr>
          <a:xfrm>
            <a:off x="3810001" y="2022826"/>
            <a:ext cx="5847242" cy="683213"/>
            <a:chOff x="2286000" y="2022826"/>
            <a:chExt cx="5847242" cy="683213"/>
          </a:xfrm>
        </p:grpSpPr>
        <p:sp>
          <p:nvSpPr>
            <p:cNvPr id="9" name="Rounded Rectangle 8"/>
            <p:cNvSpPr/>
            <p:nvPr/>
          </p:nvSpPr>
          <p:spPr>
            <a:xfrm>
              <a:off x="2286000" y="2022826"/>
              <a:ext cx="1676400" cy="263174"/>
            </a:xfrm>
            <a:prstGeom prst="roundRect">
              <a:avLst/>
            </a:prstGeom>
            <a:solidFill>
              <a:schemeClr val="accent6">
                <a:lumMod val="20000"/>
                <a:lumOff val="80000"/>
              </a:schemeClr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0" name="Straight Arrow Connector 9"/>
            <p:cNvCxnSpPr>
              <a:stCxn id="9" idx="3"/>
            </p:cNvCxnSpPr>
            <p:nvPr/>
          </p:nvCxnSpPr>
          <p:spPr>
            <a:xfrm>
              <a:off x="3962400" y="2154413"/>
              <a:ext cx="1219200" cy="89961"/>
            </a:xfrm>
            <a:prstGeom prst="straightConnector1">
              <a:avLst/>
            </a:prstGeom>
            <a:ln w="1905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TextBox 10"/>
            <p:cNvSpPr txBox="1"/>
            <p:nvPr/>
          </p:nvSpPr>
          <p:spPr>
            <a:xfrm>
              <a:off x="5181600" y="2059708"/>
              <a:ext cx="2951642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0000"/>
                  </a:solidFill>
                </a:rPr>
                <a:t>Does NOT update carry flag, </a:t>
              </a:r>
            </a:p>
            <a:p>
              <a:r>
                <a:rPr lang="en-US" dirty="0"/>
                <a:t>since ADDS updates flags</a:t>
              </a:r>
              <a:endParaRPr lang="en-US" dirty="0">
                <a:solidFill>
                  <a:srgbClr val="FF0000"/>
                </a:solidFill>
              </a:endParaRPr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2: </a:t>
            </a:r>
            <a:r>
              <a:rPr lang="en-US" dirty="0">
                <a:latin typeface="Consolas" panose="020B0609020204030204" pitchFamily="49" charset="0"/>
              </a:rPr>
              <a:t>ADDS</a:t>
            </a:r>
            <a:endParaRPr lang="en-US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59</a:t>
            </a:fld>
            <a:endParaRPr kumimoji="0" lang="en-US"/>
          </a:p>
        </p:txBody>
      </p:sp>
      <p:sp>
        <p:nvSpPr>
          <p:cNvPr id="4" name="Rectangle 3"/>
          <p:cNvSpPr/>
          <p:nvPr/>
        </p:nvSpPr>
        <p:spPr>
          <a:xfrm>
            <a:off x="1981200" y="1332530"/>
            <a:ext cx="3886200" cy="1015663"/>
          </a:xfrm>
          <a:prstGeom prst="rect">
            <a:avLst/>
          </a:prstGeom>
          <a:noFill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en-US" sz="2000" dirty="0">
                <a:latin typeface="Consolas" panose="020B0609020204030204" pitchFamily="49" charset="0"/>
              </a:rPr>
              <a:t>LDR  r0, =0xFFFFFF00      </a:t>
            </a:r>
          </a:p>
          <a:p>
            <a:r>
              <a:rPr lang="en-US" sz="2000" dirty="0">
                <a:latin typeface="Consolas" panose="020B0609020204030204" pitchFamily="49" charset="0"/>
              </a:rPr>
              <a:t>LDR  r1, =0x00000001      </a:t>
            </a:r>
          </a:p>
          <a:p>
            <a:r>
              <a:rPr lang="en-US" sz="2000" dirty="0">
                <a:latin typeface="Consolas" panose="020B0609020204030204" pitchFamily="49" charset="0"/>
              </a:rPr>
              <a:t>ADD</a:t>
            </a:r>
            <a:r>
              <a:rPr lang="en-US" sz="2000" b="1" dirty="0">
                <a:solidFill>
                  <a:srgbClr val="FF0000"/>
                </a:solidFill>
                <a:latin typeface="Consolas" panose="020B0609020204030204" pitchFamily="49" charset="0"/>
              </a:rPr>
              <a:t>S</a:t>
            </a:r>
            <a:r>
              <a:rPr lang="en-US" sz="2000" dirty="0">
                <a:latin typeface="Consolas" panose="020B0609020204030204" pitchFamily="49" charset="0"/>
              </a:rPr>
              <a:t> r2, r1, r0, LSL #1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981200" y="2537721"/>
            <a:ext cx="38571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latin typeface="Consolas" panose="020B0609020204030204" pitchFamily="49" charset="0"/>
              </a:rPr>
              <a:t>N = </a:t>
            </a:r>
            <a:r>
              <a:rPr lang="en-US" b="1" dirty="0">
                <a:solidFill>
                  <a:srgbClr val="FF0000"/>
                </a:solidFill>
                <a:latin typeface="Consolas" panose="020B0609020204030204" pitchFamily="49" charset="0"/>
              </a:rPr>
              <a:t>1</a:t>
            </a:r>
            <a:r>
              <a:rPr lang="en-US" b="1" dirty="0">
                <a:latin typeface="Consolas" panose="020B0609020204030204" pitchFamily="49" charset="0"/>
              </a:rPr>
              <a:t>,  Z = </a:t>
            </a:r>
            <a:r>
              <a:rPr lang="en-US" b="1" dirty="0">
                <a:solidFill>
                  <a:srgbClr val="FF0000"/>
                </a:solidFill>
                <a:latin typeface="Consolas" panose="020B0609020204030204" pitchFamily="49" charset="0"/>
              </a:rPr>
              <a:t>0</a:t>
            </a:r>
            <a:r>
              <a:rPr lang="en-US" b="1" dirty="0">
                <a:latin typeface="Consolas" panose="020B0609020204030204" pitchFamily="49" charset="0"/>
              </a:rPr>
              <a:t>,  C = </a:t>
            </a:r>
            <a:r>
              <a:rPr lang="en-US" b="1" dirty="0">
                <a:solidFill>
                  <a:srgbClr val="FF0000"/>
                </a:solidFill>
                <a:latin typeface="Consolas" panose="020B0609020204030204" pitchFamily="49" charset="0"/>
              </a:rPr>
              <a:t>0</a:t>
            </a:r>
            <a:r>
              <a:rPr lang="en-US" b="1" dirty="0">
                <a:latin typeface="Consolas" panose="020B0609020204030204" pitchFamily="49" charset="0"/>
              </a:rPr>
              <a:t>,  V = </a:t>
            </a:r>
            <a:r>
              <a:rPr lang="en-US" b="1" dirty="0">
                <a:solidFill>
                  <a:srgbClr val="FF0000"/>
                </a:solidFill>
                <a:latin typeface="Consolas" panose="020B0609020204030204" pitchFamily="49" charset="0"/>
              </a:rPr>
              <a:t>0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B31AEA0-3A73-FCD5-EF10-BAE134D99964}"/>
              </a:ext>
            </a:extLst>
          </p:cNvPr>
          <p:cNvSpPr/>
          <p:nvPr/>
        </p:nvSpPr>
        <p:spPr>
          <a:xfrm>
            <a:off x="419100" y="2959272"/>
            <a:ext cx="10972799" cy="3693319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en-US" b="1" dirty="0">
                <a:solidFill>
                  <a:srgbClr val="FF0000"/>
                </a:solidFill>
                <a:latin typeface="Consolas" panose="020B0609020204030204" pitchFamily="49" charset="0"/>
              </a:rPr>
              <a:t>ADD{S}&lt;c&gt;&lt;q&gt; {&lt;Rd&gt;,} &lt;Rn&gt;, &lt;Rm&gt; {,&lt;shift&gt;}</a:t>
            </a:r>
          </a:p>
          <a:p>
            <a:r>
              <a:rPr lang="en-US" dirty="0"/>
              <a:t>r0 = 0xFFFFFF00</a:t>
            </a:r>
          </a:p>
          <a:p>
            <a:r>
              <a:rPr lang="en-US" dirty="0"/>
              <a:t>r1 = 0x00000001</a:t>
            </a:r>
          </a:p>
          <a:p>
            <a:r>
              <a:rPr lang="en-US" dirty="0"/>
              <a:t>r0, LSL #1 = 0xFFFFFE00</a:t>
            </a:r>
          </a:p>
          <a:p>
            <a:r>
              <a:rPr lang="en-US" dirty="0"/>
              <a:t>r2 = r1 + (r0 &lt;&lt; 1) = 0x00000001 + 0xFFFFFE00 = </a:t>
            </a:r>
            <a:r>
              <a:rPr lang="en-US" dirty="0">
                <a:solidFill>
                  <a:schemeClr val="tx1"/>
                </a:solidFill>
              </a:rPr>
              <a:t>0xFFFFFE01</a:t>
            </a:r>
            <a:endParaRPr lang="en-US" dirty="0"/>
          </a:p>
          <a:p>
            <a:r>
              <a:rPr lang="en-US" dirty="0"/>
              <a:t>ADDS sets flags:</a:t>
            </a:r>
          </a:p>
          <a:p>
            <a:r>
              <a:rPr lang="en-US" dirty="0"/>
              <a:t>Z = 0 (result r2 is non-zero)</a:t>
            </a:r>
          </a:p>
          <a:p>
            <a:r>
              <a:rPr lang="en-US" dirty="0"/>
              <a:t>N = 1 (bit 31 of result r2 is 1)</a:t>
            </a:r>
          </a:p>
          <a:p>
            <a:r>
              <a:rPr lang="en-US" dirty="0"/>
              <a:t>C = 0 (there is no carry out from bit 31 for unsigned addition, when adding 0x00000001 and 0xFFFFFE00)</a:t>
            </a:r>
          </a:p>
          <a:p>
            <a:r>
              <a:rPr lang="en-US" dirty="0"/>
              <a:t>V = 0 (there is no overflow for signed addition, when adding 0x00000001 and 0xFFFFFE00.  Recall: adding a positive (1) to a negative (0xFFFFFE00) cannot cause overflow.)</a:t>
            </a:r>
          </a:p>
          <a:p>
            <a:r>
              <a:rPr lang="en-US" b="1" dirty="0"/>
              <a:t>Note: </a:t>
            </a:r>
            <a:r>
              <a:rPr lang="en-US" dirty="0"/>
              <a:t>LSL updates the C flag when it is used within the ADDS instruction. However, its </a:t>
            </a:r>
            <a:r>
              <a:rPr lang="en-US"/>
              <a:t>update of </a:t>
            </a:r>
            <a:r>
              <a:rPr lang="en-US" dirty="0"/>
              <a:t>the C flag is overwritten by ANDS, or equivalently, we say that LSL does not update the C flag.</a:t>
            </a:r>
          </a:p>
        </p:txBody>
      </p:sp>
    </p:spTree>
    <p:extLst>
      <p:ext uri="{BB962C8B-B14F-4D97-AF65-F5344CB8AC3E}">
        <p14:creationId xmlns:p14="http://schemas.microsoft.com/office/powerpoint/2010/main" val="35258082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/>
            <a:r>
              <a:rPr lang="en-US" dirty="0"/>
              <a:t>Set a Bit in C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60</a:t>
            </a:fld>
            <a:endParaRPr kumimoji="0" lang="en-US" dirty="0"/>
          </a:p>
        </p:txBody>
      </p:sp>
      <p:sp>
        <p:nvSpPr>
          <p:cNvPr id="5" name="Rectangle 4"/>
          <p:cNvSpPr/>
          <p:nvPr/>
        </p:nvSpPr>
        <p:spPr>
          <a:xfrm>
            <a:off x="4114800" y="1334869"/>
            <a:ext cx="3477234" cy="646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36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 |= (1 &lt;&lt; k)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1" y="2325470"/>
            <a:ext cx="4237057" cy="646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3600" b="1" dirty="0">
                <a:latin typeface="Consolas" panose="020B0609020204030204" pitchFamily="49" charset="0"/>
                <a:cs typeface="Consolas" panose="020B0609020204030204" pitchFamily="49" charset="0"/>
              </a:rPr>
              <a:t>a = a | (1 &lt;&lt; k)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1" y="1981200"/>
            <a:ext cx="50526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or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01026479"/>
              </p:ext>
            </p:extLst>
          </p:nvPr>
        </p:nvGraphicFramePr>
        <p:xfrm>
          <a:off x="3429965" y="3873743"/>
          <a:ext cx="5418664" cy="13716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67733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7733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7733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77333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77333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77333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77333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677333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a</a:t>
                      </a:r>
                      <a:r>
                        <a:rPr lang="en-US" sz="2400" baseline="-25000" dirty="0"/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/>
                        <a:t>a</a:t>
                      </a:r>
                      <a:r>
                        <a:rPr lang="en-US" sz="2400" baseline="-25000" dirty="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b="1" dirty="0">
                          <a:solidFill>
                            <a:srgbClr val="C00000"/>
                          </a:solidFill>
                        </a:rPr>
                        <a:t>a</a:t>
                      </a:r>
                      <a:r>
                        <a:rPr lang="en-US" sz="2400" b="1" baseline="-25000" dirty="0">
                          <a:solidFill>
                            <a:srgbClr val="C00000"/>
                          </a:solidFill>
                        </a:rP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/>
                        <a:t>a</a:t>
                      </a:r>
                      <a:r>
                        <a:rPr lang="en-US" sz="2400" baseline="-25000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/>
                        <a:t>a</a:t>
                      </a:r>
                      <a:r>
                        <a:rPr lang="en-US" sz="2400" baseline="-250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/>
                        <a:t>a</a:t>
                      </a:r>
                      <a:r>
                        <a:rPr lang="en-US" sz="2400" baseline="-2500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/>
                        <a:t>a</a:t>
                      </a:r>
                      <a:r>
                        <a:rPr lang="en-US" sz="2400" baseline="-250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a</a:t>
                      </a:r>
                      <a:r>
                        <a:rPr lang="en-US" sz="2400" baseline="-25000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latin typeface="Consolas" pitchFamily="49" charset="0"/>
                          <a:cs typeface="Consolas" pitchFamily="49" charset="0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latin typeface="Consolas" pitchFamily="49" charset="0"/>
                          <a:cs typeface="Consolas" pitchFamily="49" charset="0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b="1" dirty="0">
                          <a:solidFill>
                            <a:srgbClr val="C00000"/>
                          </a:solidFill>
                          <a:latin typeface="Consolas" pitchFamily="49" charset="0"/>
                          <a:cs typeface="Consolas" pitchFamily="49" charset="0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latin typeface="Consolas" pitchFamily="49" charset="0"/>
                          <a:cs typeface="Consolas" pitchFamily="49" charset="0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latin typeface="Consolas" pitchFamily="49" charset="0"/>
                          <a:cs typeface="Consolas" pitchFamily="49" charset="0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latin typeface="Consolas" pitchFamily="49" charset="0"/>
                          <a:cs typeface="Consolas" pitchFamily="49" charset="0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latin typeface="Consolas" pitchFamily="49" charset="0"/>
                          <a:cs typeface="Consolas" pitchFamily="49" charset="0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latin typeface="Consolas" pitchFamily="49" charset="0"/>
                          <a:cs typeface="Consolas" pitchFamily="49" charset="0"/>
                        </a:rPr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a</a:t>
                      </a:r>
                      <a:r>
                        <a:rPr lang="en-US" sz="2400" baseline="-25000" dirty="0"/>
                        <a:t>7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/>
                        <a:t>a</a:t>
                      </a:r>
                      <a:r>
                        <a:rPr lang="en-US" sz="2400" baseline="-25000" dirty="0"/>
                        <a:t>6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b="1" dirty="0">
                          <a:solidFill>
                            <a:srgbClr val="C00000"/>
                          </a:solidFill>
                          <a:latin typeface="Consolas" pitchFamily="49" charset="0"/>
                          <a:cs typeface="Consolas" pitchFamily="49" charset="0"/>
                        </a:rPr>
                        <a:t>1</a:t>
                      </a:r>
                      <a:endParaRPr lang="en-US" sz="2400" b="1" baseline="-25000" dirty="0">
                        <a:solidFill>
                          <a:srgbClr val="C00000"/>
                        </a:solidFill>
                        <a:latin typeface="Consolas" pitchFamily="49" charset="0"/>
                        <a:cs typeface="Consolas" pitchFamily="49" charset="0"/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/>
                        <a:t>a</a:t>
                      </a:r>
                      <a:r>
                        <a:rPr lang="en-US" sz="2400" baseline="-25000" dirty="0"/>
                        <a:t>4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/>
                        <a:t>a</a:t>
                      </a:r>
                      <a:r>
                        <a:rPr lang="en-US" sz="2400" baseline="-25000" dirty="0"/>
                        <a:t>3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/>
                        <a:t>a</a:t>
                      </a:r>
                      <a:r>
                        <a:rPr lang="en-US" sz="2400" baseline="-25000" dirty="0"/>
                        <a:t>2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/>
                        <a:t>a</a:t>
                      </a:r>
                      <a:r>
                        <a:rPr lang="en-US" sz="2400" baseline="-25000" dirty="0"/>
                        <a:t>1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a</a:t>
                      </a:r>
                      <a:r>
                        <a:rPr lang="en-US" sz="2400" baseline="-25000" dirty="0"/>
                        <a:t>0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09710" y="3056599"/>
            <a:ext cx="198644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/>
              <a:t>Example:  k = 5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092014" y="3916680"/>
            <a:ext cx="31290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b="1" dirty="0">
                <a:latin typeface="Arial" pitchFamily="34" charset="0"/>
                <a:cs typeface="Arial" pitchFamily="34" charset="0"/>
              </a:rPr>
              <a:t>a</a:t>
            </a:r>
            <a:endParaRPr lang="en-US" dirty="0"/>
          </a:p>
        </p:txBody>
      </p:sp>
      <p:sp>
        <p:nvSpPr>
          <p:cNvPr id="13" name="Rectangle 12"/>
          <p:cNvSpPr/>
          <p:nvPr/>
        </p:nvSpPr>
        <p:spPr>
          <a:xfrm>
            <a:off x="2563085" y="4374877"/>
            <a:ext cx="83869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b="1" dirty="0">
                <a:latin typeface="Arial" pitchFamily="34" charset="0"/>
                <a:cs typeface="Arial" pitchFamily="34" charset="0"/>
              </a:rPr>
              <a:t>1 &lt;&lt; k</a:t>
            </a:r>
            <a:endParaRPr lang="en-US" dirty="0"/>
          </a:p>
        </p:txBody>
      </p:sp>
      <p:sp>
        <p:nvSpPr>
          <p:cNvPr id="14" name="Rectangle 13"/>
          <p:cNvSpPr/>
          <p:nvPr/>
        </p:nvSpPr>
        <p:spPr>
          <a:xfrm>
            <a:off x="2104263" y="4840010"/>
            <a:ext cx="131318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b="1" dirty="0">
                <a:latin typeface="Arial" pitchFamily="34" charset="0"/>
                <a:cs typeface="Arial" pitchFamily="34" charset="0"/>
              </a:rPr>
              <a:t>a | (1 &lt;&lt; k)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5DB2674-F2AA-6443-8E9B-6D46783B06F4}"/>
              </a:ext>
            </a:extLst>
          </p:cNvPr>
          <p:cNvSpPr txBox="1"/>
          <p:nvPr/>
        </p:nvSpPr>
        <p:spPr>
          <a:xfrm>
            <a:off x="3921852" y="5453306"/>
            <a:ext cx="449847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i="1" dirty="0">
                <a:solidFill>
                  <a:srgbClr val="0000FF"/>
                </a:solidFill>
              </a:rPr>
              <a:t>The other bits should not be affected.</a:t>
            </a:r>
          </a:p>
        </p:txBody>
      </p:sp>
    </p:spTree>
    <p:extLst>
      <p:ext uri="{BB962C8B-B14F-4D97-AF65-F5344CB8AC3E}">
        <p14:creationId xmlns:p14="http://schemas.microsoft.com/office/powerpoint/2010/main" val="4270472410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/>
            <a:r>
              <a:rPr lang="en-US" dirty="0"/>
              <a:t>Set a Bit in Assembly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61</a:t>
            </a:fld>
            <a:endParaRPr kumimoji="0" lang="en-US" dirty="0"/>
          </a:p>
        </p:txBody>
      </p:sp>
      <p:sp>
        <p:nvSpPr>
          <p:cNvPr id="5" name="Rectangle 4"/>
          <p:cNvSpPr/>
          <p:nvPr/>
        </p:nvSpPr>
        <p:spPr>
          <a:xfrm>
            <a:off x="609600" y="1299138"/>
            <a:ext cx="2393604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4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 |= (1 &lt;&lt; 5)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20D3BDD-F764-1CF5-0EBC-0F858F50E8D7}"/>
              </a:ext>
            </a:extLst>
          </p:cNvPr>
          <p:cNvSpPr txBox="1"/>
          <p:nvPr/>
        </p:nvSpPr>
        <p:spPr>
          <a:xfrm>
            <a:off x="2895600" y="3732546"/>
            <a:ext cx="8066269" cy="1015663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sz="2000" b="1" dirty="0">
                <a:latin typeface="Consolas" panose="020B0609020204030204" pitchFamily="49" charset="0"/>
              </a:rPr>
              <a:t>Solution 2:</a:t>
            </a:r>
          </a:p>
          <a:p>
            <a:r>
              <a:rPr lang="pt-BR" sz="2000" dirty="0">
                <a:latin typeface="Consolas" panose="020B0609020204030204" pitchFamily="49" charset="0"/>
              </a:rPr>
              <a:t>    </a:t>
            </a:r>
            <a:r>
              <a:rPr lang="pt-BR" sz="2000" b="1" dirty="0">
                <a:latin typeface="Consolas" panose="020B0609020204030204" pitchFamily="49" charset="0"/>
              </a:rPr>
              <a:t>MOV</a:t>
            </a:r>
            <a:r>
              <a:rPr lang="pt-BR" sz="2000" dirty="0">
                <a:latin typeface="Consolas" panose="020B0609020204030204" pitchFamily="49" charset="0"/>
              </a:rPr>
              <a:t> r4, #1               </a:t>
            </a:r>
            <a:r>
              <a:rPr lang="pt-BR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; r4 = 1</a:t>
            </a:r>
          </a:p>
          <a:p>
            <a:r>
              <a:rPr lang="pt-BR" sz="2000" dirty="0">
                <a:latin typeface="Consolas" panose="020B0609020204030204" pitchFamily="49" charset="0"/>
              </a:rPr>
              <a:t>    </a:t>
            </a:r>
            <a:r>
              <a:rPr lang="pt-BR" sz="2000" b="1" dirty="0">
                <a:solidFill>
                  <a:srgbClr val="0000FF"/>
                </a:solidFill>
                <a:latin typeface="Consolas" panose="020B0609020204030204" pitchFamily="49" charset="0"/>
              </a:rPr>
              <a:t>ORR</a:t>
            </a:r>
            <a:r>
              <a:rPr lang="pt-BR" sz="2000" dirty="0">
                <a:latin typeface="Consolas" panose="020B0609020204030204" pitchFamily="49" charset="0"/>
              </a:rPr>
              <a:t> r0, r0, </a:t>
            </a:r>
            <a:r>
              <a:rPr lang="pt-BR" sz="2000" dirty="0">
                <a:solidFill>
                  <a:srgbClr val="C00000"/>
                </a:solidFill>
                <a:latin typeface="Consolas" panose="020B0609020204030204" pitchFamily="49" charset="0"/>
              </a:rPr>
              <a:t>r4, LSL #5   </a:t>
            </a:r>
            <a:r>
              <a:rPr lang="pt-BR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;</a:t>
            </a:r>
            <a:r>
              <a:rPr lang="pt-BR" sz="2000" dirty="0">
                <a:latin typeface="Consolas" panose="020B0609020204030204" pitchFamily="49" charset="0"/>
              </a:rPr>
              <a:t> </a:t>
            </a:r>
            <a:r>
              <a:rPr lang="pt-BR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r0 = r0 &amp; not (1&lt;&lt;5) </a:t>
            </a:r>
            <a:endParaRPr lang="en-US" sz="2000" dirty="0">
              <a:solidFill>
                <a:schemeClr val="bg1">
                  <a:lumMod val="50000"/>
                </a:schemeClr>
              </a:solidFill>
              <a:latin typeface="Consolas" panose="020B0609020204030204" pitchFamily="49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EDFC2C3-B93E-557B-4902-EF4CD3C54B3F}"/>
              </a:ext>
            </a:extLst>
          </p:cNvPr>
          <p:cNvSpPr txBox="1"/>
          <p:nvPr/>
        </p:nvSpPr>
        <p:spPr>
          <a:xfrm>
            <a:off x="2895600" y="2209800"/>
            <a:ext cx="8066269" cy="1323439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sz="2000" b="1" dirty="0">
                <a:latin typeface="Consolas" panose="020B0609020204030204" pitchFamily="49" charset="0"/>
              </a:rPr>
              <a:t>Solution 1:</a:t>
            </a:r>
          </a:p>
          <a:p>
            <a:r>
              <a:rPr lang="pt-BR" sz="2000" dirty="0">
                <a:latin typeface="Consolas" panose="020B0609020204030204" pitchFamily="49" charset="0"/>
              </a:rPr>
              <a:t>    MOV r4, #1       </a:t>
            </a:r>
            <a:r>
              <a:rPr lang="pt-BR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; r4 = 1</a:t>
            </a:r>
          </a:p>
          <a:p>
            <a:r>
              <a:rPr lang="pt-BR" sz="2000" dirty="0">
                <a:latin typeface="Consolas" panose="020B0609020204030204" pitchFamily="49" charset="0"/>
              </a:rPr>
              <a:t>    LSL r4, r4, #5   </a:t>
            </a:r>
            <a:r>
              <a:rPr lang="pt-BR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; r4 = 1&lt;&lt;5</a:t>
            </a:r>
          </a:p>
          <a:p>
            <a:r>
              <a:rPr lang="pt-BR" sz="2000" dirty="0">
                <a:latin typeface="Consolas" panose="020B0609020204030204" pitchFamily="49" charset="0"/>
              </a:rPr>
              <a:t>    </a:t>
            </a:r>
            <a:r>
              <a:rPr lang="pt-BR" sz="2000" b="1" dirty="0">
                <a:solidFill>
                  <a:srgbClr val="0000FF"/>
                </a:solidFill>
                <a:latin typeface="Consolas" panose="020B0609020204030204" pitchFamily="49" charset="0"/>
              </a:rPr>
              <a:t>ORR</a:t>
            </a:r>
            <a:r>
              <a:rPr lang="pt-BR" sz="2000" dirty="0">
                <a:latin typeface="Consolas" panose="020B0609020204030204" pitchFamily="49" charset="0"/>
              </a:rPr>
              <a:t> r0, r0, r4   </a:t>
            </a:r>
            <a:r>
              <a:rPr lang="pt-BR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;</a:t>
            </a:r>
            <a:r>
              <a:rPr lang="pt-BR" sz="2000" dirty="0">
                <a:latin typeface="Consolas" panose="020B0609020204030204" pitchFamily="49" charset="0"/>
              </a:rPr>
              <a:t> </a:t>
            </a:r>
            <a:r>
              <a:rPr lang="pt-BR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r0 = r0 | 1&lt;&lt;5 </a:t>
            </a:r>
            <a:endParaRPr lang="en-US" sz="2000" dirty="0">
              <a:solidFill>
                <a:schemeClr val="bg1">
                  <a:lumMod val="50000"/>
                </a:schemeClr>
              </a:solidFill>
              <a:latin typeface="Consolas" panose="020B0609020204030204" pitchFamily="49" charset="0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E17B54E-F932-4B41-B8B6-0B5C07BC368A}"/>
              </a:ext>
            </a:extLst>
          </p:cNvPr>
          <p:cNvSpPr txBox="1"/>
          <p:nvPr/>
        </p:nvSpPr>
        <p:spPr>
          <a:xfrm>
            <a:off x="2895600" y="4935575"/>
            <a:ext cx="8066269" cy="707886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sz="2000" b="1" dirty="0">
                <a:latin typeface="Consolas" panose="020B0609020204030204" pitchFamily="49" charset="0"/>
              </a:rPr>
              <a:t>Solution 3:</a:t>
            </a:r>
          </a:p>
          <a:p>
            <a:r>
              <a:rPr lang="pt-BR" sz="2000" dirty="0">
                <a:latin typeface="Consolas" panose="020B0609020204030204" pitchFamily="49" charset="0"/>
              </a:rPr>
              <a:t>    </a:t>
            </a:r>
            <a:r>
              <a:rPr lang="pt-BR" sz="2000" b="1" dirty="0">
                <a:solidFill>
                  <a:srgbClr val="0000FF"/>
                </a:solidFill>
                <a:latin typeface="Consolas" panose="020B0609020204030204" pitchFamily="49" charset="0"/>
              </a:rPr>
              <a:t>ORR</a:t>
            </a:r>
            <a:r>
              <a:rPr lang="pt-BR" sz="2000" dirty="0">
                <a:latin typeface="Consolas" panose="020B0609020204030204" pitchFamily="49" charset="0"/>
              </a:rPr>
              <a:t> r0, r0, # (1 &lt;&lt; 5)   </a:t>
            </a:r>
            <a:r>
              <a:rPr lang="pt-BR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;</a:t>
            </a:r>
            <a:r>
              <a:rPr lang="pt-BR" sz="2000" dirty="0">
                <a:latin typeface="Consolas" panose="020B0609020204030204" pitchFamily="49" charset="0"/>
              </a:rPr>
              <a:t> </a:t>
            </a:r>
            <a:r>
              <a:rPr lang="pt-BR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r0 = r0 &amp; not (1&lt;&lt;5)</a:t>
            </a:r>
            <a:r>
              <a:rPr lang="pt-BR" sz="2000" dirty="0">
                <a:latin typeface="Consolas" panose="020B0609020204030204" pitchFamily="49" charset="0"/>
              </a:rPr>
              <a:t>    </a:t>
            </a:r>
          </a:p>
        </p:txBody>
      </p:sp>
    </p:spTree>
    <p:extLst>
      <p:ext uri="{BB962C8B-B14F-4D97-AF65-F5344CB8AC3E}">
        <p14:creationId xmlns:p14="http://schemas.microsoft.com/office/powerpoint/2010/main" val="13308557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4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Clear a Bit in C</a:t>
            </a:r>
            <a:endParaRPr lang="en-US" i="1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62</a:t>
            </a:fld>
            <a:endParaRPr kumimoji="0" lang="en-US" dirty="0"/>
          </a:p>
        </p:txBody>
      </p:sp>
      <p:sp>
        <p:nvSpPr>
          <p:cNvPr id="5" name="Rectangle 4"/>
          <p:cNvSpPr/>
          <p:nvPr/>
        </p:nvSpPr>
        <p:spPr>
          <a:xfrm>
            <a:off x="4343401" y="1752600"/>
            <a:ext cx="3223959" cy="646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36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 &amp;= ~(1&lt;&lt;k)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92678481"/>
              </p:ext>
            </p:extLst>
          </p:nvPr>
        </p:nvGraphicFramePr>
        <p:xfrm>
          <a:off x="3436334" y="3511575"/>
          <a:ext cx="5418664" cy="13716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67733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7733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7733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77333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77333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77333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77333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677333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a</a:t>
                      </a:r>
                      <a:r>
                        <a:rPr lang="en-US" sz="2400" baseline="-25000" dirty="0"/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/>
                        <a:t>a</a:t>
                      </a:r>
                      <a:r>
                        <a:rPr lang="en-US" sz="2400" baseline="-25000" dirty="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b="1" dirty="0">
                          <a:solidFill>
                            <a:srgbClr val="C00000"/>
                          </a:solidFill>
                        </a:rPr>
                        <a:t>a</a:t>
                      </a:r>
                      <a:r>
                        <a:rPr lang="en-US" sz="2400" b="1" baseline="-25000" dirty="0">
                          <a:solidFill>
                            <a:srgbClr val="C00000"/>
                          </a:solidFill>
                        </a:rP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/>
                        <a:t>a</a:t>
                      </a:r>
                      <a:r>
                        <a:rPr lang="en-US" sz="2400" baseline="-25000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/>
                        <a:t>a</a:t>
                      </a:r>
                      <a:r>
                        <a:rPr lang="en-US" sz="2400" baseline="-250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/>
                        <a:t>a</a:t>
                      </a:r>
                      <a:r>
                        <a:rPr lang="en-US" sz="2400" baseline="-2500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/>
                        <a:t>a</a:t>
                      </a:r>
                      <a:r>
                        <a:rPr lang="en-US" sz="2400" baseline="-250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a</a:t>
                      </a:r>
                      <a:r>
                        <a:rPr lang="en-US" sz="2400" baseline="-25000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latin typeface="Consolas" pitchFamily="49" charset="0"/>
                          <a:cs typeface="Consolas" pitchFamily="49" charset="0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latin typeface="Consolas" pitchFamily="49" charset="0"/>
                          <a:cs typeface="Consolas" pitchFamily="49" charset="0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b="1" dirty="0">
                          <a:solidFill>
                            <a:srgbClr val="C00000"/>
                          </a:solidFill>
                          <a:latin typeface="Consolas" pitchFamily="49" charset="0"/>
                          <a:cs typeface="Consolas" pitchFamily="49" charset="0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latin typeface="Consolas" pitchFamily="49" charset="0"/>
                          <a:cs typeface="Consolas" pitchFamily="49" charset="0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latin typeface="Consolas" pitchFamily="49" charset="0"/>
                          <a:cs typeface="Consolas" pitchFamily="49" charset="0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latin typeface="Consolas" pitchFamily="49" charset="0"/>
                          <a:cs typeface="Consolas" pitchFamily="49" charset="0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latin typeface="Consolas" pitchFamily="49" charset="0"/>
                          <a:cs typeface="Consolas" pitchFamily="49" charset="0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latin typeface="Consolas" pitchFamily="49" charset="0"/>
                          <a:cs typeface="Consolas" pitchFamily="49" charset="0"/>
                        </a:rPr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a</a:t>
                      </a:r>
                      <a:r>
                        <a:rPr lang="en-US" sz="2400" baseline="-25000" dirty="0"/>
                        <a:t>7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/>
                        <a:t>a</a:t>
                      </a:r>
                      <a:r>
                        <a:rPr lang="en-US" sz="2400" baseline="-25000" dirty="0"/>
                        <a:t>6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b="1" dirty="0">
                          <a:solidFill>
                            <a:srgbClr val="C00000"/>
                          </a:solidFill>
                          <a:latin typeface="Consolas" pitchFamily="49" charset="0"/>
                          <a:cs typeface="Consolas" pitchFamily="49" charset="0"/>
                        </a:rPr>
                        <a:t>0</a:t>
                      </a:r>
                      <a:endParaRPr lang="en-US" sz="2400" b="1" baseline="-25000" dirty="0">
                        <a:solidFill>
                          <a:srgbClr val="C00000"/>
                        </a:solidFill>
                        <a:latin typeface="Consolas" pitchFamily="49" charset="0"/>
                        <a:cs typeface="Consolas" pitchFamily="49" charset="0"/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/>
                        <a:t>a</a:t>
                      </a:r>
                      <a:r>
                        <a:rPr lang="en-US" sz="2400" baseline="-25000" dirty="0"/>
                        <a:t>4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/>
                        <a:t>a</a:t>
                      </a:r>
                      <a:r>
                        <a:rPr lang="en-US" sz="2400" baseline="-25000" dirty="0"/>
                        <a:t>3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/>
                        <a:t>a</a:t>
                      </a:r>
                      <a:r>
                        <a:rPr lang="en-US" sz="2400" baseline="-25000" dirty="0"/>
                        <a:t>2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/>
                        <a:t>a</a:t>
                      </a:r>
                      <a:r>
                        <a:rPr lang="en-US" sz="2400" baseline="-25000" dirty="0"/>
                        <a:t>1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a</a:t>
                      </a:r>
                      <a:r>
                        <a:rPr lang="en-US" sz="2400" baseline="-25000" dirty="0"/>
                        <a:t>0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85800" y="2255396"/>
            <a:ext cx="198644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/>
              <a:t>Example:  k = 5</a:t>
            </a:r>
          </a:p>
        </p:txBody>
      </p:sp>
      <p:sp>
        <p:nvSpPr>
          <p:cNvPr id="10" name="Rectangle 9"/>
          <p:cNvSpPr/>
          <p:nvPr/>
        </p:nvSpPr>
        <p:spPr>
          <a:xfrm>
            <a:off x="3092014" y="3558503"/>
            <a:ext cx="31290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b="1" dirty="0">
                <a:latin typeface="Arial" pitchFamily="34" charset="0"/>
                <a:cs typeface="Arial" pitchFamily="34" charset="0"/>
              </a:rPr>
              <a:t>a</a:t>
            </a:r>
            <a:endParaRPr lang="en-US" dirty="0"/>
          </a:p>
        </p:txBody>
      </p:sp>
      <p:sp>
        <p:nvSpPr>
          <p:cNvPr id="11" name="Rectangle 10"/>
          <p:cNvSpPr/>
          <p:nvPr/>
        </p:nvSpPr>
        <p:spPr>
          <a:xfrm>
            <a:off x="2305048" y="3996927"/>
            <a:ext cx="112783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b="1" dirty="0">
                <a:latin typeface="Arial" pitchFamily="34" charset="0"/>
                <a:cs typeface="Arial" pitchFamily="34" charset="0"/>
              </a:rPr>
              <a:t>~(1 &lt;&lt; k)</a:t>
            </a:r>
            <a:endParaRPr lang="en-US" dirty="0"/>
          </a:p>
        </p:txBody>
      </p:sp>
      <p:sp>
        <p:nvSpPr>
          <p:cNvPr id="13" name="Rectangle 12"/>
          <p:cNvSpPr/>
          <p:nvPr/>
        </p:nvSpPr>
        <p:spPr>
          <a:xfrm>
            <a:off x="2016236" y="4474512"/>
            <a:ext cx="145206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b="1" dirty="0">
                <a:latin typeface="Arial" pitchFamily="34" charset="0"/>
                <a:cs typeface="Arial" pitchFamily="34" charset="0"/>
              </a:rPr>
              <a:t>a &amp; ~(1&lt;&lt;k)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0DF2A38-5015-B348-A02E-8F5D807F4547}"/>
              </a:ext>
            </a:extLst>
          </p:cNvPr>
          <p:cNvSpPr txBox="1"/>
          <p:nvPr/>
        </p:nvSpPr>
        <p:spPr>
          <a:xfrm>
            <a:off x="3921852" y="5453306"/>
            <a:ext cx="449847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i="1" dirty="0">
                <a:solidFill>
                  <a:srgbClr val="0000FF"/>
                </a:solidFill>
              </a:rPr>
              <a:t>The other bits should not be affected.</a:t>
            </a:r>
          </a:p>
        </p:txBody>
      </p:sp>
    </p:spTree>
    <p:extLst>
      <p:ext uri="{BB962C8B-B14F-4D97-AF65-F5344CB8AC3E}">
        <p14:creationId xmlns:p14="http://schemas.microsoft.com/office/powerpoint/2010/main" val="3897190462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Clear a Bit in Assembly</a:t>
            </a:r>
            <a:endParaRPr lang="en-US" i="1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63</a:t>
            </a:fld>
            <a:endParaRPr kumimoji="0" lang="en-US" dirty="0"/>
          </a:p>
        </p:txBody>
      </p:sp>
      <p:sp>
        <p:nvSpPr>
          <p:cNvPr id="5" name="Rectangle 4"/>
          <p:cNvSpPr/>
          <p:nvPr/>
        </p:nvSpPr>
        <p:spPr>
          <a:xfrm>
            <a:off x="762000" y="1208476"/>
            <a:ext cx="2223686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4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 &amp;= ~(1&lt;&lt;5)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75076" y="2992092"/>
            <a:ext cx="8066269" cy="1323439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sz="2000" b="1" dirty="0">
                <a:latin typeface="Consolas" panose="020B0609020204030204" pitchFamily="49" charset="0"/>
              </a:rPr>
              <a:t>Solution 2:</a:t>
            </a:r>
          </a:p>
          <a:p>
            <a:r>
              <a:rPr lang="pt-BR" sz="2000" dirty="0">
                <a:latin typeface="Consolas" panose="020B0609020204030204" pitchFamily="49" charset="0"/>
              </a:rPr>
              <a:t>    </a:t>
            </a:r>
            <a:r>
              <a:rPr lang="pt-BR" sz="2000" b="1" dirty="0">
                <a:latin typeface="Consolas" panose="020B0609020204030204" pitchFamily="49" charset="0"/>
              </a:rPr>
              <a:t>MOV</a:t>
            </a:r>
            <a:r>
              <a:rPr lang="pt-BR" sz="2000" dirty="0">
                <a:latin typeface="Consolas" panose="020B0609020204030204" pitchFamily="49" charset="0"/>
              </a:rPr>
              <a:t> r4, #1           </a:t>
            </a:r>
            <a:r>
              <a:rPr lang="pt-BR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; r4 = 1</a:t>
            </a:r>
          </a:p>
          <a:p>
            <a:r>
              <a:rPr lang="pt-BR" sz="2000" dirty="0">
                <a:latin typeface="Consolas" panose="020B0609020204030204" pitchFamily="49" charset="0"/>
              </a:rPr>
              <a:t>    </a:t>
            </a:r>
            <a:r>
              <a:rPr lang="pt-BR" sz="2000" b="1" dirty="0">
                <a:latin typeface="Consolas" panose="020B0609020204030204" pitchFamily="49" charset="0"/>
              </a:rPr>
              <a:t>MVN</a:t>
            </a:r>
            <a:r>
              <a:rPr lang="pt-BR" sz="2000" dirty="0">
                <a:latin typeface="Consolas" panose="020B0609020204030204" pitchFamily="49" charset="0"/>
              </a:rPr>
              <a:t> r4, </a:t>
            </a:r>
            <a:r>
              <a:rPr lang="pt-BR" sz="2000" dirty="0">
                <a:solidFill>
                  <a:srgbClr val="C00000"/>
                </a:solidFill>
                <a:latin typeface="Consolas" panose="020B0609020204030204" pitchFamily="49" charset="0"/>
              </a:rPr>
              <a:t>r4, LSL #5   </a:t>
            </a:r>
            <a:r>
              <a:rPr lang="pt-BR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;</a:t>
            </a:r>
            <a:r>
              <a:rPr lang="pt-BR" sz="2000" dirty="0">
                <a:latin typeface="Consolas" panose="020B0609020204030204" pitchFamily="49" charset="0"/>
              </a:rPr>
              <a:t> </a:t>
            </a:r>
            <a:r>
              <a:rPr lang="pt-BR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r4 = not (1&lt;&lt;5)</a:t>
            </a:r>
          </a:p>
          <a:p>
            <a:r>
              <a:rPr lang="pt-BR" sz="2000" dirty="0">
                <a:latin typeface="Consolas" panose="020B0609020204030204" pitchFamily="49" charset="0"/>
              </a:rPr>
              <a:t>    </a:t>
            </a:r>
            <a:r>
              <a:rPr lang="pt-BR" sz="2000" b="1" dirty="0">
                <a:solidFill>
                  <a:srgbClr val="0000FF"/>
                </a:solidFill>
                <a:latin typeface="Consolas" panose="020B0609020204030204" pitchFamily="49" charset="0"/>
              </a:rPr>
              <a:t>AND</a:t>
            </a:r>
            <a:r>
              <a:rPr lang="pt-BR" sz="2000" dirty="0">
                <a:latin typeface="Consolas" panose="020B0609020204030204" pitchFamily="49" charset="0"/>
              </a:rPr>
              <a:t> r0, r0, r4       </a:t>
            </a:r>
            <a:r>
              <a:rPr lang="pt-BR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; r0 = r0 &amp; not (1&lt;&lt;5)</a:t>
            </a:r>
            <a:endParaRPr lang="en-US" sz="2000" dirty="0">
              <a:solidFill>
                <a:schemeClr val="bg1">
                  <a:lumMod val="50000"/>
                </a:schemeClr>
              </a:solidFill>
              <a:latin typeface="Consolas" panose="020B0609020204030204" pitchFamily="49" charset="0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2975076" y="4552384"/>
            <a:ext cx="8066269" cy="1015663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sz="2000" b="1" dirty="0">
                <a:latin typeface="Consolas" panose="020B0609020204030204" pitchFamily="49" charset="0"/>
              </a:rPr>
              <a:t>Solution 3:</a:t>
            </a:r>
          </a:p>
          <a:p>
            <a:r>
              <a:rPr lang="pt-BR" sz="2000" dirty="0">
                <a:latin typeface="Consolas" panose="020B0609020204030204" pitchFamily="49" charset="0"/>
              </a:rPr>
              <a:t>    </a:t>
            </a:r>
            <a:r>
              <a:rPr lang="pt-BR" sz="2000" b="1" dirty="0">
                <a:latin typeface="Consolas" panose="020B0609020204030204" pitchFamily="49" charset="0"/>
              </a:rPr>
              <a:t>MOV</a:t>
            </a:r>
            <a:r>
              <a:rPr lang="pt-BR" sz="2000" dirty="0">
                <a:latin typeface="Consolas" panose="020B0609020204030204" pitchFamily="49" charset="0"/>
              </a:rPr>
              <a:t> r4, #1               </a:t>
            </a:r>
            <a:r>
              <a:rPr lang="pt-BR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; r4 = 1</a:t>
            </a:r>
          </a:p>
          <a:p>
            <a:r>
              <a:rPr lang="pt-BR" sz="2000" dirty="0">
                <a:latin typeface="Consolas" panose="020B0609020204030204" pitchFamily="49" charset="0"/>
              </a:rPr>
              <a:t>    </a:t>
            </a:r>
            <a:r>
              <a:rPr lang="pt-BR" sz="2000" b="1" dirty="0">
                <a:solidFill>
                  <a:srgbClr val="0000FF"/>
                </a:solidFill>
                <a:latin typeface="Consolas" panose="020B0609020204030204" pitchFamily="49" charset="0"/>
              </a:rPr>
              <a:t>BIC</a:t>
            </a:r>
            <a:r>
              <a:rPr lang="pt-BR" sz="2000" dirty="0">
                <a:latin typeface="Consolas" panose="020B0609020204030204" pitchFamily="49" charset="0"/>
              </a:rPr>
              <a:t> r0, r0, </a:t>
            </a:r>
            <a:r>
              <a:rPr lang="pt-BR" sz="2000" dirty="0">
                <a:solidFill>
                  <a:srgbClr val="C00000"/>
                </a:solidFill>
                <a:latin typeface="Consolas" panose="020B0609020204030204" pitchFamily="49" charset="0"/>
              </a:rPr>
              <a:t>r4, LSL #5   </a:t>
            </a:r>
            <a:r>
              <a:rPr lang="pt-BR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;</a:t>
            </a:r>
            <a:r>
              <a:rPr lang="pt-BR" sz="2000" dirty="0">
                <a:latin typeface="Consolas" panose="020B0609020204030204" pitchFamily="49" charset="0"/>
              </a:rPr>
              <a:t> </a:t>
            </a:r>
            <a:r>
              <a:rPr lang="pt-BR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r0 = r0 &amp; not (1&lt;&lt;5) </a:t>
            </a:r>
            <a:endParaRPr lang="en-US" sz="2000" dirty="0">
              <a:solidFill>
                <a:schemeClr val="bg1">
                  <a:lumMod val="50000"/>
                </a:schemeClr>
              </a:solidFill>
              <a:latin typeface="Consolas" panose="020B0609020204030204" pitchFamily="49" charset="0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2991062" y="1208476"/>
            <a:ext cx="8066269" cy="1631216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sz="2000" b="1" dirty="0">
                <a:latin typeface="Consolas" panose="020B0609020204030204" pitchFamily="49" charset="0"/>
              </a:rPr>
              <a:t>Solution 1:</a:t>
            </a:r>
          </a:p>
          <a:p>
            <a:r>
              <a:rPr lang="pt-BR" sz="2000" dirty="0">
                <a:latin typeface="Consolas" panose="020B0609020204030204" pitchFamily="49" charset="0"/>
              </a:rPr>
              <a:t>    </a:t>
            </a:r>
            <a:r>
              <a:rPr lang="pt-BR" sz="2000" b="1" dirty="0">
                <a:latin typeface="Consolas" panose="020B0609020204030204" pitchFamily="49" charset="0"/>
              </a:rPr>
              <a:t>MOV</a:t>
            </a:r>
            <a:r>
              <a:rPr lang="pt-BR" sz="2000" dirty="0">
                <a:latin typeface="Consolas" panose="020B0609020204030204" pitchFamily="49" charset="0"/>
              </a:rPr>
              <a:t> r4, #1       </a:t>
            </a:r>
            <a:r>
              <a:rPr lang="pt-BR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; r4 = 1</a:t>
            </a:r>
            <a:endParaRPr lang="pt-BR" sz="2000" dirty="0">
              <a:latin typeface="Consolas" panose="020B0609020204030204" pitchFamily="49" charset="0"/>
            </a:endParaRPr>
          </a:p>
          <a:p>
            <a:r>
              <a:rPr lang="pt-BR" sz="2000" dirty="0">
                <a:latin typeface="Consolas" panose="020B0609020204030204" pitchFamily="49" charset="0"/>
              </a:rPr>
              <a:t>    </a:t>
            </a:r>
            <a:r>
              <a:rPr lang="pt-BR" sz="2000" b="1" dirty="0">
                <a:latin typeface="Consolas" panose="020B0609020204030204" pitchFamily="49" charset="0"/>
              </a:rPr>
              <a:t>LSL</a:t>
            </a:r>
            <a:r>
              <a:rPr lang="pt-BR" sz="2000" dirty="0">
                <a:latin typeface="Consolas" panose="020B0609020204030204" pitchFamily="49" charset="0"/>
              </a:rPr>
              <a:t> r4, r4, #5   </a:t>
            </a:r>
            <a:r>
              <a:rPr lang="pt-BR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; r4 = 1&lt;&lt;5</a:t>
            </a:r>
          </a:p>
          <a:p>
            <a:r>
              <a:rPr lang="pt-BR" sz="2000" dirty="0">
                <a:latin typeface="Consolas" panose="020B0609020204030204" pitchFamily="49" charset="0"/>
              </a:rPr>
              <a:t>    </a:t>
            </a:r>
            <a:r>
              <a:rPr lang="pt-BR" sz="2000" b="1" dirty="0">
                <a:latin typeface="Consolas" panose="020B0609020204030204" pitchFamily="49" charset="0"/>
              </a:rPr>
              <a:t>MVN</a:t>
            </a:r>
            <a:r>
              <a:rPr lang="pt-BR" sz="2000" dirty="0">
                <a:latin typeface="Consolas" panose="020B0609020204030204" pitchFamily="49" charset="0"/>
              </a:rPr>
              <a:t> r4, r4       </a:t>
            </a:r>
            <a:r>
              <a:rPr lang="pt-BR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; r4 = not (1&lt;&lt;5)</a:t>
            </a:r>
          </a:p>
          <a:p>
            <a:r>
              <a:rPr lang="pt-BR" sz="2000" dirty="0">
                <a:latin typeface="Consolas" panose="020B0609020204030204" pitchFamily="49" charset="0"/>
              </a:rPr>
              <a:t>    </a:t>
            </a:r>
            <a:r>
              <a:rPr lang="pt-BR" sz="2000" b="1" dirty="0">
                <a:solidFill>
                  <a:srgbClr val="0000FF"/>
                </a:solidFill>
                <a:latin typeface="Consolas" panose="020B0609020204030204" pitchFamily="49" charset="0"/>
              </a:rPr>
              <a:t>AND</a:t>
            </a:r>
            <a:r>
              <a:rPr lang="pt-BR" sz="2000" dirty="0">
                <a:latin typeface="Consolas" panose="020B0609020204030204" pitchFamily="49" charset="0"/>
              </a:rPr>
              <a:t> r0, r0, r4   </a:t>
            </a:r>
            <a:r>
              <a:rPr lang="pt-BR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; r0 = r0 &amp; not (1&lt;&lt;5)</a:t>
            </a:r>
            <a:endParaRPr lang="en-US" sz="2000" dirty="0">
              <a:solidFill>
                <a:schemeClr val="bg1">
                  <a:lumMod val="50000"/>
                </a:schemeClr>
              </a:solidFill>
              <a:latin typeface="Consolas" panose="020B0609020204030204" pitchFamily="49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6DDDBB7-D107-1051-64FD-2F16D99B635D}"/>
              </a:ext>
            </a:extLst>
          </p:cNvPr>
          <p:cNvSpPr txBox="1"/>
          <p:nvPr/>
        </p:nvSpPr>
        <p:spPr>
          <a:xfrm>
            <a:off x="2975076" y="5755413"/>
            <a:ext cx="8066269" cy="707886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sz="2000" b="1" dirty="0">
                <a:latin typeface="Consolas" panose="020B0609020204030204" pitchFamily="49" charset="0"/>
              </a:rPr>
              <a:t>Solution 4:</a:t>
            </a:r>
          </a:p>
          <a:p>
            <a:r>
              <a:rPr lang="pt-BR" sz="2000" dirty="0">
                <a:latin typeface="Consolas" panose="020B0609020204030204" pitchFamily="49" charset="0"/>
              </a:rPr>
              <a:t>    </a:t>
            </a:r>
            <a:r>
              <a:rPr lang="pt-BR" sz="2000" b="1" dirty="0">
                <a:solidFill>
                  <a:srgbClr val="0000FF"/>
                </a:solidFill>
                <a:latin typeface="Consolas" panose="020B0609020204030204" pitchFamily="49" charset="0"/>
              </a:rPr>
              <a:t>BIC</a:t>
            </a:r>
            <a:r>
              <a:rPr lang="pt-BR" sz="2000" dirty="0">
                <a:latin typeface="Consolas" panose="020B0609020204030204" pitchFamily="49" charset="0"/>
              </a:rPr>
              <a:t> r0, r0, # (1 &lt;&lt; 5)   </a:t>
            </a:r>
            <a:r>
              <a:rPr lang="pt-BR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;</a:t>
            </a:r>
            <a:r>
              <a:rPr lang="pt-BR" sz="2000" dirty="0">
                <a:latin typeface="Consolas" panose="020B0609020204030204" pitchFamily="49" charset="0"/>
              </a:rPr>
              <a:t> </a:t>
            </a:r>
            <a:r>
              <a:rPr lang="pt-BR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r0 = r0 &amp; not (1&lt;&lt;5)</a:t>
            </a:r>
            <a:r>
              <a:rPr lang="pt-BR" sz="2000" dirty="0">
                <a:latin typeface="Consolas" panose="020B0609020204030204" pitchFamily="49" charset="0"/>
              </a:rPr>
              <a:t>    </a:t>
            </a:r>
          </a:p>
        </p:txBody>
      </p:sp>
    </p:spTree>
    <p:extLst>
      <p:ext uri="{BB962C8B-B14F-4D97-AF65-F5344CB8AC3E}">
        <p14:creationId xmlns:p14="http://schemas.microsoft.com/office/powerpoint/2010/main" val="32510347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6" grpId="0" animBg="1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Toggle a Bit in C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64</a:t>
            </a:fld>
            <a:endParaRPr kumimoji="0" lang="en-US" dirty="0"/>
          </a:p>
        </p:txBody>
      </p:sp>
      <p:sp>
        <p:nvSpPr>
          <p:cNvPr id="5" name="Rectangle 4"/>
          <p:cNvSpPr/>
          <p:nvPr/>
        </p:nvSpPr>
        <p:spPr>
          <a:xfrm>
            <a:off x="4876800" y="1676401"/>
            <a:ext cx="2464136" cy="646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36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 ^= 1&lt;&lt;k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14687324"/>
              </p:ext>
            </p:extLst>
          </p:nvPr>
        </p:nvGraphicFramePr>
        <p:xfrm>
          <a:off x="3429000" y="2912172"/>
          <a:ext cx="7441345" cy="13716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80689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0689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5516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517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3016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93016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93016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930168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332363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a</a:t>
                      </a:r>
                      <a:r>
                        <a:rPr lang="en-US" sz="2400" baseline="-25000" dirty="0"/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/>
                        <a:t>a</a:t>
                      </a:r>
                      <a:r>
                        <a:rPr lang="en-US" sz="2400" baseline="-25000" dirty="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b="1" dirty="0">
                          <a:solidFill>
                            <a:srgbClr val="C00000"/>
                          </a:solidFill>
                        </a:rPr>
                        <a:t>a</a:t>
                      </a:r>
                      <a:r>
                        <a:rPr lang="en-US" sz="2400" b="1" baseline="-25000" dirty="0">
                          <a:solidFill>
                            <a:srgbClr val="C00000"/>
                          </a:solidFill>
                        </a:rP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/>
                        <a:t>a</a:t>
                      </a:r>
                      <a:r>
                        <a:rPr lang="en-US" sz="2400" baseline="-25000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/>
                        <a:t>a</a:t>
                      </a:r>
                      <a:r>
                        <a:rPr lang="en-US" sz="2400" baseline="-250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/>
                        <a:t>a</a:t>
                      </a:r>
                      <a:r>
                        <a:rPr lang="en-US" sz="2400" baseline="-2500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/>
                        <a:t>a</a:t>
                      </a:r>
                      <a:r>
                        <a:rPr lang="en-US" sz="2400" baseline="-250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a</a:t>
                      </a:r>
                      <a:r>
                        <a:rPr lang="en-US" sz="2400" baseline="-25000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32363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latin typeface="Consolas" pitchFamily="49" charset="0"/>
                          <a:cs typeface="Consolas" pitchFamily="49" charset="0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latin typeface="Consolas" pitchFamily="49" charset="0"/>
                          <a:cs typeface="Consolas" pitchFamily="49" charset="0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b="1" dirty="0">
                          <a:solidFill>
                            <a:srgbClr val="C00000"/>
                          </a:solidFill>
                          <a:latin typeface="Consolas" pitchFamily="49" charset="0"/>
                          <a:cs typeface="Consolas" pitchFamily="49" charset="0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latin typeface="Consolas" pitchFamily="49" charset="0"/>
                          <a:cs typeface="Consolas" pitchFamily="49" charset="0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latin typeface="Consolas" pitchFamily="49" charset="0"/>
                          <a:cs typeface="Consolas" pitchFamily="49" charset="0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latin typeface="Consolas" pitchFamily="49" charset="0"/>
                          <a:cs typeface="Consolas" pitchFamily="49" charset="0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latin typeface="Consolas" pitchFamily="49" charset="0"/>
                          <a:cs typeface="Consolas" pitchFamily="49" charset="0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latin typeface="Consolas" pitchFamily="49" charset="0"/>
                          <a:cs typeface="Consolas" pitchFamily="49" charset="0"/>
                        </a:rPr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43271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a</a:t>
                      </a:r>
                      <a:r>
                        <a:rPr lang="en-US" sz="2400" baseline="-25000" dirty="0"/>
                        <a:t>7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/>
                        <a:t>a</a:t>
                      </a:r>
                      <a:r>
                        <a:rPr lang="en-US" sz="2400" baseline="-25000" dirty="0"/>
                        <a:t>6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b="1" dirty="0">
                          <a:solidFill>
                            <a:srgbClr val="C00000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NOT</a:t>
                      </a:r>
                      <a:r>
                        <a:rPr lang="en-US" sz="2400" b="0" dirty="0">
                          <a:solidFill>
                            <a:srgbClr val="C00000"/>
                          </a:solidFill>
                        </a:rPr>
                        <a:t>(</a:t>
                      </a:r>
                      <a:r>
                        <a:rPr lang="en-US" sz="2400" b="1" dirty="0">
                          <a:solidFill>
                            <a:srgbClr val="C00000"/>
                          </a:solidFill>
                        </a:rPr>
                        <a:t>a</a:t>
                      </a:r>
                      <a:r>
                        <a:rPr lang="en-US" sz="2400" b="1" baseline="-25000" dirty="0">
                          <a:solidFill>
                            <a:srgbClr val="C00000"/>
                          </a:solidFill>
                        </a:rPr>
                        <a:t>5</a:t>
                      </a:r>
                      <a:r>
                        <a:rPr lang="en-US" sz="2400" b="0" dirty="0">
                          <a:solidFill>
                            <a:srgbClr val="C00000"/>
                          </a:solidFill>
                        </a:rPr>
                        <a:t>)</a:t>
                      </a:r>
                      <a:endParaRPr lang="en-US" sz="2400" b="1" baseline="-25000" dirty="0">
                        <a:solidFill>
                          <a:srgbClr val="C00000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/>
                        <a:t>A</a:t>
                      </a:r>
                      <a:r>
                        <a:rPr lang="en-US" sz="2400" baseline="-25000" dirty="0"/>
                        <a:t>4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/>
                        <a:t>a</a:t>
                      </a:r>
                      <a:r>
                        <a:rPr lang="en-US" sz="2400" baseline="-25000" dirty="0"/>
                        <a:t>3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/>
                        <a:t>a</a:t>
                      </a:r>
                      <a:r>
                        <a:rPr lang="en-US" sz="2400" baseline="-25000" dirty="0"/>
                        <a:t>2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/>
                        <a:t>a</a:t>
                      </a:r>
                      <a:r>
                        <a:rPr lang="en-US" sz="2400" baseline="-25000" dirty="0"/>
                        <a:t>1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a</a:t>
                      </a:r>
                      <a:r>
                        <a:rPr lang="en-US" sz="2400" baseline="-25000" dirty="0"/>
                        <a:t>0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24520" y="2378639"/>
            <a:ext cx="211949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/>
              <a:t>Example:  </a:t>
            </a:r>
            <a:r>
              <a:rPr lang="en-US" sz="2000" b="1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k = 5</a:t>
            </a:r>
          </a:p>
        </p:txBody>
      </p:sp>
      <p:sp>
        <p:nvSpPr>
          <p:cNvPr id="8" name="Rectangle 7"/>
          <p:cNvSpPr/>
          <p:nvPr/>
        </p:nvSpPr>
        <p:spPr>
          <a:xfrm>
            <a:off x="3092014" y="2912172"/>
            <a:ext cx="31290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b="1" dirty="0">
                <a:latin typeface="Arial" pitchFamily="34" charset="0"/>
                <a:cs typeface="Arial" pitchFamily="34" charset="0"/>
              </a:rPr>
              <a:t>a</a:t>
            </a:r>
            <a:endParaRPr lang="en-US" dirty="0"/>
          </a:p>
        </p:txBody>
      </p:sp>
      <p:sp>
        <p:nvSpPr>
          <p:cNvPr id="9" name="Rectangle 8"/>
          <p:cNvSpPr/>
          <p:nvPr/>
        </p:nvSpPr>
        <p:spPr>
          <a:xfrm>
            <a:off x="2576140" y="3391219"/>
            <a:ext cx="83869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b="1" dirty="0">
                <a:latin typeface="Arial" pitchFamily="34" charset="0"/>
                <a:cs typeface="Arial" pitchFamily="34" charset="0"/>
              </a:rPr>
              <a:t>1 &lt;&lt; k</a:t>
            </a:r>
            <a:endParaRPr lang="en-US" dirty="0"/>
          </a:p>
        </p:txBody>
      </p:sp>
      <p:sp>
        <p:nvSpPr>
          <p:cNvPr id="12" name="Rectangle 11"/>
          <p:cNvSpPr/>
          <p:nvPr/>
        </p:nvSpPr>
        <p:spPr>
          <a:xfrm>
            <a:off x="2191330" y="3870944"/>
            <a:ext cx="1255472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b="1" dirty="0">
                <a:latin typeface="Arial" pitchFamily="34" charset="0"/>
                <a:cs typeface="Arial" pitchFamily="34" charset="0"/>
              </a:rPr>
              <a:t>a ^ (1&lt;&lt;k)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9600" y="1250590"/>
            <a:ext cx="744134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Without knowing the initial value, a bit can be toggled by </a:t>
            </a:r>
            <a:r>
              <a:rPr lang="en-US" dirty="0" err="1"/>
              <a:t>XORing</a:t>
            </a:r>
            <a:r>
              <a:rPr lang="en-US" dirty="0"/>
              <a:t> it with a “</a:t>
            </a:r>
            <a:r>
              <a:rPr lang="en-US" dirty="0">
                <a:latin typeface="Consolas"/>
                <a:cs typeface="Consolas"/>
              </a:rPr>
              <a:t>1</a:t>
            </a:r>
            <a:r>
              <a:rPr lang="en-US" dirty="0"/>
              <a:t>”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15DFBB9D-3DF4-8243-9966-134E40736165}"/>
              </a:ext>
            </a:extLst>
          </p:cNvPr>
          <p:cNvSpPr/>
          <p:nvPr/>
        </p:nvSpPr>
        <p:spPr>
          <a:xfrm>
            <a:off x="4038600" y="4881256"/>
            <a:ext cx="1995539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dirty="0"/>
              <a:t>Truth table of </a:t>
            </a:r>
            <a:r>
              <a:rPr lang="en-US" b="1" dirty="0">
                <a:latin typeface="Consolas" panose="020B0609020204030204" pitchFamily="49" charset="0"/>
              </a:rPr>
              <a:t>Exclusive OR</a:t>
            </a:r>
          </a:p>
        </p:txBody>
      </p:sp>
      <p:graphicFrame>
        <p:nvGraphicFramePr>
          <p:cNvPr id="17" name="Table 13">
            <a:extLst>
              <a:ext uri="{FF2B5EF4-FFF2-40B4-BE49-F238E27FC236}">
                <a16:creationId xmlns:a16="http://schemas.microsoft.com/office/drawing/2014/main" id="{9375F5FC-8E30-B44D-B9BA-A4861648AB2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09999527"/>
              </p:ext>
            </p:extLst>
          </p:nvPr>
        </p:nvGraphicFramePr>
        <p:xfrm>
          <a:off x="6172200" y="4415821"/>
          <a:ext cx="2895600" cy="1854200"/>
        </p:xfrm>
        <a:graphic>
          <a:graphicData uri="http://schemas.openxmlformats.org/drawingml/2006/table">
            <a:tbl>
              <a:tblPr firstRow="1" bandRow="1">
                <a:tableStyleId>{616DA210-FB5B-4158-B5E0-FEB733F419BA}</a:tableStyleId>
              </a:tblPr>
              <a:tblGrid>
                <a:gridCol w="965200">
                  <a:extLst>
                    <a:ext uri="{9D8B030D-6E8A-4147-A177-3AD203B41FA5}">
                      <a16:colId xmlns:a16="http://schemas.microsoft.com/office/drawing/2014/main" val="2134620909"/>
                    </a:ext>
                  </a:extLst>
                </a:gridCol>
                <a:gridCol w="965200">
                  <a:extLst>
                    <a:ext uri="{9D8B030D-6E8A-4147-A177-3AD203B41FA5}">
                      <a16:colId xmlns:a16="http://schemas.microsoft.com/office/drawing/2014/main" val="2274913725"/>
                    </a:ext>
                  </a:extLst>
                </a:gridCol>
                <a:gridCol w="965200">
                  <a:extLst>
                    <a:ext uri="{9D8B030D-6E8A-4147-A177-3AD203B41FA5}">
                      <a16:colId xmlns:a16="http://schemas.microsoft.com/office/drawing/2014/main" val="377624351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b="1" dirty="0">
                          <a:latin typeface="Consolas" panose="020B0609020204030204" pitchFamily="49" charset="0"/>
                        </a:rPr>
                        <a:t>m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1" dirty="0">
                          <a:latin typeface="Consolas" panose="020B0609020204030204" pitchFamily="49" charset="0"/>
                        </a:rPr>
                        <a:t>n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1" dirty="0" err="1">
                          <a:latin typeface="Consolas" panose="020B0609020204030204" pitchFamily="49" charset="0"/>
                        </a:rPr>
                        <a:t>m</a:t>
                      </a:r>
                      <a:r>
                        <a:rPr lang="en-US" sz="1800" b="1" dirty="0" err="1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ea typeface="Arial Unicode MS"/>
                          <a:cs typeface="Arial Unicode MS"/>
                        </a:rPr>
                        <a:t>⊕n</a:t>
                      </a:r>
                      <a:endParaRPr lang="en-US" sz="1800" b="1" dirty="0">
                        <a:latin typeface="Consolas" panose="020B0609020204030204" pitchFamily="49" charset="0"/>
                      </a:endParaRP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201698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b="0" dirty="0">
                          <a:latin typeface="Consolas" panose="020B0609020204030204" pitchFamily="49" charset="0"/>
                        </a:rPr>
                        <a:t>0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0" dirty="0">
                          <a:latin typeface="Consolas" panose="020B0609020204030204" pitchFamily="49" charset="0"/>
                        </a:rPr>
                        <a:t>0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0" dirty="0">
                          <a:latin typeface="Consolas" panose="020B0609020204030204" pitchFamily="49" charset="0"/>
                        </a:rPr>
                        <a:t>0</a:t>
                      </a: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4534286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b="0" dirty="0">
                          <a:solidFill>
                            <a:srgbClr val="C00000"/>
                          </a:solidFill>
                          <a:latin typeface="Consolas" panose="020B0609020204030204" pitchFamily="49" charset="0"/>
                        </a:rPr>
                        <a:t>0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0" dirty="0">
                          <a:solidFill>
                            <a:srgbClr val="C00000"/>
                          </a:solidFill>
                          <a:latin typeface="Consolas" panose="020B0609020204030204" pitchFamily="49" charset="0"/>
                        </a:rPr>
                        <a:t>1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0" dirty="0">
                          <a:solidFill>
                            <a:srgbClr val="C00000"/>
                          </a:solidFill>
                          <a:latin typeface="Consolas" panose="020B0609020204030204" pitchFamily="49" charset="0"/>
                        </a:rPr>
                        <a:t>1</a:t>
                      </a: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0283720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b="0" dirty="0">
                          <a:latin typeface="Consolas" panose="020B0609020204030204" pitchFamily="49" charset="0"/>
                        </a:rPr>
                        <a:t>1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0" dirty="0">
                          <a:latin typeface="Consolas" panose="020B0609020204030204" pitchFamily="49" charset="0"/>
                        </a:rPr>
                        <a:t>0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0" dirty="0">
                          <a:latin typeface="Consolas" panose="020B0609020204030204" pitchFamily="49" charset="0"/>
                        </a:rPr>
                        <a:t>1</a:t>
                      </a: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756586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b="0" dirty="0">
                          <a:solidFill>
                            <a:srgbClr val="C00000"/>
                          </a:solidFill>
                          <a:latin typeface="Consolas" panose="020B0609020204030204" pitchFamily="49" charset="0"/>
                        </a:rPr>
                        <a:t>1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0" dirty="0">
                          <a:solidFill>
                            <a:srgbClr val="C00000"/>
                          </a:solidFill>
                          <a:latin typeface="Consolas" panose="020B0609020204030204" pitchFamily="49" charset="0"/>
                        </a:rPr>
                        <a:t>1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0" dirty="0">
                          <a:solidFill>
                            <a:srgbClr val="C00000"/>
                          </a:solidFill>
                          <a:latin typeface="Consolas" panose="020B0609020204030204" pitchFamily="49" charset="0"/>
                        </a:rPr>
                        <a:t>0</a:t>
                      </a: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7567785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32066556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Toggle a Bit in Assembly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65</a:t>
            </a:fld>
            <a:endParaRPr kumimoji="0" lang="en-US" dirty="0"/>
          </a:p>
        </p:txBody>
      </p:sp>
      <p:sp>
        <p:nvSpPr>
          <p:cNvPr id="5" name="Rectangle 4"/>
          <p:cNvSpPr/>
          <p:nvPr/>
        </p:nvSpPr>
        <p:spPr>
          <a:xfrm>
            <a:off x="1524000" y="1710613"/>
            <a:ext cx="1713931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4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 ^= 1&lt;&lt;5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2819400"/>
            <a:ext cx="8066269" cy="1015663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sz="2000" b="1" dirty="0">
                <a:latin typeface="Consolas" panose="020B0609020204030204" pitchFamily="49" charset="0"/>
              </a:rPr>
              <a:t>Solution:</a:t>
            </a:r>
          </a:p>
          <a:p>
            <a:r>
              <a:rPr lang="pt-BR" sz="2000" dirty="0">
                <a:latin typeface="Consolas" panose="020B0609020204030204" pitchFamily="49" charset="0"/>
              </a:rPr>
              <a:t>    MOV r4, #1               </a:t>
            </a:r>
            <a:r>
              <a:rPr lang="pt-BR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; r4 = 1</a:t>
            </a:r>
          </a:p>
          <a:p>
            <a:r>
              <a:rPr lang="pt-BR" sz="2000" dirty="0">
                <a:latin typeface="Consolas" panose="020B0609020204030204" pitchFamily="49" charset="0"/>
              </a:rPr>
              <a:t>    </a:t>
            </a:r>
            <a:r>
              <a:rPr lang="pt-BR" sz="2000" b="1" dirty="0">
                <a:solidFill>
                  <a:srgbClr val="0000FF"/>
                </a:solidFill>
                <a:latin typeface="Consolas" panose="020B0609020204030204" pitchFamily="49" charset="0"/>
              </a:rPr>
              <a:t>EOR</a:t>
            </a:r>
            <a:r>
              <a:rPr lang="pt-BR" sz="2000" dirty="0">
                <a:latin typeface="Consolas" panose="020B0609020204030204" pitchFamily="49" charset="0"/>
              </a:rPr>
              <a:t> r0, r0, r4, LSL #5   </a:t>
            </a:r>
            <a:r>
              <a:rPr lang="pt-BR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;</a:t>
            </a:r>
            <a:r>
              <a:rPr lang="pt-BR" sz="2000" dirty="0">
                <a:latin typeface="Consolas" panose="020B0609020204030204" pitchFamily="49" charset="0"/>
              </a:rPr>
              <a:t> </a:t>
            </a:r>
            <a:r>
              <a:rPr lang="pt-BR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r0 = r0 ^ 1&lt;&lt;5 </a:t>
            </a:r>
            <a:endParaRPr lang="en-US" sz="2000" dirty="0">
              <a:solidFill>
                <a:schemeClr val="bg1">
                  <a:lumMod val="50000"/>
                </a:schemeClr>
              </a:solidFill>
              <a:latin typeface="Consolas" panose="020B0609020204030204" pitchFamily="49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BA7D860-B129-1899-73C5-E4BCF54515D8}"/>
              </a:ext>
            </a:extLst>
          </p:cNvPr>
          <p:cNvSpPr txBox="1"/>
          <p:nvPr/>
        </p:nvSpPr>
        <p:spPr>
          <a:xfrm>
            <a:off x="1371600" y="4510407"/>
            <a:ext cx="8066269" cy="707886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sz="2000" dirty="0"/>
              <a:t>Here we can use MOVS and EORS instead of MOV and EOR, if the flags are used by later instructions.</a:t>
            </a:r>
          </a:p>
        </p:txBody>
      </p:sp>
    </p:spTree>
    <p:extLst>
      <p:ext uri="{BB962C8B-B14F-4D97-AF65-F5344CB8AC3E}">
        <p14:creationId xmlns:p14="http://schemas.microsoft.com/office/powerpoint/2010/main" val="3398840445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31CC4E-0CA8-321E-F4B3-6EF6D209CE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Mask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E530680-51F9-B8F2-7171-3BA3C4AB59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66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2158C5A-4752-4EBD-2EDE-9B46C0187499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609600" y="3962400"/>
            <a:ext cx="10972800" cy="2194560"/>
          </a:xfrm>
        </p:spPr>
        <p:txBody>
          <a:bodyPr/>
          <a:lstStyle/>
          <a:p>
            <a:r>
              <a:rPr lang="en-US" dirty="0"/>
              <a:t>Bits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8-11</a:t>
            </a:r>
            <a:r>
              <a:rPr lang="en-US" dirty="0"/>
              <a:t> and bits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16-23</a:t>
            </a:r>
            <a:r>
              <a:rPr lang="en-US" dirty="0"/>
              <a:t> are </a:t>
            </a:r>
            <a:r>
              <a:rPr lang="en-US" b="1" dirty="0">
                <a:solidFill>
                  <a:srgbClr val="C00000"/>
                </a:solidFill>
              </a:rPr>
              <a:t>masked</a:t>
            </a:r>
            <a:r>
              <a:rPr lang="en-US" dirty="0"/>
              <a:t>.</a:t>
            </a:r>
          </a:p>
          <a:p>
            <a:r>
              <a:rPr lang="en-US" dirty="0"/>
              <a:t>All the rest bits are </a:t>
            </a:r>
            <a:r>
              <a:rPr lang="en-US" b="1" dirty="0">
                <a:solidFill>
                  <a:srgbClr val="C00000"/>
                </a:solidFill>
              </a:rPr>
              <a:t>unmasked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640EA6D-1175-A319-5647-1416D1243AB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2000" y="1447800"/>
            <a:ext cx="10867635" cy="1981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27666807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31CC4E-0CA8-321E-F4B3-6EF6D209CE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Clear all unmasked bits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E530680-51F9-B8F2-7171-3BA3C4AB59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67</a:t>
            </a:fld>
            <a:endParaRPr kumimoji="0"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640EA6D-1175-A319-5647-1416D1243AB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2000" y="1447800"/>
            <a:ext cx="10867635" cy="198120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9C47E808-5DD2-CF73-A705-5014BD3FED1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71600" y="3723114"/>
            <a:ext cx="10337614" cy="772686"/>
          </a:xfrm>
          <a:prstGeom prst="rect">
            <a:avLst/>
          </a:prstGeom>
        </p:spPr>
      </p:pic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DE578BA-F689-F5D6-405A-45806D834C34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2743200" y="5166360"/>
            <a:ext cx="8839200" cy="624840"/>
          </a:xfrm>
        </p:spPr>
        <p:txBody>
          <a:bodyPr/>
          <a:lstStyle/>
          <a:p>
            <a:pPr marL="0" indent="0" algn="ctr">
              <a:buNone/>
            </a:pPr>
            <a:r>
              <a:rPr lang="en-US" b="1" dirty="0">
                <a:solidFill>
                  <a:srgbClr val="C00000"/>
                </a:solidFill>
                <a:latin typeface="Consolas" panose="020B0609020204030204" pitchFamily="49" charset="0"/>
              </a:rPr>
              <a:t>Data &amp;= Mask;</a:t>
            </a:r>
          </a:p>
        </p:txBody>
      </p:sp>
    </p:spTree>
    <p:extLst>
      <p:ext uri="{BB962C8B-B14F-4D97-AF65-F5344CB8AC3E}">
        <p14:creationId xmlns:p14="http://schemas.microsoft.com/office/powerpoint/2010/main" val="12392704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31CC4E-0CA8-321E-F4B3-6EF6D209CE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Clear all masked bits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E530680-51F9-B8F2-7171-3BA3C4AB59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68</a:t>
            </a:fld>
            <a:endParaRPr kumimoji="0"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640EA6D-1175-A319-5647-1416D1243AB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2000" y="1447800"/>
            <a:ext cx="10867635" cy="198120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82675825-716B-4986-76FD-85A551EC3D6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3723502"/>
            <a:ext cx="10823438" cy="768942"/>
          </a:xfrm>
          <a:prstGeom prst="rect">
            <a:avLst/>
          </a:prstGeom>
        </p:spPr>
      </p:pic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7C198E4-A775-A01E-3DF7-8713377F6E09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2743200" y="5166360"/>
            <a:ext cx="8839200" cy="624840"/>
          </a:xfrm>
        </p:spPr>
        <p:txBody>
          <a:bodyPr/>
          <a:lstStyle/>
          <a:p>
            <a:pPr marL="0" indent="0" algn="ctr">
              <a:buNone/>
            </a:pPr>
            <a:r>
              <a:rPr lang="en-US" b="1" dirty="0">
                <a:solidFill>
                  <a:srgbClr val="C00000"/>
                </a:solidFill>
                <a:latin typeface="Consolas" panose="020B0609020204030204" pitchFamily="49" charset="0"/>
              </a:rPr>
              <a:t>Data &amp;= ~Mask;</a:t>
            </a:r>
          </a:p>
        </p:txBody>
      </p:sp>
    </p:spTree>
    <p:extLst>
      <p:ext uri="{BB962C8B-B14F-4D97-AF65-F5344CB8AC3E}">
        <p14:creationId xmlns:p14="http://schemas.microsoft.com/office/powerpoint/2010/main" val="2791162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31CC4E-0CA8-321E-F4B3-6EF6D209CE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Set all masked bits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E530680-51F9-B8F2-7171-3BA3C4AB59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69</a:t>
            </a:fld>
            <a:endParaRPr kumimoji="0"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640EA6D-1175-A319-5647-1416D1243AB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2000" y="1447800"/>
            <a:ext cx="10867635" cy="198120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52EEEDE0-3CBB-D9BF-0E0B-96D2C1DDCE7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78928" y="3803283"/>
            <a:ext cx="10179672" cy="768717"/>
          </a:xfrm>
          <a:prstGeom prst="rect">
            <a:avLst/>
          </a:prstGeom>
        </p:spPr>
      </p:pic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EB77D8C-7F6B-0FAF-5DFD-481029C21CBB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2667000" y="5166360"/>
            <a:ext cx="8915400" cy="624840"/>
          </a:xfrm>
        </p:spPr>
        <p:txBody>
          <a:bodyPr/>
          <a:lstStyle/>
          <a:p>
            <a:pPr marL="0" indent="0" algn="ctr">
              <a:buNone/>
            </a:pPr>
            <a:r>
              <a:rPr lang="en-US" b="1" dirty="0">
                <a:solidFill>
                  <a:srgbClr val="C00000"/>
                </a:solidFill>
                <a:latin typeface="Consolas" panose="020B0609020204030204" pitchFamily="49" charset="0"/>
              </a:rPr>
              <a:t>Data |= Mask;</a:t>
            </a:r>
          </a:p>
        </p:txBody>
      </p:sp>
    </p:spTree>
    <p:extLst>
      <p:ext uri="{BB962C8B-B14F-4D97-AF65-F5344CB8AC3E}">
        <p14:creationId xmlns:p14="http://schemas.microsoft.com/office/powerpoint/2010/main" val="15740709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31CC4E-0CA8-321E-F4B3-6EF6D209CE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Toggle all tasked bits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E530680-51F9-B8F2-7171-3BA3C4AB59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70</a:t>
            </a:fld>
            <a:endParaRPr kumimoji="0"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640EA6D-1175-A319-5647-1416D1243AB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2000" y="1447800"/>
            <a:ext cx="10867635" cy="198120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98EEFE3F-CEFA-96E6-1C25-27CBA9261AF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71600" y="3887157"/>
            <a:ext cx="10258035" cy="761043"/>
          </a:xfrm>
          <a:prstGeom prst="rect">
            <a:avLst/>
          </a:prstGeom>
        </p:spPr>
      </p:pic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B0CDFC2-46D5-513A-4D61-89195DFE319B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2743200" y="5166360"/>
            <a:ext cx="8839200" cy="624840"/>
          </a:xfrm>
        </p:spPr>
        <p:txBody>
          <a:bodyPr/>
          <a:lstStyle/>
          <a:p>
            <a:pPr marL="0" indent="0" algn="ctr">
              <a:buNone/>
            </a:pPr>
            <a:r>
              <a:rPr lang="en-US" b="1" dirty="0">
                <a:solidFill>
                  <a:srgbClr val="C00000"/>
                </a:solidFill>
                <a:latin typeface="Consolas" panose="020B0609020204030204" pitchFamily="49" charset="0"/>
              </a:rPr>
              <a:t>Data ^= Mask;</a:t>
            </a:r>
          </a:p>
        </p:txBody>
      </p:sp>
    </p:spTree>
    <p:extLst>
      <p:ext uri="{BB962C8B-B14F-4D97-AF65-F5344CB8AC3E}">
        <p14:creationId xmlns:p14="http://schemas.microsoft.com/office/powerpoint/2010/main" val="33317388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914" name="Rectangle 2"/>
          <p:cNvSpPr>
            <a:spLocks noGrp="1" noChangeArrowheads="1"/>
          </p:cNvSpPr>
          <p:nvPr>
            <p:ph type="title"/>
          </p:nvPr>
        </p:nvSpPr>
        <p:spPr>
          <a:xfrm>
            <a:off x="609600" y="69723"/>
            <a:ext cx="10972800" cy="990600"/>
          </a:xfrm>
          <a:ln>
            <a:miter lim="800000"/>
            <a:headEnd/>
            <a:tailEnd/>
          </a:ln>
        </p:spPr>
        <p:txBody>
          <a:bodyPr/>
          <a:lstStyle/>
          <a:p>
            <a:r>
              <a:rPr lang="en-US" dirty="0"/>
              <a:t>Carry and Overflow Flags w/ Arithmetic Instructions</a:t>
            </a:r>
          </a:p>
        </p:txBody>
      </p:sp>
      <p:sp>
        <p:nvSpPr>
          <p:cNvPr id="323587" name="Slide Number Placeholder 5"/>
          <p:cNvSpPr txBox="1">
            <a:spLocks noGrp="1"/>
          </p:cNvSpPr>
          <p:nvPr/>
        </p:nvSpPr>
        <p:spPr bwMode="auto">
          <a:xfrm>
            <a:off x="8077200" y="6245225"/>
            <a:ext cx="2133600" cy="4762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algn="r">
              <a:defRPr/>
            </a:pPr>
            <a:fld id="{433D14BE-FE52-4332-969F-3696FB65ED39}" type="slidenum">
              <a:rPr lang="en-US" sz="1400">
                <a:solidFill>
                  <a:srgbClr val="EEECE1"/>
                </a:solidFill>
              </a:rPr>
              <a:pPr algn="r">
                <a:defRPr/>
              </a:pPr>
              <a:t>71</a:t>
            </a:fld>
            <a:endParaRPr lang="en-US" sz="1400">
              <a:solidFill>
                <a:srgbClr val="EEECE1"/>
              </a:solidFill>
            </a:endParaRPr>
          </a:p>
        </p:txBody>
      </p:sp>
      <p:sp>
        <p:nvSpPr>
          <p:cNvPr id="38917" name="Rectangle 5"/>
          <p:cNvSpPr>
            <a:spLocks noChangeArrowheads="1"/>
          </p:cNvSpPr>
          <p:nvPr/>
        </p:nvSpPr>
        <p:spPr bwMode="auto">
          <a:xfrm>
            <a:off x="838200" y="994269"/>
            <a:ext cx="10515600" cy="30162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anchor="ctr">
            <a:spAutoFit/>
          </a:bodyPr>
          <a:lstStyle/>
          <a:p>
            <a:pPr>
              <a:defRPr/>
            </a:pPr>
            <a:r>
              <a:rPr lang="en-US" sz="1900" dirty="0">
                <a:solidFill>
                  <a:prstClr val="black"/>
                </a:solidFill>
                <a:latin typeface="Gill Sans MT"/>
                <a:cs typeface="Times New Roman" pitchFamily="18" charset="0"/>
              </a:rPr>
              <a:t>Carry flag C = 1 </a:t>
            </a:r>
            <a:r>
              <a:rPr lang="en-US" sz="1900" dirty="0">
                <a:solidFill>
                  <a:prstClr val="black"/>
                </a:solidFill>
                <a:latin typeface="Gill Sans MT"/>
              </a:rPr>
              <a:t>(Borrow flag = 0) </a:t>
            </a:r>
            <a:r>
              <a:rPr lang="en-US" sz="1900" dirty="0">
                <a:solidFill>
                  <a:prstClr val="black"/>
                </a:solidFill>
                <a:latin typeface="Gill Sans MT"/>
                <a:cs typeface="Times New Roman" pitchFamily="18" charset="0"/>
              </a:rPr>
              <a:t>upon an </a:t>
            </a:r>
            <a:r>
              <a:rPr lang="en-US" sz="1900" b="1" u="sng" dirty="0">
                <a:solidFill>
                  <a:srgbClr val="800000"/>
                </a:solidFill>
                <a:latin typeface="Gill Sans MT"/>
                <a:cs typeface="Times New Roman" pitchFamily="18" charset="0"/>
              </a:rPr>
              <a:t>unsigned</a:t>
            </a:r>
            <a:r>
              <a:rPr lang="en-US" sz="1900" dirty="0">
                <a:solidFill>
                  <a:prstClr val="black"/>
                </a:solidFill>
                <a:latin typeface="Gill Sans MT"/>
                <a:cs typeface="Times New Roman" pitchFamily="18" charset="0"/>
              </a:rPr>
              <a:t> addition if the answer is wrong (true result &gt; 2</a:t>
            </a:r>
            <a:r>
              <a:rPr lang="en-US" sz="1900" baseline="30000" dirty="0">
                <a:solidFill>
                  <a:prstClr val="black"/>
                </a:solidFill>
                <a:latin typeface="Gill Sans MT"/>
                <a:cs typeface="Times New Roman" pitchFamily="18" charset="0"/>
              </a:rPr>
              <a:t>n</a:t>
            </a:r>
            <a:r>
              <a:rPr lang="en-US" sz="1900" dirty="0">
                <a:solidFill>
                  <a:prstClr val="black"/>
                </a:solidFill>
                <a:latin typeface="Gill Sans MT"/>
                <a:cs typeface="Times New Roman" pitchFamily="18" charset="0"/>
              </a:rPr>
              <a:t>-1)</a:t>
            </a:r>
          </a:p>
          <a:p>
            <a:r>
              <a:rPr lang="en-US" sz="1900" dirty="0">
                <a:solidFill>
                  <a:prstClr val="black"/>
                </a:solidFill>
                <a:latin typeface="Gill Sans MT"/>
                <a:cs typeface="Times New Roman" pitchFamily="18" charset="0"/>
              </a:rPr>
              <a:t>Carry flag </a:t>
            </a:r>
            <a:r>
              <a:rPr lang="en-US" sz="1900" dirty="0">
                <a:solidFill>
                  <a:prstClr val="black"/>
                </a:solidFill>
                <a:latin typeface="Gill Sans MT"/>
              </a:rPr>
              <a:t>C = 0 (Borrow flag = 1) </a:t>
            </a:r>
            <a:r>
              <a:rPr lang="en-US" sz="1900" dirty="0">
                <a:solidFill>
                  <a:prstClr val="black"/>
                </a:solidFill>
                <a:latin typeface="Gill Sans MT"/>
                <a:cs typeface="Times New Roman" pitchFamily="18" charset="0"/>
              </a:rPr>
              <a:t>upon </a:t>
            </a:r>
            <a:r>
              <a:rPr lang="en-US" sz="1900" dirty="0">
                <a:solidFill>
                  <a:prstClr val="black"/>
                </a:solidFill>
                <a:latin typeface="Gill Sans MT"/>
              </a:rPr>
              <a:t>an </a:t>
            </a:r>
            <a:r>
              <a:rPr lang="en-US" sz="1900" b="1" u="sng" dirty="0">
                <a:solidFill>
                  <a:srgbClr val="800000"/>
                </a:solidFill>
                <a:latin typeface="Gill Sans MT"/>
                <a:cs typeface="Times New Roman" pitchFamily="18" charset="0"/>
              </a:rPr>
              <a:t>unsigned</a:t>
            </a:r>
            <a:r>
              <a:rPr lang="en-US" sz="1900" dirty="0">
                <a:solidFill>
                  <a:prstClr val="black"/>
                </a:solidFill>
                <a:latin typeface="Gill Sans MT"/>
              </a:rPr>
              <a:t> subtraction </a:t>
            </a:r>
            <a:r>
              <a:rPr lang="en-US" sz="1900" dirty="0">
                <a:solidFill>
                  <a:prstClr val="black"/>
                </a:solidFill>
                <a:latin typeface="Gill Sans MT"/>
                <a:cs typeface="Times New Roman" pitchFamily="18" charset="0"/>
              </a:rPr>
              <a:t>if the answer is wrong </a:t>
            </a:r>
            <a:r>
              <a:rPr lang="en-US" sz="1900" dirty="0">
                <a:solidFill>
                  <a:prstClr val="black"/>
                </a:solidFill>
                <a:latin typeface="Gill Sans MT"/>
              </a:rPr>
              <a:t> (</a:t>
            </a:r>
            <a:r>
              <a:rPr lang="en-US" sz="1900" dirty="0">
                <a:solidFill>
                  <a:prstClr val="black"/>
                </a:solidFill>
                <a:latin typeface="Gill Sans MT"/>
                <a:cs typeface="Times New Roman" pitchFamily="18" charset="0"/>
              </a:rPr>
              <a:t>true result &lt; 0)</a:t>
            </a:r>
            <a:endParaRPr lang="en-US" sz="1900" dirty="0">
              <a:solidFill>
                <a:prstClr val="black"/>
              </a:solidFill>
              <a:latin typeface="Gill Sans MT"/>
            </a:endParaRPr>
          </a:p>
          <a:p>
            <a:pPr>
              <a:defRPr/>
            </a:pPr>
            <a:r>
              <a:rPr lang="en-US" sz="1900" dirty="0">
                <a:solidFill>
                  <a:prstClr val="black"/>
                </a:solidFill>
                <a:latin typeface="Gill Sans MT"/>
                <a:cs typeface="Times New Roman" pitchFamily="18" charset="0"/>
              </a:rPr>
              <a:t>Overflow flag V =1 upon a </a:t>
            </a:r>
            <a:r>
              <a:rPr lang="en-US" sz="1900" b="1" u="sng" dirty="0">
                <a:solidFill>
                  <a:srgbClr val="800000"/>
                </a:solidFill>
                <a:latin typeface="Gill Sans MT"/>
                <a:cs typeface="Times New Roman" pitchFamily="18" charset="0"/>
              </a:rPr>
              <a:t>signed</a:t>
            </a:r>
            <a:r>
              <a:rPr lang="en-US" sz="1900" dirty="0">
                <a:solidFill>
                  <a:prstClr val="black"/>
                </a:solidFill>
                <a:latin typeface="Gill Sans MT"/>
                <a:cs typeface="Times New Roman" pitchFamily="18" charset="0"/>
              </a:rPr>
              <a:t> addition or subtraction if the answer is wrong (true result &gt; 2</a:t>
            </a:r>
            <a:r>
              <a:rPr lang="en-US" sz="1900" baseline="30000" dirty="0">
                <a:solidFill>
                  <a:prstClr val="black"/>
                </a:solidFill>
                <a:latin typeface="Gill Sans MT"/>
                <a:cs typeface="Times New Roman" pitchFamily="18" charset="0"/>
              </a:rPr>
              <a:t>n</a:t>
            </a:r>
            <a:r>
              <a:rPr lang="en-US" altLang="zh-CN" sz="1900" baseline="30000" dirty="0">
                <a:solidFill>
                  <a:prstClr val="black"/>
                </a:solidFill>
                <a:latin typeface="Gill Sans MT"/>
                <a:cs typeface="Times New Roman" pitchFamily="18" charset="0"/>
              </a:rPr>
              <a:t>-1</a:t>
            </a:r>
            <a:r>
              <a:rPr lang="en-US" sz="1900" dirty="0">
                <a:solidFill>
                  <a:prstClr val="black"/>
                </a:solidFill>
                <a:latin typeface="Gill Sans MT"/>
                <a:cs typeface="Times New Roman" pitchFamily="18" charset="0"/>
              </a:rPr>
              <a:t>-1 </a:t>
            </a:r>
            <a:r>
              <a:rPr lang="en-US" altLang="zh-CN" sz="1900" dirty="0">
                <a:solidFill>
                  <a:prstClr val="black"/>
                </a:solidFill>
                <a:latin typeface="Gill Sans MT"/>
                <a:cs typeface="Times New Roman" pitchFamily="18" charset="0"/>
              </a:rPr>
              <a:t>or true result &lt; -</a:t>
            </a:r>
            <a:r>
              <a:rPr lang="en-US" sz="1900" dirty="0">
                <a:solidFill>
                  <a:prstClr val="black"/>
                </a:solidFill>
                <a:latin typeface="Gill Sans MT"/>
                <a:cs typeface="Times New Roman" pitchFamily="18" charset="0"/>
              </a:rPr>
              <a:t>2</a:t>
            </a:r>
            <a:r>
              <a:rPr lang="en-US" sz="1900" baseline="30000" dirty="0">
                <a:solidFill>
                  <a:prstClr val="black"/>
                </a:solidFill>
                <a:latin typeface="Gill Sans MT"/>
                <a:cs typeface="Times New Roman" pitchFamily="18" charset="0"/>
              </a:rPr>
              <a:t>n</a:t>
            </a:r>
            <a:r>
              <a:rPr lang="en-US" altLang="zh-CN" sz="1900" baseline="30000" dirty="0">
                <a:solidFill>
                  <a:prstClr val="black"/>
                </a:solidFill>
                <a:latin typeface="Gill Sans MT"/>
                <a:cs typeface="Times New Roman" pitchFamily="18" charset="0"/>
              </a:rPr>
              <a:t>-1</a:t>
            </a:r>
            <a:r>
              <a:rPr lang="en-US" altLang="zh-CN" sz="1900" dirty="0">
                <a:solidFill>
                  <a:prstClr val="black"/>
                </a:solidFill>
                <a:latin typeface="Gill Sans MT"/>
                <a:cs typeface="Times New Roman" pitchFamily="18" charset="0"/>
              </a:rPr>
              <a:t>)</a:t>
            </a:r>
          </a:p>
          <a:p>
            <a:pPr>
              <a:defRPr/>
            </a:pPr>
            <a:r>
              <a:rPr lang="en-US" sz="1900" dirty="0">
                <a:solidFill>
                  <a:prstClr val="black"/>
                </a:solidFill>
                <a:cs typeface="Times New Roman" pitchFamily="18" charset="0"/>
              </a:rPr>
              <a:t>Overflow may occur when adding 2 operands with the same sign, or subtracting 2 operands with different signs; Overflow cannot occur when adding 2 operands with different signs or when subtracting 2 operands with the same sign.</a:t>
            </a:r>
          </a:p>
          <a:p>
            <a:pPr>
              <a:defRPr/>
            </a:pPr>
            <a:r>
              <a:rPr lang="en-US" sz="1900" dirty="0">
                <a:solidFill>
                  <a:prstClr val="black"/>
                </a:solidFill>
                <a:cs typeface="Times New Roman" pitchFamily="18" charset="0"/>
              </a:rPr>
              <a:t>If two operands have same sign, and the result has opposite sign, then V = 1; else V = 0</a:t>
            </a:r>
          </a:p>
          <a:p>
            <a:pPr>
              <a:defRPr/>
            </a:pPr>
            <a:r>
              <a:rPr lang="en-US" sz="1900" b="1" dirty="0">
                <a:solidFill>
                  <a:prstClr val="black"/>
                </a:solidFill>
                <a:latin typeface="Gill Sans MT"/>
                <a:cs typeface="Times New Roman" pitchFamily="18" charset="0"/>
              </a:rPr>
              <a:t>Tip</a:t>
            </a:r>
            <a:r>
              <a:rPr lang="en-US" sz="1900" b="1" dirty="0">
                <a:solidFill>
                  <a:prstClr val="black"/>
                </a:solidFill>
                <a:cs typeface="Times New Roman" pitchFamily="18" charset="0"/>
              </a:rPr>
              <a:t>: </a:t>
            </a:r>
            <a:r>
              <a:rPr lang="en-US" sz="1900" dirty="0">
                <a:solidFill>
                  <a:prstClr val="black"/>
                </a:solidFill>
                <a:cs typeface="Times New Roman" pitchFamily="18" charset="0"/>
              </a:rPr>
              <a:t>Convert subtraction to addition with Two’s complement. </a:t>
            </a:r>
            <a:endParaRPr lang="en-US" sz="1900" dirty="0">
              <a:solidFill>
                <a:prstClr val="black"/>
              </a:solidFill>
              <a:latin typeface="Gill Sans MT"/>
              <a:cs typeface="Times New Roman" pitchFamily="18" charset="0"/>
            </a:endParaRPr>
          </a:p>
        </p:txBody>
      </p:sp>
      <p:graphicFrame>
        <p:nvGraphicFramePr>
          <p:cNvPr id="2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77473700"/>
              </p:ext>
            </p:extLst>
          </p:nvPr>
        </p:nvGraphicFramePr>
        <p:xfrm>
          <a:off x="2009670" y="3959295"/>
          <a:ext cx="8594812" cy="2775578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1865256">
                  <a:extLst>
                    <a:ext uri="{9D8B030D-6E8A-4147-A177-3AD203B41FA5}">
                      <a16:colId xmlns:a16="http://schemas.microsoft.com/office/drawing/2014/main" val="3449689791"/>
                    </a:ext>
                  </a:extLst>
                </a:gridCol>
                <a:gridCol w="2236219">
                  <a:extLst>
                    <a:ext uri="{9D8B030D-6E8A-4147-A177-3AD203B41FA5}">
                      <a16:colId xmlns:a16="http://schemas.microsoft.com/office/drawing/2014/main" val="2443800576"/>
                    </a:ext>
                  </a:extLst>
                </a:gridCol>
                <a:gridCol w="2116049">
                  <a:extLst>
                    <a:ext uri="{9D8B030D-6E8A-4147-A177-3AD203B41FA5}">
                      <a16:colId xmlns:a16="http://schemas.microsoft.com/office/drawing/2014/main" val="1711257944"/>
                    </a:ext>
                  </a:extLst>
                </a:gridCol>
                <a:gridCol w="2377288">
                  <a:extLst>
                    <a:ext uri="{9D8B030D-6E8A-4147-A177-3AD203B41FA5}">
                      <a16:colId xmlns:a16="http://schemas.microsoft.com/office/drawing/2014/main" val="3663234745"/>
                    </a:ext>
                  </a:extLst>
                </a:gridCol>
              </a:tblGrid>
              <a:tr h="581018"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b="0" dirty="0">
                          <a:effectLst/>
                        </a:rPr>
                        <a:t> </a:t>
                      </a:r>
                      <a:endParaRPr lang="en-US" sz="1800" b="0" dirty="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b="0" dirty="0">
                          <a:effectLst/>
                        </a:rPr>
                        <a:t>Unsigned Addition</a:t>
                      </a:r>
                      <a:endParaRPr lang="en-US" sz="1800" b="0" dirty="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b="0" dirty="0">
                          <a:effectLst/>
                        </a:rPr>
                        <a:t>Unsigned Subtraction</a:t>
                      </a:r>
                      <a:endParaRPr lang="en-US" sz="1800" b="0" dirty="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b="0" dirty="0">
                          <a:effectLst/>
                        </a:rPr>
                        <a:t>Signed Addition or Subtraction</a:t>
                      </a:r>
                      <a:endParaRPr lang="en-US" sz="1800" b="0" dirty="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840512487"/>
                  </a:ext>
                </a:extLst>
              </a:tr>
              <a:tr h="693247"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b="0" dirty="0">
                          <a:effectLst/>
                        </a:rPr>
                        <a:t>Carry flag</a:t>
                      </a:r>
                      <a:endParaRPr lang="en-US" sz="1800" b="0" dirty="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b="0" dirty="0">
                          <a:solidFill>
                            <a:schemeClr val="tx1"/>
                          </a:solidFill>
                          <a:effectLst/>
                        </a:rPr>
                        <a:t>true result &gt; 2</a:t>
                      </a:r>
                      <a:r>
                        <a:rPr lang="en-US" sz="1800" b="0" baseline="30000" dirty="0">
                          <a:solidFill>
                            <a:schemeClr val="tx1"/>
                          </a:solidFill>
                          <a:effectLst/>
                        </a:rPr>
                        <a:t>n</a:t>
                      </a:r>
                      <a:r>
                        <a:rPr lang="en-US" sz="1800" b="0" dirty="0">
                          <a:solidFill>
                            <a:schemeClr val="tx1"/>
                          </a:solidFill>
                          <a:effectLst/>
                        </a:rPr>
                        <a:t>-1 </a:t>
                      </a:r>
                      <a:r>
                        <a:rPr lang="en-US" sz="1800" b="0" dirty="0">
                          <a:solidFill>
                            <a:schemeClr val="tx1"/>
                          </a:solidFill>
                          <a:effectLst/>
                          <a:sym typeface="Wingdings" panose="05000000000000000000" pitchFamily="2" charset="2"/>
                        </a:rPr>
                        <a:t></a:t>
                      </a:r>
                      <a:r>
                        <a:rPr lang="en-US" sz="1800" b="0" dirty="0">
                          <a:solidFill>
                            <a:schemeClr val="tx1"/>
                          </a:solidFill>
                          <a:effectLst/>
                        </a:rPr>
                        <a:t> Carry flag=1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0" dirty="0">
                          <a:solidFill>
                            <a:schemeClr val="tx1"/>
                          </a:solidFill>
                          <a:effectLst/>
                        </a:rPr>
                        <a:t>Borrow flag=0</a:t>
                      </a:r>
                    </a:p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kumimoji="0" lang="en-US" sz="1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(Result incorrect)</a:t>
                      </a: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b="0" dirty="0">
                          <a:solidFill>
                            <a:schemeClr val="tx1"/>
                          </a:solidFill>
                          <a:effectLst/>
                        </a:rPr>
                        <a:t>true result &lt; 0 </a:t>
                      </a:r>
                      <a:r>
                        <a:rPr lang="en-US" sz="1800" b="0" dirty="0">
                          <a:solidFill>
                            <a:schemeClr val="tx1"/>
                          </a:solidFill>
                          <a:effectLst/>
                          <a:sym typeface="Wingdings" panose="05000000000000000000" pitchFamily="2" charset="2"/>
                        </a:rPr>
                        <a:t></a:t>
                      </a:r>
                      <a:r>
                        <a:rPr lang="en-US" sz="1800" b="0" dirty="0">
                          <a:solidFill>
                            <a:schemeClr val="tx1"/>
                          </a:solidFill>
                          <a:effectLst/>
                        </a:rPr>
                        <a:t> Carry flag=0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0" dirty="0">
                          <a:solidFill>
                            <a:schemeClr val="tx1"/>
                          </a:solidFill>
                          <a:effectLst/>
                        </a:rPr>
                        <a:t>Borrow flag=1</a:t>
                      </a:r>
                    </a:p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kumimoji="0" lang="en-US" sz="1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(Result incorrect)</a:t>
                      </a: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b="0" dirty="0">
                          <a:effectLst/>
                        </a:rPr>
                        <a:t>N/A</a:t>
                      </a:r>
                      <a:endParaRPr lang="en-US" sz="1800" b="0" dirty="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2963854241"/>
                  </a:ext>
                </a:extLst>
              </a:tr>
              <a:tr h="693247"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b="0" dirty="0">
                          <a:effectLst/>
                        </a:rPr>
                        <a:t>Overflow flag</a:t>
                      </a:r>
                      <a:endParaRPr lang="en-US" sz="1800" b="0" dirty="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b="0" dirty="0">
                          <a:effectLst/>
                        </a:rPr>
                        <a:t>N/A</a:t>
                      </a:r>
                      <a:endParaRPr lang="en-US" sz="1800" b="0" dirty="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b="0" dirty="0">
                          <a:effectLst/>
                        </a:rPr>
                        <a:t>N/A</a:t>
                      </a:r>
                      <a:endParaRPr lang="en-US" sz="1800" b="0" dirty="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b="0" dirty="0">
                          <a:effectLst/>
                        </a:rPr>
                        <a:t>true result &gt; 2</a:t>
                      </a:r>
                      <a:r>
                        <a:rPr lang="en-US" sz="1800" b="0" baseline="30000" dirty="0">
                          <a:effectLst/>
                        </a:rPr>
                        <a:t>n-1</a:t>
                      </a:r>
                      <a:r>
                        <a:rPr lang="en-US" sz="1800" b="0" dirty="0">
                          <a:effectLst/>
                        </a:rPr>
                        <a:t>-1 or true result &lt; -2</a:t>
                      </a:r>
                      <a:r>
                        <a:rPr lang="en-US" sz="1800" b="0" baseline="30000" dirty="0">
                          <a:effectLst/>
                        </a:rPr>
                        <a:t>n-1</a:t>
                      </a:r>
                    </a:p>
                    <a:p>
                      <a:pPr marL="285750" marR="0" indent="-285750">
                        <a:spcBef>
                          <a:spcPts val="0"/>
                        </a:spcBef>
                        <a:spcAft>
                          <a:spcPts val="0"/>
                        </a:spcAft>
                        <a:buFont typeface="Wingdings" panose="05000000000000000000" pitchFamily="2" charset="2"/>
                        <a:buChar char="è"/>
                      </a:pPr>
                      <a:r>
                        <a:rPr lang="en-US" sz="1800" b="0" dirty="0">
                          <a:effectLst/>
                        </a:rPr>
                        <a:t>Overflow flag=1</a:t>
                      </a:r>
                    </a:p>
                    <a:p>
                      <a:pPr marL="0" marR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Font typeface="Wingdings" panose="05000000000000000000" pitchFamily="2" charset="2"/>
                        <a:buNone/>
                      </a:pPr>
                      <a:r>
                        <a:rPr kumimoji="0" lang="en-US" sz="1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(Result incorrect)</a:t>
                      </a: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206363004"/>
                  </a:ext>
                </a:extLst>
              </a:tr>
            </a:tbl>
          </a:graphicData>
        </a:graphic>
      </p:graphicFrame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5" name="Ink 4">
                <a:extLst>
                  <a:ext uri="{FF2B5EF4-FFF2-40B4-BE49-F238E27FC236}">
                    <a16:creationId xmlns:a16="http://schemas.microsoft.com/office/drawing/2014/main" id="{E2ACC35D-CF95-407F-B222-DF5A1F69BA9F}"/>
                  </a:ext>
                </a:extLst>
              </p14:cNvPr>
              <p14:cNvContentPartPr/>
              <p14:nvPr/>
            </p14:nvContentPartPr>
            <p14:xfrm>
              <a:off x="4934359" y="4932611"/>
              <a:ext cx="360" cy="360"/>
            </p14:xfrm>
          </p:contentPart>
        </mc:Choice>
        <mc:Fallback xmlns="">
          <p:pic>
            <p:nvPicPr>
              <p:cNvPr id="5" name="Ink 4">
                <a:extLst>
                  <a:ext uri="{FF2B5EF4-FFF2-40B4-BE49-F238E27FC236}">
                    <a16:creationId xmlns:a16="http://schemas.microsoft.com/office/drawing/2014/main" id="{E2ACC35D-CF95-407F-B222-DF5A1F69BA9F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4925359" y="4923611"/>
                <a:ext cx="18000" cy="18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">
            <p14:nvContentPartPr>
              <p14:cNvPr id="6" name="Ink 5">
                <a:extLst>
                  <a:ext uri="{FF2B5EF4-FFF2-40B4-BE49-F238E27FC236}">
                    <a16:creationId xmlns:a16="http://schemas.microsoft.com/office/drawing/2014/main" id="{641399B7-0992-4159-AA56-A61464B0489C}"/>
                  </a:ext>
                </a:extLst>
              </p14:cNvPr>
              <p14:cNvContentPartPr/>
              <p14:nvPr/>
            </p14:nvContentPartPr>
            <p14:xfrm>
              <a:off x="5494879" y="4932611"/>
              <a:ext cx="360" cy="360"/>
            </p14:xfrm>
          </p:contentPart>
        </mc:Choice>
        <mc:Fallback xmlns="">
          <p:pic>
            <p:nvPicPr>
              <p:cNvPr id="6" name="Ink 5">
                <a:extLst>
                  <a:ext uri="{FF2B5EF4-FFF2-40B4-BE49-F238E27FC236}">
                    <a16:creationId xmlns:a16="http://schemas.microsoft.com/office/drawing/2014/main" id="{641399B7-0992-4159-AA56-A61464B0489C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5485879" y="4923611"/>
                <a:ext cx="18000" cy="18000"/>
              </a:xfrm>
              <a:prstGeom prst="rect">
                <a:avLst/>
              </a:prstGeom>
            </p:spPr>
          </p:pic>
        </mc:Fallback>
      </mc:AlternateContent>
      <p:sp>
        <p:nvSpPr>
          <p:cNvPr id="4" name="Slide Number Placeholder 2">
            <a:extLst>
              <a:ext uri="{FF2B5EF4-FFF2-40B4-BE49-F238E27FC236}">
                <a16:creationId xmlns:a16="http://schemas.microsoft.com/office/drawing/2014/main" id="{3666F114-4345-426E-8C76-29F4A48DFE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16864" y="6356350"/>
            <a:ext cx="2641600" cy="365760"/>
          </a:xfrm>
        </p:spPr>
        <p:txBody>
          <a:bodyPr/>
          <a:lstStyle/>
          <a:p>
            <a:fld id="{EA7C8D44-3667-46F6-9772-CC52308E2A7F}" type="slidenum">
              <a:rPr kumimoji="0" lang="en-US" smtClean="0"/>
              <a:pPr/>
              <a:t>71</a:t>
            </a:fld>
            <a:endParaRPr kumimoji="0" lang="en-US" dirty="0"/>
          </a:p>
        </p:txBody>
      </p:sp>
    </p:spTree>
    <p:extLst>
      <p:ext uri="{BB962C8B-B14F-4D97-AF65-F5344CB8AC3E}">
        <p14:creationId xmlns:p14="http://schemas.microsoft.com/office/powerpoint/2010/main" val="1202265337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2DBA74-7EC6-5DEA-EDF0-215F4F4B35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A72074-5FEA-4AB0-E7C0-F084B86BDE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5B6AA6D-6888-F42B-1DA3-BDEA494336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72</a:t>
            </a:fld>
            <a:endParaRPr kumimoji="0" lang="en-US" dirty="0"/>
          </a:p>
        </p:txBody>
      </p:sp>
      <p:graphicFrame>
        <p:nvGraphicFramePr>
          <p:cNvPr id="7" name="Content Placeholder 6">
            <a:extLst>
              <a:ext uri="{FF2B5EF4-FFF2-40B4-BE49-F238E27FC236}">
                <a16:creationId xmlns:a16="http://schemas.microsoft.com/office/drawing/2014/main" id="{D38D1C5D-70ED-DB91-3E47-11F805CC6D31}"/>
              </a:ext>
            </a:extLst>
          </p:cNvPr>
          <p:cNvGraphicFramePr>
            <a:graphicFrameLocks noGrp="1"/>
          </p:cNvGraphicFramePr>
          <p:nvPr>
            <p:ph sz="quarter" idx="1"/>
            <p:extLst>
              <p:ext uri="{D42A27DB-BD31-4B8C-83A1-F6EECF244321}">
                <p14:modId xmlns:p14="http://schemas.microsoft.com/office/powerpoint/2010/main" val="3101371964"/>
              </p:ext>
            </p:extLst>
          </p:nvPr>
        </p:nvGraphicFramePr>
        <p:xfrm>
          <a:off x="4038600" y="4181132"/>
          <a:ext cx="4343400" cy="20726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542925">
                  <a:extLst>
                    <a:ext uri="{9D8B030D-6E8A-4147-A177-3AD203B41FA5}">
                      <a16:colId xmlns:a16="http://schemas.microsoft.com/office/drawing/2014/main" val="2710876334"/>
                    </a:ext>
                  </a:extLst>
                </a:gridCol>
                <a:gridCol w="542925">
                  <a:extLst>
                    <a:ext uri="{9D8B030D-6E8A-4147-A177-3AD203B41FA5}">
                      <a16:colId xmlns:a16="http://schemas.microsoft.com/office/drawing/2014/main" val="628439230"/>
                    </a:ext>
                  </a:extLst>
                </a:gridCol>
                <a:gridCol w="542925">
                  <a:extLst>
                    <a:ext uri="{9D8B030D-6E8A-4147-A177-3AD203B41FA5}">
                      <a16:colId xmlns:a16="http://schemas.microsoft.com/office/drawing/2014/main" val="2140181121"/>
                    </a:ext>
                  </a:extLst>
                </a:gridCol>
                <a:gridCol w="542925">
                  <a:extLst>
                    <a:ext uri="{9D8B030D-6E8A-4147-A177-3AD203B41FA5}">
                      <a16:colId xmlns:a16="http://schemas.microsoft.com/office/drawing/2014/main" val="1943046650"/>
                    </a:ext>
                  </a:extLst>
                </a:gridCol>
                <a:gridCol w="542925">
                  <a:extLst>
                    <a:ext uri="{9D8B030D-6E8A-4147-A177-3AD203B41FA5}">
                      <a16:colId xmlns:a16="http://schemas.microsoft.com/office/drawing/2014/main" val="3878723294"/>
                    </a:ext>
                  </a:extLst>
                </a:gridCol>
                <a:gridCol w="542925">
                  <a:extLst>
                    <a:ext uri="{9D8B030D-6E8A-4147-A177-3AD203B41FA5}">
                      <a16:colId xmlns:a16="http://schemas.microsoft.com/office/drawing/2014/main" val="3575582303"/>
                    </a:ext>
                  </a:extLst>
                </a:gridCol>
                <a:gridCol w="542925">
                  <a:extLst>
                    <a:ext uri="{9D8B030D-6E8A-4147-A177-3AD203B41FA5}">
                      <a16:colId xmlns:a16="http://schemas.microsoft.com/office/drawing/2014/main" val="787670029"/>
                    </a:ext>
                  </a:extLst>
                </a:gridCol>
                <a:gridCol w="542925">
                  <a:extLst>
                    <a:ext uri="{9D8B030D-6E8A-4147-A177-3AD203B41FA5}">
                      <a16:colId xmlns:a16="http://schemas.microsoft.com/office/drawing/2014/main" val="257472091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2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9017962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1432469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974315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14873157"/>
                  </a:ext>
                </a:extLst>
              </a:tr>
            </a:tbl>
          </a:graphicData>
        </a:graphic>
      </p:graphicFrame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988C0476-AF5F-8333-767F-1834B2360FB1}"/>
              </a:ext>
            </a:extLst>
          </p:cNvPr>
          <p:cNvCxnSpPr/>
          <p:nvPr/>
        </p:nvCxnSpPr>
        <p:spPr>
          <a:xfrm>
            <a:off x="3810000" y="5727710"/>
            <a:ext cx="4800600" cy="0"/>
          </a:xfrm>
          <a:prstGeom prst="line">
            <a:avLst/>
          </a:prstGeom>
          <a:ln w="28575"/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954FD87D-D26B-DB7F-671D-0FD90BBE586A}"/>
              </a:ext>
            </a:extLst>
          </p:cNvPr>
          <p:cNvSpPr txBox="1"/>
          <p:nvPr/>
        </p:nvSpPr>
        <p:spPr>
          <a:xfrm>
            <a:off x="8488281" y="4181132"/>
            <a:ext cx="91858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Carry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4745C83-C5F8-D44A-A5C6-E1B0AC3912B9}"/>
              </a:ext>
            </a:extLst>
          </p:cNvPr>
          <p:cNvSpPr txBox="1"/>
          <p:nvPr/>
        </p:nvSpPr>
        <p:spPr>
          <a:xfrm>
            <a:off x="8488281" y="4686284"/>
            <a:ext cx="148277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Op1: 0x35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4336094-A15B-FB0F-ABEF-3F8A5E4E7F55}"/>
              </a:ext>
            </a:extLst>
          </p:cNvPr>
          <p:cNvSpPr txBox="1"/>
          <p:nvPr/>
        </p:nvSpPr>
        <p:spPr>
          <a:xfrm>
            <a:off x="8488281" y="5253577"/>
            <a:ext cx="148277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Op2: 0x19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A5772A4-4DEB-717E-98D6-727309C7CD02}"/>
              </a:ext>
            </a:extLst>
          </p:cNvPr>
          <p:cNvSpPr txBox="1"/>
          <p:nvPr/>
        </p:nvSpPr>
        <p:spPr>
          <a:xfrm>
            <a:off x="8488281" y="5782486"/>
            <a:ext cx="169758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Result: 0x4E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EAD71A9-2395-D057-C38C-9BEDAD029D16}"/>
              </a:ext>
            </a:extLst>
          </p:cNvPr>
          <p:cNvSpPr txBox="1"/>
          <p:nvPr/>
        </p:nvSpPr>
        <p:spPr>
          <a:xfrm>
            <a:off x="2675874" y="5305432"/>
            <a:ext cx="1027845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C = 0</a:t>
            </a:r>
          </a:p>
          <a:p>
            <a:r>
              <a:rPr lang="en-US" sz="2800" dirty="0"/>
              <a:t>V = 0</a:t>
            </a:r>
          </a:p>
        </p:txBody>
      </p:sp>
      <p:sp>
        <p:nvSpPr>
          <p:cNvPr id="17" name="Content Placeholder 3">
            <a:extLst>
              <a:ext uri="{FF2B5EF4-FFF2-40B4-BE49-F238E27FC236}">
                <a16:creationId xmlns:a16="http://schemas.microsoft.com/office/drawing/2014/main" id="{658B7139-5799-44B4-1A44-150FA6D124BE}"/>
              </a:ext>
            </a:extLst>
          </p:cNvPr>
          <p:cNvSpPr txBox="1">
            <a:spLocks/>
          </p:cNvSpPr>
          <p:nvPr/>
        </p:nvSpPr>
        <p:spPr>
          <a:xfrm>
            <a:off x="609600" y="1219200"/>
            <a:ext cx="10972800" cy="3048000"/>
          </a:xfrm>
          <a:prstGeom prst="rect">
            <a:avLst/>
          </a:prstGeom>
        </p:spPr>
        <p:txBody>
          <a:bodyPr vert="horz">
            <a:normAutofit fontScale="92500" lnSpcReduction="10000"/>
          </a:bodyPr>
          <a:lstStyle>
            <a:lvl1pPr marL="274320" indent="-274320" algn="l" rtl="0" eaLnBrk="1" latinLnBrk="0" hangingPunct="1">
              <a:spcBef>
                <a:spcPts val="600"/>
              </a:spcBef>
              <a:buClr>
                <a:schemeClr val="accent1"/>
              </a:buClr>
              <a:buSzPct val="76000"/>
              <a:buFont typeface="Wingdings 3"/>
              <a:buChar char=""/>
              <a:defRPr kumimoji="0" sz="2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8640" indent="-274320" algn="l" rtl="0" eaLnBrk="1" latinLnBrk="0" hangingPunct="1">
              <a:spcBef>
                <a:spcPts val="500"/>
              </a:spcBef>
              <a:buClr>
                <a:schemeClr val="accent2"/>
              </a:buClr>
              <a:buSzPct val="76000"/>
              <a:buFont typeface="Wingdings 3"/>
              <a:buChar char=""/>
              <a:defRPr kumimoji="0" sz="23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822960" indent="-228600" algn="l" rtl="0" eaLnBrk="1" latinLnBrk="0" hangingPunct="1">
              <a:spcBef>
                <a:spcPts val="500"/>
              </a:spcBef>
              <a:buClr>
                <a:schemeClr val="bg1">
                  <a:shade val="50000"/>
                </a:schemeClr>
              </a:buClr>
              <a:buSzPct val="76000"/>
              <a:buFont typeface="Wingdings 3"/>
              <a:buChar char=""/>
              <a:defRPr kumimoji="0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7280" indent="-228600" algn="l" rtl="0" eaLnBrk="1" latinLnBrk="0" hangingPunct="1">
              <a:spcBef>
                <a:spcPts val="400"/>
              </a:spcBef>
              <a:buClr>
                <a:schemeClr val="accent2">
                  <a:shade val="75000"/>
                </a:schemeClr>
              </a:buClr>
              <a:buSzPct val="70000"/>
              <a:buFont typeface="Wingdings"/>
              <a:buChar char=""/>
              <a:defRPr kumimoji="0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indent="-228600" algn="l" rtl="0" eaLnBrk="1" latinLnBrk="0" hangingPunct="1">
              <a:spcBef>
                <a:spcPts val="300"/>
              </a:spcBef>
              <a:buClr>
                <a:schemeClr val="accent2"/>
              </a:buClr>
              <a:buSzPct val="70000"/>
              <a:buFont typeface="Wingdings"/>
              <a:buChar char=""/>
              <a:defRPr kumimoji="0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645920" indent="-182880" algn="l" rtl="0" eaLnBrk="1" latinLnBrk="0" hangingPunct="1">
              <a:spcBef>
                <a:spcPts val="300"/>
              </a:spcBef>
              <a:buClr>
                <a:srgbClr val="9FB8CD">
                  <a:shade val="75000"/>
                </a:srgbClr>
              </a:buClr>
              <a:buSzPct val="75000"/>
              <a:buFont typeface="Wingdings 3"/>
              <a:buChar char=""/>
              <a:defRPr kumimoji="0"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800" indent="-182880" algn="l" rtl="0" eaLnBrk="1" latinLnBrk="0" hangingPunct="1">
              <a:spcBef>
                <a:spcPts val="300"/>
              </a:spcBef>
              <a:buClr>
                <a:srgbClr val="727CA3">
                  <a:shade val="75000"/>
                </a:srgbClr>
              </a:buClr>
              <a:buSzPct val="75000"/>
              <a:buFont typeface="Wingdings 3"/>
              <a:buChar char=""/>
              <a:defRPr kumimoji="0" lang="en-US" sz="14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011680" indent="-182880" algn="l" rtl="0" eaLnBrk="1" latinLnBrk="0" hangingPunct="1">
              <a:spcBef>
                <a:spcPts val="300"/>
              </a:spcBef>
              <a:buClr>
                <a:prstClr val="white">
                  <a:shade val="50000"/>
                </a:prstClr>
              </a:buClr>
              <a:buSzPct val="75000"/>
              <a:buFont typeface="Wingdings 3"/>
              <a:buChar char=""/>
              <a:defRPr kumimoji="0" lang="en-US" sz="14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194560" indent="-182880" algn="l" rtl="0" eaLnBrk="1" latinLnBrk="0" hangingPunct="1">
              <a:spcBef>
                <a:spcPts val="300"/>
              </a:spcBef>
              <a:buClr>
                <a:srgbClr val="9FB8CD"/>
              </a:buClr>
              <a:buSzPct val="75000"/>
              <a:buFont typeface="Wingdings 3"/>
              <a:buChar char=""/>
              <a:defRPr kumimoji="0" lang="en-US" sz="12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For an 8-bit system, calculate 0x35 + 0x19, setting C and V flags</a:t>
            </a:r>
          </a:p>
          <a:p>
            <a:r>
              <a:rPr lang="en-US" dirty="0"/>
              <a:t>ANS: </a:t>
            </a:r>
          </a:p>
          <a:p>
            <a:pPr lvl="1"/>
            <a:r>
              <a:rPr lang="en-US" dirty="0"/>
              <a:t>Convert to binary and perform addition as in table</a:t>
            </a:r>
          </a:p>
          <a:p>
            <a:pPr lvl="1"/>
            <a:r>
              <a:rPr lang="en-US" dirty="0"/>
              <a:t>C = 0 since there is no carry-out from MSB b7</a:t>
            </a:r>
          </a:p>
          <a:p>
            <a:pPr lvl="1"/>
            <a:r>
              <a:rPr lang="en-US" dirty="0"/>
              <a:t>V = 0 since Op1, Op2 and result are all positive (sign bit = 0)</a:t>
            </a:r>
          </a:p>
          <a:p>
            <a:pPr lvl="1"/>
            <a:r>
              <a:rPr lang="en-US" dirty="0"/>
              <a:t>In decimal (not needed for exam): </a:t>
            </a:r>
          </a:p>
          <a:p>
            <a:pPr lvl="2"/>
            <a:r>
              <a:rPr lang="en-US" altLang="zh-CN" dirty="0"/>
              <a:t>U</a:t>
            </a:r>
            <a:r>
              <a:rPr lang="en-US" dirty="0"/>
              <a:t>nsigned addition: 53 + 25 = 78 (result correct)</a:t>
            </a:r>
          </a:p>
          <a:p>
            <a:pPr lvl="2"/>
            <a:r>
              <a:rPr lang="en-US" altLang="zh-CN" dirty="0"/>
              <a:t>S</a:t>
            </a:r>
            <a:r>
              <a:rPr lang="en-US" dirty="0"/>
              <a:t>igned addition: 53 + 25 = 78 (result correct)</a:t>
            </a:r>
          </a:p>
        </p:txBody>
      </p:sp>
    </p:spTree>
    <p:extLst>
      <p:ext uri="{BB962C8B-B14F-4D97-AF65-F5344CB8AC3E}">
        <p14:creationId xmlns:p14="http://schemas.microsoft.com/office/powerpoint/2010/main" val="318776835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695BE7-2F29-3AAD-1CE5-8A23F90CB1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140FF3-E7FC-6FCC-AB1D-844A8FB1FA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14201DC6-583F-01C4-A4B4-4CA09C7263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73</a:t>
            </a:fld>
            <a:endParaRPr kumimoji="0" lang="en-US" dirty="0"/>
          </a:p>
        </p:txBody>
      </p:sp>
      <p:graphicFrame>
        <p:nvGraphicFramePr>
          <p:cNvPr id="7" name="Content Placeholder 6">
            <a:extLst>
              <a:ext uri="{FF2B5EF4-FFF2-40B4-BE49-F238E27FC236}">
                <a16:creationId xmlns:a16="http://schemas.microsoft.com/office/drawing/2014/main" id="{1C989774-40F6-4ECA-BFC8-71C9B5169472}"/>
              </a:ext>
            </a:extLst>
          </p:cNvPr>
          <p:cNvGraphicFramePr>
            <a:graphicFrameLocks noGrp="1"/>
          </p:cNvGraphicFramePr>
          <p:nvPr>
            <p:ph sz="quarter" idx="1"/>
            <p:extLst>
              <p:ext uri="{D42A27DB-BD31-4B8C-83A1-F6EECF244321}">
                <p14:modId xmlns:p14="http://schemas.microsoft.com/office/powerpoint/2010/main" val="1049861725"/>
              </p:ext>
            </p:extLst>
          </p:nvPr>
        </p:nvGraphicFramePr>
        <p:xfrm>
          <a:off x="4038600" y="4181132"/>
          <a:ext cx="4343400" cy="20726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542925">
                  <a:extLst>
                    <a:ext uri="{9D8B030D-6E8A-4147-A177-3AD203B41FA5}">
                      <a16:colId xmlns:a16="http://schemas.microsoft.com/office/drawing/2014/main" val="2710876334"/>
                    </a:ext>
                  </a:extLst>
                </a:gridCol>
                <a:gridCol w="542925">
                  <a:extLst>
                    <a:ext uri="{9D8B030D-6E8A-4147-A177-3AD203B41FA5}">
                      <a16:colId xmlns:a16="http://schemas.microsoft.com/office/drawing/2014/main" val="628439230"/>
                    </a:ext>
                  </a:extLst>
                </a:gridCol>
                <a:gridCol w="542925">
                  <a:extLst>
                    <a:ext uri="{9D8B030D-6E8A-4147-A177-3AD203B41FA5}">
                      <a16:colId xmlns:a16="http://schemas.microsoft.com/office/drawing/2014/main" val="2140181121"/>
                    </a:ext>
                  </a:extLst>
                </a:gridCol>
                <a:gridCol w="542925">
                  <a:extLst>
                    <a:ext uri="{9D8B030D-6E8A-4147-A177-3AD203B41FA5}">
                      <a16:colId xmlns:a16="http://schemas.microsoft.com/office/drawing/2014/main" val="1943046650"/>
                    </a:ext>
                  </a:extLst>
                </a:gridCol>
                <a:gridCol w="542925">
                  <a:extLst>
                    <a:ext uri="{9D8B030D-6E8A-4147-A177-3AD203B41FA5}">
                      <a16:colId xmlns:a16="http://schemas.microsoft.com/office/drawing/2014/main" val="3878723294"/>
                    </a:ext>
                  </a:extLst>
                </a:gridCol>
                <a:gridCol w="542925">
                  <a:extLst>
                    <a:ext uri="{9D8B030D-6E8A-4147-A177-3AD203B41FA5}">
                      <a16:colId xmlns:a16="http://schemas.microsoft.com/office/drawing/2014/main" val="3575582303"/>
                    </a:ext>
                  </a:extLst>
                </a:gridCol>
                <a:gridCol w="542925">
                  <a:extLst>
                    <a:ext uri="{9D8B030D-6E8A-4147-A177-3AD203B41FA5}">
                      <a16:colId xmlns:a16="http://schemas.microsoft.com/office/drawing/2014/main" val="787670029"/>
                    </a:ext>
                  </a:extLst>
                </a:gridCol>
                <a:gridCol w="542925">
                  <a:extLst>
                    <a:ext uri="{9D8B030D-6E8A-4147-A177-3AD203B41FA5}">
                      <a16:colId xmlns:a16="http://schemas.microsoft.com/office/drawing/2014/main" val="257472091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2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9017962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1432469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974315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14873157"/>
                  </a:ext>
                </a:extLst>
              </a:tr>
            </a:tbl>
          </a:graphicData>
        </a:graphic>
      </p:graphicFrame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68243C00-5973-CA3C-939D-399A1EFD1074}"/>
              </a:ext>
            </a:extLst>
          </p:cNvPr>
          <p:cNvCxnSpPr/>
          <p:nvPr/>
        </p:nvCxnSpPr>
        <p:spPr>
          <a:xfrm>
            <a:off x="3810000" y="5727710"/>
            <a:ext cx="4800600" cy="0"/>
          </a:xfrm>
          <a:prstGeom prst="line">
            <a:avLst/>
          </a:prstGeom>
          <a:ln w="28575"/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13499A60-3BAA-6F74-7DBF-90F6C6E7A9F0}"/>
              </a:ext>
            </a:extLst>
          </p:cNvPr>
          <p:cNvSpPr txBox="1"/>
          <p:nvPr/>
        </p:nvSpPr>
        <p:spPr>
          <a:xfrm>
            <a:off x="8488281" y="4181132"/>
            <a:ext cx="91858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Carry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4515A6C-3F1D-4041-FE9A-115817E08B10}"/>
              </a:ext>
            </a:extLst>
          </p:cNvPr>
          <p:cNvSpPr txBox="1"/>
          <p:nvPr/>
        </p:nvSpPr>
        <p:spPr>
          <a:xfrm>
            <a:off x="8488281" y="4686284"/>
            <a:ext cx="148277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Op1: 0x35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FF76F53-5DA3-D6CF-8F8F-9324B627C10B}"/>
              </a:ext>
            </a:extLst>
          </p:cNvPr>
          <p:cNvSpPr txBox="1"/>
          <p:nvPr/>
        </p:nvSpPr>
        <p:spPr>
          <a:xfrm>
            <a:off x="8488281" y="5253577"/>
            <a:ext cx="150201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Op2: 0x5B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E0D15DC-646A-21C1-D6F0-DE4BAC6CF37C}"/>
              </a:ext>
            </a:extLst>
          </p:cNvPr>
          <p:cNvSpPr txBox="1"/>
          <p:nvPr/>
        </p:nvSpPr>
        <p:spPr>
          <a:xfrm>
            <a:off x="8488281" y="5782486"/>
            <a:ext cx="169758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Result: 0x90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A108FE9-588E-77EE-BD79-E4558D660349}"/>
              </a:ext>
            </a:extLst>
          </p:cNvPr>
          <p:cNvSpPr txBox="1"/>
          <p:nvPr/>
        </p:nvSpPr>
        <p:spPr>
          <a:xfrm>
            <a:off x="2675874" y="5305432"/>
            <a:ext cx="1027845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C = 0</a:t>
            </a:r>
          </a:p>
          <a:p>
            <a:r>
              <a:rPr lang="en-US" sz="2800" dirty="0"/>
              <a:t>V = 1</a:t>
            </a:r>
          </a:p>
        </p:txBody>
      </p:sp>
      <p:sp>
        <p:nvSpPr>
          <p:cNvPr id="17" name="Content Placeholder 3">
            <a:extLst>
              <a:ext uri="{FF2B5EF4-FFF2-40B4-BE49-F238E27FC236}">
                <a16:creationId xmlns:a16="http://schemas.microsoft.com/office/drawing/2014/main" id="{F1EE9D29-0EC8-C282-D9A8-61D934AF61E2}"/>
              </a:ext>
            </a:extLst>
          </p:cNvPr>
          <p:cNvSpPr txBox="1">
            <a:spLocks/>
          </p:cNvSpPr>
          <p:nvPr/>
        </p:nvSpPr>
        <p:spPr>
          <a:xfrm>
            <a:off x="609600" y="1219200"/>
            <a:ext cx="10972800" cy="3048000"/>
          </a:xfrm>
          <a:prstGeom prst="rect">
            <a:avLst/>
          </a:prstGeom>
        </p:spPr>
        <p:txBody>
          <a:bodyPr vert="horz">
            <a:normAutofit fontScale="92500" lnSpcReduction="10000"/>
          </a:bodyPr>
          <a:lstStyle>
            <a:lvl1pPr marL="274320" indent="-274320" algn="l" rtl="0" eaLnBrk="1" latinLnBrk="0" hangingPunct="1">
              <a:spcBef>
                <a:spcPts val="600"/>
              </a:spcBef>
              <a:buClr>
                <a:schemeClr val="accent1"/>
              </a:buClr>
              <a:buSzPct val="76000"/>
              <a:buFont typeface="Wingdings 3"/>
              <a:buChar char=""/>
              <a:defRPr kumimoji="0" sz="2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8640" indent="-274320" algn="l" rtl="0" eaLnBrk="1" latinLnBrk="0" hangingPunct="1">
              <a:spcBef>
                <a:spcPts val="500"/>
              </a:spcBef>
              <a:buClr>
                <a:schemeClr val="accent2"/>
              </a:buClr>
              <a:buSzPct val="76000"/>
              <a:buFont typeface="Wingdings 3"/>
              <a:buChar char=""/>
              <a:defRPr kumimoji="0" sz="23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822960" indent="-228600" algn="l" rtl="0" eaLnBrk="1" latinLnBrk="0" hangingPunct="1">
              <a:spcBef>
                <a:spcPts val="500"/>
              </a:spcBef>
              <a:buClr>
                <a:schemeClr val="bg1">
                  <a:shade val="50000"/>
                </a:schemeClr>
              </a:buClr>
              <a:buSzPct val="76000"/>
              <a:buFont typeface="Wingdings 3"/>
              <a:buChar char=""/>
              <a:defRPr kumimoji="0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7280" indent="-228600" algn="l" rtl="0" eaLnBrk="1" latinLnBrk="0" hangingPunct="1">
              <a:spcBef>
                <a:spcPts val="400"/>
              </a:spcBef>
              <a:buClr>
                <a:schemeClr val="accent2">
                  <a:shade val="75000"/>
                </a:schemeClr>
              </a:buClr>
              <a:buSzPct val="70000"/>
              <a:buFont typeface="Wingdings"/>
              <a:buChar char=""/>
              <a:defRPr kumimoji="0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indent="-228600" algn="l" rtl="0" eaLnBrk="1" latinLnBrk="0" hangingPunct="1">
              <a:spcBef>
                <a:spcPts val="300"/>
              </a:spcBef>
              <a:buClr>
                <a:schemeClr val="accent2"/>
              </a:buClr>
              <a:buSzPct val="70000"/>
              <a:buFont typeface="Wingdings"/>
              <a:buChar char=""/>
              <a:defRPr kumimoji="0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645920" indent="-182880" algn="l" rtl="0" eaLnBrk="1" latinLnBrk="0" hangingPunct="1">
              <a:spcBef>
                <a:spcPts val="300"/>
              </a:spcBef>
              <a:buClr>
                <a:srgbClr val="9FB8CD">
                  <a:shade val="75000"/>
                </a:srgbClr>
              </a:buClr>
              <a:buSzPct val="75000"/>
              <a:buFont typeface="Wingdings 3"/>
              <a:buChar char=""/>
              <a:defRPr kumimoji="0"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800" indent="-182880" algn="l" rtl="0" eaLnBrk="1" latinLnBrk="0" hangingPunct="1">
              <a:spcBef>
                <a:spcPts val="300"/>
              </a:spcBef>
              <a:buClr>
                <a:srgbClr val="727CA3">
                  <a:shade val="75000"/>
                </a:srgbClr>
              </a:buClr>
              <a:buSzPct val="75000"/>
              <a:buFont typeface="Wingdings 3"/>
              <a:buChar char=""/>
              <a:defRPr kumimoji="0" lang="en-US" sz="14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011680" indent="-182880" algn="l" rtl="0" eaLnBrk="1" latinLnBrk="0" hangingPunct="1">
              <a:spcBef>
                <a:spcPts val="300"/>
              </a:spcBef>
              <a:buClr>
                <a:prstClr val="white">
                  <a:shade val="50000"/>
                </a:prstClr>
              </a:buClr>
              <a:buSzPct val="75000"/>
              <a:buFont typeface="Wingdings 3"/>
              <a:buChar char=""/>
              <a:defRPr kumimoji="0" lang="en-US" sz="14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194560" indent="-182880" algn="l" rtl="0" eaLnBrk="1" latinLnBrk="0" hangingPunct="1">
              <a:spcBef>
                <a:spcPts val="300"/>
              </a:spcBef>
              <a:buClr>
                <a:srgbClr val="9FB8CD"/>
              </a:buClr>
              <a:buSzPct val="75000"/>
              <a:buFont typeface="Wingdings 3"/>
              <a:buChar char=""/>
              <a:defRPr kumimoji="0" lang="en-US" sz="12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For an 8-bit system, calculate 0x35 + 0x5B, setting C and V flags</a:t>
            </a:r>
          </a:p>
          <a:p>
            <a:r>
              <a:rPr lang="en-US" dirty="0"/>
              <a:t>ANS: </a:t>
            </a:r>
          </a:p>
          <a:p>
            <a:pPr lvl="1"/>
            <a:r>
              <a:rPr lang="en-US" dirty="0"/>
              <a:t>Convert to binary and perform addition as in table</a:t>
            </a:r>
          </a:p>
          <a:p>
            <a:pPr lvl="1"/>
            <a:r>
              <a:rPr lang="en-US" dirty="0"/>
              <a:t>C = 0 since there is no carry-out from MSB b7</a:t>
            </a:r>
          </a:p>
          <a:p>
            <a:pPr lvl="1"/>
            <a:r>
              <a:rPr lang="en-US" dirty="0"/>
              <a:t>V = 1 since Op1, Op2 are positive, result is negative</a:t>
            </a:r>
          </a:p>
          <a:p>
            <a:pPr lvl="1"/>
            <a:r>
              <a:rPr lang="en-US" dirty="0"/>
              <a:t>In decimal: </a:t>
            </a:r>
          </a:p>
          <a:p>
            <a:pPr lvl="2"/>
            <a:r>
              <a:rPr lang="en-US" dirty="0"/>
              <a:t>Unsigned addition: 53 + 91 = 144 (result correct)</a:t>
            </a:r>
          </a:p>
          <a:p>
            <a:pPr lvl="2"/>
            <a:r>
              <a:rPr lang="en-US" dirty="0"/>
              <a:t>Signed addition: true sum = 53 + 91 = 144 → result = -112 (result incorrect, V=1)</a:t>
            </a:r>
          </a:p>
        </p:txBody>
      </p:sp>
    </p:spTree>
    <p:extLst>
      <p:ext uri="{BB962C8B-B14F-4D97-AF65-F5344CB8AC3E}">
        <p14:creationId xmlns:p14="http://schemas.microsoft.com/office/powerpoint/2010/main" val="2712133478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F04238-CFA2-3049-EFA2-799EE82D9A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96620C-2F6B-B3CD-51C7-23724BF62C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23E2522-D54F-47C4-42D9-E261C8465D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74</a:t>
            </a:fld>
            <a:endParaRPr kumimoji="0" lang="en-US" dirty="0"/>
          </a:p>
        </p:txBody>
      </p:sp>
      <p:graphicFrame>
        <p:nvGraphicFramePr>
          <p:cNvPr id="7" name="Content Placeholder 6">
            <a:extLst>
              <a:ext uri="{FF2B5EF4-FFF2-40B4-BE49-F238E27FC236}">
                <a16:creationId xmlns:a16="http://schemas.microsoft.com/office/drawing/2014/main" id="{E7B1EB4D-9D56-E473-23EC-2DCBC92C1FA8}"/>
              </a:ext>
            </a:extLst>
          </p:cNvPr>
          <p:cNvGraphicFramePr>
            <a:graphicFrameLocks noGrp="1"/>
          </p:cNvGraphicFramePr>
          <p:nvPr>
            <p:ph sz="quarter" idx="1"/>
            <p:extLst>
              <p:ext uri="{D42A27DB-BD31-4B8C-83A1-F6EECF244321}">
                <p14:modId xmlns:p14="http://schemas.microsoft.com/office/powerpoint/2010/main" val="3441034724"/>
              </p:ext>
            </p:extLst>
          </p:nvPr>
        </p:nvGraphicFramePr>
        <p:xfrm>
          <a:off x="4038600" y="4181132"/>
          <a:ext cx="4343400" cy="20726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542925">
                  <a:extLst>
                    <a:ext uri="{9D8B030D-6E8A-4147-A177-3AD203B41FA5}">
                      <a16:colId xmlns:a16="http://schemas.microsoft.com/office/drawing/2014/main" val="2710876334"/>
                    </a:ext>
                  </a:extLst>
                </a:gridCol>
                <a:gridCol w="542925">
                  <a:extLst>
                    <a:ext uri="{9D8B030D-6E8A-4147-A177-3AD203B41FA5}">
                      <a16:colId xmlns:a16="http://schemas.microsoft.com/office/drawing/2014/main" val="628439230"/>
                    </a:ext>
                  </a:extLst>
                </a:gridCol>
                <a:gridCol w="542925">
                  <a:extLst>
                    <a:ext uri="{9D8B030D-6E8A-4147-A177-3AD203B41FA5}">
                      <a16:colId xmlns:a16="http://schemas.microsoft.com/office/drawing/2014/main" val="2140181121"/>
                    </a:ext>
                  </a:extLst>
                </a:gridCol>
                <a:gridCol w="542925">
                  <a:extLst>
                    <a:ext uri="{9D8B030D-6E8A-4147-A177-3AD203B41FA5}">
                      <a16:colId xmlns:a16="http://schemas.microsoft.com/office/drawing/2014/main" val="1943046650"/>
                    </a:ext>
                  </a:extLst>
                </a:gridCol>
                <a:gridCol w="542925">
                  <a:extLst>
                    <a:ext uri="{9D8B030D-6E8A-4147-A177-3AD203B41FA5}">
                      <a16:colId xmlns:a16="http://schemas.microsoft.com/office/drawing/2014/main" val="3878723294"/>
                    </a:ext>
                  </a:extLst>
                </a:gridCol>
                <a:gridCol w="542925">
                  <a:extLst>
                    <a:ext uri="{9D8B030D-6E8A-4147-A177-3AD203B41FA5}">
                      <a16:colId xmlns:a16="http://schemas.microsoft.com/office/drawing/2014/main" val="3575582303"/>
                    </a:ext>
                  </a:extLst>
                </a:gridCol>
                <a:gridCol w="542925">
                  <a:extLst>
                    <a:ext uri="{9D8B030D-6E8A-4147-A177-3AD203B41FA5}">
                      <a16:colId xmlns:a16="http://schemas.microsoft.com/office/drawing/2014/main" val="787670029"/>
                    </a:ext>
                  </a:extLst>
                </a:gridCol>
                <a:gridCol w="542925">
                  <a:extLst>
                    <a:ext uri="{9D8B030D-6E8A-4147-A177-3AD203B41FA5}">
                      <a16:colId xmlns:a16="http://schemas.microsoft.com/office/drawing/2014/main" val="257472091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2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9017962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1432469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974315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14873157"/>
                  </a:ext>
                </a:extLst>
              </a:tr>
            </a:tbl>
          </a:graphicData>
        </a:graphic>
      </p:graphicFrame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1B45A748-4070-B8EA-25EF-C5EEA1713B45}"/>
              </a:ext>
            </a:extLst>
          </p:cNvPr>
          <p:cNvCxnSpPr/>
          <p:nvPr/>
        </p:nvCxnSpPr>
        <p:spPr>
          <a:xfrm>
            <a:off x="3810000" y="5727710"/>
            <a:ext cx="4800600" cy="0"/>
          </a:xfrm>
          <a:prstGeom prst="line">
            <a:avLst/>
          </a:prstGeom>
          <a:ln w="28575"/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468E3504-B355-A832-E560-F47DD9D63921}"/>
              </a:ext>
            </a:extLst>
          </p:cNvPr>
          <p:cNvSpPr txBox="1"/>
          <p:nvPr/>
        </p:nvSpPr>
        <p:spPr>
          <a:xfrm>
            <a:off x="8488281" y="4181132"/>
            <a:ext cx="91858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Carry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8FEA5DF-2B5A-DBA6-9BCD-B80D4421D825}"/>
              </a:ext>
            </a:extLst>
          </p:cNvPr>
          <p:cNvSpPr txBox="1"/>
          <p:nvPr/>
        </p:nvSpPr>
        <p:spPr>
          <a:xfrm>
            <a:off x="8488281" y="4686284"/>
            <a:ext cx="148277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Op1: 0x35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3A27D9B-9EBF-08B8-4E8F-09D45776E8CB}"/>
              </a:ext>
            </a:extLst>
          </p:cNvPr>
          <p:cNvSpPr txBox="1"/>
          <p:nvPr/>
        </p:nvSpPr>
        <p:spPr>
          <a:xfrm>
            <a:off x="8488281" y="5253577"/>
            <a:ext cx="155972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Op2: 0xD3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7DCB79A-ACA6-590E-3592-3F2243A23EFD}"/>
              </a:ext>
            </a:extLst>
          </p:cNvPr>
          <p:cNvSpPr txBox="1"/>
          <p:nvPr/>
        </p:nvSpPr>
        <p:spPr>
          <a:xfrm>
            <a:off x="8488281" y="5782486"/>
            <a:ext cx="360996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Result: 0x08 </a:t>
            </a:r>
            <a:r>
              <a:rPr lang="en-US" sz="2000" dirty="0"/>
              <a:t>(drop 1 in 0x108)</a:t>
            </a:r>
            <a:endParaRPr lang="en-US" sz="2400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CF8F5E2-238C-2AD4-FEDA-207B99D98563}"/>
              </a:ext>
            </a:extLst>
          </p:cNvPr>
          <p:cNvSpPr txBox="1"/>
          <p:nvPr/>
        </p:nvSpPr>
        <p:spPr>
          <a:xfrm>
            <a:off x="2675874" y="5305432"/>
            <a:ext cx="1027845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C = 1</a:t>
            </a:r>
          </a:p>
          <a:p>
            <a:r>
              <a:rPr lang="en-US" sz="2800" dirty="0"/>
              <a:t>V = 0</a:t>
            </a:r>
          </a:p>
        </p:txBody>
      </p:sp>
      <p:sp>
        <p:nvSpPr>
          <p:cNvPr id="17" name="Content Placeholder 3">
            <a:extLst>
              <a:ext uri="{FF2B5EF4-FFF2-40B4-BE49-F238E27FC236}">
                <a16:creationId xmlns:a16="http://schemas.microsoft.com/office/drawing/2014/main" id="{624BD3A1-CEAD-729E-A0ED-B1CE1475FB6C}"/>
              </a:ext>
            </a:extLst>
          </p:cNvPr>
          <p:cNvSpPr txBox="1">
            <a:spLocks/>
          </p:cNvSpPr>
          <p:nvPr/>
        </p:nvSpPr>
        <p:spPr>
          <a:xfrm>
            <a:off x="609600" y="1142758"/>
            <a:ext cx="10972800" cy="3200400"/>
          </a:xfrm>
          <a:prstGeom prst="rect">
            <a:avLst/>
          </a:prstGeom>
        </p:spPr>
        <p:txBody>
          <a:bodyPr vert="horz">
            <a:normAutofit fontScale="77500" lnSpcReduction="20000"/>
          </a:bodyPr>
          <a:lstStyle>
            <a:lvl1pPr marL="274320" indent="-274320" algn="l" rtl="0" eaLnBrk="1" latinLnBrk="0" hangingPunct="1">
              <a:spcBef>
                <a:spcPts val="600"/>
              </a:spcBef>
              <a:buClr>
                <a:schemeClr val="accent1"/>
              </a:buClr>
              <a:buSzPct val="76000"/>
              <a:buFont typeface="Wingdings 3"/>
              <a:buChar char=""/>
              <a:defRPr kumimoji="0" sz="2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8640" indent="-274320" algn="l" rtl="0" eaLnBrk="1" latinLnBrk="0" hangingPunct="1">
              <a:spcBef>
                <a:spcPts val="500"/>
              </a:spcBef>
              <a:buClr>
                <a:schemeClr val="accent2"/>
              </a:buClr>
              <a:buSzPct val="76000"/>
              <a:buFont typeface="Wingdings 3"/>
              <a:buChar char=""/>
              <a:defRPr kumimoji="0" sz="23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822960" indent="-228600" algn="l" rtl="0" eaLnBrk="1" latinLnBrk="0" hangingPunct="1">
              <a:spcBef>
                <a:spcPts val="500"/>
              </a:spcBef>
              <a:buClr>
                <a:schemeClr val="bg1">
                  <a:shade val="50000"/>
                </a:schemeClr>
              </a:buClr>
              <a:buSzPct val="76000"/>
              <a:buFont typeface="Wingdings 3"/>
              <a:buChar char=""/>
              <a:defRPr kumimoji="0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7280" indent="-228600" algn="l" rtl="0" eaLnBrk="1" latinLnBrk="0" hangingPunct="1">
              <a:spcBef>
                <a:spcPts val="400"/>
              </a:spcBef>
              <a:buClr>
                <a:schemeClr val="accent2">
                  <a:shade val="75000"/>
                </a:schemeClr>
              </a:buClr>
              <a:buSzPct val="70000"/>
              <a:buFont typeface="Wingdings"/>
              <a:buChar char=""/>
              <a:defRPr kumimoji="0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indent="-228600" algn="l" rtl="0" eaLnBrk="1" latinLnBrk="0" hangingPunct="1">
              <a:spcBef>
                <a:spcPts val="300"/>
              </a:spcBef>
              <a:buClr>
                <a:schemeClr val="accent2"/>
              </a:buClr>
              <a:buSzPct val="70000"/>
              <a:buFont typeface="Wingdings"/>
              <a:buChar char=""/>
              <a:defRPr kumimoji="0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645920" indent="-182880" algn="l" rtl="0" eaLnBrk="1" latinLnBrk="0" hangingPunct="1">
              <a:spcBef>
                <a:spcPts val="300"/>
              </a:spcBef>
              <a:buClr>
                <a:srgbClr val="9FB8CD">
                  <a:shade val="75000"/>
                </a:srgbClr>
              </a:buClr>
              <a:buSzPct val="75000"/>
              <a:buFont typeface="Wingdings 3"/>
              <a:buChar char=""/>
              <a:defRPr kumimoji="0"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800" indent="-182880" algn="l" rtl="0" eaLnBrk="1" latinLnBrk="0" hangingPunct="1">
              <a:spcBef>
                <a:spcPts val="300"/>
              </a:spcBef>
              <a:buClr>
                <a:srgbClr val="727CA3">
                  <a:shade val="75000"/>
                </a:srgbClr>
              </a:buClr>
              <a:buSzPct val="75000"/>
              <a:buFont typeface="Wingdings 3"/>
              <a:buChar char=""/>
              <a:defRPr kumimoji="0" lang="en-US" sz="14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011680" indent="-182880" algn="l" rtl="0" eaLnBrk="1" latinLnBrk="0" hangingPunct="1">
              <a:spcBef>
                <a:spcPts val="300"/>
              </a:spcBef>
              <a:buClr>
                <a:prstClr val="white">
                  <a:shade val="50000"/>
                </a:prstClr>
              </a:buClr>
              <a:buSzPct val="75000"/>
              <a:buFont typeface="Wingdings 3"/>
              <a:buChar char=""/>
              <a:defRPr kumimoji="0" lang="en-US" sz="14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194560" indent="-182880" algn="l" rtl="0" eaLnBrk="1" latinLnBrk="0" hangingPunct="1">
              <a:spcBef>
                <a:spcPts val="300"/>
              </a:spcBef>
              <a:buClr>
                <a:srgbClr val="9FB8CD"/>
              </a:buClr>
              <a:buSzPct val="75000"/>
              <a:buFont typeface="Wingdings 3"/>
              <a:buChar char=""/>
              <a:defRPr kumimoji="0" lang="en-US" sz="12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For an 8-bit system, calculate 0x35 - 0x2D, setting C and V flags</a:t>
            </a:r>
          </a:p>
          <a:p>
            <a:r>
              <a:rPr lang="en-US" dirty="0"/>
              <a:t>ANS: </a:t>
            </a:r>
          </a:p>
          <a:p>
            <a:pPr lvl="1"/>
            <a:r>
              <a:rPr lang="en-US" dirty="0"/>
              <a:t>Convert to binary and perform addition as in table (another way is to perform subtraction in binary, but we do not cover it here)</a:t>
            </a:r>
          </a:p>
          <a:p>
            <a:pPr lvl="2"/>
            <a:r>
              <a:rPr lang="en-US" dirty="0"/>
              <a:t>0x2D = 00101101, its negation TC(00101101) = 11010011 = 0xD3 </a:t>
            </a:r>
          </a:p>
          <a:p>
            <a:pPr lvl="1"/>
            <a:r>
              <a:rPr lang="en-US" dirty="0"/>
              <a:t>C = 1 since there is carry-out from MSB b7</a:t>
            </a:r>
          </a:p>
          <a:p>
            <a:pPr lvl="1"/>
            <a:r>
              <a:rPr lang="en-US" dirty="0"/>
              <a:t>V = 0 since Op1 is positive, Op2 is negative, result is negative</a:t>
            </a:r>
          </a:p>
          <a:p>
            <a:pPr lvl="2"/>
            <a:r>
              <a:rPr lang="en-US" dirty="0">
                <a:solidFill>
                  <a:prstClr val="black"/>
                </a:solidFill>
                <a:cs typeface="Times New Roman" pitchFamily="18" charset="0"/>
              </a:rPr>
              <a:t>Overflow cannot occur when adding 2 operands with different signs</a:t>
            </a:r>
            <a:endParaRPr lang="en-US" dirty="0"/>
          </a:p>
          <a:p>
            <a:pPr lvl="1"/>
            <a:r>
              <a:rPr lang="en-US" dirty="0"/>
              <a:t>In decimal: </a:t>
            </a:r>
          </a:p>
          <a:p>
            <a:pPr lvl="2"/>
            <a:r>
              <a:rPr lang="en-US" dirty="0"/>
              <a:t>Unsigned subtraction: 53 – 45 = 8 (result correct, C=1, Borrow Flag=0)</a:t>
            </a:r>
          </a:p>
          <a:p>
            <a:pPr lvl="2"/>
            <a:r>
              <a:rPr lang="en-US" dirty="0"/>
              <a:t>Signed: 53 - 45 = 8 (result correct)</a:t>
            </a:r>
          </a:p>
        </p:txBody>
      </p:sp>
    </p:spTree>
    <p:extLst>
      <p:ext uri="{BB962C8B-B14F-4D97-AF65-F5344CB8AC3E}">
        <p14:creationId xmlns:p14="http://schemas.microsoft.com/office/powerpoint/2010/main" val="482610726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0D0DEF-3C20-82B8-B6A3-C8218EB676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CB138C-61FE-07CB-D11F-DB7B174F29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D45C06F-237B-EC1B-7021-78E69689E3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75</a:t>
            </a:fld>
            <a:endParaRPr kumimoji="0" lang="en-US" dirty="0"/>
          </a:p>
        </p:txBody>
      </p:sp>
      <p:graphicFrame>
        <p:nvGraphicFramePr>
          <p:cNvPr id="7" name="Content Placeholder 6">
            <a:extLst>
              <a:ext uri="{FF2B5EF4-FFF2-40B4-BE49-F238E27FC236}">
                <a16:creationId xmlns:a16="http://schemas.microsoft.com/office/drawing/2014/main" id="{C0675F8E-EB20-E461-4C15-CD0B7BF942DE}"/>
              </a:ext>
            </a:extLst>
          </p:cNvPr>
          <p:cNvGraphicFramePr>
            <a:graphicFrameLocks noGrp="1"/>
          </p:cNvGraphicFramePr>
          <p:nvPr>
            <p:ph sz="quarter" idx="1"/>
            <p:extLst>
              <p:ext uri="{D42A27DB-BD31-4B8C-83A1-F6EECF244321}">
                <p14:modId xmlns:p14="http://schemas.microsoft.com/office/powerpoint/2010/main" val="264352182"/>
              </p:ext>
            </p:extLst>
          </p:nvPr>
        </p:nvGraphicFramePr>
        <p:xfrm>
          <a:off x="4038600" y="4181132"/>
          <a:ext cx="4343400" cy="20726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542925">
                  <a:extLst>
                    <a:ext uri="{9D8B030D-6E8A-4147-A177-3AD203B41FA5}">
                      <a16:colId xmlns:a16="http://schemas.microsoft.com/office/drawing/2014/main" val="2710876334"/>
                    </a:ext>
                  </a:extLst>
                </a:gridCol>
                <a:gridCol w="542925">
                  <a:extLst>
                    <a:ext uri="{9D8B030D-6E8A-4147-A177-3AD203B41FA5}">
                      <a16:colId xmlns:a16="http://schemas.microsoft.com/office/drawing/2014/main" val="628439230"/>
                    </a:ext>
                  </a:extLst>
                </a:gridCol>
                <a:gridCol w="542925">
                  <a:extLst>
                    <a:ext uri="{9D8B030D-6E8A-4147-A177-3AD203B41FA5}">
                      <a16:colId xmlns:a16="http://schemas.microsoft.com/office/drawing/2014/main" val="2140181121"/>
                    </a:ext>
                  </a:extLst>
                </a:gridCol>
                <a:gridCol w="542925">
                  <a:extLst>
                    <a:ext uri="{9D8B030D-6E8A-4147-A177-3AD203B41FA5}">
                      <a16:colId xmlns:a16="http://schemas.microsoft.com/office/drawing/2014/main" val="1943046650"/>
                    </a:ext>
                  </a:extLst>
                </a:gridCol>
                <a:gridCol w="542925">
                  <a:extLst>
                    <a:ext uri="{9D8B030D-6E8A-4147-A177-3AD203B41FA5}">
                      <a16:colId xmlns:a16="http://schemas.microsoft.com/office/drawing/2014/main" val="3878723294"/>
                    </a:ext>
                  </a:extLst>
                </a:gridCol>
                <a:gridCol w="542925">
                  <a:extLst>
                    <a:ext uri="{9D8B030D-6E8A-4147-A177-3AD203B41FA5}">
                      <a16:colId xmlns:a16="http://schemas.microsoft.com/office/drawing/2014/main" val="3575582303"/>
                    </a:ext>
                  </a:extLst>
                </a:gridCol>
                <a:gridCol w="542925">
                  <a:extLst>
                    <a:ext uri="{9D8B030D-6E8A-4147-A177-3AD203B41FA5}">
                      <a16:colId xmlns:a16="http://schemas.microsoft.com/office/drawing/2014/main" val="787670029"/>
                    </a:ext>
                  </a:extLst>
                </a:gridCol>
                <a:gridCol w="542925">
                  <a:extLst>
                    <a:ext uri="{9D8B030D-6E8A-4147-A177-3AD203B41FA5}">
                      <a16:colId xmlns:a16="http://schemas.microsoft.com/office/drawing/2014/main" val="257472091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9017962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1432469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974315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14873157"/>
                  </a:ext>
                </a:extLst>
              </a:tr>
            </a:tbl>
          </a:graphicData>
        </a:graphic>
      </p:graphicFrame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29432F20-A1A6-80EB-5E72-9057131D5787}"/>
              </a:ext>
            </a:extLst>
          </p:cNvPr>
          <p:cNvCxnSpPr/>
          <p:nvPr/>
        </p:nvCxnSpPr>
        <p:spPr>
          <a:xfrm>
            <a:off x="3810000" y="5727710"/>
            <a:ext cx="4800600" cy="0"/>
          </a:xfrm>
          <a:prstGeom prst="line">
            <a:avLst/>
          </a:prstGeom>
          <a:ln w="28575"/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19A5994C-72E0-AE64-806E-04300F3AECE4}"/>
              </a:ext>
            </a:extLst>
          </p:cNvPr>
          <p:cNvSpPr txBox="1"/>
          <p:nvPr/>
        </p:nvSpPr>
        <p:spPr>
          <a:xfrm>
            <a:off x="8488281" y="4181132"/>
            <a:ext cx="91858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Carry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5702EE7-77AE-83EC-DBDD-6F6BFDB540CB}"/>
              </a:ext>
            </a:extLst>
          </p:cNvPr>
          <p:cNvSpPr txBox="1"/>
          <p:nvPr/>
        </p:nvSpPr>
        <p:spPr>
          <a:xfrm>
            <a:off x="8488281" y="4686284"/>
            <a:ext cx="148277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Op1: 0x9E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7DE8F13-E87B-85C0-3E66-3A282E155966}"/>
              </a:ext>
            </a:extLst>
          </p:cNvPr>
          <p:cNvSpPr txBox="1"/>
          <p:nvPr/>
        </p:nvSpPr>
        <p:spPr>
          <a:xfrm>
            <a:off x="8488281" y="5253577"/>
            <a:ext cx="155972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Op2: 0xD3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46E3F86-0810-DA82-7EA1-5E17D0846E2F}"/>
              </a:ext>
            </a:extLst>
          </p:cNvPr>
          <p:cNvSpPr txBox="1"/>
          <p:nvPr/>
        </p:nvSpPr>
        <p:spPr>
          <a:xfrm>
            <a:off x="8488281" y="5782486"/>
            <a:ext cx="360996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Result: 0x71 </a:t>
            </a:r>
            <a:r>
              <a:rPr lang="en-US" sz="2000" dirty="0"/>
              <a:t>(drop 1 in 0x171)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6317C32-947E-A6F4-BC8E-C46284D01C24}"/>
              </a:ext>
            </a:extLst>
          </p:cNvPr>
          <p:cNvSpPr txBox="1"/>
          <p:nvPr/>
        </p:nvSpPr>
        <p:spPr>
          <a:xfrm>
            <a:off x="2675874" y="5305432"/>
            <a:ext cx="1027845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C = 1</a:t>
            </a:r>
          </a:p>
          <a:p>
            <a:r>
              <a:rPr lang="en-US" sz="2800" dirty="0"/>
              <a:t>V = 1</a:t>
            </a:r>
          </a:p>
        </p:txBody>
      </p:sp>
      <p:sp>
        <p:nvSpPr>
          <p:cNvPr id="17" name="Content Placeholder 3">
            <a:extLst>
              <a:ext uri="{FF2B5EF4-FFF2-40B4-BE49-F238E27FC236}">
                <a16:creationId xmlns:a16="http://schemas.microsoft.com/office/drawing/2014/main" id="{4AB0EB01-AB9A-79D1-E864-47FEB2A8BB2A}"/>
              </a:ext>
            </a:extLst>
          </p:cNvPr>
          <p:cNvSpPr txBox="1">
            <a:spLocks/>
          </p:cNvSpPr>
          <p:nvPr/>
        </p:nvSpPr>
        <p:spPr>
          <a:xfrm>
            <a:off x="609600" y="1219201"/>
            <a:ext cx="10972800" cy="2961930"/>
          </a:xfrm>
          <a:prstGeom prst="rect">
            <a:avLst/>
          </a:prstGeom>
        </p:spPr>
        <p:txBody>
          <a:bodyPr vert="horz">
            <a:normAutofit fontScale="85000" lnSpcReduction="20000"/>
          </a:bodyPr>
          <a:lstStyle>
            <a:lvl1pPr marL="274320" indent="-274320" algn="l" rtl="0" eaLnBrk="1" latinLnBrk="0" hangingPunct="1">
              <a:spcBef>
                <a:spcPts val="600"/>
              </a:spcBef>
              <a:buClr>
                <a:schemeClr val="accent1"/>
              </a:buClr>
              <a:buSzPct val="76000"/>
              <a:buFont typeface="Wingdings 3"/>
              <a:buChar char=""/>
              <a:defRPr kumimoji="0" sz="2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8640" indent="-274320" algn="l" rtl="0" eaLnBrk="1" latinLnBrk="0" hangingPunct="1">
              <a:spcBef>
                <a:spcPts val="500"/>
              </a:spcBef>
              <a:buClr>
                <a:schemeClr val="accent2"/>
              </a:buClr>
              <a:buSzPct val="76000"/>
              <a:buFont typeface="Wingdings 3"/>
              <a:buChar char=""/>
              <a:defRPr kumimoji="0" sz="23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822960" indent="-228600" algn="l" rtl="0" eaLnBrk="1" latinLnBrk="0" hangingPunct="1">
              <a:spcBef>
                <a:spcPts val="500"/>
              </a:spcBef>
              <a:buClr>
                <a:schemeClr val="bg1">
                  <a:shade val="50000"/>
                </a:schemeClr>
              </a:buClr>
              <a:buSzPct val="76000"/>
              <a:buFont typeface="Wingdings 3"/>
              <a:buChar char=""/>
              <a:defRPr kumimoji="0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7280" indent="-228600" algn="l" rtl="0" eaLnBrk="1" latinLnBrk="0" hangingPunct="1">
              <a:spcBef>
                <a:spcPts val="400"/>
              </a:spcBef>
              <a:buClr>
                <a:schemeClr val="accent2">
                  <a:shade val="75000"/>
                </a:schemeClr>
              </a:buClr>
              <a:buSzPct val="70000"/>
              <a:buFont typeface="Wingdings"/>
              <a:buChar char=""/>
              <a:defRPr kumimoji="0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indent="-228600" algn="l" rtl="0" eaLnBrk="1" latinLnBrk="0" hangingPunct="1">
              <a:spcBef>
                <a:spcPts val="300"/>
              </a:spcBef>
              <a:buClr>
                <a:schemeClr val="accent2"/>
              </a:buClr>
              <a:buSzPct val="70000"/>
              <a:buFont typeface="Wingdings"/>
              <a:buChar char=""/>
              <a:defRPr kumimoji="0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645920" indent="-182880" algn="l" rtl="0" eaLnBrk="1" latinLnBrk="0" hangingPunct="1">
              <a:spcBef>
                <a:spcPts val="300"/>
              </a:spcBef>
              <a:buClr>
                <a:srgbClr val="9FB8CD">
                  <a:shade val="75000"/>
                </a:srgbClr>
              </a:buClr>
              <a:buSzPct val="75000"/>
              <a:buFont typeface="Wingdings 3"/>
              <a:buChar char=""/>
              <a:defRPr kumimoji="0"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800" indent="-182880" algn="l" rtl="0" eaLnBrk="1" latinLnBrk="0" hangingPunct="1">
              <a:spcBef>
                <a:spcPts val="300"/>
              </a:spcBef>
              <a:buClr>
                <a:srgbClr val="727CA3">
                  <a:shade val="75000"/>
                </a:srgbClr>
              </a:buClr>
              <a:buSzPct val="75000"/>
              <a:buFont typeface="Wingdings 3"/>
              <a:buChar char=""/>
              <a:defRPr kumimoji="0" lang="en-US" sz="14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011680" indent="-182880" algn="l" rtl="0" eaLnBrk="1" latinLnBrk="0" hangingPunct="1">
              <a:spcBef>
                <a:spcPts val="300"/>
              </a:spcBef>
              <a:buClr>
                <a:prstClr val="white">
                  <a:shade val="50000"/>
                </a:prstClr>
              </a:buClr>
              <a:buSzPct val="75000"/>
              <a:buFont typeface="Wingdings 3"/>
              <a:buChar char=""/>
              <a:defRPr kumimoji="0" lang="en-US" sz="14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194560" indent="-182880" algn="l" rtl="0" eaLnBrk="1" latinLnBrk="0" hangingPunct="1">
              <a:spcBef>
                <a:spcPts val="300"/>
              </a:spcBef>
              <a:buClr>
                <a:srgbClr val="9FB8CD"/>
              </a:buClr>
              <a:buSzPct val="75000"/>
              <a:buFont typeface="Wingdings 3"/>
              <a:buChar char=""/>
              <a:defRPr kumimoji="0" lang="en-US" sz="12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For an 8-bit system, calculate 0x9E - 0x2D, setting C and V flags</a:t>
            </a:r>
          </a:p>
          <a:p>
            <a:r>
              <a:rPr lang="en-US" dirty="0"/>
              <a:t>ANS: </a:t>
            </a:r>
          </a:p>
          <a:p>
            <a:pPr lvl="1"/>
            <a:r>
              <a:rPr lang="en-US" dirty="0"/>
              <a:t>Convert to binary and perform addition as in table</a:t>
            </a:r>
          </a:p>
          <a:p>
            <a:pPr lvl="2"/>
            <a:r>
              <a:rPr lang="en-US" dirty="0"/>
              <a:t>0x2D = 00101101, its negation TC(00101101) = 11010011 = 0xD3 </a:t>
            </a:r>
          </a:p>
          <a:p>
            <a:pPr lvl="1"/>
            <a:r>
              <a:rPr lang="en-US" dirty="0"/>
              <a:t>C = 1 since there is carry-out from MSB b7</a:t>
            </a:r>
          </a:p>
          <a:p>
            <a:pPr lvl="1"/>
            <a:r>
              <a:rPr lang="en-US" dirty="0"/>
              <a:t>V = 1 since Op1, Op2 are both negative, result is positive</a:t>
            </a:r>
          </a:p>
          <a:p>
            <a:pPr lvl="1"/>
            <a:r>
              <a:rPr lang="en-US" dirty="0"/>
              <a:t>In decimal: </a:t>
            </a:r>
          </a:p>
          <a:p>
            <a:pPr lvl="2"/>
            <a:r>
              <a:rPr lang="en-US" dirty="0"/>
              <a:t>Unsigned subtraction: 158 − 45 = 113 (result correct, C=1, Borrow Flag=0)</a:t>
            </a:r>
          </a:p>
          <a:p>
            <a:pPr lvl="2"/>
            <a:r>
              <a:rPr lang="en-US" dirty="0"/>
              <a:t>Signed subtraction: true sum = −98 − 45 = −143 → result = +113 (wrong, V=1)</a:t>
            </a:r>
          </a:p>
        </p:txBody>
      </p:sp>
    </p:spTree>
    <p:extLst>
      <p:ext uri="{BB962C8B-B14F-4D97-AF65-F5344CB8AC3E}">
        <p14:creationId xmlns:p14="http://schemas.microsoft.com/office/powerpoint/2010/main" val="3741490578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A4D96B-CDAF-6F32-B34C-04BB5A50F0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1353507-57F7-A14A-4FDB-1B83792EA8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76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A57B28B-AD1F-F39E-BC1C-E48DB6AA81D7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62D51E8B-70F1-53EE-AD4B-F1864160987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0931" y="125658"/>
            <a:ext cx="5551469" cy="3223710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52270794-1CFF-336B-C8A3-71E6232C6BE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9166" y="3444872"/>
            <a:ext cx="5547182" cy="3176555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CF5B4FC4-7E21-DCE8-0AA2-1E2E416AE0D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52518" y="3382762"/>
            <a:ext cx="5662926" cy="3210849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C8D4E74F-BA44-C4D4-025B-1B21C4165DA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28600" y="125658"/>
            <a:ext cx="5517174" cy="23577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0632585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471A46-65C6-6523-33B9-ECC5C0C109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References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FB8F4A2-4529-92E6-5838-79F54A50B1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77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C0C4192-D05B-82AA-36C0-2927E4161106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r>
              <a:rPr lang="en-US" dirty="0"/>
              <a:t>Lesson 45b - Adders Carry and Overflow, </a:t>
            </a:r>
            <a:r>
              <a:rPr lang="en-US" dirty="0" err="1"/>
              <a:t>LBEbooks</a:t>
            </a:r>
            <a:endParaRPr lang="en-US" dirty="0"/>
          </a:p>
          <a:p>
            <a:pPr lvl="1"/>
            <a:r>
              <a:rPr lang="en-US" dirty="0">
                <a:hlinkClick r:id="rId2"/>
              </a:rPr>
              <a:t>https://www.youtube.com/watch?v=9cXe_T99nL4</a:t>
            </a:r>
            <a:r>
              <a:rPr lang="en-US" dirty="0"/>
              <a:t> </a:t>
            </a:r>
          </a:p>
          <a:p>
            <a:r>
              <a:rPr lang="en-US" dirty="0"/>
              <a:t>Lecture 25. Arithmetic and Logical Instructions</a:t>
            </a:r>
          </a:p>
          <a:p>
            <a:pPr lvl="1"/>
            <a:r>
              <a:rPr lang="en-US" dirty="0">
                <a:hlinkClick r:id="rId3"/>
              </a:rPr>
              <a:t>https://www.youtube.com/watch?v=H-vOP2yRUj4&amp;list=PLRJhV4hUhIymmp5CCeIFPyxbknsdcXCc8&amp;index=25</a:t>
            </a:r>
            <a:r>
              <a:rPr lang="en-US" dirty="0"/>
              <a:t> </a:t>
            </a:r>
          </a:p>
          <a:p>
            <a:r>
              <a:rPr lang="en-US" dirty="0"/>
              <a:t>Lecture 26. Updating NZCV bit flags</a:t>
            </a:r>
          </a:p>
          <a:p>
            <a:pPr lvl="1"/>
            <a:r>
              <a:rPr lang="en-US" dirty="0">
                <a:hlinkClick r:id="rId4"/>
              </a:rPr>
              <a:t>https://www.youtube.com/watch?v=SGJibM1D2_A&amp;list=PLRJhV4hUhIymmp5CCeIFPyxbknsdcXCc8&amp;index=26</a:t>
            </a:r>
            <a:r>
              <a:rPr lang="en-US" dirty="0"/>
              <a:t> 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92106391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Origin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rigin">
      <a:majorFont>
        <a:latin typeface="Bookman Old Style"/>
        <a:ea typeface=""/>
        <a:cs typeface=""/>
        <a:font script="Grek" typeface="Cambria"/>
        <a:font script="Cyrl" typeface="Cambria"/>
        <a:font script="Jpan" typeface="HG明朝E"/>
        <a:font script="Hang" typeface="돋움"/>
        <a:font script="Hans" typeface="宋体"/>
        <a:font script="Hant" typeface="標楷體"/>
        <a:font script="Arab" typeface="Times New Roman"/>
        <a:font script="Hebr" typeface="Times New Roman"/>
        <a:font script="Thai" typeface="Browalli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Gill Sans MT"/>
        <a:ea typeface=""/>
        <a:cs typeface=""/>
        <a:font script="Grek" typeface="Calibri"/>
        <a:font script="Cyrl" typeface="Calibri"/>
        <a:font script="Jpan" typeface="ＭＳ Ｐゴシック"/>
        <a:font script="Hang" typeface="맑은 고딕"/>
        <a:font script="Hans" typeface="华文新魏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rigin">
      <a:fillStyleLst>
        <a:solidFill>
          <a:schemeClr val="phClr"/>
        </a:solidFill>
        <a:gradFill rotWithShape="1">
          <a:gsLst>
            <a:gs pos="0">
              <a:schemeClr val="phClr">
                <a:tint val="45000"/>
                <a:satMod val="200000"/>
              </a:schemeClr>
            </a:gs>
            <a:gs pos="30000">
              <a:schemeClr val="phClr">
                <a:tint val="61000"/>
                <a:satMod val="200000"/>
              </a:schemeClr>
            </a:gs>
            <a:gs pos="45000">
              <a:schemeClr val="phClr">
                <a:tint val="66000"/>
                <a:satMod val="200000"/>
              </a:schemeClr>
            </a:gs>
            <a:gs pos="55000">
              <a:schemeClr val="phClr">
                <a:tint val="66000"/>
                <a:satMod val="200000"/>
              </a:schemeClr>
            </a:gs>
            <a:gs pos="73000">
              <a:schemeClr val="phClr">
                <a:tint val="61000"/>
                <a:satMod val="200000"/>
              </a:schemeClr>
            </a:gs>
            <a:gs pos="100000">
              <a:schemeClr val="phClr">
                <a:tint val="45000"/>
                <a:satMod val="200000"/>
              </a:schemeClr>
            </a:gs>
          </a:gsLst>
          <a:lin ang="950000" scaled="1"/>
        </a:gradFill>
        <a:gradFill rotWithShape="1">
          <a:gsLst>
            <a:gs pos="0">
              <a:schemeClr val="phClr">
                <a:shade val="63000"/>
              </a:schemeClr>
            </a:gs>
            <a:gs pos="30000">
              <a:schemeClr val="phClr">
                <a:shade val="90000"/>
                <a:satMod val="110000"/>
              </a:schemeClr>
            </a:gs>
            <a:gs pos="45000">
              <a:schemeClr val="phClr">
                <a:shade val="100000"/>
                <a:satMod val="118000"/>
              </a:schemeClr>
            </a:gs>
            <a:gs pos="55000">
              <a:schemeClr val="phClr">
                <a:shade val="100000"/>
                <a:satMod val="118000"/>
              </a:schemeClr>
            </a:gs>
            <a:gs pos="73000">
              <a:schemeClr val="phClr">
                <a:shade val="90000"/>
                <a:satMod val="110000"/>
              </a:schemeClr>
            </a:gs>
            <a:gs pos="100000">
              <a:schemeClr val="phClr">
                <a:shade val="63000"/>
              </a:schemeClr>
            </a:gs>
          </a:gsLst>
          <a:lin ang="950000" scaled="1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38100" dist="25400" dir="5400000" rotWithShape="0">
              <a:srgbClr val="000000">
                <a:alpha val="40000"/>
              </a:srgbClr>
            </a:outerShdw>
          </a:effectLst>
        </a:effectStyle>
        <a:effectStyle>
          <a:effectLst>
            <a:outerShdw blurRad="50800" dist="43000" dir="5400000" rotWithShape="0">
              <a:srgbClr val="000000">
                <a:alpha val="40000"/>
              </a:srgbClr>
            </a:outerShdw>
          </a:effectLst>
          <a:scene3d>
            <a:camera prst="orthographicFront" fov="0">
              <a:rot lat="0" lon="0" rev="0"/>
            </a:camera>
            <a:lightRig rig="balanced" dir="t">
              <a:rot lat="0" lon="0" rev="0"/>
            </a:lightRig>
          </a:scene3d>
          <a:sp3d prstMaterial="matte">
            <a:bevelT w="0" h="0"/>
            <a:contourClr>
              <a:schemeClr val="phClr">
                <a:tint val="100000"/>
                <a:shade val="100000"/>
                <a:hueMod val="100000"/>
                <a:satMod val="100000"/>
              </a:schemeClr>
            </a:contourClr>
          </a:sp3d>
        </a:effectStyle>
        <a:effectStyle>
          <a:effectLst>
            <a:outerShdw blurRad="50800" dist="25400" dir="5400000" rotWithShape="0">
              <a:srgbClr val="000000">
                <a:alpha val="50000"/>
              </a:srgbClr>
            </a:outerShdw>
          </a:effectLst>
          <a:scene3d>
            <a:camera prst="orthographicFront" fov="0">
              <a:rot lat="0" lon="0" rev="0"/>
            </a:camera>
            <a:lightRig rig="soft" dir="t">
              <a:rot lat="0" lon="0" rev="2700000"/>
            </a:lightRig>
          </a:scene3d>
          <a:sp3d prstMaterial="matte">
            <a:bevelT w="50800" h="50800"/>
            <a:contourClr>
              <a:schemeClr val="phClr"/>
            </a:contourClr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shade val="60000"/>
                <a:satMod val="300000"/>
              </a:schemeClr>
            </a:gs>
            <a:gs pos="30000">
              <a:schemeClr val="phClr">
                <a:shade val="80000"/>
                <a:satMod val="230000"/>
              </a:schemeClr>
            </a:gs>
            <a:gs pos="100000">
              <a:schemeClr val="phClr">
                <a:tint val="97000"/>
                <a:satMod val="220000"/>
              </a:schemeClr>
            </a:gs>
          </a:gsLst>
          <a:lin ang="16200000" scaled="1"/>
        </a:gradFill>
        <a:blipFill>
          <a:blip xmlns:r="http://schemas.openxmlformats.org/officeDocument/2006/relationships" r:embed="rId1">
            <a:duotone>
              <a:schemeClr val="phClr">
                <a:shade val="6000"/>
                <a:satMod val="120000"/>
              </a:schemeClr>
              <a:schemeClr val="phClr">
                <a:tint val="90000"/>
              </a:schemeClr>
            </a:duotone>
          </a:blip>
          <a:tile tx="0" ty="0" sx="35000" sy="40000" flip="x" algn="tl"/>
        </a:blip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Origin</Template>
  <TotalTime>3642</TotalTime>
  <Words>10442</Words>
  <Application>Microsoft Office PowerPoint</Application>
  <PresentationFormat>Widescreen</PresentationFormat>
  <Paragraphs>1534</Paragraphs>
  <Slides>77</Slides>
  <Notes>43</Notes>
  <HiddenSlides>0</HiddenSlides>
  <MMClips>0</MMClips>
  <ScaleCrop>false</ScaleCrop>
  <HeadingPairs>
    <vt:vector size="6" baseType="variant">
      <vt:variant>
        <vt:lpstr>Fonts Used</vt:lpstr>
      </vt:variant>
      <vt:variant>
        <vt:i4>16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77</vt:i4>
      </vt:variant>
    </vt:vector>
  </HeadingPairs>
  <TitlesOfParts>
    <vt:vector size="94" baseType="lpstr">
      <vt:lpstr>Bookman Old Style (Headings)</vt:lpstr>
      <vt:lpstr>DejaVu Sans</vt:lpstr>
      <vt:lpstr>Gill Sans Light</vt:lpstr>
      <vt:lpstr>Arial</vt:lpstr>
      <vt:lpstr>Arial Narrow</vt:lpstr>
      <vt:lpstr>Bookman Old Style</vt:lpstr>
      <vt:lpstr>Calibri</vt:lpstr>
      <vt:lpstr>Cambria Math</vt:lpstr>
      <vt:lpstr>Consolas</vt:lpstr>
      <vt:lpstr>Courier New</vt:lpstr>
      <vt:lpstr>Gill Sans MT</vt:lpstr>
      <vt:lpstr>Palatino Linotype</vt:lpstr>
      <vt:lpstr>Tahoma</vt:lpstr>
      <vt:lpstr>Times New Roman</vt:lpstr>
      <vt:lpstr>Wingdings</vt:lpstr>
      <vt:lpstr>Wingdings 3</vt:lpstr>
      <vt:lpstr>Origin</vt:lpstr>
      <vt:lpstr>Z. Gu</vt:lpstr>
      <vt:lpstr>Adding Two Integers</vt:lpstr>
      <vt:lpstr>Adding Two Integers</vt:lpstr>
      <vt:lpstr>Adding Two Integers</vt:lpstr>
      <vt:lpstr>Adding Two Integers</vt:lpstr>
      <vt:lpstr>Adding Two Integers</vt:lpstr>
      <vt:lpstr>Adding Two Integers</vt:lpstr>
      <vt:lpstr>Example Arithmetic Instructions</vt:lpstr>
      <vt:lpstr>Example Logical Instructions</vt:lpstr>
      <vt:lpstr>Example Shift &amp; Rotate Instructions</vt:lpstr>
      <vt:lpstr>Example Data Transfer Instructions</vt:lpstr>
      <vt:lpstr>Overview:  Arithmetic and Logic Instructions</vt:lpstr>
      <vt:lpstr>Example: Add </vt:lpstr>
      <vt:lpstr>Commonly Used Arithmetic Operations</vt:lpstr>
      <vt:lpstr>ARM Programming Model</vt:lpstr>
      <vt:lpstr>Program Status Register (PSR)</vt:lpstr>
      <vt:lpstr>NZCV Flags in xPSR</vt:lpstr>
      <vt:lpstr>Updating NZCV flags in PSR</vt:lpstr>
      <vt:lpstr>ADD vs ADDS</vt:lpstr>
      <vt:lpstr>Suffix S:  Update Flags</vt:lpstr>
      <vt:lpstr>Example: 64-bit Addition</vt:lpstr>
      <vt:lpstr>Example: 64-bit Addition</vt:lpstr>
      <vt:lpstr>Example: 64-bit Subtraction</vt:lpstr>
      <vt:lpstr>Example: 96-bit Subtraction</vt:lpstr>
      <vt:lpstr>Example: Short Multiplication and Division</vt:lpstr>
      <vt:lpstr>Example: Long Multiplication</vt:lpstr>
      <vt:lpstr>Bitwise Logic</vt:lpstr>
      <vt:lpstr>Example: AND r2, r0, r1</vt:lpstr>
      <vt:lpstr>Example: ORR r2, r0, r1</vt:lpstr>
      <vt:lpstr>Example: BIC r2, r0, r1</vt:lpstr>
      <vt:lpstr>Example: BFC and BFI</vt:lpstr>
      <vt:lpstr>Bit Operators (&amp;, |, ~) vs  Boolean Operators (&amp;&amp; ,||, !)</vt:lpstr>
      <vt:lpstr>Saturating Instruction: SSAT and USAT</vt:lpstr>
      <vt:lpstr>Example of Saturation</vt:lpstr>
      <vt:lpstr>Reverse Order</vt:lpstr>
      <vt:lpstr>Reverse Order</vt:lpstr>
      <vt:lpstr>Reverse Order</vt:lpstr>
      <vt:lpstr>Reverse Order</vt:lpstr>
      <vt:lpstr>Sign and Zero Extension</vt:lpstr>
      <vt:lpstr>Sign and Zero Extension</vt:lpstr>
      <vt:lpstr>Move Data between Registers</vt:lpstr>
      <vt:lpstr>Move Immediate Number to Register</vt:lpstr>
      <vt:lpstr>Flexible 2nd Source Operand</vt:lpstr>
      <vt:lpstr>Use Shifts To Implement Multiplication And Division</vt:lpstr>
      <vt:lpstr>Barrel Shifter</vt:lpstr>
      <vt:lpstr>Updating APSR Flags</vt:lpstr>
      <vt:lpstr>Barrel Shifter: Explanations</vt:lpstr>
      <vt:lpstr>Examples (shifting by 4)</vt:lpstr>
      <vt:lpstr>Examples (rotate)</vt:lpstr>
      <vt:lpstr>Shift Operations</vt:lpstr>
      <vt:lpstr>Shift Operations</vt:lpstr>
      <vt:lpstr>Shift Operations</vt:lpstr>
      <vt:lpstr>Rotate Operations</vt:lpstr>
      <vt:lpstr>Rotate Operations</vt:lpstr>
      <vt:lpstr>Barrel Shifter More Examples</vt:lpstr>
      <vt:lpstr>SUB vs. RSB</vt:lpstr>
      <vt:lpstr>Integer Array Access with LSL</vt:lpstr>
      <vt:lpstr>Example 1: ANDS</vt:lpstr>
      <vt:lpstr>Example 2: ADDS</vt:lpstr>
      <vt:lpstr>Set a Bit in C</vt:lpstr>
      <vt:lpstr>Set a Bit in Assembly</vt:lpstr>
      <vt:lpstr>Clear a Bit in C</vt:lpstr>
      <vt:lpstr>Clear a Bit in Assembly</vt:lpstr>
      <vt:lpstr>Toggle a Bit in C</vt:lpstr>
      <vt:lpstr>Toggle a Bit in Assembly</vt:lpstr>
      <vt:lpstr>Mask</vt:lpstr>
      <vt:lpstr>Clear all unmasked bits</vt:lpstr>
      <vt:lpstr>Clear all masked bits</vt:lpstr>
      <vt:lpstr>Set all masked bits</vt:lpstr>
      <vt:lpstr>Toggle all tasked bits</vt:lpstr>
      <vt:lpstr>Carry and Overflow Flags w/ Arithmetic Instructions</vt:lpstr>
      <vt:lpstr>Example</vt:lpstr>
      <vt:lpstr>Example</vt:lpstr>
      <vt:lpstr>Example</vt:lpstr>
      <vt:lpstr>Example</vt:lpstr>
      <vt:lpstr>PowerPoint Presentation</vt:lpstr>
      <vt:lpstr>References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Dr. Yifeng Zhu Electrical and Computer Engineering University of Maine</dc:title>
  <dc:creator>zhu</dc:creator>
  <cp:lastModifiedBy>Zonghua Gu</cp:lastModifiedBy>
  <cp:revision>380</cp:revision>
  <dcterms:created xsi:type="dcterms:W3CDTF">2014-02-05T02:41:42Z</dcterms:created>
  <dcterms:modified xsi:type="dcterms:W3CDTF">2025-10-30T20:52:48Z</dcterms:modified>
</cp:coreProperties>
</file>