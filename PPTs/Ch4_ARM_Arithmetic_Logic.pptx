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4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9"/>
  </p:notesMasterIdLst>
  <p:sldIdLst>
    <p:sldId id="756" r:id="rId2"/>
    <p:sldId id="743" r:id="rId3"/>
    <p:sldId id="732" r:id="rId4"/>
    <p:sldId id="736" r:id="rId5"/>
    <p:sldId id="737" r:id="rId6"/>
    <p:sldId id="744" r:id="rId7"/>
    <p:sldId id="733" r:id="rId8"/>
    <p:sldId id="734" r:id="rId9"/>
    <p:sldId id="739" r:id="rId10"/>
    <p:sldId id="740" r:id="rId11"/>
    <p:sldId id="742" r:id="rId12"/>
    <p:sldId id="272" r:id="rId13"/>
    <p:sldId id="281" r:id="rId14"/>
    <p:sldId id="282" r:id="rId15"/>
    <p:sldId id="355" r:id="rId16"/>
    <p:sldId id="328" r:id="rId17"/>
    <p:sldId id="360" r:id="rId18"/>
    <p:sldId id="741" r:id="rId19"/>
    <p:sldId id="738" r:id="rId20"/>
    <p:sldId id="745" r:id="rId21"/>
    <p:sldId id="284" r:id="rId22"/>
    <p:sldId id="285" r:id="rId23"/>
    <p:sldId id="291" r:id="rId24"/>
    <p:sldId id="750" r:id="rId25"/>
    <p:sldId id="292" r:id="rId26"/>
    <p:sldId id="313" r:id="rId27"/>
    <p:sldId id="312" r:id="rId28"/>
    <p:sldId id="286" r:id="rId29"/>
    <p:sldId id="287" r:id="rId30"/>
    <p:sldId id="288" r:id="rId31"/>
    <p:sldId id="289" r:id="rId32"/>
    <p:sldId id="307" r:id="rId33"/>
    <p:sldId id="293" r:id="rId34"/>
    <p:sldId id="326" r:id="rId35"/>
    <p:sldId id="315" r:id="rId36"/>
    <p:sldId id="316" r:id="rId37"/>
    <p:sldId id="317" r:id="rId38"/>
    <p:sldId id="318" r:id="rId39"/>
    <p:sldId id="320" r:id="rId40"/>
    <p:sldId id="295" r:id="rId41"/>
    <p:sldId id="277" r:id="rId42"/>
    <p:sldId id="330" r:id="rId43"/>
    <p:sldId id="735" r:id="rId44"/>
    <p:sldId id="337" r:id="rId45"/>
    <p:sldId id="279" r:id="rId46"/>
    <p:sldId id="332" r:id="rId47"/>
    <p:sldId id="351" r:id="rId48"/>
    <p:sldId id="348" r:id="rId49"/>
    <p:sldId id="352" r:id="rId50"/>
    <p:sldId id="331" r:id="rId51"/>
    <p:sldId id="746" r:id="rId52"/>
    <p:sldId id="747" r:id="rId53"/>
    <p:sldId id="748" r:id="rId54"/>
    <p:sldId id="749" r:id="rId55"/>
    <p:sldId id="354" r:id="rId56"/>
    <p:sldId id="359" r:id="rId57"/>
    <p:sldId id="358" r:id="rId58"/>
    <p:sldId id="334" r:id="rId59"/>
    <p:sldId id="336" r:id="rId60"/>
    <p:sldId id="341" r:id="rId61"/>
    <p:sldId id="344" r:id="rId62"/>
    <p:sldId id="342" r:id="rId63"/>
    <p:sldId id="345" r:id="rId64"/>
    <p:sldId id="346" r:id="rId65"/>
    <p:sldId id="343" r:id="rId66"/>
    <p:sldId id="751" r:id="rId67"/>
    <p:sldId id="752" r:id="rId68"/>
    <p:sldId id="753" r:id="rId69"/>
    <p:sldId id="754" r:id="rId70"/>
    <p:sldId id="755" r:id="rId71"/>
    <p:sldId id="553" r:id="rId72"/>
    <p:sldId id="759" r:id="rId73"/>
    <p:sldId id="761" r:id="rId74"/>
    <p:sldId id="762" r:id="rId75"/>
    <p:sldId id="763" r:id="rId76"/>
    <p:sldId id="764" r:id="rId77"/>
    <p:sldId id="347" r:id="rId7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1559B8B-B625-4BEC-8066-1A3ABDC8FEDD}" v="574" dt="2025-10-14T22:39:51.3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1" autoAdjust="0"/>
    <p:restoredTop sz="92549" autoAdjust="0"/>
  </p:normalViewPr>
  <p:slideViewPr>
    <p:cSldViewPr>
      <p:cViewPr varScale="1">
        <p:scale>
          <a:sx n="76" d="100"/>
          <a:sy n="76" d="100"/>
        </p:scale>
        <p:origin x="107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66091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5-10-14T23:11:01.487" v="2379" actId="1076"/>
      <pc:docMkLst>
        <pc:docMk/>
      </pc:docMkLst>
      <pc:sldChg chg="modSp mod">
        <pc:chgData name="Zonghua Gu" userId="9a7e1853e1951ef5" providerId="LiveId" clId="{CF1FAA12-072C-4ED5-BA76-0FFFAEFDB88A}" dt="2025-10-02T23:49:24.831" v="285" actId="6549"/>
        <pc:sldMkLst>
          <pc:docMk/>
          <pc:sldMk cId="1913135421" sldId="334"/>
        </pc:sldMkLst>
        <pc:spChg chg="mod">
          <ac:chgData name="Zonghua Gu" userId="9a7e1853e1951ef5" providerId="LiveId" clId="{CF1FAA12-072C-4ED5-BA76-0FFFAEFDB88A}" dt="2025-10-02T23:31:42.284" v="22" actId="20577"/>
          <ac:spMkLst>
            <pc:docMk/>
            <pc:sldMk cId="1913135421" sldId="334"/>
            <ac:spMk id="9" creationId="{12BA289E-808A-917F-A191-D39BD9F8BFF1}"/>
          </ac:spMkLst>
        </pc:spChg>
        <pc:spChg chg="mod">
          <ac:chgData name="Zonghua Gu" userId="9a7e1853e1951ef5" providerId="LiveId" clId="{CF1FAA12-072C-4ED5-BA76-0FFFAEFDB88A}" dt="2025-10-02T23:49:24.831" v="285" actId="6549"/>
          <ac:spMkLst>
            <pc:docMk/>
            <pc:sldMk cId="1913135421" sldId="334"/>
            <ac:spMk id="11" creationId="{00000000-0000-0000-0000-000000000000}"/>
          </ac:spMkLst>
        </pc:spChg>
      </pc:sldChg>
      <pc:sldChg chg="addSp modSp mod">
        <pc:chgData name="Zonghua Gu" userId="9a7e1853e1951ef5" providerId="LiveId" clId="{CF1FAA12-072C-4ED5-BA76-0FFFAEFDB88A}" dt="2025-10-02T23:42:09.101" v="225" actId="6549"/>
        <pc:sldMkLst>
          <pc:docMk/>
          <pc:sldMk cId="3398840445" sldId="343"/>
        </pc:sldMkLst>
        <pc:spChg chg="add mod">
          <ac:chgData name="Zonghua Gu" userId="9a7e1853e1951ef5" providerId="LiveId" clId="{CF1FAA12-072C-4ED5-BA76-0FFFAEFDB88A}" dt="2025-10-02T23:41:57.603" v="223" actId="20577"/>
          <ac:spMkLst>
            <pc:docMk/>
            <pc:sldMk cId="3398840445" sldId="343"/>
            <ac:spMk id="4" creationId="{BBA7D860-B129-1899-73C5-E4BCF54515D8}"/>
          </ac:spMkLst>
        </pc:spChg>
        <pc:spChg chg="mod">
          <ac:chgData name="Zonghua Gu" userId="9a7e1853e1951ef5" providerId="LiveId" clId="{CF1FAA12-072C-4ED5-BA76-0FFFAEFDB88A}" dt="2025-10-02T23:42:09.101" v="225" actId="6549"/>
          <ac:spMkLst>
            <pc:docMk/>
            <pc:sldMk cId="3398840445" sldId="343"/>
            <ac:spMk id="16" creationId="{00000000-0000-0000-0000-000000000000}"/>
          </ac:spMkLst>
        </pc:spChg>
      </pc:sldChg>
      <pc:sldChg chg="addSp delSp modSp mod delAnim modAnim">
        <pc:chgData name="Zonghua Gu" userId="9a7e1853e1951ef5" providerId="LiveId" clId="{CF1FAA12-072C-4ED5-BA76-0FFFAEFDB88A}" dt="2025-10-02T23:47:40.771" v="275" actId="478"/>
        <pc:sldMkLst>
          <pc:docMk/>
          <pc:sldMk cId="1330855799" sldId="344"/>
        </pc:sldMkLst>
        <pc:spChg chg="mod">
          <ac:chgData name="Zonghua Gu" userId="9a7e1853e1951ef5" providerId="LiveId" clId="{CF1FAA12-072C-4ED5-BA76-0FFFAEFDB88A}" dt="2025-10-02T23:47:33.489" v="273" actId="1076"/>
          <ac:spMkLst>
            <pc:docMk/>
            <pc:sldMk cId="1330855799" sldId="344"/>
            <ac:spMk id="5" creationId="{00000000-0000-0000-0000-000000000000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2" creationId="{020D3BDD-F764-1CF5-0EBC-0F858F50E8D7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3" creationId="{EEDFC2C3-B93E-557B-4902-EF4CD3C54B3F}"/>
          </ac:spMkLst>
        </pc:spChg>
        <pc:spChg chg="add mod">
          <ac:chgData name="Zonghua Gu" userId="9a7e1853e1951ef5" providerId="LiveId" clId="{CF1FAA12-072C-4ED5-BA76-0FFFAEFDB88A}" dt="2025-10-02T23:47:38.505" v="274" actId="1076"/>
          <ac:spMkLst>
            <pc:docMk/>
            <pc:sldMk cId="1330855799" sldId="344"/>
            <ac:spMk id="14" creationId="{0E17B54E-F932-4B41-B8B6-0B5C07BC368A}"/>
          </ac:spMkLst>
        </pc:spChg>
      </pc:sldChg>
      <pc:sldChg chg="addSp delSp modSp mod modAnim">
        <pc:chgData name="Zonghua Gu" userId="9a7e1853e1951ef5" providerId="LiveId" clId="{CF1FAA12-072C-4ED5-BA76-0FFFAEFDB88A}" dt="2025-10-02T23:48:17.745" v="278" actId="478"/>
        <pc:sldMkLst>
          <pc:docMk/>
          <pc:sldMk cId="3251034726" sldId="345"/>
        </pc:sldMkLst>
        <pc:spChg chg="add mod">
          <ac:chgData name="Zonghua Gu" userId="9a7e1853e1951ef5" providerId="LiveId" clId="{CF1FAA12-072C-4ED5-BA76-0FFFAEFDB88A}" dt="2025-10-02T23:41:34.055" v="215" actId="6549"/>
          <ac:spMkLst>
            <pc:docMk/>
            <pc:sldMk cId="3251034726" sldId="345"/>
            <ac:spMk id="6" creationId="{26DDDBB7-D107-1051-64FD-2F16D99B635D}"/>
          </ac:spMkLst>
        </pc:spChg>
        <pc:spChg chg="mod">
          <ac:chgData name="Zonghua Gu" userId="9a7e1853e1951ef5" providerId="LiveId" clId="{CF1FAA12-072C-4ED5-BA76-0FFFAEFDB88A}" dt="2025-10-02T23:41:28.650" v="212" actId="6549"/>
          <ac:spMkLst>
            <pc:docMk/>
            <pc:sldMk cId="3251034726" sldId="345"/>
            <ac:spMk id="15" creationId="{00000000-0000-0000-0000-000000000000}"/>
          </ac:spMkLst>
        </pc:spChg>
        <pc:spChg chg="mod">
          <ac:chgData name="Zonghua Gu" userId="9a7e1853e1951ef5" providerId="LiveId" clId="{CF1FAA12-072C-4ED5-BA76-0FFFAEFDB88A}" dt="2025-10-02T23:41:31.626" v="214" actId="6549"/>
          <ac:spMkLst>
            <pc:docMk/>
            <pc:sldMk cId="3251034726" sldId="345"/>
            <ac:spMk id="16" creationId="{00000000-0000-0000-0000-000000000000}"/>
          </ac:spMkLst>
        </pc:spChg>
        <pc:spChg chg="mod">
          <ac:chgData name="Zonghua Gu" userId="9a7e1853e1951ef5" providerId="LiveId" clId="{CF1FAA12-072C-4ED5-BA76-0FFFAEFDB88A}" dt="2025-10-02T23:41:20.609" v="207" actId="6549"/>
          <ac:spMkLst>
            <pc:docMk/>
            <pc:sldMk cId="3251034726" sldId="345"/>
            <ac:spMk id="18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7T20:10:44.785" v="1651" actId="20577"/>
        <pc:sldMkLst>
          <pc:docMk/>
          <pc:sldMk cId="692106391" sldId="347"/>
        </pc:sldMkLst>
        <pc:spChg chg="mod">
          <ac:chgData name="Zonghua Gu" userId="9a7e1853e1951ef5" providerId="LiveId" clId="{CF1FAA12-072C-4ED5-BA76-0FFFAEFDB88A}" dt="2025-10-07T20:10:44.785" v="1651" actId="20577"/>
          <ac:spMkLst>
            <pc:docMk/>
            <pc:sldMk cId="692106391" sldId="347"/>
            <ac:spMk id="4" creationId="{7C0C4192-D05B-82AA-36C0-2927E4161106}"/>
          </ac:spMkLst>
        </pc:spChg>
      </pc:sldChg>
      <pc:sldChg chg="addSp delSp modSp add mod modAnim modNotesTx">
        <pc:chgData name="Zonghua Gu" userId="9a7e1853e1951ef5" providerId="LiveId" clId="{CF1FAA12-072C-4ED5-BA76-0FFFAEFDB88A}" dt="2025-10-14T23:11:01.487" v="2379" actId="1076"/>
        <pc:sldMkLst>
          <pc:docMk/>
          <pc:sldMk cId="1202265337" sldId="553"/>
        </pc:sldMkLst>
        <pc:spChg chg="mod">
          <ac:chgData name="Zonghua Gu" userId="9a7e1853e1951ef5" providerId="LiveId" clId="{CF1FAA12-072C-4ED5-BA76-0FFFAEFDB88A}" dt="2025-10-14T23:11:01.487" v="2379" actId="1076"/>
          <ac:spMkLst>
            <pc:docMk/>
            <pc:sldMk cId="1202265337" sldId="553"/>
            <ac:spMk id="38914" creationId="{00000000-0000-0000-0000-000000000000}"/>
          </ac:spMkLst>
        </pc:spChg>
        <pc:spChg chg="mod">
          <ac:chgData name="Zonghua Gu" userId="9a7e1853e1951ef5" providerId="LiveId" clId="{CF1FAA12-072C-4ED5-BA76-0FFFAEFDB88A}" dt="2025-10-14T22:39:51.380" v="2378"/>
          <ac:spMkLst>
            <pc:docMk/>
            <pc:sldMk cId="1202265337" sldId="553"/>
            <ac:spMk id="38917" creationId="{00000000-0000-0000-0000-000000000000}"/>
          </ac:spMkLst>
        </pc:spChg>
        <pc:graphicFrameChg chg="mod modGraphic">
          <ac:chgData name="Zonghua Gu" userId="9a7e1853e1951ef5" providerId="LiveId" clId="{CF1FAA12-072C-4ED5-BA76-0FFFAEFDB88A}" dt="2025-10-07T20:24:17.346" v="1679" actId="1076"/>
          <ac:graphicFrameMkLst>
            <pc:docMk/>
            <pc:sldMk cId="1202265337" sldId="553"/>
            <ac:graphicFrameMk id="2" creationId="{00000000-0000-0000-0000-000000000000}"/>
          </ac:graphicFrameMkLst>
        </pc:graphicFrameChg>
      </pc:sldChg>
      <pc:sldChg chg="modSp">
        <pc:chgData name="Zonghua Gu" userId="9a7e1853e1951ef5" providerId="LiveId" clId="{CF1FAA12-072C-4ED5-BA76-0FFFAEFDB88A}" dt="2025-10-09T23:22:10.289" v="2371" actId="20577"/>
        <pc:sldMkLst>
          <pc:docMk/>
          <pc:sldMk cId="638370877" sldId="746"/>
        </pc:sldMkLst>
        <pc:spChg chg="mod">
          <ac:chgData name="Zonghua Gu" userId="9a7e1853e1951ef5" providerId="LiveId" clId="{CF1FAA12-072C-4ED5-BA76-0FFFAEFDB88A}" dt="2025-10-09T23:22:10.289" v="2371" actId="20577"/>
          <ac:spMkLst>
            <pc:docMk/>
            <pc:sldMk cId="638370877" sldId="746"/>
            <ac:spMk id="5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5-10-09T23:22:26.498" v="2372" actId="20577"/>
        <pc:sldMkLst>
          <pc:docMk/>
          <pc:sldMk cId="605818005" sldId="749"/>
        </pc:sldMkLst>
        <pc:spChg chg="mod">
          <ac:chgData name="Zonghua Gu" userId="9a7e1853e1951ef5" providerId="LiveId" clId="{CF1FAA12-072C-4ED5-BA76-0FFFAEFDB88A}" dt="2025-10-09T23:22:26.498" v="2372" actId="20577"/>
          <ac:spMkLst>
            <pc:docMk/>
            <pc:sldMk cId="605818005" sldId="749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7T21:17:24.060" v="2277" actId="1076"/>
        <pc:sldMkLst>
          <pc:docMk/>
          <pc:sldMk cId="3985735849" sldId="756"/>
        </pc:sldMkLst>
        <pc:spChg chg="mod">
          <ac:chgData name="Zonghua Gu" userId="9a7e1853e1951ef5" providerId="LiveId" clId="{CF1FAA12-072C-4ED5-BA76-0FFFAEFDB88A}" dt="2025-10-07T21:17:24.060" v="2277" actId="1076"/>
          <ac:spMkLst>
            <pc:docMk/>
            <pc:sldMk cId="3985735849" sldId="756"/>
            <ac:spMk id="4" creationId="{00000000-0000-0000-0000-000000000000}"/>
          </ac:spMkLst>
        </pc:spChg>
        <pc:spChg chg="mod">
          <ac:chgData name="Zonghua Gu" userId="9a7e1853e1951ef5" providerId="LiveId" clId="{CF1FAA12-072C-4ED5-BA76-0FFFAEFDB88A}" dt="2025-10-07T21:17:24.060" v="2277" actId="1076"/>
          <ac:spMkLst>
            <pc:docMk/>
            <pc:sldMk cId="3985735849" sldId="756"/>
            <ac:spMk id="5" creationId="{00000000-0000-0000-0000-000000000000}"/>
          </ac:spMkLst>
        </pc:spChg>
      </pc:sldChg>
      <pc:sldChg chg="addSp delSp modSp new del mod">
        <pc:chgData name="Zonghua Gu" userId="9a7e1853e1951ef5" providerId="LiveId" clId="{CF1FAA12-072C-4ED5-BA76-0FFFAEFDB88A}" dt="2025-10-07T19:42:18.795" v="1142" actId="47"/>
        <pc:sldMkLst>
          <pc:docMk/>
          <pc:sldMk cId="705500504" sldId="757"/>
        </pc:sldMkLst>
      </pc:sldChg>
      <pc:sldChg chg="del">
        <pc:chgData name="Zonghua Gu" userId="9a7e1853e1951ef5" providerId="LiveId" clId="{CF1FAA12-072C-4ED5-BA76-0FFFAEFDB88A}" dt="2025-10-02T21:56:07.518" v="0" actId="47"/>
        <pc:sldMkLst>
          <pc:docMk/>
          <pc:sldMk cId="4000238983" sldId="757"/>
        </pc:sldMkLst>
      </pc:sldChg>
      <pc:sldChg chg="new del">
        <pc:chgData name="Zonghua Gu" userId="9a7e1853e1951ef5" providerId="LiveId" clId="{CF1FAA12-072C-4ED5-BA76-0FFFAEFDB88A}" dt="2025-10-07T18:54:27.709" v="288" actId="47"/>
        <pc:sldMkLst>
          <pc:docMk/>
          <pc:sldMk cId="4033289621" sldId="757"/>
        </pc:sldMkLst>
      </pc:sldChg>
      <pc:sldChg chg="modSp new del mod">
        <pc:chgData name="Zonghua Gu" userId="9a7e1853e1951ef5" providerId="LiveId" clId="{CF1FAA12-072C-4ED5-BA76-0FFFAEFDB88A}" dt="2025-10-07T20:10:16.146" v="1640" actId="47"/>
        <pc:sldMkLst>
          <pc:docMk/>
          <pc:sldMk cId="4230541128" sldId="758"/>
        </pc:sldMkLst>
      </pc:sldChg>
      <pc:sldChg chg="addSp delSp modSp add mod">
        <pc:chgData name="Zonghua Gu" userId="9a7e1853e1951ef5" providerId="LiveId" clId="{CF1FAA12-072C-4ED5-BA76-0FFFAEFDB88A}" dt="2025-10-07T21:02:21.160" v="2174"/>
        <pc:sldMkLst>
          <pc:docMk/>
          <pc:sldMk cId="318776835" sldId="759"/>
        </pc:sldMkLst>
        <pc:spChg chg="mod">
          <ac:chgData name="Zonghua Gu" userId="9a7e1853e1951ef5" providerId="LiveId" clId="{CF1FAA12-072C-4ED5-BA76-0FFFAEFDB88A}" dt="2025-10-07T21:02:21.160" v="2174"/>
          <ac:spMkLst>
            <pc:docMk/>
            <pc:sldMk cId="318776835" sldId="759"/>
            <ac:spMk id="17" creationId="{658B7139-5799-44B4-1A44-150FA6D124BE}"/>
          </ac:spMkLst>
        </pc:spChg>
        <pc:graphicFrameChg chg="modGraphic">
          <ac:chgData name="Zonghua Gu" userId="9a7e1853e1951ef5" providerId="LiveId" clId="{CF1FAA12-072C-4ED5-BA76-0FFFAEFDB88A}" dt="2025-10-07T20:03:45.457" v="1572" actId="122"/>
          <ac:graphicFrameMkLst>
            <pc:docMk/>
            <pc:sldMk cId="318776835" sldId="759"/>
            <ac:graphicFrameMk id="7" creationId="{D38D1C5D-70ED-DB91-3E47-11F805CC6D31}"/>
          </ac:graphicFrameMkLst>
        </pc:graphicFrameChg>
      </pc:sldChg>
      <pc:sldChg chg="addSp delSp new del mod">
        <pc:chgData name="Zonghua Gu" userId="9a7e1853e1951ef5" providerId="LiveId" clId="{CF1FAA12-072C-4ED5-BA76-0FFFAEFDB88A}" dt="2025-10-07T20:10:16.146" v="1640" actId="47"/>
        <pc:sldMkLst>
          <pc:docMk/>
          <pc:sldMk cId="1597550869" sldId="760"/>
        </pc:sldMkLst>
      </pc:sldChg>
      <pc:sldChg chg="addSp delSp modSp add mod">
        <pc:chgData name="Zonghua Gu" userId="9a7e1853e1951ef5" providerId="LiveId" clId="{CF1FAA12-072C-4ED5-BA76-0FFFAEFDB88A}" dt="2025-10-07T21:02:41.601" v="2184" actId="20577"/>
        <pc:sldMkLst>
          <pc:docMk/>
          <pc:sldMk cId="2712133478" sldId="761"/>
        </pc:sldMkLst>
        <pc:spChg chg="mod">
          <ac:chgData name="Zonghua Gu" userId="9a7e1853e1951ef5" providerId="LiveId" clId="{CF1FAA12-072C-4ED5-BA76-0FFFAEFDB88A}" dt="2025-10-07T19:21:30.829" v="854" actId="20577"/>
          <ac:spMkLst>
            <pc:docMk/>
            <pc:sldMk cId="2712133478" sldId="761"/>
            <ac:spMk id="14" creationId="{1FF76F53-5DA3-D6CF-8F8F-9324B627C10B}"/>
          </ac:spMkLst>
        </pc:spChg>
        <pc:spChg chg="mod">
          <ac:chgData name="Zonghua Gu" userId="9a7e1853e1951ef5" providerId="LiveId" clId="{CF1FAA12-072C-4ED5-BA76-0FFFAEFDB88A}" dt="2025-10-07T19:21:33.302" v="856" actId="20577"/>
          <ac:spMkLst>
            <pc:docMk/>
            <pc:sldMk cId="2712133478" sldId="761"/>
            <ac:spMk id="15" creationId="{FE0D15DC-646A-21C1-D6F0-DE4BAC6CF37C}"/>
          </ac:spMkLst>
        </pc:spChg>
        <pc:spChg chg="mod">
          <ac:chgData name="Zonghua Gu" userId="9a7e1853e1951ef5" providerId="LiveId" clId="{CF1FAA12-072C-4ED5-BA76-0FFFAEFDB88A}" dt="2025-10-07T19:21:36.868" v="857" actId="20577"/>
          <ac:spMkLst>
            <pc:docMk/>
            <pc:sldMk cId="2712133478" sldId="761"/>
            <ac:spMk id="16" creationId="{5A108FE9-588E-77EE-BD79-E4558D660349}"/>
          </ac:spMkLst>
        </pc:spChg>
        <pc:spChg chg="mod">
          <ac:chgData name="Zonghua Gu" userId="9a7e1853e1951ef5" providerId="LiveId" clId="{CF1FAA12-072C-4ED5-BA76-0FFFAEFDB88A}" dt="2025-10-07T21:02:41.601" v="2184" actId="20577"/>
          <ac:spMkLst>
            <pc:docMk/>
            <pc:sldMk cId="2712133478" sldId="761"/>
            <ac:spMk id="17" creationId="{F1EE9D29-0EC8-C282-D9A8-61D934AF61E2}"/>
          </ac:spMkLst>
        </pc:spChg>
        <pc:graphicFrameChg chg="modGraphic">
          <ac:chgData name="Zonghua Gu" userId="9a7e1853e1951ef5" providerId="LiveId" clId="{CF1FAA12-072C-4ED5-BA76-0FFFAEFDB88A}" dt="2025-10-07T20:03:41.692" v="1571" actId="122"/>
          <ac:graphicFrameMkLst>
            <pc:docMk/>
            <pc:sldMk cId="2712133478" sldId="761"/>
            <ac:graphicFrameMk id="7" creationId="{1C989774-40F6-4ECA-BFC8-71C9B5169472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07T21:06:27.882" v="2268" actId="1076"/>
        <pc:sldMkLst>
          <pc:docMk/>
          <pc:sldMk cId="482610726" sldId="762"/>
        </pc:sldMkLst>
        <pc:spChg chg="mod">
          <ac:chgData name="Zonghua Gu" userId="9a7e1853e1951ef5" providerId="LiveId" clId="{CF1FAA12-072C-4ED5-BA76-0FFFAEFDB88A}" dt="2025-10-07T19:27:27.529" v="944" actId="20577"/>
          <ac:spMkLst>
            <pc:docMk/>
            <pc:sldMk cId="482610726" sldId="762"/>
            <ac:spMk id="14" creationId="{13A27D9B-9EBF-08B8-4E8F-09D45776E8CB}"/>
          </ac:spMkLst>
        </pc:spChg>
        <pc:spChg chg="mod">
          <ac:chgData name="Zonghua Gu" userId="9a7e1853e1951ef5" providerId="LiveId" clId="{CF1FAA12-072C-4ED5-BA76-0FFFAEFDB88A}" dt="2025-10-07T19:28:05.751" v="969" actId="404"/>
          <ac:spMkLst>
            <pc:docMk/>
            <pc:sldMk cId="482610726" sldId="762"/>
            <ac:spMk id="15" creationId="{67DCB79A-ACA6-590E-3592-3F2243A23EFD}"/>
          </ac:spMkLst>
        </pc:spChg>
        <pc:spChg chg="mod">
          <ac:chgData name="Zonghua Gu" userId="9a7e1853e1951ef5" providerId="LiveId" clId="{CF1FAA12-072C-4ED5-BA76-0FFFAEFDB88A}" dt="2025-10-07T19:28:22.252" v="972" actId="20577"/>
          <ac:spMkLst>
            <pc:docMk/>
            <pc:sldMk cId="482610726" sldId="762"/>
            <ac:spMk id="16" creationId="{7CF8F5E2-238C-2AD4-FEDA-207B99D98563}"/>
          </ac:spMkLst>
        </pc:spChg>
        <pc:spChg chg="mod">
          <ac:chgData name="Zonghua Gu" userId="9a7e1853e1951ef5" providerId="LiveId" clId="{CF1FAA12-072C-4ED5-BA76-0FFFAEFDB88A}" dt="2025-10-07T21:06:27.882" v="2268" actId="1076"/>
          <ac:spMkLst>
            <pc:docMk/>
            <pc:sldMk cId="482610726" sldId="762"/>
            <ac:spMk id="17" creationId="{624BD3A1-CEAD-729E-A0ED-B1CE1475FB6C}"/>
          </ac:spMkLst>
        </pc:spChg>
        <pc:graphicFrameChg chg="modGraphic">
          <ac:chgData name="Zonghua Gu" userId="9a7e1853e1951ef5" providerId="LiveId" clId="{CF1FAA12-072C-4ED5-BA76-0FFFAEFDB88A}" dt="2025-10-07T20:03:23.225" v="1570" actId="122"/>
          <ac:graphicFrameMkLst>
            <pc:docMk/>
            <pc:sldMk cId="482610726" sldId="762"/>
            <ac:graphicFrameMk id="7" creationId="{E7B1EB4D-9D56-E473-23EC-2DCBC92C1FA8}"/>
          </ac:graphicFrameMkLst>
        </pc:graphicFrameChg>
      </pc:sldChg>
      <pc:sldChg chg="addSp delSp modSp add mod modNotesTx">
        <pc:chgData name="Zonghua Gu" userId="9a7e1853e1951ef5" providerId="LiveId" clId="{CF1FAA12-072C-4ED5-BA76-0FFFAEFDB88A}" dt="2025-10-07T21:07:03.948" v="2271" actId="14100"/>
        <pc:sldMkLst>
          <pc:docMk/>
          <pc:sldMk cId="3741490578" sldId="763"/>
        </pc:sldMkLst>
        <pc:spChg chg="mod">
          <ac:chgData name="Zonghua Gu" userId="9a7e1853e1951ef5" providerId="LiveId" clId="{CF1FAA12-072C-4ED5-BA76-0FFFAEFDB88A}" dt="2025-10-07T19:47:40.968" v="1303" actId="20577"/>
          <ac:spMkLst>
            <pc:docMk/>
            <pc:sldMk cId="3741490578" sldId="763"/>
            <ac:spMk id="11" creationId="{35702EE7-77AE-83EC-DBDD-6F6BFDB540CB}"/>
          </ac:spMkLst>
        </pc:spChg>
        <pc:spChg chg="mod">
          <ac:chgData name="Zonghua Gu" userId="9a7e1853e1951ef5" providerId="LiveId" clId="{CF1FAA12-072C-4ED5-BA76-0FFFAEFDB88A}" dt="2025-10-07T19:47:43.192" v="1305" actId="20577"/>
          <ac:spMkLst>
            <pc:docMk/>
            <pc:sldMk cId="3741490578" sldId="763"/>
            <ac:spMk id="14" creationId="{E7DE8F13-E87B-85C0-3E66-3A282E155966}"/>
          </ac:spMkLst>
        </pc:spChg>
        <pc:spChg chg="mod">
          <ac:chgData name="Zonghua Gu" userId="9a7e1853e1951ef5" providerId="LiveId" clId="{CF1FAA12-072C-4ED5-BA76-0FFFAEFDB88A}" dt="2025-10-07T19:48:14.634" v="1322" actId="20577"/>
          <ac:spMkLst>
            <pc:docMk/>
            <pc:sldMk cId="3741490578" sldId="763"/>
            <ac:spMk id="15" creationId="{246E3F86-0810-DA82-7EA1-5E17D0846E2F}"/>
          </ac:spMkLst>
        </pc:spChg>
        <pc:spChg chg="mod">
          <ac:chgData name="Zonghua Gu" userId="9a7e1853e1951ef5" providerId="LiveId" clId="{CF1FAA12-072C-4ED5-BA76-0FFFAEFDB88A}" dt="2025-10-07T19:51:32.505" v="1395" actId="20577"/>
          <ac:spMkLst>
            <pc:docMk/>
            <pc:sldMk cId="3741490578" sldId="763"/>
            <ac:spMk id="16" creationId="{96317C32-947E-A6F4-BC8E-C46284D01C24}"/>
          </ac:spMkLst>
        </pc:spChg>
        <pc:spChg chg="mod">
          <ac:chgData name="Zonghua Gu" userId="9a7e1853e1951ef5" providerId="LiveId" clId="{CF1FAA12-072C-4ED5-BA76-0FFFAEFDB88A}" dt="2025-10-07T21:07:03.948" v="2271" actId="14100"/>
          <ac:spMkLst>
            <pc:docMk/>
            <pc:sldMk cId="3741490578" sldId="763"/>
            <ac:spMk id="17" creationId="{4AB0EB01-AB9A-79D1-E864-47FEB2A8BB2A}"/>
          </ac:spMkLst>
        </pc:spChg>
        <pc:graphicFrameChg chg="mod modGraphic">
          <ac:chgData name="Zonghua Gu" userId="9a7e1853e1951ef5" providerId="LiveId" clId="{CF1FAA12-072C-4ED5-BA76-0FFFAEFDB88A}" dt="2025-10-07T19:51:14.504" v="1394" actId="20577"/>
          <ac:graphicFrameMkLst>
            <pc:docMk/>
            <pc:sldMk cId="3741490578" sldId="763"/>
            <ac:graphicFrameMk id="7" creationId="{C0675F8E-EB20-E461-4C15-CD0B7BF942DE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07T20:00:57.561" v="1552" actId="1076"/>
        <pc:sldMkLst>
          <pc:docMk/>
          <pc:sldMk cId="220632585" sldId="764"/>
        </pc:sldMkLst>
        <pc:picChg chg="add mod">
          <ac:chgData name="Zonghua Gu" userId="9a7e1853e1951ef5" providerId="LiveId" clId="{CF1FAA12-072C-4ED5-BA76-0FFFAEFDB88A}" dt="2025-10-07T20:00:57.561" v="1552" actId="1076"/>
          <ac:picMkLst>
            <pc:docMk/>
            <pc:sldMk cId="220632585" sldId="764"/>
            <ac:picMk id="11" creationId="{62D51E8B-70F1-53EE-AD4B-F18641609879}"/>
          </ac:picMkLst>
        </pc:picChg>
        <pc:picChg chg="add mod">
          <ac:chgData name="Zonghua Gu" userId="9a7e1853e1951ef5" providerId="LiveId" clId="{CF1FAA12-072C-4ED5-BA76-0FFFAEFDB88A}" dt="2025-10-07T20:00:52.874" v="1551" actId="1076"/>
          <ac:picMkLst>
            <pc:docMk/>
            <pc:sldMk cId="220632585" sldId="764"/>
            <ac:picMk id="13" creationId="{52270794-1CFF-336B-C8A3-71E6232C6BEB}"/>
          </ac:picMkLst>
        </pc:picChg>
        <pc:picChg chg="add mod">
          <ac:chgData name="Zonghua Gu" userId="9a7e1853e1951ef5" providerId="LiveId" clId="{CF1FAA12-072C-4ED5-BA76-0FFFAEFDB88A}" dt="2025-10-07T20:00:57.561" v="1552" actId="1076"/>
          <ac:picMkLst>
            <pc:docMk/>
            <pc:sldMk cId="220632585" sldId="764"/>
            <ac:picMk id="15" creationId="{CF5B4FC4-7E21-DCE8-0AA2-1E2E416AE0D5}"/>
          </ac:picMkLst>
        </pc:picChg>
        <pc:picChg chg="add mod">
          <ac:chgData name="Zonghua Gu" userId="9a7e1853e1951ef5" providerId="LiveId" clId="{CF1FAA12-072C-4ED5-BA76-0FFFAEFDB88A}" dt="2025-10-07T20:00:52.874" v="1551" actId="1076"/>
          <ac:picMkLst>
            <pc:docMk/>
            <pc:sldMk cId="220632585" sldId="764"/>
            <ac:picMk id="17" creationId="{C8D4E74F-BA44-C4D4-025B-1B21C4165DAE}"/>
          </ac:picMkLst>
        </pc:picChg>
      </pc:sldChg>
      <pc:sldChg chg="new del">
        <pc:chgData name="Zonghua Gu" userId="9a7e1853e1951ef5" providerId="LiveId" clId="{CF1FAA12-072C-4ED5-BA76-0FFFAEFDB88A}" dt="2025-10-07T20:34:52.952" v="1950" actId="47"/>
        <pc:sldMkLst>
          <pc:docMk/>
          <pc:sldMk cId="395910308" sldId="765"/>
        </pc:sldMkLst>
      </pc:sldChg>
      <pc:sldChg chg="new del">
        <pc:chgData name="Zonghua Gu" userId="9a7e1853e1951ef5" providerId="LiveId" clId="{CF1FAA12-072C-4ED5-BA76-0FFFAEFDB88A}" dt="2025-10-07T21:09:55.058" v="2273" actId="47"/>
        <pc:sldMkLst>
          <pc:docMk/>
          <pc:sldMk cId="1665887641" sldId="765"/>
        </pc:sldMkLst>
      </pc:sldChg>
      <pc:sldChg chg="new del">
        <pc:chgData name="Zonghua Gu" userId="9a7e1853e1951ef5" providerId="LiveId" clId="{CF1FAA12-072C-4ED5-BA76-0FFFAEFDB88A}" dt="2025-10-07T20:47:52.948" v="2086" actId="680"/>
        <pc:sldMkLst>
          <pc:docMk/>
          <pc:sldMk cId="2797113027" sldId="765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eb.cs.umass.edu/~weems/homepage/335-Notes/ewExternalFiles/Lecture%2015.pdf" TargetMode="External"/><Relationship Id="rId3" Type="http://schemas.openxmlformats.org/officeDocument/2006/relationships/hyperlink" Target="https://developer.arm.com/documentation/ddi0597/latest/Base-Instructions/RSB--RSBS--register---Reverse-Subtract--register--" TargetMode="External"/><Relationship Id="rId7" Type="http://schemas.openxmlformats.org/officeDocument/2006/relationships/hyperlink" Target="https://iitd-plos.github.io/col718/ref/arm-instructionset.pdf" TargetMode="External"/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csie.ntu.edu.tw/~cyy/courses/assembly/12fall/lectures/handouts/lec09_ARMisa.pdf" TargetMode="External"/><Relationship Id="rId11" Type="http://schemas.openxmlformats.org/officeDocument/2006/relationships/hyperlink" Target="https://salmanarif.bitbucket.io/visual/supported_instructions.html" TargetMode="External"/><Relationship Id="rId5" Type="http://schemas.openxmlformats.org/officeDocument/2006/relationships/hyperlink" Target="https://stackoverflow.com/questions/42042832/what-does-this-rsb-instruction-do-with-an-extra-lsl-1-operand" TargetMode="External"/><Relationship Id="rId10" Type="http://schemas.openxmlformats.org/officeDocument/2006/relationships/hyperlink" Target="https://keleshev.com/compiling-to-assembly-from-scratch/07-arm-assembly-programming" TargetMode="External"/><Relationship Id="rId4" Type="http://schemas.openxmlformats.org/officeDocument/2006/relationships/hyperlink" Target="https://developer.arm.com/documentation/dui0231/latest/arm-instruction-reference/arm-general-data-processing-instructions/add--sub--rsb--adc--sbc--and-rsc" TargetMode="External"/><Relationship Id="rId9" Type="http://schemas.openxmlformats.org/officeDocument/2006/relationships/hyperlink" Target="https://cseweb.ucsd.edu/classes/wi14/cse30-c/lectures/PI_WI_14_CSE30_lecture_8_post.pdf" TargetMode="Externa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23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604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17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9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70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322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48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 dirty="0"/>
              <a:t>BIC	bit clear</a:t>
            </a:r>
          </a:p>
          <a:p>
            <a:r>
              <a:rPr lang="en-US" dirty="0"/>
              <a:t>ORR	bit set</a:t>
            </a:r>
          </a:p>
          <a:p>
            <a:r>
              <a:rPr lang="en-US" dirty="0"/>
              <a:t>AND	bit mask</a:t>
            </a:r>
          </a:p>
          <a:p>
            <a:r>
              <a:rPr lang="en-US" dirty="0"/>
              <a:t>EOR	bit invert</a:t>
            </a:r>
          </a:p>
          <a:p>
            <a:endParaRPr lang="en-US" dirty="0"/>
          </a:p>
          <a:p>
            <a:r>
              <a:rPr lang="en-US" dirty="0"/>
              <a:t>Comparisons produce no results - just set condition codes.</a:t>
            </a:r>
          </a:p>
          <a:p>
            <a:r>
              <a:rPr lang="en-US" dirty="0"/>
              <a:t>CMP	like SUB</a:t>
            </a:r>
          </a:p>
          <a:p>
            <a:r>
              <a:rPr lang="en-US" dirty="0"/>
              <a:t>CMN	like ADD (subtract of a negative number is the same as add)</a:t>
            </a:r>
          </a:p>
          <a:p>
            <a:r>
              <a:rPr lang="en-US" dirty="0"/>
              <a:t>TST	like AND</a:t>
            </a:r>
          </a:p>
          <a:p>
            <a:r>
              <a:rPr lang="en-US" dirty="0"/>
              <a:t>TEQ	like EOR (</a:t>
            </a:r>
            <a:r>
              <a:rPr lang="en-US" dirty="0" err="1"/>
              <a:t>eor</a:t>
            </a:r>
            <a:r>
              <a:rPr lang="en-US" dirty="0"/>
              <a:t> of identical numbers gives result of zero)</a:t>
            </a:r>
          </a:p>
          <a:p>
            <a:endParaRPr lang="en-US" dirty="0"/>
          </a:p>
          <a:p>
            <a:r>
              <a:rPr lang="en-US" dirty="0"/>
              <a:t>Generally single-cycle execution (except write to PC and register-controlled shift).  Mention ARM NOP &amp; Thumb NOP.</a:t>
            </a:r>
          </a:p>
          <a:p>
            <a:r>
              <a:rPr lang="en-US" dirty="0"/>
              <a:t>Explain RSB and RSC which do subtract in other order (e.g. y-x not x-y)</a:t>
            </a:r>
          </a:p>
          <a:p>
            <a:r>
              <a:rPr lang="en-US" dirty="0"/>
              <a:t>Does not include multiply (separate </a:t>
            </a:r>
            <a:r>
              <a:rPr lang="en-US" dirty="0" err="1"/>
              <a:t>instr</a:t>
            </a:r>
            <a:r>
              <a:rPr lang="en-US" dirty="0"/>
              <a:t> format).  No divide - compiler uses run-time library or barrel shifter to perform division.</a:t>
            </a:r>
          </a:p>
          <a:p>
            <a:r>
              <a:rPr lang="en-US" dirty="0"/>
              <a:t>Can combine “S” bit with conditional execution, e.g.</a:t>
            </a:r>
          </a:p>
          <a:p>
            <a:r>
              <a:rPr lang="en-US" dirty="0"/>
              <a:t>	ADDEQS r0, r1, r2</a:t>
            </a:r>
          </a:p>
        </p:txBody>
      </p:sp>
      <p:sp>
        <p:nvSpPr>
          <p:cNvPr id="4813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326167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0771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889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prstClr val="black"/>
                </a:solidFill>
                <a:latin typeface="+mn-lt"/>
              </a:rPr>
              <a:t>Every arithmetic, logical, or shifting operation sets </a:t>
            </a:r>
            <a:r>
              <a:rPr lang="en-US" sz="1200" dirty="0" err="1">
                <a:solidFill>
                  <a:prstClr val="black"/>
                </a:solidFill>
                <a:latin typeface="+mn-lt"/>
              </a:rPr>
              <a:t>xPSR</a:t>
            </a:r>
            <a:r>
              <a:rPr lang="en-US" sz="1200" dirty="0">
                <a:solidFill>
                  <a:prstClr val="black"/>
                </a:solidFill>
                <a:latin typeface="+mn-lt"/>
              </a:rPr>
              <a:t> bits: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2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61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Combined Program Status Register (</a:t>
            </a:r>
            <a:r>
              <a:rPr lang="en-US" dirty="0" err="1"/>
              <a:t>xPSR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5386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011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65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676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6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4195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35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4714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71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49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Since multiplication is a slow operation, we can shift i’s value left two bit positions.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+ r0 &lt;&lt; 3 = r0 + 8 × r0 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779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23891355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LSR (used here)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Always fills with zeros, converting the negative value to a large positive number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Would preserve the sign bit, maintaining the negative value (-4096)</a:t>
            </a:r>
          </a:p>
          <a:p>
            <a:r>
              <a:rPr lang="en-US" dirty="0"/>
              <a:t>The carry flag captures the last bit shifted out of the register during shift operations, when the instruction explicitly updates flags (using S suffix like MOVS, LSLS, ASRS)</a:t>
            </a:r>
          </a:p>
          <a:p>
            <a:pPr lvl="1"/>
            <a:r>
              <a:rPr lang="en-US" dirty="0"/>
              <a:t>LSLS (Logical Shift Left): Carry = the last bit shifted out from the MSB position (bit 31) </a:t>
            </a:r>
          </a:p>
          <a:p>
            <a:pPr lvl="1"/>
            <a:r>
              <a:rPr lang="en-US" dirty="0"/>
              <a:t>LSRS (Logical Shift Right),  ASRS (Arithmetic Shift Right): Carry = the last bit shifted out from the LSB position (bit 0) </a:t>
            </a:r>
          </a:p>
          <a:p>
            <a:pPr lvl="1"/>
            <a:r>
              <a:rPr lang="en-US" dirty="0"/>
              <a:t>RORS (Rotate Right): Carry = bit that was rotated from bit 0 to bit 31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105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https://www.davespace.co.uk/arm/introduction-to-arm/barrel-shifter.html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4816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22604152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08398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2101897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14361457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8097140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Subtract using barrel shifter on 2nd operand, giving </a:t>
            </a:r>
            <a:r>
              <a:rPr lang="pt-BR" dirty="0"/>
              <a:t>r5 − (r5 &gt;&gt; n)</a:t>
            </a:r>
          </a:p>
          <a:p>
            <a:endParaRPr lang="en-US" dirty="0"/>
          </a:p>
          <a:p>
            <a:r>
              <a:rPr lang="en-US" dirty="0"/>
              <a:t>RSB r5, r5, r5, LSL #5 computes a reverse-subtract using the barrel shifter on the second operand, giving r5 = (r5 &lt;&lt; 5) − r5.</a:t>
            </a:r>
          </a:p>
          <a:p>
            <a:r>
              <a:rPr lang="en-US" dirty="0"/>
              <a:t>RSB is “Reverse </a:t>
            </a:r>
            <a:r>
              <a:rPr lang="en-US" dirty="0" err="1"/>
              <a:t>SuBtract</a:t>
            </a:r>
            <a:r>
              <a:rPr lang="en-US" dirty="0"/>
              <a:t>”: result = Operand2 − Rn, not Rn − Operand2.</a:t>
            </a:r>
          </a:p>
          <a:p>
            <a:r>
              <a:rPr lang="en-US" dirty="0"/>
              <a:t>Here, Rn is r5, and Operand2 is r5 logically shifted left by 5 bits.</a:t>
            </a:r>
          </a:p>
          <a:p>
            <a:r>
              <a:rPr lang="en-US" dirty="0"/>
              <a:t>Thus Operand2 = r5 × 2^5 = 32·r5, so the operation is r5 = 32·r5 − r5 = 31·r5.</a:t>
            </a:r>
          </a:p>
          <a:p>
            <a:r>
              <a:rPr lang="en-US" dirty="0"/>
              <a:t>No flags are updated because there is no S suffix.</a:t>
            </a:r>
          </a:p>
          <a:p>
            <a:r>
              <a:rPr lang="en-US" dirty="0"/>
              <a:t>Intuition and uses</a:t>
            </a:r>
          </a:p>
          <a:p>
            <a:r>
              <a:rPr lang="en-US" dirty="0"/>
              <a:t>It’s a strength-reduction trick: multiply by 31 using one instruction by combining a shift and a subtract in the ALU’s flexible operand path.</a:t>
            </a:r>
          </a:p>
          <a:p>
            <a:r>
              <a:rPr lang="en-US" dirty="0"/>
              <a:t>Equivalent sequences:</a:t>
            </a:r>
          </a:p>
          <a:p>
            <a:pPr lvl="1"/>
            <a:r>
              <a:rPr lang="en-US" dirty="0"/>
              <a:t>SUB r5, r5, r5, LSR #? is different; SUB would compute r5 − (r5 &gt;&gt; n).</a:t>
            </a:r>
          </a:p>
          <a:p>
            <a:pPr lvl="1"/>
            <a:r>
              <a:rPr lang="en-US" dirty="0"/>
              <a:t>RSB r5, r5, r5, LSL #k generally yields r5 = (2^k − 1)·r5. For k=5, multiplier is 31.</a:t>
            </a:r>
          </a:p>
          <a:p>
            <a:r>
              <a:rPr lang="en-US" dirty="0">
                <a:hlinkClick r:id="rId3"/>
              </a:rPr>
              <a:t>https://developer.arm.com/documentation/ddi0597/latest/Base-Instructions/RSB--RSBS--register---Reverse-Subtract--register--</a:t>
            </a:r>
            <a:endParaRPr lang="en-US" dirty="0"/>
          </a:p>
          <a:p>
            <a:r>
              <a:rPr lang="en-US" dirty="0">
                <a:hlinkClick r:id="rId4"/>
              </a:rPr>
              <a:t>https://developer.arm.com/documentation/dui0231/latest/arm-instruction-reference/arm-general-data-processing-instructions/add--sub--rsb--adc--sbc--and-rsc</a:t>
            </a:r>
            <a:endParaRPr lang="en-US" dirty="0"/>
          </a:p>
          <a:p>
            <a:r>
              <a:rPr lang="en-US" dirty="0">
                <a:hlinkClick r:id="rId5"/>
              </a:rPr>
              <a:t>https://stackoverflow.com/questions/42042832/what-does-this-rsb-instruction-do-with-an-extra-lsl-1-operand</a:t>
            </a:r>
            <a:endParaRPr lang="en-US" dirty="0"/>
          </a:p>
          <a:p>
            <a:r>
              <a:rPr lang="en-US" dirty="0">
                <a:hlinkClick r:id="rId6"/>
              </a:rPr>
              <a:t>https://www.csie.ntu.edu.tw/~cyy/courses/assembly/12fall/lectures/handouts/lec09_ARMisa.pdf</a:t>
            </a:r>
            <a:endParaRPr lang="en-US" dirty="0"/>
          </a:p>
          <a:p>
            <a:r>
              <a:rPr lang="en-US" dirty="0">
                <a:hlinkClick r:id="rId7"/>
              </a:rPr>
              <a:t>https://iitd-plos.github.io/col718/ref/arm-instructionset.pdf</a:t>
            </a:r>
            <a:endParaRPr lang="en-US" dirty="0"/>
          </a:p>
          <a:p>
            <a:r>
              <a:rPr lang="en-US" dirty="0">
                <a:hlinkClick r:id="rId8"/>
              </a:rPr>
              <a:t>https://web.cs.umass.edu/~weems/homepage/335-Notes/ewExternalFiles/Lecture%2015.pdf</a:t>
            </a:r>
            <a:endParaRPr lang="en-US" dirty="0"/>
          </a:p>
          <a:p>
            <a:r>
              <a:rPr lang="en-US" dirty="0">
                <a:hlinkClick r:id="rId9"/>
              </a:rPr>
              <a:t>https://cseweb.ucsd.edu/classes/wi14/cse30-c/lectures/PI_WI_14_CSE30_lecture_8_post.pdf</a:t>
            </a:r>
            <a:endParaRPr lang="en-US" dirty="0"/>
          </a:p>
          <a:p>
            <a:r>
              <a:rPr lang="en-US" dirty="0">
                <a:hlinkClick r:id="rId10"/>
              </a:rPr>
              <a:t>https://keleshev.com/compiling-to-assembly-from-scratch/07-arm-assembly-programming</a:t>
            </a:r>
            <a:endParaRPr lang="en-US" dirty="0"/>
          </a:p>
          <a:p>
            <a:r>
              <a:rPr lang="en-US" dirty="0">
                <a:hlinkClick r:id="rId11"/>
              </a:rPr>
              <a:t>https://salmanarif.bitbucket.io/visual/supported_instructions.html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87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fundamental difference is that RSB reverses the order of the operands in the subtraction operation.</a:t>
            </a:r>
          </a:p>
          <a:p>
            <a:r>
              <a:rPr lang="pt-BR" dirty="0"/>
              <a:t>@ Negation</a:t>
            </a:r>
          </a:p>
          <a:p>
            <a:r>
              <a:rPr lang="pt-BR" dirty="0"/>
              <a:t>RSB R0, R0, #0          @ R0 = -R0</a:t>
            </a:r>
          </a:p>
          <a:p>
            <a:endParaRPr lang="pt-BR" dirty="0"/>
          </a:p>
          <a:p>
            <a:r>
              <a:rPr lang="pt-BR" dirty="0"/>
              <a:t>@ Subtract from constant  </a:t>
            </a:r>
          </a:p>
          <a:p>
            <a:r>
              <a:rPr lang="pt-BR" dirty="0"/>
              <a:t>RSB R2, R4, #100        @ R2 = 100 - R4</a:t>
            </a:r>
          </a:p>
          <a:p>
            <a:endParaRPr lang="pt-BR" dirty="0"/>
          </a:p>
          <a:p>
            <a:r>
              <a:rPr lang="pt-BR" dirty="0"/>
              <a:t>@ Shift and subtract</a:t>
            </a:r>
          </a:p>
          <a:p>
            <a:r>
              <a:rPr lang="pt-BR" dirty="0"/>
              <a:t>RSB R1, R2, R3, LSL #2  @ R1 = (R3 &lt;&lt; 2) - R2</a:t>
            </a:r>
          </a:p>
          <a:p>
            <a:endParaRPr lang="pt-BR" dirty="0"/>
          </a:p>
          <a:p>
            <a:r>
              <a:rPr lang="pt-BR" dirty="0"/>
              <a:t>@ Compare with SUB equivalent</a:t>
            </a:r>
          </a:p>
          <a:p>
            <a:r>
              <a:rPr lang="pt-BR" dirty="0"/>
              <a:t>SUB R5, R3, #10         @ R5 = R3 - 10</a:t>
            </a:r>
          </a:p>
          <a:p>
            <a:r>
              <a:rPr lang="pt-BR" dirty="0"/>
              <a:t>RSB R5, R3, #10         @ R5 = 10 - R3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9674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5958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, logical operations don't affect overflow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9619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Here we can remove the S suffix for all instructions, unless the flags are used by later instructions.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227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4041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4759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003752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01110001 in decimal0x62 = 01100010, its negation TC(01100010) = 10011110 = 0x9E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979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10/14/2025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10/14/2025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tiff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22.png"/><Relationship Id="rId4" Type="http://schemas.openxmlformats.org/officeDocument/2006/relationships/image" Target="../media/image4.png"/><Relationship Id="rId9" Type="http://schemas.openxmlformats.org/officeDocument/2006/relationships/image" Target="../media/image2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0.png"/><Relationship Id="rId5" Type="http://schemas.openxmlformats.org/officeDocument/2006/relationships/image" Target="../media/image27.png"/><Relationship Id="rId4" Type="http://schemas.openxmlformats.org/officeDocument/2006/relationships/image" Target="../media/image21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32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-vOP2yRUj4&amp;list=PLRJhV4hUhIymmp5CCeIFPyxbknsdcXCc8&amp;index=25" TargetMode="External"/><Relationship Id="rId2" Type="http://schemas.openxmlformats.org/officeDocument/2006/relationships/hyperlink" Target="https://www.youtube.com/watch?v=9cXe_T99nL4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SGJibM1D2_A&amp;list=PLRJhV4hUhIymmp5CCeIFPyxbknsdcXCc8&amp;index=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31425" y="392775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884029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2233138" y="6355081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98573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pic>
        <p:nvPicPr>
          <p:cNvPr id="26" name="Graphic 25" descr="Question Mark with solid fill">
            <a:extLst>
              <a:ext uri="{FF2B5EF4-FFF2-40B4-BE49-F238E27FC236}">
                <a16:creationId xmlns:a16="http://schemas.microsoft.com/office/drawing/2014/main" id="{41B280B5-FCEA-8A42-9DC5-D094F49DE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75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826E29-2BE5-7249-99F2-68AF7CE4E7D7}"/>
              </a:ext>
            </a:extLst>
          </p:cNvPr>
          <p:cNvCxnSpPr>
            <a:cxnSpLocks/>
          </p:cNvCxnSpPr>
          <p:nvPr/>
        </p:nvCxnSpPr>
        <p:spPr>
          <a:xfrm flipV="1">
            <a:off x="7873769" y="5104360"/>
            <a:ext cx="0" cy="5344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35BF16-DA30-0040-A3F3-952D814B9134}"/>
              </a:ext>
            </a:extLst>
          </p:cNvPr>
          <p:cNvCxnSpPr>
            <a:cxnSpLocks/>
          </p:cNvCxnSpPr>
          <p:nvPr/>
        </p:nvCxnSpPr>
        <p:spPr>
          <a:xfrm flipH="1" flipV="1">
            <a:off x="8555694" y="5104360"/>
            <a:ext cx="3875" cy="91544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764CC6-68A5-C044-BCA1-696806728AC8}"/>
              </a:ext>
            </a:extLst>
          </p:cNvPr>
          <p:cNvCxnSpPr>
            <a:cxnSpLocks/>
          </p:cNvCxnSpPr>
          <p:nvPr/>
        </p:nvCxnSpPr>
        <p:spPr>
          <a:xfrm>
            <a:off x="7416569" y="5638800"/>
            <a:ext cx="4572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862FE3A-16A8-9343-A329-7572F8B89554}"/>
              </a:ext>
            </a:extLst>
          </p:cNvPr>
          <p:cNvCxnSpPr>
            <a:cxnSpLocks/>
          </p:cNvCxnSpPr>
          <p:nvPr/>
        </p:nvCxnSpPr>
        <p:spPr>
          <a:xfrm flipV="1">
            <a:off x="9165294" y="5085113"/>
            <a:ext cx="0" cy="476967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350375F-5850-4B40-A618-9AFC5D7E0E7F}"/>
              </a:ext>
            </a:extLst>
          </p:cNvPr>
          <p:cNvCxnSpPr>
            <a:cxnSpLocks/>
          </p:cNvCxnSpPr>
          <p:nvPr/>
        </p:nvCxnSpPr>
        <p:spPr>
          <a:xfrm>
            <a:off x="9165294" y="5562600"/>
            <a:ext cx="457200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A90F78-6BDC-D740-B4BF-027EA3A68C27}"/>
              </a:ext>
            </a:extLst>
          </p:cNvPr>
          <p:cNvCxnSpPr>
            <a:cxnSpLocks/>
          </p:cNvCxnSpPr>
          <p:nvPr/>
        </p:nvCxnSpPr>
        <p:spPr>
          <a:xfrm>
            <a:off x="8559569" y="6019800"/>
            <a:ext cx="1062925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E08C015-7492-3341-9D8F-DE5EFECAC711}"/>
              </a:ext>
            </a:extLst>
          </p:cNvPr>
          <p:cNvSpPr txBox="1"/>
          <p:nvPr/>
        </p:nvSpPr>
        <p:spPr>
          <a:xfrm>
            <a:off x="9602104" y="5362315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DDBA8A-1BD0-D54C-A3BC-6007AFDD4738}"/>
              </a:ext>
            </a:extLst>
          </p:cNvPr>
          <p:cNvSpPr txBox="1"/>
          <p:nvPr/>
        </p:nvSpPr>
        <p:spPr>
          <a:xfrm>
            <a:off x="9622494" y="5804544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A0D524-B0B7-824D-AB49-E0588C9B77A6}"/>
              </a:ext>
            </a:extLst>
          </p:cNvPr>
          <p:cNvSpPr txBox="1"/>
          <p:nvPr/>
        </p:nvSpPr>
        <p:spPr>
          <a:xfrm>
            <a:off x="6148272" y="5468976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Destination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8A572CD-4ED3-4241-AFBC-A3E6A7AA7A24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</p:spTree>
    <p:extLst>
      <p:ext uri="{BB962C8B-B14F-4D97-AF65-F5344CB8AC3E}">
        <p14:creationId xmlns:p14="http://schemas.microsoft.com/office/powerpoint/2010/main" val="20293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10"/>
                            </p:stCondLst>
                            <p:childTnLst>
                              <p:par>
                                <p:cTn id="1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1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1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1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10"/>
                            </p:stCondLst>
                            <p:childTnLst>
                              <p:par>
                                <p:cTn id="34" presetID="3" presetClass="emph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2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2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9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7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Question Mark with solid fill">
            <a:extLst>
              <a:ext uri="{FF2B5EF4-FFF2-40B4-BE49-F238E27FC236}">
                <a16:creationId xmlns:a16="http://schemas.microsoft.com/office/drawing/2014/main" id="{071EC724-72E6-814C-9C63-7FF857DE0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5A4F3DF-DD76-A049-B2F3-F44E9B8BA0EF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0DBBA-EC80-C644-A176-62165ED8FBB6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</p:spTree>
    <p:extLst>
      <p:ext uri="{BB962C8B-B14F-4D97-AF65-F5344CB8AC3E}">
        <p14:creationId xmlns:p14="http://schemas.microsoft.com/office/powerpoint/2010/main" val="2101084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586F1E6-25F6-E04C-8DDA-1F611AF4A007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D8AB9D-BC4E-DC4B-80CE-C8256CA54BF1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3C6E7C-52B6-E544-AF67-E975A7243524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2659EC-4086-7D4C-82CB-9B19841DCF49}"/>
              </a:ext>
            </a:extLst>
          </p:cNvPr>
          <p:cNvSpPr txBox="1"/>
          <p:nvPr/>
        </p:nvSpPr>
        <p:spPr>
          <a:xfrm>
            <a:off x="7822599" y="5442879"/>
            <a:ext cx="350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432FF"/>
                </a:solidFill>
              </a:rPr>
              <a:t> works for both signed and unsigned add operations.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4040BC-124A-B242-8064-9E6EB050A4FB}"/>
              </a:ext>
            </a:extLst>
          </p:cNvPr>
          <p:cNvCxnSpPr>
            <a:stCxn id="4" idx="1"/>
          </p:cNvCxnSpPr>
          <p:nvPr/>
        </p:nvCxnSpPr>
        <p:spPr>
          <a:xfrm flipH="1" flipV="1">
            <a:off x="7365399" y="5065923"/>
            <a:ext cx="457200" cy="700122"/>
          </a:xfrm>
          <a:prstGeom prst="straightConnector1">
            <a:avLst/>
          </a:prstGeom>
          <a:ln w="28575">
            <a:solidFill>
              <a:srgbClr val="0432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357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pic>
        <p:nvPicPr>
          <p:cNvPr id="18" name="Graphic 17" descr="Question Mark with solid fill">
            <a:extLst>
              <a:ext uri="{FF2B5EF4-FFF2-40B4-BE49-F238E27FC236}">
                <a16:creationId xmlns:a16="http://schemas.microsoft.com/office/drawing/2014/main" id="{D9C6DECC-0DA3-BA40-853A-EF2B71FF0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5096" y="4495800"/>
            <a:ext cx="572353" cy="57235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B8E278A-D1C7-434E-85A2-D0992704D4C5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207E71-3A58-7D41-A68A-B0A067D6C6A1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</p:spTree>
    <p:extLst>
      <p:ext uri="{BB962C8B-B14F-4D97-AF65-F5344CB8AC3E}">
        <p14:creationId xmlns:p14="http://schemas.microsoft.com/office/powerpoint/2010/main" val="4279919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703038" y="4091970"/>
            <a:ext cx="442216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r3, [r0]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Read x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r4, [r1]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Read y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r5, r3, r4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 r5, [r2]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Write z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2E701D-CCD6-C341-A8D5-820DB4749F0C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C6B41B-1128-554A-BF0F-D176AA23D3B0}"/>
              </a:ext>
            </a:extLst>
          </p:cNvPr>
          <p:cNvSpPr txBox="1"/>
          <p:nvPr/>
        </p:nvSpPr>
        <p:spPr>
          <a:xfrm>
            <a:off x="7421820" y="5826034"/>
            <a:ext cx="2321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Load, modify, and store</a:t>
            </a:r>
          </a:p>
        </p:txBody>
      </p:sp>
    </p:spTree>
    <p:extLst>
      <p:ext uri="{BB962C8B-B14F-4D97-AF65-F5344CB8AC3E}">
        <p14:creationId xmlns:p14="http://schemas.microsoft.com/office/powerpoint/2010/main" val="3492871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Arithmetic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582400" cy="4937760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Add with carry, r0 = r1 + r2 + carry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r1 -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Subtract with borrow, r0 = r1 - r2 – (1 – carry) 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* r2, product limited to 32 bits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divide, r0 = r1 / r2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divide, r0 = r1 / r2 </a:t>
            </a:r>
          </a:p>
          <a:p>
            <a:pPr marL="0" indent="0">
              <a:buNone/>
            </a:pPr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multiply (64-bit product), r1:r0 = r2 * r3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multiply (64-bit product), r1:r0 = r2 * r3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867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Logical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058400" cy="1904995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AND, r0 = r1 AND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OR, r0 = r1 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EOR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Exclusive OR, r0 = r1 EOR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 NOT, r0 = r1 ORN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F823B5-D55E-B441-B550-44C323E1936A}"/>
              </a:ext>
            </a:extLst>
          </p:cNvPr>
          <p:cNvGrpSpPr/>
          <p:nvPr/>
        </p:nvGrpSpPr>
        <p:grpSpPr>
          <a:xfrm>
            <a:off x="1371600" y="3505200"/>
            <a:ext cx="9829800" cy="2590800"/>
            <a:chOff x="609600" y="3657600"/>
            <a:chExt cx="9829800" cy="2590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493F81-2B07-1E4D-B8F9-4D2F4FDEB8DC}"/>
                </a:ext>
              </a:extLst>
            </p:cNvPr>
            <p:cNvCxnSpPr/>
            <p:nvPr/>
          </p:nvCxnSpPr>
          <p:spPr>
            <a:xfrm>
              <a:off x="1866243" y="5261575"/>
              <a:ext cx="833954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4981E17-ABF7-FB4A-B201-BCA02CCCC258}"/>
                </a:ext>
              </a:extLst>
            </p:cNvPr>
            <p:cNvCxnSpPr/>
            <p:nvPr/>
          </p:nvCxnSpPr>
          <p:spPr>
            <a:xfrm>
              <a:off x="10153743" y="4252105"/>
              <a:ext cx="0" cy="29536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906813D-EC71-B946-ACC5-BDB124A52093}"/>
                </a:ext>
              </a:extLst>
            </p:cNvPr>
            <p:cNvCxnSpPr/>
            <p:nvPr/>
          </p:nvCxnSpPr>
          <p:spPr>
            <a:xfrm>
              <a:off x="2057400" y="4257765"/>
              <a:ext cx="0" cy="31423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48B124-687E-524F-9814-31D45E8494E9}"/>
                </a:ext>
              </a:extLst>
            </p:cNvPr>
            <p:cNvSpPr txBox="1"/>
            <p:nvPr/>
          </p:nvSpPr>
          <p:spPr>
            <a:xfrm>
              <a:off x="2057400" y="4517478"/>
              <a:ext cx="82375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1  1  0  1  0  1  0  1  0  1  0  1  0  1  0  1  0  1  0  1  0  1  0  1  0  1  0  1  0  1  0  1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1  0  1  0  1  0  1  0  1  0  1  0  1  0  1  1  1  0  1  0  1  0  1  0  1  0  1  0  1  0  1  1</a:t>
              </a:r>
            </a:p>
            <a:p>
              <a:r>
                <a:rPr lang="en-US" b="1" dirty="0"/>
                <a:t> 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1  0  0  0  0  0  0  0  0  0  0  0  0  0  0  1  0  0  0  0  0  0  0  0  0  0  0  0  0  0  0  1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F261751-3A68-4844-B814-D9F84DD73D12}"/>
                </a:ext>
              </a:extLst>
            </p:cNvPr>
            <p:cNvCxnSpPr/>
            <p:nvPr/>
          </p:nvCxnSpPr>
          <p:spPr>
            <a:xfrm>
              <a:off x="2094843" y="4423375"/>
              <a:ext cx="8058901" cy="0"/>
            </a:xfrm>
            <a:prstGeom prst="straightConnector1">
              <a:avLst/>
            </a:prstGeom>
            <a:ln>
              <a:prstDash val="dash"/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DFFDC3F-F75E-2E4B-9B25-D7507BE39B3C}"/>
                </a:ext>
              </a:extLst>
            </p:cNvPr>
            <p:cNvSpPr txBox="1"/>
            <p:nvPr/>
          </p:nvSpPr>
          <p:spPr>
            <a:xfrm>
              <a:off x="5525033" y="4109140"/>
              <a:ext cx="7425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32 bits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5F647D-55AF-1A4E-A3AC-47DCCE763325}"/>
                </a:ext>
              </a:extLst>
            </p:cNvPr>
            <p:cNvSpPr txBox="1"/>
            <p:nvPr/>
          </p:nvSpPr>
          <p:spPr>
            <a:xfrm>
              <a:off x="1690643" y="44958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CA5AEC-5795-C242-BA24-FBD9BD93DB2B}"/>
                </a:ext>
              </a:extLst>
            </p:cNvPr>
            <p:cNvSpPr txBox="1"/>
            <p:nvPr/>
          </p:nvSpPr>
          <p:spPr>
            <a:xfrm>
              <a:off x="1690643" y="4776654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776E56-00AC-254D-95D2-AB0EE8090247}"/>
                </a:ext>
              </a:extLst>
            </p:cNvPr>
            <p:cNvSpPr txBox="1"/>
            <p:nvPr/>
          </p:nvSpPr>
          <p:spPr>
            <a:xfrm>
              <a:off x="1673712" y="532834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D3886D-7DFF-1542-B200-3D6BE8F6D063}"/>
                </a:ext>
              </a:extLst>
            </p:cNvPr>
            <p:cNvSpPr txBox="1"/>
            <p:nvPr/>
          </p:nvSpPr>
          <p:spPr>
            <a:xfrm>
              <a:off x="4828894" y="5798514"/>
              <a:ext cx="2037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Bit-wise Logic </a:t>
              </a:r>
              <a:r>
                <a:rPr lang="en-US" dirty="0">
                  <a:solidFill>
                    <a:srgbClr val="FF0000"/>
                  </a:solidFill>
                </a:rPr>
                <a:t>AND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0DF428-B653-C84F-BFA6-B30CA2C23303}"/>
                </a:ext>
              </a:extLst>
            </p:cNvPr>
            <p:cNvSpPr/>
            <p:nvPr/>
          </p:nvSpPr>
          <p:spPr>
            <a:xfrm>
              <a:off x="760812" y="3742715"/>
              <a:ext cx="2210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AA5DE9-55F8-8542-8C15-B77174797D82}"/>
                </a:ext>
              </a:extLst>
            </p:cNvPr>
            <p:cNvSpPr/>
            <p:nvPr/>
          </p:nvSpPr>
          <p:spPr>
            <a:xfrm>
              <a:off x="609600" y="3657600"/>
              <a:ext cx="9829800" cy="2590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8474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Shift &amp; Rotate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88403" y="1318895"/>
            <a:ext cx="6627383" cy="486156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left,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&lt;&lt;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right,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Arithmetic shift right,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Rotate right, 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r1 rotate by r2 bits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Extended rotate right, {C, r0} = {C, r1} rotate by r2 bits</a:t>
            </a:r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6E705DD6-9553-D04B-A555-CCFDA3792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2154120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Right (</a:t>
            </a:r>
            <a:r>
              <a:rPr lang="en-US" sz="1600" b="1" dirty="0" err="1">
                <a:latin typeface="Arial" pitchFamily="34" charset="0"/>
              </a:rPr>
              <a:t>LSR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8" name="Rectangle 35">
            <a:extLst>
              <a:ext uri="{FF2B5EF4-FFF2-40B4-BE49-F238E27FC236}">
                <a16:creationId xmlns:a16="http://schemas.microsoft.com/office/drawing/2014/main" id="{32668D47-568D-B949-AA9F-F3397AFB0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4214755"/>
            <a:ext cx="3113087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(</a:t>
            </a:r>
            <a:r>
              <a:rPr lang="en-US" sz="1600" b="1" dirty="0" err="1">
                <a:latin typeface="Arial" pitchFamily="34" charset="0"/>
              </a:rPr>
              <a:t>ROR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9" name="Rectangle 44">
            <a:extLst>
              <a:ext uri="{FF2B5EF4-FFF2-40B4-BE49-F238E27FC236}">
                <a16:creationId xmlns:a16="http://schemas.microsoft.com/office/drawing/2014/main" id="{36B390E0-2BA9-D74A-92AD-8A9A49F1B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5275212"/>
            <a:ext cx="335121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Extended (</a:t>
            </a:r>
            <a:r>
              <a:rPr lang="en-US" sz="1600" b="1" dirty="0" err="1">
                <a:latin typeface="Arial" pitchFamily="34" charset="0"/>
              </a:rPr>
              <a:t>RRX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5" name="Rectangle 18">
            <a:extLst>
              <a:ext uri="{FF2B5EF4-FFF2-40B4-BE49-F238E27FC236}">
                <a16:creationId xmlns:a16="http://schemas.microsoft.com/office/drawing/2014/main" id="{7A48F613-746A-B14C-87F2-95EBA60A1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1233664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Left (</a:t>
            </a:r>
            <a:r>
              <a:rPr lang="en-US" sz="1600" b="1" dirty="0" err="1">
                <a:latin typeface="Arial" pitchFamily="34" charset="0"/>
              </a:rPr>
              <a:t>LSL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122FDA22-8047-1549-B43C-54780DE6D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983" y="15240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3">
            <a:extLst>
              <a:ext uri="{FF2B5EF4-FFF2-40B4-BE49-F238E27FC236}">
                <a16:creationId xmlns:a16="http://schemas.microsoft.com/office/drawing/2014/main" id="{7A320F70-8292-564B-8875-A0378AA4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487" y="239763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7BA2A80D-35FE-764E-85CA-85CE09B0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19" y="3359166"/>
            <a:ext cx="3629836" cy="809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5">
            <a:extLst>
              <a:ext uri="{FF2B5EF4-FFF2-40B4-BE49-F238E27FC236}">
                <a16:creationId xmlns:a16="http://schemas.microsoft.com/office/drawing/2014/main" id="{20155FA5-BF02-5C46-ADE5-37D802D19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3377" y="4495800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60CF74F4-7D89-4C4E-9311-1651D105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820" y="5562600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19">
            <a:extLst>
              <a:ext uri="{FF2B5EF4-FFF2-40B4-BE49-F238E27FC236}">
                <a16:creationId xmlns:a16="http://schemas.microsoft.com/office/drawing/2014/main" id="{E6CD599F-2EF7-0342-AB7A-65CE00639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3125783"/>
            <a:ext cx="333216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Arithmetic Shift Right (</a:t>
            </a:r>
            <a:r>
              <a:rPr lang="en-US" sz="1600" b="1" dirty="0">
                <a:latin typeface="Arial" pitchFamily="34" charset="0"/>
              </a:rPr>
              <a:t>ASR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38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 Transfer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9448800" cy="114300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Move, r0 = r1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 NOT, r0 = bitwise NOT r1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A20E8F-5EF6-6B4F-A3A3-59744F654F2F}"/>
              </a:ext>
            </a:extLst>
          </p:cNvPr>
          <p:cNvGrpSpPr/>
          <p:nvPr/>
        </p:nvGrpSpPr>
        <p:grpSpPr>
          <a:xfrm>
            <a:off x="1152382" y="3047999"/>
            <a:ext cx="9887236" cy="1828801"/>
            <a:chOff x="816864" y="3048000"/>
            <a:chExt cx="9887236" cy="18288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0B05C9-6CCA-7B46-A4A8-74D135E92AE5}"/>
                </a:ext>
              </a:extLst>
            </p:cNvPr>
            <p:cNvSpPr/>
            <p:nvPr/>
          </p:nvSpPr>
          <p:spPr>
            <a:xfrm>
              <a:off x="2133600" y="3684779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0  0  0  0  0  0  0  0  0  0  0  0  0  0  0  0  0  0  0  0  0  0  0  0  0  0  0  0  1  1  1  1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1EF1A7-03B2-CF4C-A2F4-E8EAD94CA0A3}"/>
                </a:ext>
              </a:extLst>
            </p:cNvPr>
            <p:cNvSpPr txBox="1"/>
            <p:nvPr/>
          </p:nvSpPr>
          <p:spPr>
            <a:xfrm>
              <a:off x="1788700" y="36576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752A507-1928-CF4D-92A9-905ED152C7DD}"/>
                </a:ext>
              </a:extLst>
            </p:cNvPr>
            <p:cNvSpPr/>
            <p:nvPr/>
          </p:nvSpPr>
          <p:spPr>
            <a:xfrm>
              <a:off x="2133600" y="4054111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1  1  1  1  1  1  1  1  1  1  1  1  1  1  1  1  1  1  1  1  1  1  1  1  1  1  1  1  0  0  0  0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B49E65-A099-B746-874F-189F1D745CAF}"/>
                </a:ext>
              </a:extLst>
            </p:cNvPr>
            <p:cNvSpPr txBox="1"/>
            <p:nvPr/>
          </p:nvSpPr>
          <p:spPr>
            <a:xfrm>
              <a:off x="1788698" y="4050268"/>
              <a:ext cx="437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39E4C4-7294-6D4F-BAFF-450011500CB0}"/>
                </a:ext>
              </a:extLst>
            </p:cNvPr>
            <p:cNvSpPr/>
            <p:nvPr/>
          </p:nvSpPr>
          <p:spPr>
            <a:xfrm>
              <a:off x="936543" y="3160716"/>
              <a:ext cx="170431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MVN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r0, r1 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1136A2-B60D-7242-9571-F8DDFF17B5B6}"/>
                </a:ext>
              </a:extLst>
            </p:cNvPr>
            <p:cNvSpPr/>
            <p:nvPr/>
          </p:nvSpPr>
          <p:spPr>
            <a:xfrm>
              <a:off x="816864" y="3048000"/>
              <a:ext cx="9622535" cy="18288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8D00231-F501-F847-820E-19CDF75A393C}"/>
                </a:ext>
              </a:extLst>
            </p:cNvPr>
            <p:cNvSpPr/>
            <p:nvPr/>
          </p:nvSpPr>
          <p:spPr>
            <a:xfrm>
              <a:off x="936543" y="3187544"/>
              <a:ext cx="1654257" cy="34442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1787B29-1E21-714D-86B8-D1558C8EE4D2}"/>
              </a:ext>
            </a:extLst>
          </p:cNvPr>
          <p:cNvSpPr txBox="1"/>
          <p:nvPr/>
        </p:nvSpPr>
        <p:spPr>
          <a:xfrm>
            <a:off x="4939458" y="4474705"/>
            <a:ext cx="2048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130960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1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3" name="Rectangle 5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title"/>
          </p:nvPr>
        </p:nvSpPr>
        <p:spPr>
          <a:xfrm>
            <a:off x="622389" y="128905"/>
            <a:ext cx="84582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Overview: </a:t>
            </a:r>
            <a:br>
              <a:rPr lang="en-US" dirty="0"/>
            </a:br>
            <a:r>
              <a:rPr lang="en-US" dirty="0"/>
              <a:t>Arithmetic and Logic Instructions</a:t>
            </a:r>
          </a:p>
        </p:txBody>
      </p:sp>
      <p:sp>
        <p:nvSpPr>
          <p:cNvPr id="17415" name="Rectangle 7"/>
          <p:cNvSpPr>
            <a:spLocks noGrp="1" noChangeArrowheads="1"/>
          </p:cNvSpPr>
          <p:nvPr>
            <p:ph sz="quarter" idx="1"/>
          </p:nvPr>
        </p:nvSpPr>
        <p:spPr>
          <a:xfrm>
            <a:off x="609600" y="1447800"/>
            <a:ext cx="10972800" cy="470916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Shift</a:t>
            </a:r>
            <a:r>
              <a:rPr lang="en-US" sz="1600" dirty="0"/>
              <a:t> : </a:t>
            </a:r>
            <a:r>
              <a:rPr lang="en-US" sz="1400" b="1" dirty="0">
                <a:solidFill>
                  <a:srgbClr val="FF0000"/>
                </a:solidFill>
              </a:rPr>
              <a:t>LSL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left), </a:t>
            </a:r>
            <a:r>
              <a:rPr lang="en-US" sz="1400" b="1" dirty="0">
                <a:solidFill>
                  <a:srgbClr val="FF0000"/>
                </a:solidFill>
              </a:rPr>
              <a:t>LSR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right),  </a:t>
            </a:r>
            <a:r>
              <a:rPr lang="en-US" sz="1400" b="1" dirty="0">
                <a:solidFill>
                  <a:srgbClr val="FF0000"/>
                </a:solidFill>
              </a:rPr>
              <a:t>ASR</a:t>
            </a:r>
            <a:r>
              <a:rPr lang="en-US" sz="1400" dirty="0"/>
              <a:t> (arithmetic shift right), </a:t>
            </a:r>
            <a:r>
              <a:rPr lang="en-US" sz="1400" b="1" dirty="0">
                <a:solidFill>
                  <a:srgbClr val="FF0000"/>
                </a:solidFill>
              </a:rPr>
              <a:t>ROR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right), </a:t>
            </a:r>
            <a:r>
              <a:rPr lang="en-US" sz="1400" b="1" dirty="0">
                <a:solidFill>
                  <a:srgbClr val="FF0000"/>
                </a:solidFill>
              </a:rPr>
              <a:t>RRX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 with extend)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Logic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AND</a:t>
            </a:r>
            <a:r>
              <a:rPr lang="en-US" sz="1400" dirty="0"/>
              <a:t> (bitwise and), </a:t>
            </a:r>
            <a:r>
              <a:rPr lang="en-US" sz="1400" b="1" dirty="0">
                <a:solidFill>
                  <a:srgbClr val="FF0000"/>
                </a:solidFill>
              </a:rPr>
              <a:t>ORR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or), </a:t>
            </a:r>
            <a:r>
              <a:rPr lang="en-US" sz="1400" b="1" dirty="0">
                <a:solidFill>
                  <a:srgbClr val="FF0000"/>
                </a:solidFill>
              </a:rPr>
              <a:t>EOR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exclusive or), </a:t>
            </a:r>
            <a:r>
              <a:rPr lang="en-US" sz="1400" b="1" dirty="0">
                <a:solidFill>
                  <a:srgbClr val="FF0000"/>
                </a:solidFill>
              </a:rPr>
              <a:t>ORN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 not), </a:t>
            </a:r>
            <a:r>
              <a:rPr lang="en-US" sz="1400" b="1" dirty="0">
                <a:solidFill>
                  <a:srgbClr val="FF0000"/>
                </a:solidFill>
              </a:rPr>
              <a:t>MVN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(move not)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set/clear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BFC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clear), </a:t>
            </a:r>
            <a:r>
              <a:rPr lang="en-US" sz="1400" b="1" dirty="0">
                <a:solidFill>
                  <a:srgbClr val="FF0000"/>
                </a:solidFill>
              </a:rPr>
              <a:t>BFI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insert), </a:t>
            </a:r>
            <a:r>
              <a:rPr lang="en-US" sz="1400" b="1" dirty="0">
                <a:solidFill>
                  <a:srgbClr val="FF0000"/>
                </a:solidFill>
              </a:rPr>
              <a:t>BIC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clear), </a:t>
            </a:r>
            <a:r>
              <a:rPr lang="en-US" sz="1400" b="1" dirty="0">
                <a:solidFill>
                  <a:srgbClr val="FF0000"/>
                </a:solidFill>
              </a:rPr>
              <a:t>CLZ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(count leading zeroes)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Bit/byte reordering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RBIT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bit order in a word), </a:t>
            </a:r>
            <a:r>
              <a:rPr lang="en-US" sz="1400" b="1" dirty="0">
                <a:solidFill>
                  <a:srgbClr val="FF0000"/>
                </a:solidFill>
              </a:rPr>
              <a:t>REV</a:t>
            </a:r>
            <a:r>
              <a:rPr lang="en-US" sz="1400" dirty="0"/>
              <a:t> (reverse byte order in a word), </a:t>
            </a:r>
            <a:r>
              <a:rPr lang="en-US" sz="1400" b="1" dirty="0">
                <a:solidFill>
                  <a:srgbClr val="FF0000"/>
                </a:solidFill>
              </a:rPr>
              <a:t>REV16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independently), </a:t>
            </a:r>
            <a:r>
              <a:rPr lang="en-US" sz="1400" b="1" dirty="0">
                <a:solidFill>
                  <a:srgbClr val="FF0000"/>
                </a:solidFill>
              </a:rPr>
              <a:t>REVSH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Addition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ADD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ADC</a:t>
            </a:r>
            <a:r>
              <a:rPr lang="en-US" sz="1400" dirty="0"/>
              <a:t> (add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Subtraction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SUB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RSB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subtract), </a:t>
            </a:r>
            <a:r>
              <a:rPr lang="en-US" sz="1400" b="1" dirty="0">
                <a:solidFill>
                  <a:srgbClr val="FF0000"/>
                </a:solidFill>
              </a:rPr>
              <a:t>SBC</a:t>
            </a:r>
            <a:r>
              <a:rPr lang="en-US" sz="1400" dirty="0"/>
              <a:t> (subtract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Multiplication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MUL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(multiply), </a:t>
            </a:r>
            <a:r>
              <a:rPr lang="en-US" sz="1400" b="1" dirty="0">
                <a:solidFill>
                  <a:srgbClr val="FF0000"/>
                </a:solidFill>
              </a:rPr>
              <a:t>MLA</a:t>
            </a:r>
            <a:r>
              <a:rPr lang="en-US" sz="1400" dirty="0"/>
              <a:t> (multiply-accumulate),  </a:t>
            </a:r>
            <a:r>
              <a:rPr lang="en-US" sz="1400" b="1" dirty="0">
                <a:solidFill>
                  <a:srgbClr val="FF0000"/>
                </a:solidFill>
              </a:rPr>
              <a:t>MLS</a:t>
            </a:r>
            <a:r>
              <a:rPr lang="en-US" sz="1400" dirty="0"/>
              <a:t> (multiply-subtract), </a:t>
            </a:r>
            <a:r>
              <a:rPr lang="en-US" sz="1400" b="1" dirty="0">
                <a:solidFill>
                  <a:srgbClr val="FF0000"/>
                </a:solidFill>
              </a:rPr>
              <a:t>SMULL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 </a:t>
            </a:r>
            <a:r>
              <a:rPr lang="en-US" sz="1400" b="1" dirty="0">
                <a:solidFill>
                  <a:srgbClr val="FF0000"/>
                </a:solidFill>
              </a:rPr>
              <a:t>SMLAL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</a:t>
            </a:r>
            <a:r>
              <a:rPr lang="en-US" sz="1400" b="1" dirty="0">
                <a:solidFill>
                  <a:srgbClr val="FF0000"/>
                </a:solidFill>
              </a:rPr>
              <a:t>UMULL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multiply-subtract),  </a:t>
            </a:r>
            <a:r>
              <a:rPr lang="en-US" sz="1400" b="1" dirty="0">
                <a:solidFill>
                  <a:srgbClr val="FF0000"/>
                </a:solidFill>
              </a:rPr>
              <a:t>UMLAL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Division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Saturation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Sign extension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SXTB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SXTH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UXTH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field extract: </a:t>
            </a:r>
            <a:r>
              <a:rPr lang="en-US" sz="1400" b="1" dirty="0">
                <a:solidFill>
                  <a:srgbClr val="FF0000"/>
                </a:solidFill>
              </a:rPr>
              <a:t>SBFX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Syntax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	&lt;Operation&gt;{&lt;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cond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&gt;}{S} Rd, Rn, 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Operand2</a:t>
            </a:r>
            <a:endParaRPr lang="en-US" sz="1400" b="1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055076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788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7344" y="1278664"/>
            <a:ext cx="8534400" cy="4937760"/>
          </a:xfrm>
        </p:spPr>
        <p:txBody>
          <a:bodyPr>
            <a:normAutofit/>
          </a:bodyPr>
          <a:lstStyle/>
          <a:p>
            <a:pPr lvl="1">
              <a:lnSpc>
                <a:spcPct val="90000"/>
              </a:lnSpc>
            </a:pPr>
            <a:r>
              <a:rPr lang="en-US" altLang="zh-TW" sz="2400" dirty="0"/>
              <a:t>Unified Assembler Language (UAL)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dirty="0">
                <a:latin typeface="Consolas" panose="020B0609020204030204" pitchFamily="49" charset="0"/>
                <a:cs typeface="Consolas" panose="020B0609020204030204" pitchFamily="49" charset="0"/>
              </a:rPr>
              <a:t> 	</a:t>
            </a: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r2, r3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r2, #4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+ 4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pt-BR" altLang="zh-TW" sz="2400" dirty="0">
                <a:cs typeface="Consolas" panose="020B0609020204030204" pitchFamily="49" charset="0"/>
              </a:rPr>
              <a:t>Traditional Thumb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r3 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#15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+ 15</a:t>
            </a:r>
          </a:p>
        </p:txBody>
      </p:sp>
    </p:spTree>
    <p:extLst>
      <p:ext uri="{BB962C8B-B14F-4D97-AF65-F5344CB8AC3E}">
        <p14:creationId xmlns:p14="http://schemas.microsoft.com/office/powerpoint/2010/main" val="301284288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Commonly Used Arithmetic </a:t>
            </a:r>
            <a:r>
              <a:rPr lang="en-US" altLang="zh-TW" dirty="0"/>
              <a:t>Operations</a:t>
            </a:r>
            <a:endParaRPr lang="zh-TW" alt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364002"/>
              </p:ext>
            </p:extLst>
          </p:nvPr>
        </p:nvGraphicFramePr>
        <p:xfrm>
          <a:off x="1963119" y="1219200"/>
          <a:ext cx="8229600" cy="5210556"/>
        </p:xfrm>
        <a:graphic>
          <a:graphicData uri="http://schemas.openxmlformats.org/drawingml/2006/table">
            <a:tbl>
              <a:tblPr firstRow="1" firstCol="1" bandRow="1">
                <a:tableStyleId>{69CF1AB2-1976-4502-BF36-3FF5EA218861}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 + 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+ Op2 + Carry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SBC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 + Carry - 1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RSB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Reverse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Op2 - Rn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(Rn × Rm)[31:0]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MLA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with accumulate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+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MLS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and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–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133509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BC27-D352-D5ED-D2D3-2B065BAA2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Programming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8BC92-75C1-FEAB-3A42-0BFBFC761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1209-DA39-1B98-2564-CF44810687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20">
            <a:extLst>
              <a:ext uri="{FF2B5EF4-FFF2-40B4-BE49-F238E27FC236}">
                <a16:creationId xmlns:a16="http://schemas.microsoft.com/office/drawing/2014/main" id="{7A90BA5F-D460-866D-8A3B-E5AAF12093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483" y="191015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 Box 21">
            <a:extLst>
              <a:ext uri="{FF2B5EF4-FFF2-40B4-BE49-F238E27FC236}">
                <a16:creationId xmlns:a16="http://schemas.microsoft.com/office/drawing/2014/main" id="{199217F8-3B14-6660-C58D-886940206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9427" y="1671356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7" name="Text Box 22">
            <a:extLst>
              <a:ext uri="{FF2B5EF4-FFF2-40B4-BE49-F238E27FC236}">
                <a16:creationId xmlns:a16="http://schemas.microsoft.com/office/drawing/2014/main" id="{16DC8768-E016-620D-DCB3-C48D5F75A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5833" y="1660640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graphicFrame>
        <p:nvGraphicFramePr>
          <p:cNvPr id="8" name="Group 560">
            <a:extLst>
              <a:ext uri="{FF2B5EF4-FFF2-40B4-BE49-F238E27FC236}">
                <a16:creationId xmlns:a16="http://schemas.microsoft.com/office/drawing/2014/main" id="{E1C6736B-70D6-1990-3EAC-B3CF8F4EC6FE}"/>
              </a:ext>
            </a:extLst>
          </p:cNvPr>
          <p:cNvGraphicFramePr>
            <a:graphicFrameLocks/>
          </p:cNvGraphicFramePr>
          <p:nvPr/>
        </p:nvGraphicFramePr>
        <p:xfrm>
          <a:off x="3063572" y="1778701"/>
          <a:ext cx="2857500" cy="4023232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R3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R4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R5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R6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R7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R8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R9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R13: Stack Pointer (SP)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R14: Link Register (LR)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R15: Program Counter (PC)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BA99A53-6B2E-FCFE-91C1-E5A027810349}"/>
              </a:ext>
            </a:extLst>
          </p:cNvPr>
          <p:cNvSpPr/>
          <p:nvPr/>
        </p:nvSpPr>
        <p:spPr>
          <a:xfrm>
            <a:off x="6938484" y="191015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E7D571-2AAA-1D14-2A9E-6F20478FA858}"/>
              </a:ext>
            </a:extLst>
          </p:cNvPr>
          <p:cNvSpPr/>
          <p:nvPr/>
        </p:nvSpPr>
        <p:spPr>
          <a:xfrm>
            <a:off x="7100606" y="190987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5F27B4-F838-4CF4-2AAA-397A64FA6A55}"/>
              </a:ext>
            </a:extLst>
          </p:cNvPr>
          <p:cNvSpPr/>
          <p:nvPr/>
        </p:nvSpPr>
        <p:spPr>
          <a:xfrm>
            <a:off x="7262729" y="190931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FD1CBF-7F8E-7A40-0B2C-2D948AD6A7B4}"/>
              </a:ext>
            </a:extLst>
          </p:cNvPr>
          <p:cNvSpPr/>
          <p:nvPr/>
        </p:nvSpPr>
        <p:spPr>
          <a:xfrm>
            <a:off x="7422470" y="190931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196E5-893D-8861-8E4F-58FE7803929A}"/>
              </a:ext>
            </a:extLst>
          </p:cNvPr>
          <p:cNvSpPr/>
          <p:nvPr/>
        </p:nvSpPr>
        <p:spPr>
          <a:xfrm>
            <a:off x="6109252" y="2304526"/>
            <a:ext cx="34477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/>
            <a:r>
              <a:rPr lang="en-US" sz="160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97F073F8-9841-45BA-7FCE-1360635833CF}"/>
              </a:ext>
            </a:extLst>
          </p:cNvPr>
          <p:cNvSpPr txBox="1">
            <a:spLocks noChangeArrowheads="1"/>
          </p:cNvSpPr>
          <p:nvPr/>
        </p:nvSpPr>
        <p:spPr>
          <a:xfrm>
            <a:off x="6016827" y="2639495"/>
            <a:ext cx="4230773" cy="339447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7163" indent="-214313" defTabSz="342900"/>
            <a:r>
              <a:rPr lang="en-US" sz="2500" dirty="0">
                <a:solidFill>
                  <a:prstClr val="black"/>
                </a:solidFill>
                <a:latin typeface="Calibri"/>
              </a:rPr>
              <a:t>Four flag bits:</a:t>
            </a:r>
          </a:p>
          <a:p>
            <a:pPr marL="557213" lvl="1" indent="-214313" defTabSz="342900"/>
            <a:r>
              <a:rPr lang="en-US" sz="2100" dirty="0">
                <a:solidFill>
                  <a:prstClr val="black"/>
                </a:solidFill>
                <a:latin typeface="Calibri"/>
              </a:rPr>
              <a:t>N (negative), Z (zero), C (carry), V (overflow).</a:t>
            </a:r>
          </a:p>
        </p:txBody>
      </p:sp>
    </p:spTree>
    <p:extLst>
      <p:ext uri="{BB962C8B-B14F-4D97-AF65-F5344CB8AC3E}">
        <p14:creationId xmlns:p14="http://schemas.microsoft.com/office/powerpoint/2010/main" val="3011235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Status Register 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981201" y="5168839"/>
            <a:ext cx="50458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 flags are only available on Cortex-M4 and M7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PSR in code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D02235-DF68-4C77-B40A-CB0A304DB2A6}"/>
              </a:ext>
            </a:extLst>
          </p:cNvPr>
          <p:cNvSpPr/>
          <p:nvPr/>
        </p:nvSpPr>
        <p:spPr bwMode="auto">
          <a:xfrm>
            <a:off x="2679108" y="2261453"/>
            <a:ext cx="237808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D76E83-FCE2-4BA2-A7C7-6C5D7761E419}"/>
              </a:ext>
            </a:extLst>
          </p:cNvPr>
          <p:cNvSpPr/>
          <p:nvPr/>
        </p:nvSpPr>
        <p:spPr bwMode="auto">
          <a:xfrm>
            <a:off x="2916917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757DAC-B1B9-422D-8858-754340693C42}"/>
              </a:ext>
            </a:extLst>
          </p:cNvPr>
          <p:cNvSpPr/>
          <p:nvPr/>
        </p:nvSpPr>
        <p:spPr bwMode="auto">
          <a:xfrm>
            <a:off x="3150922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A47148-7D46-4863-B4B2-C63310ABF626}"/>
              </a:ext>
            </a:extLst>
          </p:cNvPr>
          <p:cNvSpPr/>
          <p:nvPr/>
        </p:nvSpPr>
        <p:spPr bwMode="auto">
          <a:xfrm>
            <a:off x="3390633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AC9496-ABEB-42E9-B3A7-3E437E775E80}"/>
              </a:ext>
            </a:extLst>
          </p:cNvPr>
          <p:cNvSpPr/>
          <p:nvPr/>
        </p:nvSpPr>
        <p:spPr bwMode="auto">
          <a:xfrm>
            <a:off x="387386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018C6D-E05D-4EA0-855E-18FF1C10E398}"/>
              </a:ext>
            </a:extLst>
          </p:cNvPr>
          <p:cNvSpPr/>
          <p:nvPr/>
        </p:nvSpPr>
        <p:spPr bwMode="auto">
          <a:xfrm>
            <a:off x="410786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2C2EDD-1A03-41EE-8326-88CA9C913318}"/>
              </a:ext>
            </a:extLst>
          </p:cNvPr>
          <p:cNvSpPr/>
          <p:nvPr/>
        </p:nvSpPr>
        <p:spPr bwMode="auto">
          <a:xfrm>
            <a:off x="4347577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B246560-A84D-4CC1-AD4F-2F245D8C1DA8}"/>
              </a:ext>
            </a:extLst>
          </p:cNvPr>
          <p:cNvSpPr/>
          <p:nvPr/>
        </p:nvSpPr>
        <p:spPr bwMode="auto">
          <a:xfrm>
            <a:off x="4579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C68C78-795A-4BB4-9313-C851BE696721}"/>
              </a:ext>
            </a:extLst>
          </p:cNvPr>
          <p:cNvSpPr/>
          <p:nvPr/>
        </p:nvSpPr>
        <p:spPr bwMode="auto">
          <a:xfrm>
            <a:off x="4819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5E5F4B-5F98-4081-A8C9-864D82DF841E}"/>
              </a:ext>
            </a:extLst>
          </p:cNvPr>
          <p:cNvSpPr/>
          <p:nvPr/>
        </p:nvSpPr>
        <p:spPr bwMode="auto">
          <a:xfrm>
            <a:off x="505339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C4E4A2-C8E4-4D1C-91A7-203BCBA4D6EF}"/>
              </a:ext>
            </a:extLst>
          </p:cNvPr>
          <p:cNvSpPr/>
          <p:nvPr/>
        </p:nvSpPr>
        <p:spPr bwMode="auto">
          <a:xfrm>
            <a:off x="5293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DC75E3-986E-47B9-88CB-093930A867A0}"/>
              </a:ext>
            </a:extLst>
          </p:cNvPr>
          <p:cNvSpPr/>
          <p:nvPr/>
        </p:nvSpPr>
        <p:spPr bwMode="auto">
          <a:xfrm>
            <a:off x="5532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1C15E-0FA0-47FE-AEE4-412F66A55255}"/>
              </a:ext>
            </a:extLst>
          </p:cNvPr>
          <p:cNvSpPr/>
          <p:nvPr/>
        </p:nvSpPr>
        <p:spPr bwMode="auto">
          <a:xfrm>
            <a:off x="577253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639C4D-0E1E-49BA-BA29-9542A3FC5420}"/>
              </a:ext>
            </a:extLst>
          </p:cNvPr>
          <p:cNvSpPr/>
          <p:nvPr/>
        </p:nvSpPr>
        <p:spPr bwMode="auto">
          <a:xfrm>
            <a:off x="6006535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9D180-4C3F-4C04-9794-72EB79D6BC79}"/>
              </a:ext>
            </a:extLst>
          </p:cNvPr>
          <p:cNvSpPr/>
          <p:nvPr/>
        </p:nvSpPr>
        <p:spPr bwMode="auto">
          <a:xfrm>
            <a:off x="624624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A413A7-DE74-43A8-B9C8-58966DF1A2A0}"/>
              </a:ext>
            </a:extLst>
          </p:cNvPr>
          <p:cNvSpPr/>
          <p:nvPr/>
        </p:nvSpPr>
        <p:spPr bwMode="auto">
          <a:xfrm>
            <a:off x="648025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C10284-2902-427E-9C56-F498EA9D44C7}"/>
              </a:ext>
            </a:extLst>
          </p:cNvPr>
          <p:cNvSpPr/>
          <p:nvPr/>
        </p:nvSpPr>
        <p:spPr bwMode="auto">
          <a:xfrm>
            <a:off x="671996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8A61E98-46CA-418B-81EA-F14F053B3E55}"/>
              </a:ext>
            </a:extLst>
          </p:cNvPr>
          <p:cNvSpPr/>
          <p:nvPr/>
        </p:nvSpPr>
        <p:spPr bwMode="auto">
          <a:xfrm>
            <a:off x="695396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71AA6C-0B4E-4BE4-BD3E-A8CF421DF4EC}"/>
              </a:ext>
            </a:extLst>
          </p:cNvPr>
          <p:cNvSpPr/>
          <p:nvPr/>
        </p:nvSpPr>
        <p:spPr bwMode="auto">
          <a:xfrm>
            <a:off x="7193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0F1A0D-9F22-483C-945E-2C70FE7D6FF4}"/>
              </a:ext>
            </a:extLst>
          </p:cNvPr>
          <p:cNvSpPr/>
          <p:nvPr/>
        </p:nvSpPr>
        <p:spPr bwMode="auto">
          <a:xfrm>
            <a:off x="7433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A7E9AA-DF2C-481C-999C-B818CABCEA58}"/>
              </a:ext>
            </a:extLst>
          </p:cNvPr>
          <p:cNvSpPr/>
          <p:nvPr/>
        </p:nvSpPr>
        <p:spPr bwMode="auto">
          <a:xfrm>
            <a:off x="7673103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4509EB-0208-4A22-A9A3-2A761776C361}"/>
              </a:ext>
            </a:extLst>
          </p:cNvPr>
          <p:cNvSpPr/>
          <p:nvPr/>
        </p:nvSpPr>
        <p:spPr bwMode="auto">
          <a:xfrm>
            <a:off x="7907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1F2164-B461-4AD4-9EA8-792FA22336CC}"/>
              </a:ext>
            </a:extLst>
          </p:cNvPr>
          <p:cNvSpPr/>
          <p:nvPr/>
        </p:nvSpPr>
        <p:spPr bwMode="auto">
          <a:xfrm>
            <a:off x="8146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88107AD-4886-425E-85BE-FB0E2AF3E979}"/>
              </a:ext>
            </a:extLst>
          </p:cNvPr>
          <p:cNvSpPr/>
          <p:nvPr/>
        </p:nvSpPr>
        <p:spPr bwMode="auto">
          <a:xfrm>
            <a:off x="838082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B47B7E2-0166-4D5A-8120-1B8EE5978B59}"/>
              </a:ext>
            </a:extLst>
          </p:cNvPr>
          <p:cNvSpPr/>
          <p:nvPr/>
        </p:nvSpPr>
        <p:spPr bwMode="auto">
          <a:xfrm>
            <a:off x="8620535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2DDC7C3-DFD1-4D11-AED5-AF477F95F8E1}"/>
              </a:ext>
            </a:extLst>
          </p:cNvPr>
          <p:cNvSpPr/>
          <p:nvPr/>
        </p:nvSpPr>
        <p:spPr bwMode="auto">
          <a:xfrm>
            <a:off x="885263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0ADAF-C912-4131-83BD-8DCAD2747609}"/>
              </a:ext>
            </a:extLst>
          </p:cNvPr>
          <p:cNvSpPr/>
          <p:nvPr/>
        </p:nvSpPr>
        <p:spPr bwMode="auto">
          <a:xfrm>
            <a:off x="909234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E394A5-6BD5-43D2-B13C-3039C766ABE9}"/>
              </a:ext>
            </a:extLst>
          </p:cNvPr>
          <p:cNvSpPr/>
          <p:nvPr/>
        </p:nvSpPr>
        <p:spPr bwMode="auto">
          <a:xfrm>
            <a:off x="933206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F0E03E-B9A1-4DF5-B408-10765295937B}"/>
              </a:ext>
            </a:extLst>
          </p:cNvPr>
          <p:cNvSpPr/>
          <p:nvPr/>
        </p:nvSpPr>
        <p:spPr bwMode="auto">
          <a:xfrm>
            <a:off x="957177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3C704-003E-479A-AD30-CBB182EA9D64}"/>
              </a:ext>
            </a:extLst>
          </p:cNvPr>
          <p:cNvSpPr/>
          <p:nvPr/>
        </p:nvSpPr>
        <p:spPr bwMode="auto">
          <a:xfrm>
            <a:off x="980577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84D548A-318E-4B3E-B81B-AFD2D004B4F0}"/>
              </a:ext>
            </a:extLst>
          </p:cNvPr>
          <p:cNvSpPr/>
          <p:nvPr/>
        </p:nvSpPr>
        <p:spPr bwMode="auto">
          <a:xfrm>
            <a:off x="1004548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E72A596-B1D3-4918-87B5-3F16F9666853}"/>
              </a:ext>
            </a:extLst>
          </p:cNvPr>
          <p:cNvSpPr/>
          <p:nvPr/>
        </p:nvSpPr>
        <p:spPr bwMode="auto">
          <a:xfrm>
            <a:off x="2679109" y="2261453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D50074-AA5B-46F6-9D58-80FA1C6405F0}"/>
              </a:ext>
            </a:extLst>
          </p:cNvPr>
          <p:cNvSpPr/>
          <p:nvPr/>
        </p:nvSpPr>
        <p:spPr bwMode="auto">
          <a:xfrm>
            <a:off x="2679108" y="2781031"/>
            <a:ext cx="237808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D0C56E9-9FD6-4444-99B6-F34BC29FF2FF}"/>
              </a:ext>
            </a:extLst>
          </p:cNvPr>
          <p:cNvSpPr/>
          <p:nvPr/>
        </p:nvSpPr>
        <p:spPr bwMode="auto">
          <a:xfrm>
            <a:off x="291691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766B88D-DD4B-49D8-AE8D-F657FA405AEA}"/>
              </a:ext>
            </a:extLst>
          </p:cNvPr>
          <p:cNvSpPr/>
          <p:nvPr/>
        </p:nvSpPr>
        <p:spPr bwMode="auto">
          <a:xfrm>
            <a:off x="315092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E3E8EB-9B93-41A6-BCF4-DEA30D9A9F3B}"/>
              </a:ext>
            </a:extLst>
          </p:cNvPr>
          <p:cNvSpPr/>
          <p:nvPr/>
        </p:nvSpPr>
        <p:spPr bwMode="auto">
          <a:xfrm>
            <a:off x="339063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7762F8F-FFE5-44F7-B7B9-714EE1E99E20}"/>
              </a:ext>
            </a:extLst>
          </p:cNvPr>
          <p:cNvSpPr/>
          <p:nvPr/>
        </p:nvSpPr>
        <p:spPr bwMode="auto">
          <a:xfrm>
            <a:off x="363415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BECD6FB-D74A-486E-9104-DDA6272BE814}"/>
              </a:ext>
            </a:extLst>
          </p:cNvPr>
          <p:cNvSpPr/>
          <p:nvPr/>
        </p:nvSpPr>
        <p:spPr bwMode="auto">
          <a:xfrm>
            <a:off x="387386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9EB88C7-E88D-4FDD-BE8D-98A69BF31468}"/>
              </a:ext>
            </a:extLst>
          </p:cNvPr>
          <p:cNvSpPr/>
          <p:nvPr/>
        </p:nvSpPr>
        <p:spPr bwMode="auto">
          <a:xfrm>
            <a:off x="410786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848F981-0A70-46B7-9838-94CC9F2DFBFE}"/>
              </a:ext>
            </a:extLst>
          </p:cNvPr>
          <p:cNvSpPr/>
          <p:nvPr/>
        </p:nvSpPr>
        <p:spPr bwMode="auto">
          <a:xfrm>
            <a:off x="4347577" y="2781031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EC12FC0-513A-43F2-82F4-6388472E3BBE}"/>
              </a:ext>
            </a:extLst>
          </p:cNvPr>
          <p:cNvSpPr/>
          <p:nvPr/>
        </p:nvSpPr>
        <p:spPr bwMode="auto">
          <a:xfrm>
            <a:off x="4579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06A3A8D-F78D-4E2E-B04F-041A91708668}"/>
              </a:ext>
            </a:extLst>
          </p:cNvPr>
          <p:cNvSpPr/>
          <p:nvPr/>
        </p:nvSpPr>
        <p:spPr bwMode="auto">
          <a:xfrm>
            <a:off x="4819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D7113D4-E33B-4259-8C20-E085FE8D5D43}"/>
              </a:ext>
            </a:extLst>
          </p:cNvPr>
          <p:cNvSpPr/>
          <p:nvPr/>
        </p:nvSpPr>
        <p:spPr bwMode="auto">
          <a:xfrm>
            <a:off x="505339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A4DCCB7-C39D-4280-BC16-3FC88586A4C5}"/>
              </a:ext>
            </a:extLst>
          </p:cNvPr>
          <p:cNvSpPr/>
          <p:nvPr/>
        </p:nvSpPr>
        <p:spPr bwMode="auto">
          <a:xfrm>
            <a:off x="5293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C324598-1EA0-4B74-BF4F-6095C145CB92}"/>
              </a:ext>
            </a:extLst>
          </p:cNvPr>
          <p:cNvSpPr/>
          <p:nvPr/>
        </p:nvSpPr>
        <p:spPr bwMode="auto">
          <a:xfrm>
            <a:off x="5532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2DDE5F7-7FA8-449F-B247-B529BC03A4C4}"/>
              </a:ext>
            </a:extLst>
          </p:cNvPr>
          <p:cNvSpPr/>
          <p:nvPr/>
        </p:nvSpPr>
        <p:spPr bwMode="auto">
          <a:xfrm>
            <a:off x="577253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48F9888-9686-4CA3-BB87-16836E0663F7}"/>
              </a:ext>
            </a:extLst>
          </p:cNvPr>
          <p:cNvSpPr/>
          <p:nvPr/>
        </p:nvSpPr>
        <p:spPr bwMode="auto">
          <a:xfrm>
            <a:off x="6006535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DBE982-03E2-4F11-9951-ACE3FDD30ED9}"/>
              </a:ext>
            </a:extLst>
          </p:cNvPr>
          <p:cNvSpPr/>
          <p:nvPr/>
        </p:nvSpPr>
        <p:spPr bwMode="auto">
          <a:xfrm>
            <a:off x="624624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AC800C-0E5A-4389-9520-B15B9B0BA86B}"/>
              </a:ext>
            </a:extLst>
          </p:cNvPr>
          <p:cNvSpPr/>
          <p:nvPr/>
        </p:nvSpPr>
        <p:spPr bwMode="auto">
          <a:xfrm>
            <a:off x="648025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A61F19D-2997-47C1-9B81-9394EF576B43}"/>
              </a:ext>
            </a:extLst>
          </p:cNvPr>
          <p:cNvSpPr/>
          <p:nvPr/>
        </p:nvSpPr>
        <p:spPr bwMode="auto">
          <a:xfrm>
            <a:off x="6719964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E4674CA-6B5C-4A6B-8596-DAF114961C16}"/>
              </a:ext>
            </a:extLst>
          </p:cNvPr>
          <p:cNvSpPr/>
          <p:nvPr/>
        </p:nvSpPr>
        <p:spPr bwMode="auto">
          <a:xfrm>
            <a:off x="695396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9BC2D5-FD6B-494D-91E9-C988B69D836C}"/>
              </a:ext>
            </a:extLst>
          </p:cNvPr>
          <p:cNvSpPr/>
          <p:nvPr/>
        </p:nvSpPr>
        <p:spPr bwMode="auto">
          <a:xfrm>
            <a:off x="7193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D421CA-F30B-4E6B-A934-96D4E79D90F3}"/>
              </a:ext>
            </a:extLst>
          </p:cNvPr>
          <p:cNvSpPr/>
          <p:nvPr/>
        </p:nvSpPr>
        <p:spPr bwMode="auto">
          <a:xfrm>
            <a:off x="7433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BAA37E9-6126-4ADB-B61B-503E776769ED}"/>
              </a:ext>
            </a:extLst>
          </p:cNvPr>
          <p:cNvSpPr/>
          <p:nvPr/>
        </p:nvSpPr>
        <p:spPr bwMode="auto">
          <a:xfrm>
            <a:off x="767310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DDBE824-2DCC-477B-8239-F233AA62DF1B}"/>
              </a:ext>
            </a:extLst>
          </p:cNvPr>
          <p:cNvSpPr/>
          <p:nvPr/>
        </p:nvSpPr>
        <p:spPr bwMode="auto">
          <a:xfrm>
            <a:off x="7907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7033629-7235-4778-B466-75C046E02585}"/>
              </a:ext>
            </a:extLst>
          </p:cNvPr>
          <p:cNvSpPr/>
          <p:nvPr/>
        </p:nvSpPr>
        <p:spPr bwMode="auto">
          <a:xfrm>
            <a:off x="8146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925FAE1-98E4-4170-B180-80E698E8A588}"/>
              </a:ext>
            </a:extLst>
          </p:cNvPr>
          <p:cNvSpPr/>
          <p:nvPr/>
        </p:nvSpPr>
        <p:spPr bwMode="auto">
          <a:xfrm>
            <a:off x="8380824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A30B1A7-370B-4E19-80AC-12C7AC4E671C}"/>
              </a:ext>
            </a:extLst>
          </p:cNvPr>
          <p:cNvSpPr/>
          <p:nvPr/>
        </p:nvSpPr>
        <p:spPr bwMode="auto">
          <a:xfrm>
            <a:off x="8620535" y="2781031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78057E2-C052-4A3C-898B-9E82DFCC90C5}"/>
              </a:ext>
            </a:extLst>
          </p:cNvPr>
          <p:cNvSpPr/>
          <p:nvPr/>
        </p:nvSpPr>
        <p:spPr bwMode="auto">
          <a:xfrm>
            <a:off x="885263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CB929F-562A-45AA-BC64-90250EF48B42}"/>
              </a:ext>
            </a:extLst>
          </p:cNvPr>
          <p:cNvSpPr/>
          <p:nvPr/>
        </p:nvSpPr>
        <p:spPr bwMode="auto">
          <a:xfrm>
            <a:off x="909234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1E2AAC-B9C0-41A5-8232-AE183094877C}"/>
              </a:ext>
            </a:extLst>
          </p:cNvPr>
          <p:cNvSpPr/>
          <p:nvPr/>
        </p:nvSpPr>
        <p:spPr bwMode="auto">
          <a:xfrm>
            <a:off x="9332061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CFA16BF-2DC1-4B40-BA64-7769D4A32A7E}"/>
              </a:ext>
            </a:extLst>
          </p:cNvPr>
          <p:cNvSpPr/>
          <p:nvPr/>
        </p:nvSpPr>
        <p:spPr bwMode="auto">
          <a:xfrm>
            <a:off x="9571772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33429AE-4C1C-4E02-9B81-76AEBB8682EF}"/>
              </a:ext>
            </a:extLst>
          </p:cNvPr>
          <p:cNvSpPr/>
          <p:nvPr/>
        </p:nvSpPr>
        <p:spPr bwMode="auto">
          <a:xfrm>
            <a:off x="980577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23A4CAE-0ED7-4448-BBCB-9AB886F5BC36}"/>
              </a:ext>
            </a:extLst>
          </p:cNvPr>
          <p:cNvSpPr/>
          <p:nvPr/>
        </p:nvSpPr>
        <p:spPr bwMode="auto">
          <a:xfrm>
            <a:off x="1004548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F08E368-706D-415F-8ACE-CC85CFDC7150}"/>
              </a:ext>
            </a:extLst>
          </p:cNvPr>
          <p:cNvSpPr/>
          <p:nvPr/>
        </p:nvSpPr>
        <p:spPr bwMode="auto">
          <a:xfrm>
            <a:off x="2679109" y="2781031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82" name="TextBox 21503">
            <a:extLst>
              <a:ext uri="{FF2B5EF4-FFF2-40B4-BE49-F238E27FC236}">
                <a16:creationId xmlns:a16="http://schemas.microsoft.com/office/drawing/2014/main" id="{0CB305D7-175B-40AA-BB48-B8FEE1D9C4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537" y="2781031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dirty="0"/>
              <a:t>ISR number</a:t>
            </a:r>
          </a:p>
        </p:txBody>
      </p:sp>
      <p:sp>
        <p:nvSpPr>
          <p:cNvPr id="83" name="TextBox 106">
            <a:extLst>
              <a:ext uri="{FF2B5EF4-FFF2-40B4-BE49-F238E27FC236}">
                <a16:creationId xmlns:a16="http://schemas.microsoft.com/office/drawing/2014/main" id="{A2B5A561-5C45-425E-88BF-AEAE081B88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5663" y="2226851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84" name="TextBox 107">
            <a:extLst>
              <a:ext uri="{FF2B5EF4-FFF2-40B4-BE49-F238E27FC236}">
                <a16:creationId xmlns:a16="http://schemas.microsoft.com/office/drawing/2014/main" id="{F977506C-B037-4469-B9DB-3ADBDEB954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1301" y="2781031"/>
            <a:ext cx="12499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5079CF8-4C52-4671-9319-8F6A9DB1D715}"/>
              </a:ext>
            </a:extLst>
          </p:cNvPr>
          <p:cNvSpPr/>
          <p:nvPr/>
        </p:nvSpPr>
        <p:spPr bwMode="auto">
          <a:xfrm>
            <a:off x="2679108" y="3339147"/>
            <a:ext cx="237808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1F95844-9CA2-4FFB-BA44-366C71430821}"/>
              </a:ext>
            </a:extLst>
          </p:cNvPr>
          <p:cNvSpPr/>
          <p:nvPr/>
        </p:nvSpPr>
        <p:spPr bwMode="auto">
          <a:xfrm>
            <a:off x="291691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8533337-3E8B-41A0-B573-1815406E02FF}"/>
              </a:ext>
            </a:extLst>
          </p:cNvPr>
          <p:cNvSpPr/>
          <p:nvPr/>
        </p:nvSpPr>
        <p:spPr bwMode="auto">
          <a:xfrm>
            <a:off x="315092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0F93C2D-36F1-4F3D-8792-C354A6386E80}"/>
              </a:ext>
            </a:extLst>
          </p:cNvPr>
          <p:cNvSpPr/>
          <p:nvPr/>
        </p:nvSpPr>
        <p:spPr bwMode="auto">
          <a:xfrm>
            <a:off x="339063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39EB32BE-B49D-4985-B20B-6527A63632C6}"/>
              </a:ext>
            </a:extLst>
          </p:cNvPr>
          <p:cNvSpPr/>
          <p:nvPr/>
        </p:nvSpPr>
        <p:spPr bwMode="auto">
          <a:xfrm>
            <a:off x="363415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DE3F855-3DF5-4365-9FC5-C60661F1E07F}"/>
              </a:ext>
            </a:extLst>
          </p:cNvPr>
          <p:cNvSpPr/>
          <p:nvPr/>
        </p:nvSpPr>
        <p:spPr bwMode="auto">
          <a:xfrm>
            <a:off x="3873864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A6D7B86-6495-4C4C-A0E1-57DCAB617D3D}"/>
              </a:ext>
            </a:extLst>
          </p:cNvPr>
          <p:cNvSpPr/>
          <p:nvPr/>
        </p:nvSpPr>
        <p:spPr bwMode="auto">
          <a:xfrm>
            <a:off x="4579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507D17B-DE10-4278-B6BC-0E8BEA42BD4C}"/>
              </a:ext>
            </a:extLst>
          </p:cNvPr>
          <p:cNvSpPr/>
          <p:nvPr/>
        </p:nvSpPr>
        <p:spPr bwMode="auto">
          <a:xfrm>
            <a:off x="4819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BBCBCC-D2B8-4A62-B226-901338046285}"/>
              </a:ext>
            </a:extLst>
          </p:cNvPr>
          <p:cNvSpPr/>
          <p:nvPr/>
        </p:nvSpPr>
        <p:spPr bwMode="auto">
          <a:xfrm>
            <a:off x="5053396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6BFBC24-88F6-49D8-B36D-141DAE14A026}"/>
              </a:ext>
            </a:extLst>
          </p:cNvPr>
          <p:cNvSpPr/>
          <p:nvPr/>
        </p:nvSpPr>
        <p:spPr bwMode="auto">
          <a:xfrm>
            <a:off x="5293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E73E29B-FB34-4560-AB83-493A58F8DFF5}"/>
              </a:ext>
            </a:extLst>
          </p:cNvPr>
          <p:cNvSpPr/>
          <p:nvPr/>
        </p:nvSpPr>
        <p:spPr bwMode="auto">
          <a:xfrm>
            <a:off x="5532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007B545-9400-40EF-BB69-604CC47ACECE}"/>
              </a:ext>
            </a:extLst>
          </p:cNvPr>
          <p:cNvSpPr/>
          <p:nvPr/>
        </p:nvSpPr>
        <p:spPr bwMode="auto">
          <a:xfrm>
            <a:off x="577253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97A977D-1C18-4797-B12F-29B634F8F680}"/>
              </a:ext>
            </a:extLst>
          </p:cNvPr>
          <p:cNvSpPr/>
          <p:nvPr/>
        </p:nvSpPr>
        <p:spPr bwMode="auto">
          <a:xfrm>
            <a:off x="6006535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509EAFC-6B94-4BA4-BE6A-410ABA1A1678}"/>
              </a:ext>
            </a:extLst>
          </p:cNvPr>
          <p:cNvSpPr/>
          <p:nvPr/>
        </p:nvSpPr>
        <p:spPr bwMode="auto">
          <a:xfrm>
            <a:off x="624624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5429A6F-61CB-4D64-A905-2D90C68F1CD6}"/>
              </a:ext>
            </a:extLst>
          </p:cNvPr>
          <p:cNvSpPr/>
          <p:nvPr/>
        </p:nvSpPr>
        <p:spPr bwMode="auto">
          <a:xfrm>
            <a:off x="648025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5E3BC30-DD4F-442B-85AD-183CBDE1FA47}"/>
              </a:ext>
            </a:extLst>
          </p:cNvPr>
          <p:cNvSpPr/>
          <p:nvPr/>
        </p:nvSpPr>
        <p:spPr bwMode="auto">
          <a:xfrm>
            <a:off x="671996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EDC25C1-F75F-480A-B8A7-1566474E50B9}"/>
              </a:ext>
            </a:extLst>
          </p:cNvPr>
          <p:cNvSpPr/>
          <p:nvPr/>
        </p:nvSpPr>
        <p:spPr bwMode="auto">
          <a:xfrm>
            <a:off x="695396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22016F0-BA5F-4F10-820C-56A9ED045E81}"/>
              </a:ext>
            </a:extLst>
          </p:cNvPr>
          <p:cNvSpPr/>
          <p:nvPr/>
        </p:nvSpPr>
        <p:spPr bwMode="auto">
          <a:xfrm>
            <a:off x="7193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85194C4-9765-4508-A5CF-24E9288C01EA}"/>
              </a:ext>
            </a:extLst>
          </p:cNvPr>
          <p:cNvSpPr/>
          <p:nvPr/>
        </p:nvSpPr>
        <p:spPr bwMode="auto">
          <a:xfrm>
            <a:off x="7433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1947076-561F-44A0-9CD6-6CB6D1B2330C}"/>
              </a:ext>
            </a:extLst>
          </p:cNvPr>
          <p:cNvSpPr/>
          <p:nvPr/>
        </p:nvSpPr>
        <p:spPr bwMode="auto">
          <a:xfrm>
            <a:off x="767310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A8FCCE4-D7DB-4787-ACEA-AB60AE73F2A3}"/>
              </a:ext>
            </a:extLst>
          </p:cNvPr>
          <p:cNvSpPr/>
          <p:nvPr/>
        </p:nvSpPr>
        <p:spPr bwMode="auto">
          <a:xfrm>
            <a:off x="7907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845663A-7C9D-4A4F-8E3E-65E276C04B0A}"/>
              </a:ext>
            </a:extLst>
          </p:cNvPr>
          <p:cNvSpPr/>
          <p:nvPr/>
        </p:nvSpPr>
        <p:spPr bwMode="auto">
          <a:xfrm>
            <a:off x="8146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1ADC54E-08DE-4AFF-8327-1CBF063FED4D}"/>
              </a:ext>
            </a:extLst>
          </p:cNvPr>
          <p:cNvSpPr/>
          <p:nvPr/>
        </p:nvSpPr>
        <p:spPr bwMode="auto">
          <a:xfrm>
            <a:off x="838082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B5851EE-648A-4860-81F6-6DF1B0C439CF}"/>
              </a:ext>
            </a:extLst>
          </p:cNvPr>
          <p:cNvSpPr/>
          <p:nvPr/>
        </p:nvSpPr>
        <p:spPr bwMode="auto">
          <a:xfrm>
            <a:off x="8620535" y="3339147"/>
            <a:ext cx="237810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8462E99-F2BD-46BC-94BB-8F3F0CD2965B}"/>
              </a:ext>
            </a:extLst>
          </p:cNvPr>
          <p:cNvSpPr/>
          <p:nvPr/>
        </p:nvSpPr>
        <p:spPr bwMode="auto">
          <a:xfrm>
            <a:off x="885263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CED1942-6D73-4CEE-9B71-4C861B38048B}"/>
              </a:ext>
            </a:extLst>
          </p:cNvPr>
          <p:cNvSpPr/>
          <p:nvPr/>
        </p:nvSpPr>
        <p:spPr bwMode="auto">
          <a:xfrm>
            <a:off x="909234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931B128-617A-48A5-AC08-7D5A984BA73C}"/>
              </a:ext>
            </a:extLst>
          </p:cNvPr>
          <p:cNvSpPr/>
          <p:nvPr/>
        </p:nvSpPr>
        <p:spPr bwMode="auto">
          <a:xfrm>
            <a:off x="933206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1508A09-8F05-48DF-AFEF-E477EEBC4FC2}"/>
              </a:ext>
            </a:extLst>
          </p:cNvPr>
          <p:cNvSpPr/>
          <p:nvPr/>
        </p:nvSpPr>
        <p:spPr bwMode="auto">
          <a:xfrm>
            <a:off x="957177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21B2B94-A08C-4456-882B-B3CDE1B80A35}"/>
              </a:ext>
            </a:extLst>
          </p:cNvPr>
          <p:cNvSpPr/>
          <p:nvPr/>
        </p:nvSpPr>
        <p:spPr bwMode="auto">
          <a:xfrm>
            <a:off x="980577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9513D1F-87ED-4174-8673-A2C1F38E8DB9}"/>
              </a:ext>
            </a:extLst>
          </p:cNvPr>
          <p:cNvSpPr/>
          <p:nvPr/>
        </p:nvSpPr>
        <p:spPr bwMode="auto">
          <a:xfrm>
            <a:off x="1004548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16455893-FC01-444C-95FE-F79D2C8CB943}"/>
              </a:ext>
            </a:extLst>
          </p:cNvPr>
          <p:cNvSpPr/>
          <p:nvPr/>
        </p:nvSpPr>
        <p:spPr bwMode="auto">
          <a:xfrm>
            <a:off x="2679109" y="3339147"/>
            <a:ext cx="7606093" cy="264072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6" name="TextBox 142">
            <a:extLst>
              <a:ext uri="{FF2B5EF4-FFF2-40B4-BE49-F238E27FC236}">
                <a16:creationId xmlns:a16="http://schemas.microsoft.com/office/drawing/2014/main" id="{D88089E4-119A-438B-8FE5-19FE49AB3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1948" y="3339149"/>
            <a:ext cx="124802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FEECF288-2E80-4463-B2CF-59DD4F4B17E7}"/>
              </a:ext>
            </a:extLst>
          </p:cNvPr>
          <p:cNvSpPr/>
          <p:nvPr/>
        </p:nvSpPr>
        <p:spPr bwMode="auto">
          <a:xfrm>
            <a:off x="4347577" y="3339147"/>
            <a:ext cx="237810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65754D-DE16-4F39-B1B0-DA5943946BF1}"/>
              </a:ext>
            </a:extLst>
          </p:cNvPr>
          <p:cNvSpPr/>
          <p:nvPr/>
        </p:nvSpPr>
        <p:spPr bwMode="auto">
          <a:xfrm>
            <a:off x="4579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6E93E8F1-45C8-45CC-B373-7F5661A4CDAC}"/>
              </a:ext>
            </a:extLst>
          </p:cNvPr>
          <p:cNvSpPr/>
          <p:nvPr/>
        </p:nvSpPr>
        <p:spPr bwMode="auto">
          <a:xfrm>
            <a:off x="4819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AFCC2AB-1DE5-4E46-A408-A603476BC0DC}"/>
              </a:ext>
            </a:extLst>
          </p:cNvPr>
          <p:cNvSpPr/>
          <p:nvPr/>
        </p:nvSpPr>
        <p:spPr bwMode="auto">
          <a:xfrm>
            <a:off x="5053396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D1D7D1A-5E84-4709-8248-A578919960E8}"/>
              </a:ext>
            </a:extLst>
          </p:cNvPr>
          <p:cNvSpPr/>
          <p:nvPr/>
        </p:nvSpPr>
        <p:spPr bwMode="auto">
          <a:xfrm>
            <a:off x="529310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D012AA1-6463-46CA-9447-F46147A08F0D}"/>
              </a:ext>
            </a:extLst>
          </p:cNvPr>
          <p:cNvSpPr/>
          <p:nvPr/>
        </p:nvSpPr>
        <p:spPr bwMode="auto">
          <a:xfrm>
            <a:off x="5532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C70CD862-50B5-4C82-A42C-3DCF77853209}"/>
              </a:ext>
            </a:extLst>
          </p:cNvPr>
          <p:cNvSpPr/>
          <p:nvPr/>
        </p:nvSpPr>
        <p:spPr bwMode="auto">
          <a:xfrm>
            <a:off x="577253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04B20A9-0070-459B-AD5B-2686AAB485F3}"/>
              </a:ext>
            </a:extLst>
          </p:cNvPr>
          <p:cNvSpPr/>
          <p:nvPr/>
        </p:nvSpPr>
        <p:spPr bwMode="auto">
          <a:xfrm>
            <a:off x="6006535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566CDDF-BF45-403E-87AF-598F6C2E43FE}"/>
              </a:ext>
            </a:extLst>
          </p:cNvPr>
          <p:cNvSpPr/>
          <p:nvPr/>
        </p:nvSpPr>
        <p:spPr bwMode="auto">
          <a:xfrm>
            <a:off x="6246247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E4A65F3-34EF-471D-9C2E-7512DF187876}"/>
              </a:ext>
            </a:extLst>
          </p:cNvPr>
          <p:cNvSpPr/>
          <p:nvPr/>
        </p:nvSpPr>
        <p:spPr bwMode="auto">
          <a:xfrm>
            <a:off x="648025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4DB2790-A34C-4D7B-ADEA-5F46A4AB8753}"/>
              </a:ext>
            </a:extLst>
          </p:cNvPr>
          <p:cNvSpPr/>
          <p:nvPr/>
        </p:nvSpPr>
        <p:spPr bwMode="auto">
          <a:xfrm>
            <a:off x="6719964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EC4CDFA-F92B-4AC6-A958-80818AFD4FD0}"/>
              </a:ext>
            </a:extLst>
          </p:cNvPr>
          <p:cNvSpPr/>
          <p:nvPr/>
        </p:nvSpPr>
        <p:spPr bwMode="auto">
          <a:xfrm>
            <a:off x="695396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31CE36A-EF5F-4EE4-A95B-86B9DB4AF71C}"/>
              </a:ext>
            </a:extLst>
          </p:cNvPr>
          <p:cNvSpPr/>
          <p:nvPr/>
        </p:nvSpPr>
        <p:spPr bwMode="auto">
          <a:xfrm>
            <a:off x="7193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E111690-1753-4E03-B833-C0D763FC959F}"/>
              </a:ext>
            </a:extLst>
          </p:cNvPr>
          <p:cNvSpPr/>
          <p:nvPr/>
        </p:nvSpPr>
        <p:spPr bwMode="auto">
          <a:xfrm>
            <a:off x="7433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F6BF773-7EBF-46BA-8C7B-D1E8AC322732}"/>
              </a:ext>
            </a:extLst>
          </p:cNvPr>
          <p:cNvSpPr/>
          <p:nvPr/>
        </p:nvSpPr>
        <p:spPr bwMode="auto">
          <a:xfrm>
            <a:off x="7673103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28641D4-6BE4-42F0-9DEF-5328BBB089B2}"/>
              </a:ext>
            </a:extLst>
          </p:cNvPr>
          <p:cNvSpPr/>
          <p:nvPr/>
        </p:nvSpPr>
        <p:spPr bwMode="auto">
          <a:xfrm>
            <a:off x="7907108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A360E56F-D602-4907-BE12-BC4495F32E15}"/>
              </a:ext>
            </a:extLst>
          </p:cNvPr>
          <p:cNvSpPr/>
          <p:nvPr/>
        </p:nvSpPr>
        <p:spPr bwMode="auto">
          <a:xfrm>
            <a:off x="8146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49516BC-AC41-4F00-AD9D-4D90FA55F70D}"/>
              </a:ext>
            </a:extLst>
          </p:cNvPr>
          <p:cNvSpPr/>
          <p:nvPr/>
        </p:nvSpPr>
        <p:spPr bwMode="auto">
          <a:xfrm>
            <a:off x="8380824" y="4514357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4E1D1CC-70EC-4CA7-8615-4B382AA3D3C2}"/>
              </a:ext>
            </a:extLst>
          </p:cNvPr>
          <p:cNvSpPr/>
          <p:nvPr/>
        </p:nvSpPr>
        <p:spPr bwMode="auto">
          <a:xfrm>
            <a:off x="8620535" y="4514357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6" name="TextBox 175">
            <a:extLst>
              <a:ext uri="{FF2B5EF4-FFF2-40B4-BE49-F238E27FC236}">
                <a16:creationId xmlns:a16="http://schemas.microsoft.com/office/drawing/2014/main" id="{68648CD0-3075-4696-B669-7E74DA96E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9132" y="4514357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E525114-3B9F-40BF-8378-90F023342A73}"/>
              </a:ext>
            </a:extLst>
          </p:cNvPr>
          <p:cNvSpPr/>
          <p:nvPr/>
        </p:nvSpPr>
        <p:spPr bwMode="auto">
          <a:xfrm>
            <a:off x="885263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226853F-3ADD-4E19-B18E-B805DC1E278B}"/>
              </a:ext>
            </a:extLst>
          </p:cNvPr>
          <p:cNvSpPr/>
          <p:nvPr/>
        </p:nvSpPr>
        <p:spPr bwMode="auto">
          <a:xfrm>
            <a:off x="909234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D55D5F5-D625-4899-A7C0-8BE44198F5DC}"/>
              </a:ext>
            </a:extLst>
          </p:cNvPr>
          <p:cNvSpPr/>
          <p:nvPr/>
        </p:nvSpPr>
        <p:spPr bwMode="auto">
          <a:xfrm>
            <a:off x="9332061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3A3B9F4-3E85-41FC-A10B-E5971133B270}"/>
              </a:ext>
            </a:extLst>
          </p:cNvPr>
          <p:cNvSpPr/>
          <p:nvPr/>
        </p:nvSpPr>
        <p:spPr bwMode="auto">
          <a:xfrm>
            <a:off x="9571772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AB4E03AC-784F-4130-8827-18D68D5F6E44}"/>
              </a:ext>
            </a:extLst>
          </p:cNvPr>
          <p:cNvSpPr/>
          <p:nvPr/>
        </p:nvSpPr>
        <p:spPr bwMode="auto">
          <a:xfrm>
            <a:off x="980577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6447CF9-AD34-4EFD-99F1-FF7212AF0999}"/>
              </a:ext>
            </a:extLst>
          </p:cNvPr>
          <p:cNvSpPr/>
          <p:nvPr/>
        </p:nvSpPr>
        <p:spPr bwMode="auto">
          <a:xfrm>
            <a:off x="1004548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3" name="TextBox 187">
            <a:extLst>
              <a:ext uri="{FF2B5EF4-FFF2-40B4-BE49-F238E27FC236}">
                <a16:creationId xmlns:a16="http://schemas.microsoft.com/office/drawing/2014/main" id="{4FC34199-D78E-4AAD-BD4F-3D1CA46C2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79513" y="4508648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ISR number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01593D0-75BC-44AC-8888-D7FEEBDDA23B}"/>
              </a:ext>
            </a:extLst>
          </p:cNvPr>
          <p:cNvSpPr/>
          <p:nvPr/>
        </p:nvSpPr>
        <p:spPr bwMode="auto">
          <a:xfrm>
            <a:off x="2679109" y="4514357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5" name="TextBox 189">
            <a:extLst>
              <a:ext uri="{FF2B5EF4-FFF2-40B4-BE49-F238E27FC236}">
                <a16:creationId xmlns:a16="http://schemas.microsoft.com/office/drawing/2014/main" id="{B44D381E-FEC3-4575-B882-A4112F1F7E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6704" y="2242896"/>
            <a:ext cx="6696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APSR</a:t>
            </a:r>
          </a:p>
        </p:txBody>
      </p:sp>
      <p:sp>
        <p:nvSpPr>
          <p:cNvPr id="146" name="TextBox 190">
            <a:extLst>
              <a:ext uri="{FF2B5EF4-FFF2-40B4-BE49-F238E27FC236}">
                <a16:creationId xmlns:a16="http://schemas.microsoft.com/office/drawing/2014/main" id="{CE950499-E750-415E-BDF4-F559AD2FF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2769612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IPSR</a:t>
            </a:r>
          </a:p>
        </p:txBody>
      </p:sp>
      <p:sp>
        <p:nvSpPr>
          <p:cNvPr id="147" name="TextBox 191">
            <a:extLst>
              <a:ext uri="{FF2B5EF4-FFF2-40B4-BE49-F238E27FC236}">
                <a16:creationId xmlns:a16="http://schemas.microsoft.com/office/drawing/2014/main" id="{A4A54773-D0EC-4E8D-8721-5B1A7D084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0067" y="3326303"/>
            <a:ext cx="696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EPSR</a:t>
            </a:r>
          </a:p>
        </p:txBody>
      </p:sp>
      <p:sp>
        <p:nvSpPr>
          <p:cNvPr id="148" name="TextBox 192">
            <a:extLst>
              <a:ext uri="{FF2B5EF4-FFF2-40B4-BE49-F238E27FC236}">
                <a16:creationId xmlns:a16="http://schemas.microsoft.com/office/drawing/2014/main" id="{A82AD67E-01CD-4280-99DA-A2D9DBBAB9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4495801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PSR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CEAF0E8-BA17-4D51-B3E3-32E7F5F887BE}"/>
              </a:ext>
            </a:extLst>
          </p:cNvPr>
          <p:cNvSpPr/>
          <p:nvPr/>
        </p:nvSpPr>
        <p:spPr bwMode="auto">
          <a:xfrm>
            <a:off x="3630345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6A4B8D1-4535-44B8-B29B-C02808A256A9}"/>
              </a:ext>
            </a:extLst>
          </p:cNvPr>
          <p:cNvSpPr/>
          <p:nvPr/>
        </p:nvSpPr>
        <p:spPr bwMode="auto">
          <a:xfrm>
            <a:off x="3873864" y="4512501"/>
            <a:ext cx="473715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5AD78AE-C3D6-45BC-8E10-E7B863D9686E}"/>
              </a:ext>
            </a:extLst>
          </p:cNvPr>
          <p:cNvSpPr/>
          <p:nvPr/>
        </p:nvSpPr>
        <p:spPr bwMode="auto">
          <a:xfrm>
            <a:off x="4347577" y="4512501"/>
            <a:ext cx="237810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025A097-4EBD-4C13-895B-09051144B7A4}"/>
              </a:ext>
            </a:extLst>
          </p:cNvPr>
          <p:cNvSpPr/>
          <p:nvPr/>
        </p:nvSpPr>
        <p:spPr bwMode="auto">
          <a:xfrm>
            <a:off x="2679108" y="4512931"/>
            <a:ext cx="237808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DEF319D-969E-486D-84A8-E35102197EDB}"/>
              </a:ext>
            </a:extLst>
          </p:cNvPr>
          <p:cNvSpPr/>
          <p:nvPr/>
        </p:nvSpPr>
        <p:spPr bwMode="auto">
          <a:xfrm>
            <a:off x="2916917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1265415-19E5-4060-87AA-110FFDA83F85}"/>
              </a:ext>
            </a:extLst>
          </p:cNvPr>
          <p:cNvSpPr/>
          <p:nvPr/>
        </p:nvSpPr>
        <p:spPr bwMode="auto">
          <a:xfrm>
            <a:off x="3150922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9678C94-2C85-403A-B830-B0E8C5460086}"/>
              </a:ext>
            </a:extLst>
          </p:cNvPr>
          <p:cNvSpPr/>
          <p:nvPr/>
        </p:nvSpPr>
        <p:spPr bwMode="auto">
          <a:xfrm>
            <a:off x="3390633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B9FC768-1AC3-4342-9A16-035324535CA0}"/>
              </a:ext>
            </a:extLst>
          </p:cNvPr>
          <p:cNvSpPr/>
          <p:nvPr/>
        </p:nvSpPr>
        <p:spPr bwMode="auto">
          <a:xfrm>
            <a:off x="3630345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C5C6772-9B34-48B3-B35B-7E317F28FA48}"/>
              </a:ext>
            </a:extLst>
          </p:cNvPr>
          <p:cNvSpPr/>
          <p:nvPr/>
        </p:nvSpPr>
        <p:spPr bwMode="auto">
          <a:xfrm>
            <a:off x="7675958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4D4E244D-1ECE-4A09-A40F-FBFBC680BB13}"/>
              </a:ext>
            </a:extLst>
          </p:cNvPr>
          <p:cNvSpPr/>
          <p:nvPr/>
        </p:nvSpPr>
        <p:spPr bwMode="auto">
          <a:xfrm>
            <a:off x="7675958" y="4514559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6C436D0-0111-4AEB-AF9D-59837A5D9AB9}"/>
              </a:ext>
            </a:extLst>
          </p:cNvPr>
          <p:cNvSpPr/>
          <p:nvPr/>
        </p:nvSpPr>
        <p:spPr bwMode="auto">
          <a:xfrm>
            <a:off x="387386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26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0F532E8-752E-4140-9A07-EB8A3FF1F025}"/>
              </a:ext>
            </a:extLst>
          </p:cNvPr>
          <p:cNvSpPr/>
          <p:nvPr/>
        </p:nvSpPr>
        <p:spPr bwMode="auto">
          <a:xfrm>
            <a:off x="410786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25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57A616-79B3-44E3-A86F-CA9699F9F020}"/>
              </a:ext>
            </a:extLst>
          </p:cNvPr>
          <p:cNvSpPr/>
          <p:nvPr/>
        </p:nvSpPr>
        <p:spPr bwMode="auto">
          <a:xfrm>
            <a:off x="4347577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24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4E983A5E-2621-4B97-B01A-21EAAC761ADB}"/>
              </a:ext>
            </a:extLst>
          </p:cNvPr>
          <p:cNvSpPr/>
          <p:nvPr/>
        </p:nvSpPr>
        <p:spPr bwMode="auto">
          <a:xfrm>
            <a:off x="4579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23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2E354AD-8939-41F4-9CE2-51F3549C873B}"/>
              </a:ext>
            </a:extLst>
          </p:cNvPr>
          <p:cNvSpPr/>
          <p:nvPr/>
        </p:nvSpPr>
        <p:spPr bwMode="auto">
          <a:xfrm>
            <a:off x="4819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8C0D6A6-C56B-4AED-A9F1-CAD32F92C7FB}"/>
              </a:ext>
            </a:extLst>
          </p:cNvPr>
          <p:cNvSpPr/>
          <p:nvPr/>
        </p:nvSpPr>
        <p:spPr bwMode="auto">
          <a:xfrm>
            <a:off x="505339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21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578AA74F-27C7-4705-AB82-9CA4E3218E41}"/>
              </a:ext>
            </a:extLst>
          </p:cNvPr>
          <p:cNvSpPr/>
          <p:nvPr/>
        </p:nvSpPr>
        <p:spPr bwMode="auto">
          <a:xfrm>
            <a:off x="5293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20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5DABE315-AB84-4FA5-B8A5-15C6B8C01DC8}"/>
              </a:ext>
            </a:extLst>
          </p:cNvPr>
          <p:cNvSpPr/>
          <p:nvPr/>
        </p:nvSpPr>
        <p:spPr bwMode="auto">
          <a:xfrm>
            <a:off x="5532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19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7BE3781-4872-4BCA-929A-B18A5C3D90D0}"/>
              </a:ext>
            </a:extLst>
          </p:cNvPr>
          <p:cNvSpPr/>
          <p:nvPr/>
        </p:nvSpPr>
        <p:spPr bwMode="auto">
          <a:xfrm>
            <a:off x="577253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18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79E489DB-B273-4A1D-A481-1044EB120F22}"/>
              </a:ext>
            </a:extLst>
          </p:cNvPr>
          <p:cNvSpPr/>
          <p:nvPr/>
        </p:nvSpPr>
        <p:spPr bwMode="auto">
          <a:xfrm>
            <a:off x="6006535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17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4E8EB63-9CC6-457F-8316-8E8F15423204}"/>
              </a:ext>
            </a:extLst>
          </p:cNvPr>
          <p:cNvSpPr/>
          <p:nvPr/>
        </p:nvSpPr>
        <p:spPr bwMode="auto">
          <a:xfrm>
            <a:off x="624624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16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6348944-0BAA-4609-B702-10AD73B7E1E9}"/>
              </a:ext>
            </a:extLst>
          </p:cNvPr>
          <p:cNvSpPr/>
          <p:nvPr/>
        </p:nvSpPr>
        <p:spPr bwMode="auto">
          <a:xfrm>
            <a:off x="648025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15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D90ADC4-3AFC-44CD-993C-DA70103E1345}"/>
              </a:ext>
            </a:extLst>
          </p:cNvPr>
          <p:cNvSpPr/>
          <p:nvPr/>
        </p:nvSpPr>
        <p:spPr bwMode="auto">
          <a:xfrm>
            <a:off x="671996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14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6689AF7-A7EB-4B27-8F15-D61D230D7568}"/>
              </a:ext>
            </a:extLst>
          </p:cNvPr>
          <p:cNvSpPr/>
          <p:nvPr/>
        </p:nvSpPr>
        <p:spPr bwMode="auto">
          <a:xfrm>
            <a:off x="695396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13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90103A2-FF36-4438-A7BC-B9CE17515E2E}"/>
              </a:ext>
            </a:extLst>
          </p:cNvPr>
          <p:cNvSpPr/>
          <p:nvPr/>
        </p:nvSpPr>
        <p:spPr bwMode="auto">
          <a:xfrm>
            <a:off x="7193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12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74F50D91-4602-41DA-856C-E195E547047D}"/>
              </a:ext>
            </a:extLst>
          </p:cNvPr>
          <p:cNvSpPr/>
          <p:nvPr/>
        </p:nvSpPr>
        <p:spPr bwMode="auto">
          <a:xfrm>
            <a:off x="7433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11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E23828C-1073-483A-8B03-3CF9D12B1E9D}"/>
              </a:ext>
            </a:extLst>
          </p:cNvPr>
          <p:cNvSpPr/>
          <p:nvPr/>
        </p:nvSpPr>
        <p:spPr bwMode="auto">
          <a:xfrm>
            <a:off x="7673103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10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0AB28BA-EC6D-49DE-BB9C-9A14888BC703}"/>
              </a:ext>
            </a:extLst>
          </p:cNvPr>
          <p:cNvSpPr/>
          <p:nvPr/>
        </p:nvSpPr>
        <p:spPr bwMode="auto">
          <a:xfrm>
            <a:off x="7907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9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ABBE835-1D7F-4B5B-945D-E2FF7E90077E}"/>
              </a:ext>
            </a:extLst>
          </p:cNvPr>
          <p:cNvSpPr/>
          <p:nvPr/>
        </p:nvSpPr>
        <p:spPr bwMode="auto">
          <a:xfrm>
            <a:off x="8146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8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0BF9CD00-3549-42B1-8E48-68646758B889}"/>
              </a:ext>
            </a:extLst>
          </p:cNvPr>
          <p:cNvSpPr/>
          <p:nvPr/>
        </p:nvSpPr>
        <p:spPr bwMode="auto">
          <a:xfrm>
            <a:off x="838082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7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8BEB8D20-3DBC-4FBD-B4B7-7F568492B515}"/>
              </a:ext>
            </a:extLst>
          </p:cNvPr>
          <p:cNvSpPr/>
          <p:nvPr/>
        </p:nvSpPr>
        <p:spPr bwMode="auto">
          <a:xfrm>
            <a:off x="8620535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6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1E4984E-D964-4127-A94D-DAF7723E87C1}"/>
              </a:ext>
            </a:extLst>
          </p:cNvPr>
          <p:cNvSpPr/>
          <p:nvPr/>
        </p:nvSpPr>
        <p:spPr bwMode="auto">
          <a:xfrm>
            <a:off x="885263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5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F8595B-BF2E-498F-83FC-B62D8475CC0B}"/>
              </a:ext>
            </a:extLst>
          </p:cNvPr>
          <p:cNvSpPr/>
          <p:nvPr/>
        </p:nvSpPr>
        <p:spPr bwMode="auto">
          <a:xfrm>
            <a:off x="909234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4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2309E76-4F14-463E-BE62-C8F561F3A781}"/>
              </a:ext>
            </a:extLst>
          </p:cNvPr>
          <p:cNvSpPr/>
          <p:nvPr/>
        </p:nvSpPr>
        <p:spPr bwMode="auto">
          <a:xfrm>
            <a:off x="933206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FCFA5803-D95D-4128-A39D-3ABFF287FD7D}"/>
              </a:ext>
            </a:extLst>
          </p:cNvPr>
          <p:cNvSpPr/>
          <p:nvPr/>
        </p:nvSpPr>
        <p:spPr bwMode="auto">
          <a:xfrm>
            <a:off x="957177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11F71BA1-72B1-49DF-9B21-B7BFB4F6F146}"/>
              </a:ext>
            </a:extLst>
          </p:cNvPr>
          <p:cNvSpPr/>
          <p:nvPr/>
        </p:nvSpPr>
        <p:spPr bwMode="auto">
          <a:xfrm>
            <a:off x="980577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3609A8D-2714-48C8-94C5-CE77F72B4032}"/>
              </a:ext>
            </a:extLst>
          </p:cNvPr>
          <p:cNvSpPr/>
          <p:nvPr/>
        </p:nvSpPr>
        <p:spPr bwMode="auto">
          <a:xfrm>
            <a:off x="1004548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0</a:t>
            </a: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22F57FC-5807-409C-9221-99B22D8A285E}"/>
              </a:ext>
            </a:extLst>
          </p:cNvPr>
          <p:cNvSpPr/>
          <p:nvPr/>
        </p:nvSpPr>
        <p:spPr bwMode="auto">
          <a:xfrm>
            <a:off x="268626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2034F344-EB89-4EB9-B815-46666BAF73D8}"/>
              </a:ext>
            </a:extLst>
          </p:cNvPr>
          <p:cNvSpPr/>
          <p:nvPr/>
        </p:nvSpPr>
        <p:spPr bwMode="auto">
          <a:xfrm>
            <a:off x="2925974" y="1981201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30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600F56-A17B-4CA5-BAE0-DB2D9978E702}"/>
              </a:ext>
            </a:extLst>
          </p:cNvPr>
          <p:cNvSpPr/>
          <p:nvPr/>
        </p:nvSpPr>
        <p:spPr bwMode="auto">
          <a:xfrm>
            <a:off x="3158076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29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12F607C8-1083-471B-B621-AC7385F04F57}"/>
              </a:ext>
            </a:extLst>
          </p:cNvPr>
          <p:cNvSpPr/>
          <p:nvPr/>
        </p:nvSpPr>
        <p:spPr bwMode="auto">
          <a:xfrm>
            <a:off x="3397788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28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828E4285-088D-4927-BF70-BCA6FE0E3CC5}"/>
              </a:ext>
            </a:extLst>
          </p:cNvPr>
          <p:cNvSpPr/>
          <p:nvPr/>
        </p:nvSpPr>
        <p:spPr bwMode="auto">
          <a:xfrm>
            <a:off x="363179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27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E787421E-5E17-42CF-831D-FC13CE3CF974}"/>
              </a:ext>
            </a:extLst>
          </p:cNvPr>
          <p:cNvSpPr/>
          <p:nvPr/>
        </p:nvSpPr>
        <p:spPr>
          <a:xfrm>
            <a:off x="1866552" y="3953266"/>
            <a:ext cx="566596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Combine them together into one register (</a:t>
            </a:r>
            <a:r>
              <a:rPr lang="en-US" b="1" dirty="0">
                <a:solidFill>
                  <a:srgbClr val="C00000"/>
                </a:solidFill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3E571097-D5A4-4173-8762-EA485FF7AEF9}"/>
              </a:ext>
            </a:extLst>
          </p:cNvPr>
          <p:cNvSpPr/>
          <p:nvPr/>
        </p:nvSpPr>
        <p:spPr bwMode="auto">
          <a:xfrm>
            <a:off x="5533545" y="2260025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0" name="TextBox 106">
            <a:extLst>
              <a:ext uri="{FF2B5EF4-FFF2-40B4-BE49-F238E27FC236}">
                <a16:creationId xmlns:a16="http://schemas.microsoft.com/office/drawing/2014/main" id="{18F8F0EB-919C-4850-9071-7B8E9BD59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9614" y="2231465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85393E0-B838-4933-8333-EA5CC9833BCE}"/>
              </a:ext>
            </a:extLst>
          </p:cNvPr>
          <p:cNvSpPr/>
          <p:nvPr/>
        </p:nvSpPr>
        <p:spPr bwMode="auto">
          <a:xfrm>
            <a:off x="5540212" y="4511547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2" name="TextBox 175">
            <a:extLst>
              <a:ext uri="{FF2B5EF4-FFF2-40B4-BE49-F238E27FC236}">
                <a16:creationId xmlns:a16="http://schemas.microsoft.com/office/drawing/2014/main" id="{BD7F47C9-A0AF-4D8D-A4A8-65B792F7D0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6428" y="4483939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9" name="Content Placeholder 3">
            <a:extLst>
              <a:ext uri="{FF2B5EF4-FFF2-40B4-BE49-F238E27FC236}">
                <a16:creationId xmlns:a16="http://schemas.microsoft.com/office/drawing/2014/main" id="{F9E2ADFB-FC6C-9442-BE64-6207E038898B}"/>
              </a:ext>
            </a:extLst>
          </p:cNvPr>
          <p:cNvSpPr txBox="1">
            <a:spLocks/>
          </p:cNvSpPr>
          <p:nvPr/>
        </p:nvSpPr>
        <p:spPr>
          <a:xfrm>
            <a:off x="672047" y="1230936"/>
            <a:ext cx="85344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Application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APSR</a:t>
            </a:r>
            <a:r>
              <a:rPr lang="en-US" sz="2000"/>
              <a:t>),  Interrupt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IPSR</a:t>
            </a:r>
            <a:r>
              <a:rPr lang="en-US" sz="2000"/>
              <a:t>),  Execution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EPSR</a:t>
            </a:r>
            <a:r>
              <a:rPr lang="en-US" sz="2000"/>
              <a:t>)</a:t>
            </a:r>
          </a:p>
          <a:p>
            <a:pPr marL="0" indent="0">
              <a:buFont typeface="Wingdings 3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584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90645-6FD1-CE46-4324-050D09A3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NZCV Flags in </a:t>
            </a:r>
            <a:r>
              <a:rPr lang="en-US" altLang="zh-CN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1F94D-DEA5-402E-93A5-46BE7FF0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828B78-2B8F-3B9F-09B7-EBDBBAB74AF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2168744"/>
            <a:ext cx="8229600" cy="398821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egative/positive</a:t>
            </a:r>
          </a:p>
          <a:p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ero/non-zero</a:t>
            </a:r>
          </a:p>
          <a:p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:  Three cases:</a:t>
            </a:r>
          </a:p>
          <a:p>
            <a:pPr lvl="1"/>
            <a:r>
              <a:rPr lang="en-US" dirty="0"/>
              <a:t>1/0 = ALU addition </a:t>
            </a:r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arry out/no carry out</a:t>
            </a:r>
          </a:p>
          <a:p>
            <a:pPr lvl="1"/>
            <a:r>
              <a:rPr lang="en-US" dirty="0"/>
              <a:t>1/0 = ALU subtraction no borrow/borrow</a:t>
            </a:r>
          </a:p>
          <a:p>
            <a:pPr lvl="1"/>
            <a:r>
              <a:rPr lang="en-US" dirty="0"/>
              <a:t>1/0 = Bit shifted/rotated out</a:t>
            </a:r>
          </a:p>
          <a:p>
            <a:r>
              <a:rPr lang="en-US" dirty="0">
                <a:solidFill>
                  <a:srgbClr val="FF0000"/>
                </a:solidFill>
              </a:rPr>
              <a:t>V</a:t>
            </a:r>
            <a:r>
              <a:rPr lang="en-US" dirty="0"/>
              <a:t>: 1/0 = ALU </a:t>
            </a:r>
            <a:r>
              <a:rPr lang="en-US" dirty="0" err="1"/>
              <a:t>o</a:t>
            </a:r>
            <a:r>
              <a:rPr lang="en-US" dirty="0" err="1">
                <a:solidFill>
                  <a:srgbClr val="FF0000"/>
                </a:solidFill>
              </a:rPr>
              <a:t>V</a:t>
            </a:r>
            <a:r>
              <a:rPr lang="en-US" dirty="0" err="1"/>
              <a:t>erflowed</a:t>
            </a:r>
            <a:r>
              <a:rPr lang="en-US" dirty="0"/>
              <a:t>/no overflow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AAC50-A0EF-58E7-7671-16186A17A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872" y="1447800"/>
            <a:ext cx="8229600" cy="4161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B5F5E2-5B86-CA26-8075-48823F6D6E30}"/>
              </a:ext>
            </a:extLst>
          </p:cNvPr>
          <p:cNvSpPr txBox="1"/>
          <p:nvPr/>
        </p:nvSpPr>
        <p:spPr>
          <a:xfrm>
            <a:off x="8101361" y="3586019"/>
            <a:ext cx="249044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Borrow and carry share the same flag bit.</a:t>
            </a:r>
          </a:p>
          <a:p>
            <a:r>
              <a:rPr lang="en-US" dirty="0"/>
              <a:t>For unsigned subtract, Borrow = NOT Carry</a:t>
            </a:r>
          </a:p>
        </p:txBody>
      </p:sp>
    </p:spTree>
    <p:extLst>
      <p:ext uri="{BB962C8B-B14F-4D97-AF65-F5344CB8AC3E}">
        <p14:creationId xmlns:p14="http://schemas.microsoft.com/office/powerpoint/2010/main" val="3245517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A191D-A47A-E447-8835-46C8A587A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NZCV flags in PSR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C454B-C029-D447-BA6D-2305EB76C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B7F5FEF2-BC7F-D145-88A5-A68358C03FA5}"/>
              </a:ext>
            </a:extLst>
          </p:cNvPr>
          <p:cNvGraphicFramePr>
            <a:graphicFrameLocks noGrp="1"/>
          </p:cNvGraphicFramePr>
          <p:nvPr/>
        </p:nvGraphicFramePr>
        <p:xfrm>
          <a:off x="591948" y="1447800"/>
          <a:ext cx="39623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399">
                  <a:extLst>
                    <a:ext uri="{9D8B030D-6E8A-4147-A177-3AD203B41FA5}">
                      <a16:colId xmlns:a16="http://schemas.microsoft.com/office/drawing/2014/main" val="1109526272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30300005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21802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not changed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updated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4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558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210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78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7377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97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77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752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31859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2EA487D-8C25-2144-8595-4223F96EC224}"/>
              </a:ext>
            </a:extLst>
          </p:cNvPr>
          <p:cNvSpPr/>
          <p:nvPr/>
        </p:nvSpPr>
        <p:spPr>
          <a:xfrm>
            <a:off x="228600" y="5290258"/>
            <a:ext cx="4876801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C00000"/>
                </a:solidFill>
              </a:rPr>
              <a:t>Most instructions update NZCV flags </a:t>
            </a:r>
          </a:p>
          <a:p>
            <a:pPr algn="ctr"/>
            <a:r>
              <a:rPr lang="en-US" i="1" dirty="0">
                <a:solidFill>
                  <a:srgbClr val="C00000"/>
                </a:solidFill>
              </a:rPr>
              <a:t>only if S suffix is present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52AD2-6CE8-8145-9E90-22884E7A3821}"/>
              </a:ext>
            </a:extLst>
          </p:cNvPr>
          <p:cNvSpPr txBox="1"/>
          <p:nvPr/>
        </p:nvSpPr>
        <p:spPr>
          <a:xfrm>
            <a:off x="5105401" y="2667000"/>
            <a:ext cx="67056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Some instructions update NZCV flags even if no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sz="2000" dirty="0"/>
              <a:t> is specified. </a:t>
            </a:r>
          </a:p>
          <a:p>
            <a:endParaRPr lang="en-US" sz="1600" dirty="0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Compare, like SUBS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CMN: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 Negative, like ADDS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TST: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Test, like ANDS but without destination register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TEQ: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Test equivalence, like EORS but without destination register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73866-664D-E743-B0A9-396013B6B6F4}"/>
              </a:ext>
            </a:extLst>
          </p:cNvPr>
          <p:cNvSpPr txBox="1"/>
          <p:nvPr/>
        </p:nvSpPr>
        <p:spPr>
          <a:xfrm>
            <a:off x="6361626" y="1919434"/>
            <a:ext cx="396454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 r1, r2  </a:t>
            </a:r>
            <a:r>
              <a:rPr lang="en-US" i="1" dirty="0"/>
              <a:t>vs</a:t>
            </a:r>
            <a:r>
              <a:rPr lang="en-US" dirty="0"/>
              <a:t>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SUBS r0, r1, r2</a:t>
            </a:r>
          </a:p>
        </p:txBody>
      </p:sp>
    </p:spTree>
    <p:extLst>
      <p:ext uri="{BB962C8B-B14F-4D97-AF65-F5344CB8AC3E}">
        <p14:creationId xmlns:p14="http://schemas.microsoft.com/office/powerpoint/2010/main" val="116900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803CE-A3F8-1446-8F5C-7C2E703E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/>
              <a:t> </a:t>
            </a:r>
            <a:r>
              <a:rPr lang="en-US" i="1" dirty="0"/>
              <a:t>vs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BF7CBC-114A-CC46-9630-97E81FB8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F4E5D-CDCA-304D-8F0D-A98BE811CE5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0634" y="3023959"/>
            <a:ext cx="10829365" cy="318516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/>
              <a:t> does not update flags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/>
              <a:t> updates flags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bit 31 of result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IsZero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(result)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carry, assuming r1 and r2 representing unsigned integers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overflow, assuming r1 and r2 representing signed integers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5B6DE-8738-674C-B1B9-05AE37CA9F28}"/>
              </a:ext>
            </a:extLst>
          </p:cNvPr>
          <p:cNvSpPr txBox="1"/>
          <p:nvPr/>
        </p:nvSpPr>
        <p:spPr>
          <a:xfrm>
            <a:off x="609600" y="1658470"/>
            <a:ext cx="93602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unchanged </a:t>
            </a:r>
          </a:p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updated 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4442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80430"/>
            <a:ext cx="6629164" cy="6693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20</a:t>
            </a:fld>
            <a:endParaRPr lang="en-US" altLang="zh-TW" dirty="0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Suffix </a:t>
            </a:r>
            <a:r>
              <a:rPr lang="en-US" altLang="zh-TW" dirty="0">
                <a:solidFill>
                  <a:srgbClr val="FF0000"/>
                </a:solidFill>
              </a:rPr>
              <a:t>S: 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Update Flags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85800" y="1422736"/>
            <a:ext cx="41148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r0, =0xFFFFFFFF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pt-BR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r0, r0, r1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D3ADF8-DBA3-1142-8B33-C3BC69B85536}"/>
              </a:ext>
            </a:extLst>
          </p:cNvPr>
          <p:cNvSpPr txBox="1"/>
          <p:nvPr/>
        </p:nvSpPr>
        <p:spPr>
          <a:xfrm>
            <a:off x="1295400" y="4153400"/>
            <a:ext cx="22108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(Negative)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(Zero)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(Carry)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oVerflow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47953E-C988-FF45-8B16-AAF1E76A4677}"/>
              </a:ext>
            </a:extLst>
          </p:cNvPr>
          <p:cNvSpPr/>
          <p:nvPr/>
        </p:nvSpPr>
        <p:spPr>
          <a:xfrm>
            <a:off x="1905000" y="2779581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0xFFFFFFFF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269C7F-537F-C04A-92B4-43F5CF8E6E89}"/>
              </a:ext>
            </a:extLst>
          </p:cNvPr>
          <p:cNvSpPr/>
          <p:nvPr/>
        </p:nvSpPr>
        <p:spPr>
          <a:xfrm>
            <a:off x="1905000" y="3077695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0x00000001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BE81BA-43CA-A541-8055-2AD632A843C3}"/>
              </a:ext>
            </a:extLst>
          </p:cNvPr>
          <p:cNvCxnSpPr/>
          <p:nvPr/>
        </p:nvCxnSpPr>
        <p:spPr>
          <a:xfrm>
            <a:off x="1421574" y="3447027"/>
            <a:ext cx="19344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640AF-FFAE-5C4E-8FC9-1D1FDB5E0569}"/>
              </a:ext>
            </a:extLst>
          </p:cNvPr>
          <p:cNvSpPr txBox="1"/>
          <p:nvPr/>
        </p:nvSpPr>
        <p:spPr>
          <a:xfrm>
            <a:off x="1561385" y="3077695"/>
            <a:ext cx="333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+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DDFC4E-BE92-9344-8620-15A334685DF7}"/>
              </a:ext>
            </a:extLst>
          </p:cNvPr>
          <p:cNvSpPr/>
          <p:nvPr/>
        </p:nvSpPr>
        <p:spPr>
          <a:xfrm>
            <a:off x="1895131" y="3472068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0x00000000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</a:t>
            </a:r>
          </a:p>
        </p:txBody>
      </p:sp>
    </p:spTree>
    <p:extLst>
      <p:ext uri="{BB962C8B-B14F-4D97-AF65-F5344CB8AC3E}">
        <p14:creationId xmlns:p14="http://schemas.microsoft.com/office/powerpoint/2010/main" val="3699363176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21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 flipV="1">
            <a:off x="3200400" y="2590800"/>
            <a:ext cx="5803550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6096000" y="1752601"/>
            <a:ext cx="0" cy="127652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3508478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8" name="Straight Connector 3137"/>
          <p:cNvCxnSpPr/>
          <p:nvPr/>
        </p:nvCxnSpPr>
        <p:spPr>
          <a:xfrm>
            <a:off x="8839200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3522962" y="1828801"/>
            <a:ext cx="5480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2     F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0   0   0   0   0   0   0   4     0   0   0   0    0   0   0   1</a:t>
            </a: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0   0   0   0   0   0   0   7     0   0   0   0   0   0   0   0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3508478" y="1752600"/>
            <a:ext cx="2587522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6096000" y="1752600"/>
            <a:ext cx="2743200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3731766" y="1524000"/>
            <a:ext cx="19832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Most-significant (Upper) 32 bits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6601" y="1524000"/>
            <a:ext cx="2000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Least-significant (Lower) 32 bits</a:t>
            </a:r>
          </a:p>
        </p:txBody>
      </p:sp>
      <p:sp>
        <p:nvSpPr>
          <p:cNvPr id="3149" name="TextBox 3148"/>
          <p:cNvSpPr txBox="1"/>
          <p:nvPr/>
        </p:nvSpPr>
        <p:spPr>
          <a:xfrm>
            <a:off x="3124200" y="2286000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+</a:t>
            </a:r>
          </a:p>
        </p:txBody>
      </p:sp>
      <p:cxnSp>
        <p:nvCxnSpPr>
          <p:cNvPr id="3157" name="Straight Arrow Connector 3156"/>
          <p:cNvCxnSpPr/>
          <p:nvPr/>
        </p:nvCxnSpPr>
        <p:spPr>
          <a:xfrm flipH="1">
            <a:off x="5943600" y="2819400"/>
            <a:ext cx="319856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3" name="TextBox 3162"/>
          <p:cNvSpPr txBox="1"/>
          <p:nvPr/>
        </p:nvSpPr>
        <p:spPr>
          <a:xfrm>
            <a:off x="5544818" y="3124200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Carry out</a:t>
            </a:r>
          </a:p>
        </p:txBody>
      </p:sp>
      <p:sp>
        <p:nvSpPr>
          <p:cNvPr id="3164" name="TextBox 3163"/>
          <p:cNvSpPr txBox="1"/>
          <p:nvPr/>
        </p:nvSpPr>
        <p:spPr>
          <a:xfrm>
            <a:off x="3731766" y="4343400"/>
            <a:ext cx="46848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register can only store 32 bits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64-bit integer needs two registers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Split 64-bit addition into two 32-bit additions</a:t>
            </a:r>
          </a:p>
        </p:txBody>
      </p:sp>
    </p:spTree>
    <p:extLst>
      <p:ext uri="{BB962C8B-B14F-4D97-AF65-F5344CB8AC3E}">
        <p14:creationId xmlns:p14="http://schemas.microsoft.com/office/powerpoint/2010/main" val="271435320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" y="1371601"/>
            <a:ext cx="92964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+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Add A to B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r2, r0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 = A[31..0] +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ADC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r3, 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C[64..32] = A[64..32] + B[64..32] + Carry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22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A9C449-E51C-B140-9146-A11EC4E0A1E8}"/>
              </a:ext>
            </a:extLst>
          </p:cNvPr>
          <p:cNvGrpSpPr/>
          <p:nvPr/>
        </p:nvGrpSpPr>
        <p:grpSpPr>
          <a:xfrm>
            <a:off x="6934200" y="1981200"/>
            <a:ext cx="5105400" cy="2539183"/>
            <a:chOff x="6934200" y="1981200"/>
            <a:chExt cx="5105400" cy="253918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B4C759-A698-A944-AB9A-F3A62B2236FC}"/>
                </a:ext>
              </a:extLst>
            </p:cNvPr>
            <p:cNvSpPr txBox="1"/>
            <p:nvPr/>
          </p:nvSpPr>
          <p:spPr>
            <a:xfrm>
              <a:off x="7620218" y="2605896"/>
              <a:ext cx="1529167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C9C7FD-C0DB-9A44-AEB3-2172D7A1E2DE}"/>
                </a:ext>
              </a:extLst>
            </p:cNvPr>
            <p:cNvSpPr txBox="1"/>
            <p:nvPr/>
          </p:nvSpPr>
          <p:spPr>
            <a:xfrm>
              <a:off x="9314075" y="2605896"/>
              <a:ext cx="1529155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26B074D-B9F8-D748-BFB3-55E94D140411}"/>
                </a:ext>
              </a:extLst>
            </p:cNvPr>
            <p:cNvSpPr txBox="1"/>
            <p:nvPr/>
          </p:nvSpPr>
          <p:spPr>
            <a:xfrm>
              <a:off x="7615052" y="3063096"/>
              <a:ext cx="152915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9480FC-F7B3-2D4D-86B3-CFA045859CF4}"/>
                </a:ext>
              </a:extLst>
            </p:cNvPr>
            <p:cNvSpPr txBox="1"/>
            <p:nvPr/>
          </p:nvSpPr>
          <p:spPr>
            <a:xfrm>
              <a:off x="9310201" y="3063096"/>
              <a:ext cx="1538751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4D40629-5F22-6344-91EA-69DFCCDC4902}"/>
                </a:ext>
              </a:extLst>
            </p:cNvPr>
            <p:cNvSpPr txBox="1"/>
            <p:nvPr/>
          </p:nvSpPr>
          <p:spPr>
            <a:xfrm>
              <a:off x="7609441" y="3672696"/>
              <a:ext cx="1539944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8A60BC-7F31-A240-83C0-8BFF65D2E2FC}"/>
                </a:ext>
              </a:extLst>
            </p:cNvPr>
            <p:cNvSpPr txBox="1"/>
            <p:nvPr/>
          </p:nvSpPr>
          <p:spPr>
            <a:xfrm>
              <a:off x="9319785" y="3672902"/>
              <a:ext cx="1523445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151F1F6-B83A-5440-A730-16F4E60758D6}"/>
                </a:ext>
              </a:extLst>
            </p:cNvPr>
            <p:cNvCxnSpPr>
              <a:cxnSpLocks/>
            </p:cNvCxnSpPr>
            <p:nvPr/>
          </p:nvCxnSpPr>
          <p:spPr>
            <a:xfrm>
              <a:off x="7168185" y="3545934"/>
              <a:ext cx="380028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B9634DB-9E04-C047-A4D9-EF669D3DC62C}"/>
                </a:ext>
              </a:extLst>
            </p:cNvPr>
            <p:cNvGrpSpPr/>
            <p:nvPr/>
          </p:nvGrpSpPr>
          <p:grpSpPr>
            <a:xfrm>
              <a:off x="7168185" y="3171563"/>
              <a:ext cx="162732" cy="152399"/>
              <a:chOff x="6619068" y="533400"/>
              <a:chExt cx="162732" cy="152399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0282A4E-CF87-B846-9DBF-DEDA193BBFED}"/>
                  </a:ext>
                </a:extLst>
              </p:cNvPr>
              <p:cNvCxnSpPr/>
              <p:nvPr/>
            </p:nvCxnSpPr>
            <p:spPr>
              <a:xfrm>
                <a:off x="6619068" y="609600"/>
                <a:ext cx="1627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C4F5148-4F8B-154B-9343-62CB70B97C2D}"/>
                  </a:ext>
                </a:extLst>
              </p:cNvPr>
              <p:cNvCxnSpPr/>
              <p:nvPr/>
            </p:nvCxnSpPr>
            <p:spPr>
              <a:xfrm flipV="1">
                <a:off x="6700434" y="533400"/>
                <a:ext cx="0" cy="15239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C23672A-C77C-C349-8623-B1FB27163125}"/>
                </a:ext>
              </a:extLst>
            </p:cNvPr>
            <p:cNvSpPr txBox="1"/>
            <p:nvPr/>
          </p:nvSpPr>
          <p:spPr>
            <a:xfrm>
              <a:off x="10968473" y="2603604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Addend1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78798E3-25E9-904A-B0AB-491FBF107449}"/>
                </a:ext>
              </a:extLst>
            </p:cNvPr>
            <p:cNvSpPr txBox="1"/>
            <p:nvPr/>
          </p:nvSpPr>
          <p:spPr>
            <a:xfrm>
              <a:off x="10968473" y="3077401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>
                      <a:lumMod val="50000"/>
                    </a:schemeClr>
                  </a:solidFill>
                  <a:latin typeface="Consolas" panose="020B0609020204030204" pitchFamily="49" charset="0"/>
                </a:rPr>
                <a:t>Addend2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59D8CAD-3568-DE4D-B9CB-F6AF75CB2CC9}"/>
                </a:ext>
              </a:extLst>
            </p:cNvPr>
            <p:cNvSpPr txBox="1"/>
            <p:nvPr/>
          </p:nvSpPr>
          <p:spPr>
            <a:xfrm>
              <a:off x="10968473" y="368259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C000"/>
                  </a:solidFill>
                  <a:latin typeface="Consolas" panose="020B0609020204030204" pitchFamily="49" charset="0"/>
                </a:rPr>
                <a:t>Sum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4570C9C-D927-9442-A372-F9498FB2D90B}"/>
                </a:ext>
              </a:extLst>
            </p:cNvPr>
            <p:cNvSpPr txBox="1"/>
            <p:nvPr/>
          </p:nvSpPr>
          <p:spPr>
            <a:xfrm>
              <a:off x="7609441" y="2151266"/>
              <a:ext cx="1545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Upper 32 bits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CD5C09-D040-E64C-BA73-3A95E75FBD1A}"/>
                </a:ext>
              </a:extLst>
            </p:cNvPr>
            <p:cNvSpPr txBox="1"/>
            <p:nvPr/>
          </p:nvSpPr>
          <p:spPr>
            <a:xfrm>
              <a:off x="9319784" y="2145939"/>
              <a:ext cx="15234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Lower 32 bits</a:t>
              </a: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35F52858-8795-304E-9934-BEC0E425A2D5}"/>
                </a:ext>
              </a:extLst>
            </p:cNvPr>
            <p:cNvSpPr/>
            <p:nvPr/>
          </p:nvSpPr>
          <p:spPr>
            <a:xfrm>
              <a:off x="9039876" y="3730598"/>
              <a:ext cx="389418" cy="426002"/>
            </a:xfrm>
            <a:prstGeom prst="arc">
              <a:avLst>
                <a:gd name="adj1" fmla="val 21322083"/>
                <a:gd name="adj2" fmla="val 10995906"/>
              </a:avLst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ACD368-33EC-8B4F-AE19-08FD2A93390A}"/>
                </a:ext>
              </a:extLst>
            </p:cNvPr>
            <p:cNvSpPr txBox="1"/>
            <p:nvPr/>
          </p:nvSpPr>
          <p:spPr>
            <a:xfrm>
              <a:off x="8713997" y="4181829"/>
              <a:ext cx="101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</a:rPr>
                <a:t>Carry out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4A0CD92-9435-BA41-BBE4-AFB35E7C1C98}"/>
                </a:ext>
              </a:extLst>
            </p:cNvPr>
            <p:cNvGrpSpPr/>
            <p:nvPr/>
          </p:nvGrpSpPr>
          <p:grpSpPr>
            <a:xfrm>
              <a:off x="7609439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AA6FC79-8EC2-A647-97FC-1DD1FAAD5326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D4CCFA-6622-6349-8C39-71D524D9BBA6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304676A8-B6DA-C843-88F3-EBB756B35E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A358F391-01F8-914C-B2B7-32F4F02C1634}"/>
                </a:ext>
              </a:extLst>
            </p:cNvPr>
            <p:cNvGrpSpPr/>
            <p:nvPr/>
          </p:nvGrpSpPr>
          <p:grpSpPr>
            <a:xfrm>
              <a:off x="9319784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0D3773E-8B01-4449-9BA3-C12938CE57DF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D66532-3C9D-DB48-A839-61EA7E6D18C5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BD186B3-BC97-1141-8942-8F6A83DC11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0DB7E7-85D4-7943-BEFC-C7C72996EC34}"/>
                </a:ext>
              </a:extLst>
            </p:cNvPr>
            <p:cNvSpPr/>
            <p:nvPr/>
          </p:nvSpPr>
          <p:spPr>
            <a:xfrm>
              <a:off x="6934200" y="1981200"/>
              <a:ext cx="5105400" cy="25391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4552365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Subtraction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17220" y="1487517"/>
            <a:ext cx="87122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-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Subtract B from 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SUB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r0,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C[31..0]= A[31..0] -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r1, r3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C[64..32]= A[64..32] - B[64..32] – (1 – Carry)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8763000" y="2057400"/>
            <a:ext cx="2819400" cy="1828800"/>
            <a:chOff x="6019800" y="2438400"/>
            <a:chExt cx="2819400" cy="1828800"/>
          </a:xfrm>
        </p:grpSpPr>
        <p:sp>
          <p:nvSpPr>
            <p:cNvPr id="7" name="Rectangle 6"/>
            <p:cNvSpPr/>
            <p:nvPr/>
          </p:nvSpPr>
          <p:spPr>
            <a:xfrm>
              <a:off x="6019800" y="2438400"/>
              <a:ext cx="2819400" cy="1828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4234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67600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31983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75349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19068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2434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14" name="Straight Connector 13"/>
            <p:cNvCxnSpPr/>
            <p:nvPr/>
          </p:nvCxnSpPr>
          <p:spPr>
            <a:xfrm>
              <a:off x="6172200" y="3530838"/>
              <a:ext cx="2438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6172200" y="3232667"/>
              <a:ext cx="16273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8388788" y="2563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382000" y="3048000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B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382000" y="364542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55324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E3C7A-4433-DFDC-D1E8-3637706B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solidFill>
                  <a:srgbClr val="FF0000"/>
                </a:solidFill>
              </a:rPr>
              <a:t>96-bit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7A5132-E7E8-7019-33DA-90E8F7FC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4AC64-8321-F0C2-90D0-690A73E2CD1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191000" y="4999990"/>
            <a:ext cx="2514600" cy="1356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SUBS r6, r0, r3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SBCS r7, r1, r4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  r8, r2, r5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98055C-BDDB-836D-9BC5-4411736C8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9197578" cy="342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7426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25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Short Multiplication </a:t>
            </a:r>
            <a:r>
              <a:rPr lang="en-US" altLang="zh-TW" dirty="0"/>
              <a:t>and</a:t>
            </a:r>
            <a:r>
              <a:rPr lang="en-US" altLang="zh-TW" dirty="0">
                <a:solidFill>
                  <a:schemeClr val="accent1"/>
                </a:solidFill>
              </a:rPr>
              <a:t> </a:t>
            </a:r>
            <a:r>
              <a:rPr lang="en-US" altLang="zh-TW" dirty="0">
                <a:solidFill>
                  <a:srgbClr val="FF0000"/>
                </a:solidFill>
              </a:rPr>
              <a:t>Division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7700" y="1690305"/>
            <a:ext cx="84582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MUL: Signed multiply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UMUL: Unsigned multiply 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MLA: Multiply with accumulation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+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MLS:  Multiply with subtract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-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CED3BF-EAA9-AC49-B8FA-6515C69C7BC2}"/>
              </a:ext>
            </a:extLst>
          </p:cNvPr>
          <p:cNvSpPr txBox="1"/>
          <p:nvPr/>
        </p:nvSpPr>
        <p:spPr>
          <a:xfrm>
            <a:off x="4267201" y="5315972"/>
            <a:ext cx="3035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LSB32</a:t>
            </a:r>
            <a:r>
              <a:rPr lang="en-US" dirty="0"/>
              <a:t>: Least significant 32 bits</a:t>
            </a:r>
          </a:p>
        </p:txBody>
      </p:sp>
    </p:spTree>
    <p:extLst>
      <p:ext uri="{BB962C8B-B14F-4D97-AF65-F5344CB8AC3E}">
        <p14:creationId xmlns:p14="http://schemas.microsoft.com/office/powerpoint/2010/main" val="177170922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26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Long Multiplication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61383402"/>
              </p:ext>
            </p:extLst>
          </p:nvPr>
        </p:nvGraphicFramePr>
        <p:xfrm>
          <a:off x="1790700" y="1371600"/>
          <a:ext cx="8724900" cy="27432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934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0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828800" y="4724400"/>
            <a:ext cx="80772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690134" y="4234934"/>
            <a:ext cx="446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 has 64 bits, placed in two registers.</a:t>
            </a:r>
          </a:p>
        </p:txBody>
      </p:sp>
    </p:spTree>
    <p:extLst>
      <p:ext uri="{BB962C8B-B14F-4D97-AF65-F5344CB8AC3E}">
        <p14:creationId xmlns:p14="http://schemas.microsoft.com/office/powerpoint/2010/main" val="127730444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Logic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419708"/>
              </p:ext>
            </p:extLst>
          </p:nvPr>
        </p:nvGraphicFramePr>
        <p:xfrm>
          <a:off x="1981200" y="1295400"/>
          <a:ext cx="8458200" cy="4953002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AND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exclusive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^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NOT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(NOT operand2)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BIC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NOT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0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BFI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</a:t>
                      </a:r>
                      <a:r>
                        <a:rPr lang="en-US" sz="1600" b="0" baseline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Rn,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insert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Rn[(width-1):0]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NOT, logically negate all bits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0xFFFFFFFF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42659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28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47460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4960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05413" y="1676401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38617" y="2008538"/>
            <a:ext cx="82375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1  0  0  0  0  0  0  0  0  0  0  0  0  0  0  1  0  0  0  0  0  0  0  0  0  0  0  0  0  0  0  1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6060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6250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860" y="199286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1860" y="226283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4929" y="28194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1311" y="3505200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3106604463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29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50685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8185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79284" y="1743166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41842" y="2008538"/>
            <a:ext cx="82638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9285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9475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5731" y="20085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5731" y="22860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28141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4537" y="3505200"/>
            <a:ext cx="1883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64669394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30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2188139" y="4982570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379296" y="4238473"/>
            <a:ext cx="82125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6946" y="419946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" y="4515935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1200" y="50440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91961" y="1307068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 Clear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697245" y="1717034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= r0 &amp; NOT r1</a:t>
            </a:r>
          </a:p>
        </p:txBody>
      </p:sp>
      <p:sp>
        <p:nvSpPr>
          <p:cNvPr id="3" name="Rectangle 2"/>
          <p:cNvSpPr/>
          <p:nvPr/>
        </p:nvSpPr>
        <p:spPr>
          <a:xfrm>
            <a:off x="2402300" y="2711398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0  0  0  0  0  0  0  0  0  0  0  0  0  0  0  0  0  0  0  0  0  0  0  0  0  0  0  0  1  1  1  1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69374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2300" y="3080730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3059668"/>
            <a:ext cx="1580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6005" y="2297668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6168" y="3810000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</a:t>
            </a:r>
          </a:p>
        </p:txBody>
      </p:sp>
    </p:spTree>
    <p:extLst>
      <p:ext uri="{BB962C8B-B14F-4D97-AF65-F5344CB8AC3E}">
        <p14:creationId xmlns:p14="http://schemas.microsoft.com/office/powerpoint/2010/main" val="284432468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31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dirty="0"/>
              <a:t> and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295400"/>
            <a:ext cx="7696200" cy="463296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zh-TW" sz="2800" dirty="0"/>
              <a:t>Bit Field Clear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800" dirty="0"/>
              <a:t>) and Bit Field Insert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800" dirty="0"/>
              <a:t>).</a:t>
            </a:r>
          </a:p>
          <a:p>
            <a:pPr>
              <a:lnSpc>
                <a:spcPct val="90000"/>
              </a:lnSpc>
            </a:pPr>
            <a:r>
              <a:rPr lang="en-US" altLang="zh-TW" sz="2800" dirty="0"/>
              <a:t>Syntax</a:t>
            </a:r>
          </a:p>
          <a:p>
            <a:pPr lvl="1">
              <a:lnSpc>
                <a:spcPct val="90000"/>
              </a:lnSpc>
            </a:pPr>
            <a:r>
              <a:rPr lang="en-US" altLang="zh-TW" sz="25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  <a:endParaRPr lang="en-US" altLang="zh-TW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en-US" altLang="zh-TW" sz="25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Rn,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</a:p>
          <a:p>
            <a:pPr lvl="1">
              <a:lnSpc>
                <a:spcPct val="90000"/>
              </a:lnSpc>
            </a:pPr>
            <a:endParaRPr lang="en-US" altLang="zh-TW" sz="2500" dirty="0"/>
          </a:p>
          <a:p>
            <a:pPr>
              <a:lnSpc>
                <a:spcPct val="90000"/>
              </a:lnSpc>
            </a:pPr>
            <a:r>
              <a:rPr lang="en-US" altLang="zh-TW" sz="2800" dirty="0"/>
              <a:t>Examples: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#8, #12    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Clear bit 8 to bit 19 (a total of 12 bits) of R4</a:t>
            </a:r>
          </a:p>
          <a:p>
            <a:pPr marL="274320" lvl="1" indent="0">
              <a:lnSpc>
                <a:spcPct val="90000"/>
              </a:lnSpc>
              <a:buNone/>
            </a:pPr>
            <a:endParaRPr lang="en-US" altLang="zh-TW" sz="2500" dirty="0"/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R2, #8, #12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Replace bit 8 to bit 19 (12 bits) of R9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with bit 0 to bit 11 from R2.</a:t>
            </a:r>
            <a:endParaRPr lang="en-US" altLang="zh-TW" sz="20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95822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94229"/>
            <a:ext cx="11125200" cy="990600"/>
          </a:xfrm>
        </p:spPr>
        <p:txBody>
          <a:bodyPr>
            <a:normAutofit/>
          </a:bodyPr>
          <a:lstStyle/>
          <a:p>
            <a:r>
              <a:rPr lang="en-US" sz="2800" dirty="0">
                <a:ea typeface="DejaVu Sans" charset="0"/>
                <a:cs typeface="DejaVu Sans" charset="0"/>
              </a:rPr>
              <a:t>Bit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&amp;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~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)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</a:t>
            </a:r>
            <a:r>
              <a:rPr lang="en-US" sz="2800" i="1" dirty="0">
                <a:solidFill>
                  <a:schemeClr val="tx1"/>
                </a:solidFill>
                <a:ea typeface="DejaVu Sans" charset="0"/>
                <a:cs typeface="DejaVu Sans" charset="0"/>
              </a:rPr>
              <a:t>vs  </a:t>
            </a:r>
            <a:r>
              <a:rPr lang="en-US" sz="2800" dirty="0">
                <a:ea typeface="DejaVu Sans" charset="0"/>
                <a:cs typeface="DejaVu Sans" charset="0"/>
              </a:rPr>
              <a:t>Boolean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&amp;&amp;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 ,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||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!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)</a:t>
            </a:r>
            <a:endParaRPr lang="en-US" sz="2800" i="1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762000" y="3581400"/>
            <a:ext cx="9982200" cy="2499360"/>
          </a:xfrm>
        </p:spPr>
        <p:txBody>
          <a:bodyPr>
            <a:normAutofit/>
          </a:bodyPr>
          <a:lstStyle/>
          <a:p>
            <a:pPr lvl="0"/>
            <a:r>
              <a:rPr lang="en-US" sz="2400" dirty="0"/>
              <a:t>The Boolean operators perform word-wide operations, not bitwise. </a:t>
            </a:r>
          </a:p>
          <a:p>
            <a:pPr lvl="0"/>
            <a:r>
              <a:rPr lang="en-US" sz="2400" dirty="0"/>
              <a:t>For example, </a:t>
            </a:r>
          </a:p>
          <a:p>
            <a:pPr lvl="1"/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“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0x10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&amp;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 but  “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0x10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. </a:t>
            </a:r>
          </a:p>
          <a:p>
            <a:pPr lvl="1"/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“~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 but  “!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428375"/>
              </p:ext>
            </p:extLst>
          </p:nvPr>
        </p:nvGraphicFramePr>
        <p:xfrm>
          <a:off x="2438400" y="1600200"/>
          <a:ext cx="7010400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A||B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solidFill>
                            <a:srgbClr val="C00000"/>
                          </a:solidFill>
                        </a:rPr>
                        <a:t>A|B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!B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~B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5807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Saturating Instruction: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SSAT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Syntax: </a:t>
                </a:r>
              </a:p>
              <a:p>
                <a:pPr lvl="1"/>
                <a:r>
                  <a:rPr lang="en-US" dirty="0"/>
                  <a:t>op{</a:t>
                </a:r>
                <a:r>
                  <a:rPr lang="en-US" dirty="0" err="1"/>
                  <a:t>cond</a:t>
                </a:r>
                <a:r>
                  <a:rPr lang="en-US" dirty="0"/>
                  <a:t>} Rd, </a:t>
                </a:r>
                <a:r>
                  <a:rPr lang="en-US" dirty="0">
                    <a:solidFill>
                      <a:srgbClr val="FF0000"/>
                    </a:solidFill>
                  </a:rPr>
                  <a:t>#n</a:t>
                </a:r>
                <a:r>
                  <a:rPr lang="en-US" dirty="0"/>
                  <a:t>, Rm{, shift}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dirty="0"/>
                  <a:t> saturates a signed value to the signed range -2</a:t>
                </a:r>
                <a:r>
                  <a:rPr lang="en-US" baseline="30000" dirty="0"/>
                  <a:t>n-1</a:t>
                </a:r>
                <a:r>
                  <a:rPr lang="en-US" dirty="0"/>
                  <a:t> ≤ x ≤ 2</a:t>
                </a:r>
                <a:r>
                  <a:rPr lang="en-US" baseline="30000" dirty="0"/>
                  <a:t>n-1</a:t>
                </a:r>
                <a:r>
                  <a:rPr lang="en-US" dirty="0"/>
                  <a:t> -1.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&lt;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 err="1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dirty="0"/>
                  <a:t> saturates a signed value to the unsigned range 0 ≤ x ≤ 2</a:t>
                </a:r>
                <a:r>
                  <a:rPr lang="en-US" baseline="30000" dirty="0"/>
                  <a:t>n</a:t>
                </a:r>
                <a:r>
                  <a:rPr lang="en-US" dirty="0"/>
                  <a:t> - 1.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𝑈𝑆𝐴𝑇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r1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-2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endParaRPr lang="en-US" sz="33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r3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0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11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  <a:blipFill>
                <a:blip r:embed="rId2"/>
                <a:stretch>
                  <a:fillRect l="-483" t="-2469" r="-966" b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37576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of Saturation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590800"/>
            <a:ext cx="3454400" cy="2590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1219200"/>
            <a:ext cx="3759200" cy="2819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3981450"/>
            <a:ext cx="3683000" cy="2762250"/>
          </a:xfrm>
          <a:prstGeom prst="rect">
            <a:avLst/>
          </a:prstGeom>
        </p:spPr>
      </p:pic>
      <p:cxnSp>
        <p:nvCxnSpPr>
          <p:cNvPr id="10" name="Straight Arrow Connector 9"/>
          <p:cNvCxnSpPr>
            <a:stCxn id="6" idx="3"/>
            <a:endCxn id="7" idx="1"/>
          </p:cNvCxnSpPr>
          <p:nvPr/>
        </p:nvCxnSpPr>
        <p:spPr>
          <a:xfrm flipV="1">
            <a:off x="5130800" y="2628900"/>
            <a:ext cx="1193800" cy="1257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6" idx="3"/>
            <a:endCxn id="8" idx="1"/>
          </p:cNvCxnSpPr>
          <p:nvPr/>
        </p:nvCxnSpPr>
        <p:spPr>
          <a:xfrm>
            <a:off x="5130800" y="3886201"/>
            <a:ext cx="1270000" cy="1476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4121" y="2309546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saturation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2" y="4611470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saturation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1" y="1370052"/>
            <a:ext cx="339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data are limited to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US" dirty="0"/>
              <a:t> bits</a:t>
            </a:r>
          </a:p>
        </p:txBody>
      </p:sp>
    </p:spTree>
    <p:extLst>
      <p:ext uri="{BB962C8B-B14F-4D97-AF65-F5344CB8AC3E}">
        <p14:creationId xmlns:p14="http://schemas.microsoft.com/office/powerpoint/2010/main" val="9758518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89798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875" y="4267200"/>
            <a:ext cx="733425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/>
          <p:cNvSpPr/>
          <p:nvPr/>
        </p:nvSpPr>
        <p:spPr>
          <a:xfrm>
            <a:off x="1822926" y="3733800"/>
            <a:ext cx="15776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Rd, Rn</a:t>
            </a:r>
            <a:endParaRPr lang="en-US" dirty="0">
              <a:latin typeface="Consolas" panose="020B0609020204030204" pitchFamily="49" charset="0"/>
              <a:ea typeface="宋体"/>
              <a:cs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997475" y="41910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97475" y="46482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 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Reverse bits,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0x1E6A2C48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</p:spTree>
    <p:extLst>
      <p:ext uri="{BB962C8B-B14F-4D97-AF65-F5344CB8AC3E}">
        <p14:creationId xmlns:p14="http://schemas.microsoft.com/office/powerpoint/2010/main" val="4306882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951487" y="3733800"/>
            <a:ext cx="1320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REV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33600" y="4103132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57400" y="4805033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 R1, R0  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0x78563412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91001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63262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2253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824851" y="3733800"/>
            <a:ext cx="15738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REV16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000240" y="4050268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1403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REV16 R2,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0x34127856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4110040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71935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3022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785578" y="3733800"/>
            <a:ext cx="16523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REVSH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70618" y="41148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170618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=0x33448899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0x33448899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REVSH R1,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0xFFFF9988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62426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07037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19445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2095500" y="1995349"/>
            <a:ext cx="8001000" cy="17543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int8_t  a = -1;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8-bit integer,  a = 0xFF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int16_t b = -2;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16-bit integer, b = 0xFFFE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int32_t c;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32-bit integer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a;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0xFFFFFFFF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b;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0xFFFFFFFE</a:t>
            </a:r>
          </a:p>
        </p:txBody>
      </p:sp>
    </p:spTree>
    <p:extLst>
      <p:ext uri="{BB962C8B-B14F-4D97-AF65-F5344CB8AC3E}">
        <p14:creationId xmlns:p14="http://schemas.microsoft.com/office/powerpoint/2010/main" val="31522838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3505200" y="4420711"/>
            <a:ext cx="45720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=0x55AA8765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0xFFFF8765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0x00008765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680916"/>
              </p:ext>
            </p:extLst>
          </p:nvPr>
        </p:nvGraphicFramePr>
        <p:xfrm>
          <a:off x="1981200" y="1371600"/>
          <a:ext cx="8458200" cy="25908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3079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8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96546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Data between Registers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0" y="3352800"/>
            <a:ext cx="7391400" cy="16002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r5 to r4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r4 = bitwise logical NOT of r5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r2, LSL #3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&lt;&lt; 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r0, PC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PC (r15) to r0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SP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SP (r14) to r1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674935"/>
              </p:ext>
            </p:extLst>
          </p:nvPr>
        </p:nvGraphicFramePr>
        <p:xfrm>
          <a:off x="2136648" y="1447800"/>
          <a:ext cx="7696200" cy="12954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87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NOT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MRS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Move from special register to general register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MSR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Move from general register to special register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043100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Immediate Number to Register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62400" y="3218020"/>
            <a:ext cx="5105400" cy="7620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0x87654321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02443"/>
              </p:ext>
            </p:extLst>
          </p:nvPr>
        </p:nvGraphicFramePr>
        <p:xfrm>
          <a:off x="3543300" y="1316326"/>
          <a:ext cx="5943600" cy="1247829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5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4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MOVW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Wide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MOVT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Top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 &lt;&lt; 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sym typeface="Symbol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5EBE0760-6769-4463-87A6-B11275CD8231}"/>
              </a:ext>
            </a:extLst>
          </p:cNvPr>
          <p:cNvSpPr/>
          <p:nvPr/>
        </p:nvSpPr>
        <p:spPr>
          <a:xfrm>
            <a:off x="3200401" y="4492823"/>
            <a:ext cx="390113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MOVW</a:t>
            </a:r>
            <a:r>
              <a:rPr lang="en-US" dirty="0"/>
              <a:t> will zero the upper halfword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MOVT</a:t>
            </a:r>
            <a:r>
              <a:rPr lang="en-US" dirty="0"/>
              <a:t> won’t zero the lower halfword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27B3EE2-112D-476A-AEA7-FFD0C40971E1}"/>
              </a:ext>
            </a:extLst>
          </p:cNvPr>
          <p:cNvSpPr txBox="1">
            <a:spLocks noChangeArrowheads="1"/>
          </p:cNvSpPr>
          <p:nvPr/>
        </p:nvSpPr>
        <p:spPr>
          <a:xfrm>
            <a:off x="3962400" y="5257800"/>
            <a:ext cx="5105400" cy="762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0x8765xxxx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6001C-16DC-44CD-A44F-4F1CF6EF3D3C}"/>
              </a:ext>
            </a:extLst>
          </p:cNvPr>
          <p:cNvSpPr txBox="1"/>
          <p:nvPr/>
        </p:nvSpPr>
        <p:spPr>
          <a:xfrm>
            <a:off x="2667001" y="4133080"/>
            <a:ext cx="2047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Order does matter!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C49EE0-C28A-47E9-BF5E-0848074C94F1}"/>
              </a:ext>
            </a:extLst>
          </p:cNvPr>
          <p:cNvSpPr txBox="1"/>
          <p:nvPr/>
        </p:nvSpPr>
        <p:spPr>
          <a:xfrm>
            <a:off x="2023025" y="2695628"/>
            <a:ext cx="49203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Example: Load a 32-bit number into a register</a:t>
            </a:r>
          </a:p>
        </p:txBody>
      </p:sp>
    </p:spTree>
    <p:extLst>
      <p:ext uri="{BB962C8B-B14F-4D97-AF65-F5344CB8AC3E}">
        <p14:creationId xmlns:p14="http://schemas.microsoft.com/office/powerpoint/2010/main" val="1380735846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F2F1-5CB1-474C-B3BA-56EA6EC28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2</a:t>
            </a:r>
            <a:r>
              <a:rPr lang="en-US" baseline="30000" dirty="0"/>
              <a:t>nd</a:t>
            </a:r>
            <a:r>
              <a:rPr lang="en-US" dirty="0"/>
              <a:t> Source Operand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E1CD31-2F76-5044-9C79-FD9248977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92989E-5BA0-3248-ACDD-E59483B687A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4128497"/>
            <a:ext cx="10972800" cy="2055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Operand2</a:t>
            </a:r>
          </a:p>
          <a:p>
            <a:pPr marL="0" indent="0">
              <a:buNone/>
            </a:pPr>
            <a:endParaRPr lang="en-US" sz="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#1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LSL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 &lt;&lt; 2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84C1CC-A4A2-C84E-A828-32DAA7FED6FA}"/>
              </a:ext>
            </a:extLst>
          </p:cNvPr>
          <p:cNvGrpSpPr/>
          <p:nvPr/>
        </p:nvGrpSpPr>
        <p:grpSpPr>
          <a:xfrm>
            <a:off x="2743200" y="1498409"/>
            <a:ext cx="7194288" cy="2536686"/>
            <a:chOff x="2498856" y="3655224"/>
            <a:chExt cx="7194288" cy="253668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43F6647-7BEA-1347-BCBA-CA3092CF7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8856" y="3655224"/>
              <a:ext cx="7194288" cy="1828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453D5C-05CB-BD41-92C5-48E2C985D8EF}"/>
                </a:ext>
              </a:extLst>
            </p:cNvPr>
            <p:cNvSpPr/>
            <p:nvPr/>
          </p:nvSpPr>
          <p:spPr>
            <a:xfrm>
              <a:off x="4241800" y="5484024"/>
              <a:ext cx="187960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LSL,LSR,ASR,</a:t>
              </a:r>
            </a:p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ROR,RRX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55235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Shifts To Implement Multiplication And Division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8915400" cy="4937760"/>
          </a:xfrm>
        </p:spPr>
        <p:txBody>
          <a:bodyPr>
            <a:normAutofit/>
          </a:bodyPr>
          <a:lstStyle/>
          <a:p>
            <a:r>
              <a:rPr lang="en-US" sz="2400" dirty="0"/>
              <a:t>Use Barrel shifter to speed up multiplication and division</a:t>
            </a:r>
          </a:p>
          <a:p>
            <a:pPr lvl="1"/>
            <a:r>
              <a:rPr lang="en-US" sz="2100" dirty="0"/>
              <a:t>Shifting left 1 bit &lt;=&gt; multiplication by 2</a:t>
            </a:r>
          </a:p>
          <a:p>
            <a:r>
              <a:rPr lang="en-US" sz="2400" dirty="0"/>
              <a:t>Examples: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 = 9 × r0 = r0 + 8 × r0 </a:t>
            </a:r>
          </a:p>
          <a:p>
            <a:pPr marL="274320" lvl="1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LSL #3  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&lt;=&gt;  MOV r2, #9    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9</a:t>
            </a:r>
          </a:p>
          <a:p>
            <a:pPr marL="274320" lvl="1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MUL r1, r0, r2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* 9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514600" y="4655016"/>
            <a:ext cx="63246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LSR #3   </a:t>
            </a:r>
          </a:p>
          <a:p>
            <a:pPr indent="-182880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(unsigned)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ASR #3   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(signed) 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0C368B6E-859A-A6F2-2671-57A134705926}"/>
              </a:ext>
            </a:extLst>
          </p:cNvPr>
          <p:cNvSpPr txBox="1">
            <a:spLocks/>
          </p:cNvSpPr>
          <p:nvPr/>
        </p:nvSpPr>
        <p:spPr bwMode="auto">
          <a:xfrm>
            <a:off x="2514600" y="3778354"/>
            <a:ext cx="6324600" cy="677272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2000" dirty="0"/>
              <a:t>MUL instruction takes only registers, not an immediate, so “MUL r1, r0, #9” is invalid syntax</a:t>
            </a:r>
          </a:p>
        </p:txBody>
      </p:sp>
    </p:spTree>
    <p:extLst>
      <p:ext uri="{BB962C8B-B14F-4D97-AF65-F5344CB8AC3E}">
        <p14:creationId xmlns:p14="http://schemas.microsoft.com/office/powerpoint/2010/main" val="186124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Barrel Shifter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839724" y="1472945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51" name="Rectangle 19"/>
          <p:cNvSpPr>
            <a:spLocks noChangeArrowheads="1"/>
          </p:cNvSpPr>
          <p:nvPr/>
        </p:nvSpPr>
        <p:spPr bwMode="auto">
          <a:xfrm>
            <a:off x="7247979" y="154797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6" name="Rectangle 34"/>
          <p:cNvSpPr>
            <a:spLocks noChangeArrowheads="1"/>
          </p:cNvSpPr>
          <p:nvPr/>
        </p:nvSpPr>
        <p:spPr bwMode="auto">
          <a:xfrm>
            <a:off x="915924" y="3078671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7247979" y="3146539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76" name="Rectangle 44"/>
          <p:cNvSpPr>
            <a:spLocks noChangeArrowheads="1"/>
          </p:cNvSpPr>
          <p:nvPr/>
        </p:nvSpPr>
        <p:spPr bwMode="auto">
          <a:xfrm>
            <a:off x="915925" y="4456674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6936496" y="4756382"/>
            <a:ext cx="3013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Why is there rotate right but no rotate left?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0400" y="5343457"/>
            <a:ext cx="33947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41FF"/>
                </a:solidFill>
              </a:rPr>
              <a:t>Rotate left can be replaced by a rotate right with a different rotate offset.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13" y="1879919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924" y="3461313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979" y="198757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115" y="3718653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096" y="4964086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457440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79645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APSR Flags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8821"/>
              </p:ext>
            </p:extLst>
          </p:nvPr>
        </p:nvGraphicFramePr>
        <p:xfrm>
          <a:off x="2438400" y="2041956"/>
          <a:ext cx="716280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>
                  <a:extLst>
                    <a:ext uri="{9D8B030D-6E8A-4147-A177-3AD203B41FA5}">
                      <a16:colId xmlns:a16="http://schemas.microsoft.com/office/drawing/2014/main" val="698963818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068253491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747652145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819146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0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R&lt;31&gt;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nsolas" panose="020B0609020204030204" pitchFamily="49" charset="0"/>
                        </a:rPr>
                        <a:t>IsZeroBit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carry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unchanged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42603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76956" y="1276150"/>
            <a:ext cx="8018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“S” is present, the instruction update flags. Otherwise, the flags are not updated.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 </a:t>
            </a:r>
            <a:r>
              <a:rPr lang="en-US" b="1" dirty="0">
                <a:latin typeface="Consolas" panose="020B0609020204030204" pitchFamily="49" charset="0"/>
              </a:rPr>
              <a:t>R</a:t>
            </a:r>
            <a:r>
              <a:rPr lang="en-US" dirty="0"/>
              <a:t> be the final 32-bit result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6956" y="32766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394" y="420666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750" y="3310806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37" y="4536478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0967" y="5036279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3480411" y="368784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995" y="462444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994" y="573261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RRXS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8795" y="406212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ASRS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8795" y="531183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RORS</a:t>
            </a:r>
          </a:p>
        </p:txBody>
      </p:sp>
    </p:spTree>
    <p:extLst>
      <p:ext uri="{BB962C8B-B14F-4D97-AF65-F5344CB8AC3E}">
        <p14:creationId xmlns:p14="http://schemas.microsoft.com/office/powerpoint/2010/main" val="41347589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Gill Sans Light"/>
                  </a:rPr>
                  <a:t>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gets the bit hat was rotated from bit 0 to bit 31.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00" t="-1852" r="-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69463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9A2D-9384-2736-2578-E53F47EF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(shifting by 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EC04B3-1C3E-759B-A297-7C141F2AD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/>
          </a:p>
        </p:txBody>
      </p:sp>
      <p:pic>
        <p:nvPicPr>
          <p:cNvPr id="1026" name="Picture 2" descr="LSL diagram.">
            <a:extLst>
              <a:ext uri="{FF2B5EF4-FFF2-40B4-BE49-F238E27FC236}">
                <a16:creationId xmlns:a16="http://schemas.microsoft.com/office/drawing/2014/main" id="{DB0FAD2D-A109-8FF7-915D-0C781BA92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1143000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8">
            <a:extLst>
              <a:ext uri="{FF2B5EF4-FFF2-40B4-BE49-F238E27FC236}">
                <a16:creationId xmlns:a16="http://schemas.microsoft.com/office/drawing/2014/main" id="{2271E411-9C25-D0D4-4F6D-1428AEC5D6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FB7463D-BACC-3527-43B2-2E8B0F2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 descr="LSR diagram.">
            <a:extLst>
              <a:ext uri="{FF2B5EF4-FFF2-40B4-BE49-F238E27FC236}">
                <a16:creationId xmlns:a16="http://schemas.microsoft.com/office/drawing/2014/main" id="{8DF8733A-295C-13B1-7072-BE7608447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244111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4">
            <a:extLst>
              <a:ext uri="{FF2B5EF4-FFF2-40B4-BE49-F238E27FC236}">
                <a16:creationId xmlns:a16="http://schemas.microsoft.com/office/drawing/2014/main" id="{3D3A8BE7-DA07-7984-BA12-900333DB6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2610614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389A5FA2-BF73-CF63-4FCF-BE52B9E1E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99325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 descr="ASR shifting in zero diagram.">
            <a:extLst>
              <a:ext uri="{FF2B5EF4-FFF2-40B4-BE49-F238E27FC236}">
                <a16:creationId xmlns:a16="http://schemas.microsoft.com/office/drawing/2014/main" id="{76675F7E-56E1-B77B-2F26-966D30767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3795954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9">
            <a:extLst>
              <a:ext uri="{FF2B5EF4-FFF2-40B4-BE49-F238E27FC236}">
                <a16:creationId xmlns:a16="http://schemas.microsoft.com/office/drawing/2014/main" id="{678E69C3-115A-65AD-8A82-79F7B3FE5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1" y="4686246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882A2A42-60C7-7EC3-E17E-7D71A7793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1" y="5125838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8" descr="ASR shifting in one diagram.">
            <a:extLst>
              <a:ext uri="{FF2B5EF4-FFF2-40B4-BE49-F238E27FC236}">
                <a16:creationId xmlns:a16="http://schemas.microsoft.com/office/drawing/2014/main" id="{BCD390CB-5DC7-5CC4-2EC1-70B8114F6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5216552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2491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C65A-5128-11A7-1E1C-6DEF22C7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(rotate)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16548-D40D-E878-CF93-A04E3A915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/>
          </a:p>
        </p:txBody>
      </p:sp>
      <p:pic>
        <p:nvPicPr>
          <p:cNvPr id="2050" name="Picture 2" descr="ROR diagram.">
            <a:extLst>
              <a:ext uri="{FF2B5EF4-FFF2-40B4-BE49-F238E27FC236}">
                <a16:creationId xmlns:a16="http://schemas.microsoft.com/office/drawing/2014/main" id="{7FDB1EA3-667A-183C-4A99-4D706789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27212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5">
            <a:extLst>
              <a:ext uri="{FF2B5EF4-FFF2-40B4-BE49-F238E27FC236}">
                <a16:creationId xmlns:a16="http://schemas.microsoft.com/office/drawing/2014/main" id="{CE165587-299D-EEAE-2768-D104CEB638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9760" y="1261969"/>
            <a:ext cx="353695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 (rotate by 4)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76D8098E-6E5C-6B4E-65BC-711220C74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1834084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44">
            <a:extLst>
              <a:ext uri="{FF2B5EF4-FFF2-40B4-BE49-F238E27FC236}">
                <a16:creationId xmlns:a16="http://schemas.microsoft.com/office/drawing/2014/main" id="{695B445C-F279-7DB8-4C45-EDA2E7A4E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0468" y="3046542"/>
            <a:ext cx="3351213" cy="730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(can only rotate by 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1E19EB-640B-D3B8-510F-A03161E40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3743161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 descr="RRX diagram.">
            <a:extLst>
              <a:ext uri="{FF2B5EF4-FFF2-40B4-BE49-F238E27FC236}">
                <a16:creationId xmlns:a16="http://schemas.microsoft.com/office/drawing/2014/main" id="{946F170A-B3A8-2FFB-3779-9DE7D91A8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3057360"/>
            <a:ext cx="478917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50964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858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81575" y="2398217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 {S} Rd, Rn, &lt;shift&gt; 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50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914399" y="2895601"/>
            <a:ext cx="4761477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left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right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0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90600" y="4035929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#3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29367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0x0000_0003 (#3)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198674"/>
            <a:ext cx="511419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0xFFFF_0000 (#-65536)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r2, r3,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r3 = 0x0000_0008 (#8)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∗1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blipFill>
                <a:blip r:embed="rId4"/>
                <a:stretch>
                  <a:fillRect t="-49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0x0000_000C (#12)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12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∗3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r2 = 0xFFFE_0000 (#-131072)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-131072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∗−65536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N=1, Z=0, 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b="1" dirty="0"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blipFill>
                <a:blip r:embed="rId6"/>
                <a:stretch>
                  <a:fillRect l="-1259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6448646" y="5590219"/>
            <a:ext cx="53427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904000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30494" y="1247854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Right (LSR)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51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59094" y="2859983"/>
            <a:ext cx="4932106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right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left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35294" y="4249912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0x0000_0010 (#16)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r1, r2,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295401"/>
            <a:ext cx="5371077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(# 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83577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694" y="171698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706694" y="2386319"/>
            <a:ext cx="4359583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LSR{S} 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r1 =0x0000_0002 (#2)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blipFill>
                <a:blip r:embed="rId4"/>
                <a:stretch>
                  <a:fillRect t="-6897" b="-13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1" y="2464171"/>
                <a:ext cx="5371077" cy="13665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0x2000_0000 (# 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536,870,912 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FF0000"/>
                    </a:solidFill>
                  </a:rPr>
                  <a:t>                 with LSR sign bit is lost (if r2 is a signed integer). So do not use logical shifts for signed integers!</a:t>
                </a:r>
                <a:endParaRPr lang="en-US" b="1" dirty="0">
                  <a:solidFill>
                    <a:srgbClr val="FF0000"/>
                  </a:solidFill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2464171"/>
                <a:ext cx="5371077" cy="1366528"/>
              </a:xfrm>
              <a:prstGeom prst="rect">
                <a:avLst/>
              </a:prstGeom>
              <a:blipFill>
                <a:blip r:embed="rId5"/>
                <a:stretch>
                  <a:fillRect l="-908" t="-4018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Arrow 17"/>
          <p:cNvSpPr/>
          <p:nvPr/>
        </p:nvSpPr>
        <p:spPr>
          <a:xfrm flipV="1">
            <a:off x="6973324" y="3347467"/>
            <a:ext cx="403172" cy="12890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r3 = 0x0000_0000 (#0)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0=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N=0, Z=1,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blipFill>
                <a:blip r:embed="rId6"/>
                <a:stretch>
                  <a:fillRect l="-908" t="-4891"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6422065" y="6001434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63837087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8" grpId="0" animBg="1"/>
      <p:bldP spid="6" grpId="0"/>
      <p:bldP spid="2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52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1046162" y="2971307"/>
            <a:ext cx="4897438" cy="1228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copies of the sign bit in the left end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38199" y="4209330"/>
            <a:ext cx="44000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0xFFF8_0000 (-524288)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ASR r1, r0,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355771"/>
            <a:ext cx="5181599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657600"/>
            <a:ext cx="53144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0xFFFF_F001 (#-4095)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ASR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563" y="173023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Rectangle 19"/>
          <p:cNvSpPr>
            <a:spLocks noChangeArrowheads="1"/>
          </p:cNvSpPr>
          <p:nvPr/>
        </p:nvSpPr>
        <p:spPr bwMode="auto">
          <a:xfrm>
            <a:off x="609600" y="129063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Arithmetic Shift Right </a:t>
            </a:r>
            <a:r>
              <a:rPr lang="en-US" dirty="0">
                <a:latin typeface="Arial" pitchFamily="34" charset="0"/>
              </a:rPr>
              <a:t>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23" name="Rectangle 35"/>
          <p:cNvSpPr>
            <a:spLocks noChangeArrowheads="1"/>
          </p:cNvSpPr>
          <p:nvPr/>
        </p:nvSpPr>
        <p:spPr bwMode="auto">
          <a:xfrm>
            <a:off x="969963" y="25908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ASR{S}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r1 = 0xFFFF_0000 (-65536)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-65536=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−524288/2</m:t>
                        </m:r>
                      </m:e>
                      <m:sup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blipFill>
                <a:blip r:embed="rId4"/>
                <a:stretch>
                  <a:fillRect l="-1303" t="-8475"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0xE000_0000 (# -536,870,912)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-536,870,912=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          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469335" y="6044762"/>
            <a:ext cx="5393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         ASR is equivalent to signed integer division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0xFFFF_F800 (#-2048)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-2048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−4096/2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C=1, N=1, Z=0,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blipFill>
                <a:blip r:embed="rId6"/>
                <a:stretch>
                  <a:fillRect t="-4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/>
          <p:cNvSpPr/>
          <p:nvPr/>
        </p:nvSpPr>
        <p:spPr>
          <a:xfrm>
            <a:off x="6324600" y="5983070"/>
            <a:ext cx="5867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520143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53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41672" y="2929390"/>
            <a:ext cx="5367607" cy="14779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Circular shifts of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as if the right end of the register is joined with its left end. The last shifted bit updates the carry bit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14399" y="4673330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 r2, r2, #10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324601" y="1219200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 rotate </a:t>
            </a:r>
            <a:r>
              <a:rPr lang="en-US" b="1" dirty="0">
                <a:solidFill>
                  <a:srgbClr val="FF0000"/>
                </a:solidFill>
                <a:latin typeface="Arial" pitchFamily="34" charset="0"/>
              </a:rPr>
              <a:t>left</a:t>
            </a: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 by 12 bits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0xF000_0000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ROR r2, r0, #20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65760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0x0000_000E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ROR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r1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96852" y="2743200"/>
            <a:ext cx="46268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Rotate left by m bits is equivalent to rotate right ROR by 32-m bits</a:t>
            </a:r>
          </a:p>
        </p:txBody>
      </p:sp>
      <p:pic>
        <p:nvPicPr>
          <p:cNvPr id="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99" y="1676401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Rectangle 35"/>
          <p:cNvSpPr>
            <a:spLocks noChangeArrowheads="1"/>
          </p:cNvSpPr>
          <p:nvPr/>
        </p:nvSpPr>
        <p:spPr bwMode="auto">
          <a:xfrm>
            <a:off x="609600" y="1285725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914400" y="2555876"/>
            <a:ext cx="3610274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ROR{S}  Rd, Rn, &lt;shift&gt;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5513" y="580286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362199"/>
            <a:ext cx="31242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0x0000_0F00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799" y="5181600"/>
            <a:ext cx="3962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0xC007_C3C3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64315" y="5569262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N=1,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83200" y="5983070"/>
            <a:ext cx="57327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24003186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" grpId="0"/>
      <p:bldP spid="5" grpId="0"/>
      <p:bldP spid="6" grpId="0"/>
      <p:bldP spid="26" grpId="0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38201" y="24384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RRX{S}  Rd, Rn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54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762001" y="2859061"/>
            <a:ext cx="49530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This is a one-bit rotate instruction.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6172" y="3935251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0x0008_0003, c =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r2, r2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383133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0xF000_0001,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r1, r2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99790" y="333071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RRX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r3,r2</a:t>
            </a:r>
          </a:p>
        </p:txBody>
      </p:sp>
      <p:sp>
        <p:nvSpPr>
          <p:cNvPr id="17" name="Rectangle 44"/>
          <p:cNvSpPr>
            <a:spLocks noChangeArrowheads="1"/>
          </p:cNvSpPr>
          <p:nvPr/>
        </p:nvSpPr>
        <p:spPr bwMode="auto">
          <a:xfrm>
            <a:off x="762001" y="1260476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172" y="1682552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866172" y="5016391"/>
            <a:ext cx="396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0x8004_0001,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99790" y="2514601"/>
            <a:ext cx="4777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0x7800_0000, c </a:t>
            </a:r>
            <a:r>
              <a:rPr lang="en-US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99790" y="4549914"/>
            <a:ext cx="386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0x7878_7800,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656130" y="511290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N=0,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 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799" y="5540514"/>
            <a:ext cx="55996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carry flag is updated by b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only if the suffix S is used, otherwise it keeps its original value</a:t>
            </a:r>
          </a:p>
        </p:txBody>
      </p:sp>
    </p:spTree>
    <p:extLst>
      <p:ext uri="{BB962C8B-B14F-4D97-AF65-F5344CB8AC3E}">
        <p14:creationId xmlns:p14="http://schemas.microsoft.com/office/powerpoint/2010/main" val="6058180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16" grpId="0"/>
      <p:bldP spid="2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D0B4-10B1-D74B-5633-2E39C35F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 More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459EC-F664-8814-CB9C-6FAAA0F7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EE39B-0057-75CA-3B6B-799AFFD5AA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10363200" cy="54864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MOV r0, r0, LSL #1</a:t>
            </a:r>
          </a:p>
          <a:p>
            <a:pPr lvl="1"/>
            <a:r>
              <a:rPr lang="en-US" dirty="0"/>
              <a:t>r0 = r0 * 2</a:t>
            </a:r>
          </a:p>
          <a:p>
            <a:r>
              <a:rPr lang="en-US" dirty="0"/>
              <a:t>MOV r1, r1, LSR #2</a:t>
            </a:r>
          </a:p>
          <a:p>
            <a:pPr lvl="1"/>
            <a:r>
              <a:rPr lang="en-US" dirty="0"/>
              <a:t>r1 = r1 / 4 (unsigned).</a:t>
            </a:r>
          </a:p>
          <a:p>
            <a:r>
              <a:rPr lang="en-US" dirty="0"/>
              <a:t>MOV r2, r2, ASR #2</a:t>
            </a:r>
          </a:p>
          <a:p>
            <a:pPr lvl="1"/>
            <a:r>
              <a:rPr lang="en-US" dirty="0"/>
              <a:t>r2 = r2 / 4 (signed).</a:t>
            </a:r>
          </a:p>
          <a:p>
            <a:r>
              <a:rPr lang="en-US" dirty="0"/>
              <a:t>MOV r3, r3, ROR #16</a:t>
            </a:r>
          </a:p>
          <a:p>
            <a:pPr lvl="1"/>
            <a:r>
              <a:rPr lang="en-US" dirty="0"/>
              <a:t>Swap the top and bottom halves of r3.</a:t>
            </a:r>
          </a:p>
          <a:p>
            <a:r>
              <a:rPr lang="en-US" dirty="0"/>
              <a:t>ADD r4, r4, r4, LSL #4</a:t>
            </a:r>
          </a:p>
          <a:p>
            <a:pPr lvl="1"/>
            <a:r>
              <a:rPr lang="en-US" dirty="0"/>
              <a:t>r4 = r4 * 17 (= r4 + r4 * 16)</a:t>
            </a:r>
          </a:p>
          <a:p>
            <a:r>
              <a:rPr lang="en-US" dirty="0"/>
              <a:t>RSB r5, r5, r5, LSL #5</a:t>
            </a:r>
          </a:p>
          <a:p>
            <a:pPr lvl="1"/>
            <a:r>
              <a:rPr lang="en-US" dirty="0"/>
              <a:t>r5 = r5 * 31 (= r5 * 32 – r5)</a:t>
            </a:r>
          </a:p>
          <a:p>
            <a:pPr lvl="1"/>
            <a:r>
              <a:rPr lang="en-US" dirty="0"/>
              <a:t>Reverse-subtract using barrel shifter on 2nd operand</a:t>
            </a:r>
          </a:p>
          <a:p>
            <a:r>
              <a:rPr lang="pt-BR" dirty="0"/>
              <a:t>SUB r5, r5, r5, LSR #5</a:t>
            </a:r>
          </a:p>
          <a:p>
            <a:pPr lvl="1"/>
            <a:r>
              <a:rPr lang="en-US" dirty="0"/>
              <a:t>r5 = r5 – (r5 / 32)</a:t>
            </a:r>
          </a:p>
          <a:p>
            <a:r>
              <a:rPr lang="pt-BR" dirty="0"/>
              <a:t>LDR r9, [r12, r8, LSL #2]</a:t>
            </a:r>
          </a:p>
          <a:p>
            <a:pPr lvl="1"/>
            <a:r>
              <a:rPr lang="en-US" dirty="0"/>
              <a:t>Load a 32‑bit word into r9 from the memory address computed as r12 + (r8 * 4) </a:t>
            </a:r>
          </a:p>
        </p:txBody>
      </p:sp>
    </p:spTree>
    <p:extLst>
      <p:ext uri="{BB962C8B-B14F-4D97-AF65-F5344CB8AC3E}">
        <p14:creationId xmlns:p14="http://schemas.microsoft.com/office/powerpoint/2010/main" val="27104251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B0E4-E014-05AB-4780-04187E0FF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vs. RSB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CD456-3579-C7C2-940F-7668CF731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7AB386-ABE0-69FA-5B1F-8605BE3FD0C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668000" cy="5257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SUB instruction: SUB Rd, Rn, Operand2 performs Rd = Rn - Operand2</a:t>
            </a:r>
          </a:p>
          <a:p>
            <a:r>
              <a:rPr lang="en-US" dirty="0"/>
              <a:t>RSB instruction: RSB Rd, Rn, Operand2 performs Rd = Operand2 – Rn</a:t>
            </a:r>
          </a:p>
          <a:p>
            <a:r>
              <a:rPr lang="en-US" dirty="0"/>
              <a:t>There are equivalent:</a:t>
            </a:r>
          </a:p>
          <a:p>
            <a:pPr lvl="1"/>
            <a:r>
              <a:rPr lang="pt-BR" dirty="0"/>
              <a:t>SUB R5, R3, #10         @ R5 = R3 - 10</a:t>
            </a:r>
          </a:p>
          <a:p>
            <a:pPr lvl="1"/>
            <a:r>
              <a:rPr lang="pt-BR" dirty="0"/>
              <a:t>RSB R5, R3, #10         @ R5 = 10 - R3</a:t>
            </a:r>
            <a:endParaRPr lang="en-US" dirty="0"/>
          </a:p>
          <a:p>
            <a:r>
              <a:rPr lang="en-US" dirty="0"/>
              <a:t>When to use RSB?</a:t>
            </a:r>
          </a:p>
          <a:p>
            <a:r>
              <a:rPr lang="en-US" dirty="0"/>
              <a:t>Subtracting from constants, since constants can only appear as Operand2 in ARM instructions. For example:</a:t>
            </a:r>
          </a:p>
          <a:p>
            <a:pPr lvl="1"/>
            <a:r>
              <a:rPr lang="en-US" dirty="0"/>
              <a:t>RSB R2, R4, #1 means R2 = 1 - R4</a:t>
            </a:r>
          </a:p>
          <a:p>
            <a:pPr lvl="1"/>
            <a:r>
              <a:rPr lang="en-US" dirty="0"/>
              <a:t>This cannot be done with SUB without first loading the constant into a register</a:t>
            </a:r>
          </a:p>
          <a:p>
            <a:r>
              <a:rPr lang="en-US" dirty="0"/>
              <a:t>Negation Operations by subtracting from zero:</a:t>
            </a:r>
          </a:p>
          <a:p>
            <a:pPr lvl="1"/>
            <a:r>
              <a:rPr lang="en-US" dirty="0"/>
              <a:t>RSB R0, R0, #0 effectively computes R0 = 0 - R0 = -R0</a:t>
            </a:r>
          </a:p>
          <a:p>
            <a:r>
              <a:rPr lang="en-US" dirty="0"/>
              <a:t>Complex Operand2 Operations</a:t>
            </a:r>
          </a:p>
          <a:p>
            <a:pPr lvl="1"/>
            <a:r>
              <a:rPr lang="en-US" dirty="0"/>
              <a:t>RSB is valuable when you want to perform operations on Operand2 before subtraction, such as shifting :</a:t>
            </a:r>
          </a:p>
          <a:p>
            <a:pPr lvl="1"/>
            <a:r>
              <a:rPr lang="en-US" dirty="0"/>
              <a:t>RSB R1, R2, R3, LSL #1 computes R1 = (R3 &lt;&lt; 1) - R2</a:t>
            </a:r>
          </a:p>
          <a:p>
            <a:pPr lvl="1"/>
            <a:r>
              <a:rPr lang="en-US" dirty="0"/>
              <a:t>This allows you to shift a value and then subtract from it in a single instruction</a:t>
            </a:r>
          </a:p>
        </p:txBody>
      </p:sp>
    </p:spTree>
    <p:extLst>
      <p:ext uri="{BB962C8B-B14F-4D97-AF65-F5344CB8AC3E}">
        <p14:creationId xmlns:p14="http://schemas.microsoft.com/office/powerpoint/2010/main" val="15361226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5DA4B-E91D-E17A-8214-41F9CBB23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Array Access with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D7FAA-3533-0204-E8C5-28200D70F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2D6A4C-9A58-2739-559E-A48801D0DB3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820400" cy="5334000"/>
          </a:xfrm>
        </p:spPr>
        <p:txBody>
          <a:bodyPr>
            <a:normAutofit/>
          </a:bodyPr>
          <a:lstStyle/>
          <a:p>
            <a:r>
              <a:rPr lang="en-US" sz="2400" dirty="0"/>
              <a:t>To calculate the address of element array[</a:t>
            </a:r>
            <a:r>
              <a:rPr lang="en-US" sz="2400" dirty="0" err="1"/>
              <a:t>i</a:t>
            </a:r>
            <a:r>
              <a:rPr lang="en-US" sz="2400" dirty="0"/>
              <a:t>] of 32-bit integers, we calculate (base address of array) + </a:t>
            </a:r>
            <a:r>
              <a:rPr lang="en-US" sz="2400" dirty="0" err="1"/>
              <a:t>i</a:t>
            </a:r>
            <a:r>
              <a:rPr lang="en-US" sz="2400" dirty="0"/>
              <a:t>*4 for an array of words. For example:</a:t>
            </a:r>
          </a:p>
          <a:p>
            <a:pPr lvl="1"/>
            <a:r>
              <a:rPr lang="en-US" sz="1800" dirty="0"/>
              <a:t>ADR r3, ARRAY      @ load base address of ARRAY into r3 (ARRAY contains 4-byte </a:t>
            </a:r>
            <a:r>
              <a:rPr lang="en-US" sz="1800" dirty="0" err="1"/>
              <a:t>ints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MOV r2, #6            @ Suppose we want to access ARRAY[6]</a:t>
            </a:r>
          </a:p>
          <a:p>
            <a:pPr lvl="1"/>
            <a:r>
              <a:rPr lang="en-US" sz="1800" dirty="0"/>
              <a:t>MOV r4, r2, LSL #2  @ logical shift i’s value in r2 by 2 to multiply its value by 4</a:t>
            </a:r>
          </a:p>
          <a:p>
            <a:pPr lvl="1"/>
            <a:r>
              <a:rPr lang="en-US" sz="1800" dirty="0"/>
              <a:t>ADD r5, r3, r4         @ finish calculation of the address of element array[</a:t>
            </a:r>
            <a:r>
              <a:rPr lang="en-US" sz="1800" dirty="0" err="1"/>
              <a:t>i</a:t>
            </a:r>
            <a:r>
              <a:rPr lang="en-US" sz="1800" dirty="0"/>
              <a:t>] in r5</a:t>
            </a:r>
          </a:p>
          <a:p>
            <a:pPr lvl="1"/>
            <a:r>
              <a:rPr lang="en-US" sz="1800" dirty="0"/>
              <a:t>LDR r6, [r5]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r6 using the address in r5</a:t>
            </a:r>
          </a:p>
          <a:p>
            <a:r>
              <a:rPr lang="en-US" sz="2400" dirty="0"/>
              <a:t>Alternatively, we can perform this same address calculation with a single ADD:</a:t>
            </a:r>
          </a:p>
          <a:p>
            <a:pPr lvl="1"/>
            <a:r>
              <a:rPr lang="en-US" sz="1800" dirty="0"/>
              <a:t>ADD r5, r3, r2, LSL #2 @ calculate address of array[</a:t>
            </a:r>
            <a:r>
              <a:rPr lang="en-US" sz="1800" dirty="0" err="1"/>
              <a:t>i</a:t>
            </a:r>
            <a:r>
              <a:rPr lang="en-US" sz="1800" dirty="0"/>
              <a:t>] in r5 with single ADD</a:t>
            </a:r>
          </a:p>
          <a:p>
            <a:pPr lvl="1"/>
            <a:r>
              <a:rPr lang="en-US" sz="1800" dirty="0"/>
              <a:t>LDR r6, [r5]   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r4 using the address in r5</a:t>
            </a:r>
          </a:p>
          <a:p>
            <a:r>
              <a:rPr lang="en-US" sz="2400" dirty="0"/>
              <a:t>Alternatively, ARM has some nice addressing modes to speedup array item access:</a:t>
            </a:r>
          </a:p>
          <a:p>
            <a:pPr lvl="1"/>
            <a:r>
              <a:rPr lang="en-US" sz="1800" dirty="0"/>
              <a:t>LDR r6, [r3, r2, LSL #2]</a:t>
            </a:r>
          </a:p>
        </p:txBody>
      </p:sp>
    </p:spTree>
    <p:extLst>
      <p:ext uri="{BB962C8B-B14F-4D97-AF65-F5344CB8AC3E}">
        <p14:creationId xmlns:p14="http://schemas.microsoft.com/office/powerpoint/2010/main" val="7597345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3810000" y="2022826"/>
            <a:ext cx="6795194" cy="683213"/>
            <a:chOff x="2286000" y="2022826"/>
            <a:chExt cx="6795194" cy="683213"/>
          </a:xfrm>
        </p:grpSpPr>
        <p:sp>
          <p:nvSpPr>
            <p:cNvPr id="8" name="Rounded Rectangle 7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38995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Updates carry flag, </a:t>
              </a:r>
            </a:p>
            <a:p>
              <a:r>
                <a:rPr lang="en-US" dirty="0"/>
                <a:t>since ANDS does not update carry flag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</a:t>
            </a:r>
            <a:r>
              <a:rPr lang="en-US" dirty="0">
                <a:latin typeface="Consolas" panose="020B0609020204030204" pitchFamily="49" charset="0"/>
              </a:rPr>
              <a:t>ANDS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58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AND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updated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BA289E-808A-917F-A191-D39BD9F8BFF1}"/>
              </a:ext>
            </a:extLst>
          </p:cNvPr>
          <p:cNvSpPr/>
          <p:nvPr/>
        </p:nvSpPr>
        <p:spPr>
          <a:xfrm>
            <a:off x="423620" y="3200400"/>
            <a:ext cx="8263180" cy="313932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AND{S}&lt;c&gt;&lt;q&gt;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AND (r0 &lt;&lt; 1) = 0x00000001 AND 0xFFFFFE00 = 0x00000000</a:t>
            </a:r>
          </a:p>
          <a:p>
            <a:r>
              <a:rPr lang="en-US" dirty="0"/>
              <a:t>ANDS sets flags:</a:t>
            </a:r>
          </a:p>
          <a:p>
            <a:r>
              <a:rPr lang="en-US" dirty="0"/>
              <a:t>Z = 1 (result r2 is zero)</a:t>
            </a:r>
          </a:p>
          <a:p>
            <a:r>
              <a:rPr lang="en-US" dirty="0"/>
              <a:t>N = 0 (bit 31 of result r2 is 0)</a:t>
            </a:r>
          </a:p>
          <a:p>
            <a:r>
              <a:rPr lang="en-US" dirty="0"/>
              <a:t>C is unaffected by ANDS, since logical operations don't affect overflow. It was set be previous shift “r0, LSL #1” to be C=1 </a:t>
            </a:r>
          </a:p>
          <a:p>
            <a:r>
              <a:rPr lang="en-US" dirty="0"/>
              <a:t>V is unaffected by ANDS or shift (left unchanged from its previous value)</a:t>
            </a:r>
          </a:p>
        </p:txBody>
      </p:sp>
    </p:spTree>
    <p:extLst>
      <p:ext uri="{BB962C8B-B14F-4D97-AF65-F5344CB8AC3E}">
        <p14:creationId xmlns:p14="http://schemas.microsoft.com/office/powerpoint/2010/main" val="1913135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810001" y="2022826"/>
            <a:ext cx="5847242" cy="683213"/>
            <a:chOff x="2286000" y="2022826"/>
            <a:chExt cx="5847242" cy="683213"/>
          </a:xfrm>
        </p:grpSpPr>
        <p:sp>
          <p:nvSpPr>
            <p:cNvPr id="9" name="Rounded Rectangle 8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9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295164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Does NOT update carry flag, </a:t>
              </a:r>
            </a:p>
            <a:p>
              <a:r>
                <a:rPr lang="en-US" dirty="0"/>
                <a:t>since ADDS updates flags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</a:t>
            </a:r>
            <a:r>
              <a:rPr lang="en-US" dirty="0">
                <a:latin typeface="Consolas" panose="020B0609020204030204" pitchFamily="49" charset="0"/>
              </a:rPr>
              <a:t>ADDS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59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ADD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3857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1AEA0-3A73-FCD5-EF10-BAE134D99964}"/>
              </a:ext>
            </a:extLst>
          </p:cNvPr>
          <p:cNvSpPr/>
          <p:nvPr/>
        </p:nvSpPr>
        <p:spPr>
          <a:xfrm>
            <a:off x="419101" y="2959272"/>
            <a:ext cx="8458200" cy="3693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ADD{S}&lt;c&gt;&lt;q&gt;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+ (r0 &lt;&lt; 1) = 0x00000001 + 0xFFFFFE00 = </a:t>
            </a:r>
            <a:r>
              <a:rPr lang="en-US" dirty="0">
                <a:solidFill>
                  <a:schemeClr val="tx1"/>
                </a:solidFill>
              </a:rPr>
              <a:t>0xFFFFFE01</a:t>
            </a:r>
            <a:endParaRPr lang="en-US" dirty="0"/>
          </a:p>
          <a:p>
            <a:r>
              <a:rPr lang="en-US" dirty="0"/>
              <a:t>ADDS sets flags:</a:t>
            </a:r>
          </a:p>
          <a:p>
            <a:r>
              <a:rPr lang="en-US" dirty="0"/>
              <a:t>Z = 0 (result r2 is non-zero)</a:t>
            </a:r>
          </a:p>
          <a:p>
            <a:r>
              <a:rPr lang="en-US" dirty="0"/>
              <a:t>N = 1 (bit 31 of result r2 is 1)</a:t>
            </a:r>
          </a:p>
          <a:p>
            <a:r>
              <a:rPr lang="en-US" dirty="0"/>
              <a:t>C = 0 (there is no carry out from bit 31 for unsigned addition, when adding 0x00000001 and 0xFFFFFE00)</a:t>
            </a:r>
          </a:p>
          <a:p>
            <a:r>
              <a:rPr lang="en-US" dirty="0"/>
              <a:t>V = 0 (there is no overflow for signed addition, when adding 0x00000001 and 0xFFFFFE00.  Recall: adding a positive (1) to a negative (0xFFFFFE00) cannot cause overflow.)</a:t>
            </a:r>
          </a:p>
        </p:txBody>
      </p:sp>
    </p:spTree>
    <p:extLst>
      <p:ext uri="{BB962C8B-B14F-4D97-AF65-F5344CB8AC3E}">
        <p14:creationId xmlns:p14="http://schemas.microsoft.com/office/powerpoint/2010/main" val="352580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60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14800" y="1334869"/>
            <a:ext cx="34772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k)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1" y="2325470"/>
            <a:ext cx="42370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a = a | (1 &lt;&lt; 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1" y="1981200"/>
            <a:ext cx="505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026479"/>
              </p:ext>
            </p:extLst>
          </p:nvPr>
        </p:nvGraphicFramePr>
        <p:xfrm>
          <a:off x="3429965" y="3873743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9710" y="3056599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92014" y="3916680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563085" y="4374877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2104263" y="4840010"/>
            <a:ext cx="13131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| (1 &lt;&lt; k)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B2674-F2AA-6443-8E9B-6D46783B06F4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42704724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61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609600" y="1299138"/>
            <a:ext cx="23936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0D3BDD-F764-1CF5-0EBC-0F858F50E8D7}"/>
              </a:ext>
            </a:extLst>
          </p:cNvPr>
          <p:cNvSpPr txBox="1"/>
          <p:nvPr/>
        </p:nvSpPr>
        <p:spPr>
          <a:xfrm>
            <a:off x="2895600" y="3732546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DFC2C3-B93E-557B-4902-EF4CD3C54B3F}"/>
              </a:ext>
            </a:extLst>
          </p:cNvPr>
          <p:cNvSpPr txBox="1"/>
          <p:nvPr/>
        </p:nvSpPr>
        <p:spPr>
          <a:xfrm>
            <a:off x="2895600" y="2209800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LSL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17B54E-F932-4B41-B8B6-0B5C07BC368A}"/>
              </a:ext>
            </a:extLst>
          </p:cNvPr>
          <p:cNvSpPr txBox="1"/>
          <p:nvPr/>
        </p:nvSpPr>
        <p:spPr>
          <a:xfrm>
            <a:off x="2895600" y="4935575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33085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C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62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343401" y="1752600"/>
            <a:ext cx="322395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678481"/>
              </p:ext>
            </p:extLst>
          </p:nvPr>
        </p:nvGraphicFramePr>
        <p:xfrm>
          <a:off x="3436334" y="3511575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225539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2014" y="3558503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2305048" y="3996927"/>
            <a:ext cx="1127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~(1 &lt;&lt; k)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16236" y="4474512"/>
            <a:ext cx="1452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&amp; ~(1&lt;&lt;k)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DF2A38-5015-B348-A02E-8F5D807F4547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38971904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Assembly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762000" y="1208476"/>
            <a:ext cx="222368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5076" y="2992092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75076" y="4552384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91062" y="1208476"/>
            <a:ext cx="8066269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</a:t>
            </a:r>
            <a:r>
              <a:rPr lang="pt-BR" sz="2000" dirty="0">
                <a:latin typeface="Consolas" panose="020B0609020204030204" pitchFamily="49" charset="0"/>
              </a:rPr>
              <a:t>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  <a:endParaRPr lang="pt-BR" sz="2000" dirty="0">
              <a:latin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LSL</a:t>
            </a:r>
            <a:r>
              <a:rPr lang="pt-BR" sz="2000" dirty="0">
                <a:latin typeface="Consolas" panose="020B0609020204030204" pitchFamily="49" charset="0"/>
              </a:rPr>
              <a:t>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</a:t>
            </a:r>
            <a:r>
              <a:rPr lang="pt-BR" sz="2000" dirty="0">
                <a:latin typeface="Consolas" panose="020B0609020204030204" pitchFamily="49" charset="0"/>
              </a:rPr>
              <a:t> r4,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DDDBB7-D107-1051-64FD-2F16D99B635D}"/>
              </a:ext>
            </a:extLst>
          </p:cNvPr>
          <p:cNvSpPr txBox="1"/>
          <p:nvPr/>
        </p:nvSpPr>
        <p:spPr>
          <a:xfrm>
            <a:off x="2975076" y="5755413"/>
            <a:ext cx="8066269" cy="70788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4: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</a:t>
            </a:r>
            <a:r>
              <a:rPr lang="pt-BR" sz="2000" dirty="0">
                <a:latin typeface="Consolas" panose="020B0609020204030204" pitchFamily="49" charset="0"/>
              </a:rPr>
              <a:t> r0, r0, # (1 &lt;&lt; 5)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not (1&lt;&lt;5)</a:t>
            </a:r>
            <a:r>
              <a:rPr lang="pt-BR" sz="2000" dirty="0">
                <a:latin typeface="Consolas" panose="020B0609020204030204" pitchFamily="49" charset="0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25103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876800" y="1676401"/>
            <a:ext cx="24641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687324"/>
              </p:ext>
            </p:extLst>
          </p:nvPr>
        </p:nvGraphicFramePr>
        <p:xfrm>
          <a:off x="3429000" y="2912172"/>
          <a:ext cx="744134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2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NOT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20" y="2378639"/>
            <a:ext cx="21194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</a:t>
            </a:r>
            <a:r>
              <a:rPr lang="en-US" sz="20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 =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2014" y="2912172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2576140" y="3391219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2191330" y="3870944"/>
            <a:ext cx="12554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^ (1&lt;&lt;k)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250590"/>
            <a:ext cx="7441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knowing the initial value, a bit can be toggled by </a:t>
            </a:r>
            <a:r>
              <a:rPr lang="en-US" dirty="0" err="1"/>
              <a:t>XORing</a:t>
            </a:r>
            <a:r>
              <a:rPr lang="en-US" dirty="0"/>
              <a:t> it with a “</a:t>
            </a:r>
            <a:r>
              <a:rPr lang="en-US" dirty="0">
                <a:latin typeface="Consolas"/>
                <a:cs typeface="Consolas"/>
              </a:rPr>
              <a:t>1</a:t>
            </a:r>
            <a:r>
              <a:rPr lang="en-US" dirty="0"/>
              <a:t>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FBB9D-3DF4-8243-9966-134E40736165}"/>
              </a:ext>
            </a:extLst>
          </p:cNvPr>
          <p:cNvSpPr/>
          <p:nvPr/>
        </p:nvSpPr>
        <p:spPr>
          <a:xfrm>
            <a:off x="4038600" y="4881256"/>
            <a:ext cx="19955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Truth table of </a:t>
            </a:r>
            <a:r>
              <a:rPr lang="en-US" b="1" dirty="0">
                <a:latin typeface="Consolas" panose="020B0609020204030204" pitchFamily="49" charset="0"/>
              </a:rPr>
              <a:t>Exclusive OR</a:t>
            </a:r>
          </a:p>
        </p:txBody>
      </p:sp>
      <p:graphicFrame>
        <p:nvGraphicFramePr>
          <p:cNvPr id="17" name="Table 13">
            <a:extLst>
              <a:ext uri="{FF2B5EF4-FFF2-40B4-BE49-F238E27FC236}">
                <a16:creationId xmlns:a16="http://schemas.microsoft.com/office/drawing/2014/main" id="{9375F5FC-8E30-B44D-B9BA-A4861648A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999527"/>
              </p:ext>
            </p:extLst>
          </p:nvPr>
        </p:nvGraphicFramePr>
        <p:xfrm>
          <a:off x="6172200" y="4415821"/>
          <a:ext cx="2895600" cy="18542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134620909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274913725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3776243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err="1">
                          <a:latin typeface="Consolas" panose="020B0609020204030204" pitchFamily="49" charset="0"/>
                        </a:rPr>
                        <a:t>m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Arial Unicode MS"/>
                          <a:cs typeface="Arial Unicode MS"/>
                        </a:rPr>
                        <a:t>⊕n</a:t>
                      </a:r>
                      <a:endParaRPr lang="en-US" sz="18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169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34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83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65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677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0665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65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524000" y="1710613"/>
            <a:ext cx="17139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819400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EOR</a:t>
            </a:r>
            <a:r>
              <a:rPr lang="pt-BR" sz="2000" dirty="0">
                <a:latin typeface="Consolas" panose="020B0609020204030204" pitchFamily="49" charset="0"/>
              </a:rPr>
              <a:t> r0, r0, 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^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A7D860-B129-1899-73C5-E4BCF54515D8}"/>
              </a:ext>
            </a:extLst>
          </p:cNvPr>
          <p:cNvSpPr txBox="1"/>
          <p:nvPr/>
        </p:nvSpPr>
        <p:spPr>
          <a:xfrm>
            <a:off x="1371600" y="4510407"/>
            <a:ext cx="8066269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dirty="0"/>
              <a:t>Here we can use MOVS and EORS instead of MOV and EOR, if the flags are used by later instructions.</a:t>
            </a:r>
          </a:p>
        </p:txBody>
      </p:sp>
    </p:spTree>
    <p:extLst>
      <p:ext uri="{BB962C8B-B14F-4D97-AF65-F5344CB8AC3E}">
        <p14:creationId xmlns:p14="http://schemas.microsoft.com/office/powerpoint/2010/main" val="33988404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158C5A-4752-4EBD-2EDE-9B46C018749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962400"/>
            <a:ext cx="10972800" cy="2194560"/>
          </a:xfrm>
        </p:spPr>
        <p:txBody>
          <a:bodyPr/>
          <a:lstStyle/>
          <a:p>
            <a:r>
              <a:rPr lang="en-US" dirty="0"/>
              <a:t>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8-11</a:t>
            </a:r>
            <a:r>
              <a:rPr lang="en-US" dirty="0"/>
              <a:t> and 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16-23</a:t>
            </a:r>
            <a:r>
              <a:rPr lang="en-US" dirty="0"/>
              <a:t> are </a:t>
            </a:r>
            <a:r>
              <a:rPr lang="en-US" b="1" dirty="0">
                <a:solidFill>
                  <a:srgbClr val="C00000"/>
                </a:solidFill>
              </a:rPr>
              <a:t>masked</a:t>
            </a:r>
            <a:r>
              <a:rPr lang="en-US" dirty="0"/>
              <a:t>.</a:t>
            </a:r>
          </a:p>
          <a:p>
            <a:r>
              <a:rPr lang="en-US" dirty="0"/>
              <a:t>All the rest bits are </a:t>
            </a:r>
            <a:r>
              <a:rPr lang="en-US" b="1" dirty="0">
                <a:solidFill>
                  <a:srgbClr val="C00000"/>
                </a:solidFill>
              </a:rPr>
              <a:t>unmasked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6668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unmasked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67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7E808-5DD2-CF73-A705-5014BD3FE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23114"/>
            <a:ext cx="10337614" cy="772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E578BA-F689-F5D6-405A-45806D834C3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Mask;</a:t>
            </a:r>
          </a:p>
        </p:txBody>
      </p:sp>
    </p:spTree>
    <p:extLst>
      <p:ext uri="{BB962C8B-B14F-4D97-AF65-F5344CB8AC3E}">
        <p14:creationId xmlns:p14="http://schemas.microsoft.com/office/powerpoint/2010/main" val="123927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68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675825-716B-4986-76FD-85A551EC3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723502"/>
            <a:ext cx="10823438" cy="76894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198E4-A775-A01E-3DF7-8713377F6E0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~Mask;</a:t>
            </a:r>
          </a:p>
        </p:txBody>
      </p:sp>
    </p:spTree>
    <p:extLst>
      <p:ext uri="{BB962C8B-B14F-4D97-AF65-F5344CB8AC3E}">
        <p14:creationId xmlns:p14="http://schemas.microsoft.com/office/powerpoint/2010/main" val="27911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69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EEEDE0-3CBB-D9BF-0E0B-96D2C1DDC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28" y="3803283"/>
            <a:ext cx="10179672" cy="7687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77D8C-7F6B-0FAF-5DFD-481029C21CB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667000" y="5166360"/>
            <a:ext cx="89154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|= Mask;</a:t>
            </a:r>
          </a:p>
        </p:txBody>
      </p:sp>
    </p:spTree>
    <p:extLst>
      <p:ext uri="{BB962C8B-B14F-4D97-AF65-F5344CB8AC3E}">
        <p14:creationId xmlns:p14="http://schemas.microsoft.com/office/powerpoint/2010/main" val="157407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all tasked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70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EEFE3F-CEFA-96E6-1C25-27CBA9261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887157"/>
            <a:ext cx="10258035" cy="76104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CDFC2-46D5-513A-4D61-89195DFE319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^= Mask;</a:t>
            </a:r>
          </a:p>
        </p:txBody>
      </p:sp>
    </p:spTree>
    <p:extLst>
      <p:ext uri="{BB962C8B-B14F-4D97-AF65-F5344CB8AC3E}">
        <p14:creationId xmlns:p14="http://schemas.microsoft.com/office/powerpoint/2010/main" val="333173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69723"/>
            <a:ext cx="10972800" cy="990600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8077200" y="624522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400">
                <a:solidFill>
                  <a:srgbClr val="EEECE1"/>
                </a:solidFill>
              </a:rPr>
              <a:pPr algn="r">
                <a:defRPr/>
              </a:pPr>
              <a:t>71</a:t>
            </a:fld>
            <a:endParaRPr lang="en-US" sz="140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838200" y="994269"/>
            <a:ext cx="10515600" cy="3016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9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9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9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9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9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If two operands have same sign, and the result has opposite sign, then V = 1; else V = 0</a:t>
            </a:r>
          </a:p>
          <a:p>
            <a:pPr>
              <a:defRPr/>
            </a:pPr>
            <a:r>
              <a:rPr lang="en-US" sz="19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9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9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</a:t>
            </a:r>
            <a:endParaRPr lang="en-US" sz="19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473700"/>
              </p:ext>
            </p:extLst>
          </p:nvPr>
        </p:nvGraphicFramePr>
        <p:xfrm>
          <a:off x="2009670" y="3959295"/>
          <a:ext cx="8594812" cy="27755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65256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2236219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2116049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2377288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581018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 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Addition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Unsigned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Signed Addition or Subtraction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Carry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69324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Overflow flag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N/A</a:t>
                      </a:r>
                      <a:endParaRPr lang="en-US" sz="18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true result &gt; 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  <a:r>
                        <a:rPr lang="en-US" sz="1800" b="0" dirty="0">
                          <a:effectLst/>
                        </a:rPr>
                        <a:t>-1 or true result &lt; -2</a:t>
                      </a:r>
                      <a:r>
                        <a:rPr lang="en-US" sz="18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8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4934359" y="4932611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2535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5494879" y="4932611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85879" y="4923611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71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20226533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DBA74-7EC6-5DEA-EDF0-215F4F4B3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72074-5FEA-4AB0-E7C0-F084B86BD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B6AA6D-6888-F42B-1DA3-BDEA49433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72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D38D1C5D-70ED-DB91-3E47-11F805CC6D3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10137196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8C0476-AF5F-8333-767F-1834B2360FB1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54FD87D-D26B-DB7F-671D-0FD90BBE586A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745C83-C5F8-D44A-A5C6-E1B0AC3912B9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36094-A15B-FB0F-ABEF-3F8A5E4E7F55}"/>
              </a:ext>
            </a:extLst>
          </p:cNvPr>
          <p:cNvSpPr txBox="1"/>
          <p:nvPr/>
        </p:nvSpPr>
        <p:spPr>
          <a:xfrm>
            <a:off x="8488281" y="5253577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0x19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5772A4-4DEB-717E-98D6-727309C7CD02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0x4E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AD71A9-2395-D057-C38C-9BEDAD029D16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58B7139-5799-44B4-1A44-150FA6D124BE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1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+ 0x19,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0 since Op1, Op2 and result are all positive (sign bit = 0)</a:t>
            </a:r>
          </a:p>
          <a:p>
            <a:pPr lvl="1"/>
            <a:r>
              <a:rPr lang="en-US" dirty="0"/>
              <a:t>In decimal (not needed for exam): </a:t>
            </a:r>
          </a:p>
          <a:p>
            <a:pPr lvl="2"/>
            <a:r>
              <a:rPr lang="en-US" altLang="zh-CN" dirty="0"/>
              <a:t>U</a:t>
            </a:r>
            <a:r>
              <a:rPr lang="en-US" dirty="0"/>
              <a:t>nsigned addition: 53 + 25 = 78 (result correct)</a:t>
            </a:r>
          </a:p>
          <a:p>
            <a:pPr lvl="2"/>
            <a:r>
              <a:rPr lang="en-US" altLang="zh-CN" dirty="0"/>
              <a:t>S</a:t>
            </a:r>
            <a:r>
              <a:rPr lang="en-US" dirty="0"/>
              <a:t>igned addition: 53 + 25 = 78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31877683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95BE7-2F29-3AAD-1CE5-8A23F90CB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0FF3-E7FC-6FCC-AB1D-844A8FB1F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201DC6-583F-01C4-A4B4-4CA09C72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73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1C989774-40F6-4ECA-BFC8-71C9B5169472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049861725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243C00-5973-CA3C-939D-399A1EFD1074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3499A60-3BAA-6F74-7DBF-90F6C6E7A9F0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515A6C-3F1D-4041-FE9A-115817E08B10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F76F53-5DA3-D6CF-8F8F-9324B627C10B}"/>
              </a:ext>
            </a:extLst>
          </p:cNvPr>
          <p:cNvSpPr txBox="1"/>
          <p:nvPr/>
        </p:nvSpPr>
        <p:spPr>
          <a:xfrm>
            <a:off x="8488281" y="5253577"/>
            <a:ext cx="1502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0x5B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0D15DC-646A-21C1-D6F0-DE4BAC6CF37C}"/>
              </a:ext>
            </a:extLst>
          </p:cNvPr>
          <p:cNvSpPr txBox="1"/>
          <p:nvPr/>
        </p:nvSpPr>
        <p:spPr>
          <a:xfrm>
            <a:off x="8488281" y="5782486"/>
            <a:ext cx="1697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0x90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108FE9-588E-77EE-BD79-E4558D660349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F1EE9D29-0EC8-C282-D9A8-61D934AF61E2}"/>
              </a:ext>
            </a:extLst>
          </p:cNvPr>
          <p:cNvSpPr txBox="1">
            <a:spLocks/>
          </p:cNvSpPr>
          <p:nvPr/>
        </p:nvSpPr>
        <p:spPr>
          <a:xfrm>
            <a:off x="609600" y="1219200"/>
            <a:ext cx="10972800" cy="3048000"/>
          </a:xfrm>
          <a:prstGeom prst="rect">
            <a:avLst/>
          </a:prstGeom>
        </p:spPr>
        <p:txBody>
          <a:bodyPr vert="horz">
            <a:normAutofit fontScale="92500" lnSpcReduction="1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+ 0x5B,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1"/>
            <a:r>
              <a:rPr lang="en-US" dirty="0"/>
              <a:t>C = 0 since there is no carry-out from MSB b7</a:t>
            </a:r>
          </a:p>
          <a:p>
            <a:pPr lvl="1"/>
            <a:r>
              <a:rPr lang="en-US" dirty="0"/>
              <a:t>V = 1 since Op1, Op2 are positive, result is negative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addition: 53 + 91 = 144 (result correct)</a:t>
            </a:r>
          </a:p>
          <a:p>
            <a:pPr lvl="2"/>
            <a:r>
              <a:rPr lang="en-US" dirty="0"/>
              <a:t>Signed addition: true sum = 53 + 91 = 144 → result = -112 (result incorrect, V=1)</a:t>
            </a:r>
          </a:p>
        </p:txBody>
      </p:sp>
    </p:spTree>
    <p:extLst>
      <p:ext uri="{BB962C8B-B14F-4D97-AF65-F5344CB8AC3E}">
        <p14:creationId xmlns:p14="http://schemas.microsoft.com/office/powerpoint/2010/main" val="27121334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04238-CFA2-3049-EFA2-799EE82D9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6620C-2F6B-B3CD-51C7-23724BF62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E2522-D54F-47C4-42D9-E261C8465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74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E7B1EB4D-9D56-E473-23EC-2DCBC92C1FA8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441034724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45A748-4070-B8EA-25EF-C5EEA1713B45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68E3504-B355-A832-E560-F47DD9D63921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FEA5DF-2B5A-DBA6-9BCD-B80D4421D825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A27D9B-9EBF-08B8-4E8F-09D45776E8CB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DCB79A-ACA6-590E-3592-3F2243A23EFD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0x08 </a:t>
            </a:r>
            <a:r>
              <a:rPr lang="en-US" sz="2000" dirty="0"/>
              <a:t>(drop 1 in 0x108)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F8F5E2-238C-2AD4-FEDA-207B99D98563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624BD3A1-CEAD-729E-A0ED-B1CE1475FB6C}"/>
              </a:ext>
            </a:extLst>
          </p:cNvPr>
          <p:cNvSpPr txBox="1">
            <a:spLocks/>
          </p:cNvSpPr>
          <p:nvPr/>
        </p:nvSpPr>
        <p:spPr>
          <a:xfrm>
            <a:off x="609600" y="1142758"/>
            <a:ext cx="10972800" cy="3200400"/>
          </a:xfrm>
          <a:prstGeom prst="rect">
            <a:avLst/>
          </a:prstGeom>
        </p:spPr>
        <p:txBody>
          <a:bodyPr vert="horz">
            <a:normAutofit fontScale="7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0x35 - 0x2D,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 (another way is to perform subtraction in binary, but we do not cover it here)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0 since Op1 is positive, Op2 is negative, result is negative</a:t>
            </a:r>
          </a:p>
          <a:p>
            <a:pPr lvl="2"/>
            <a:r>
              <a:rPr lang="en-US" dirty="0">
                <a:solidFill>
                  <a:prstClr val="black"/>
                </a:solidFill>
                <a:cs typeface="Times New Roman" pitchFamily="18" charset="0"/>
              </a:rPr>
              <a:t>Overflow cannot occur when adding 2 operands with different signs</a:t>
            </a:r>
            <a:endParaRPr lang="en-US" dirty="0"/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53 – 45 = 8 (result correct, C=1, Borrow Flag=0)</a:t>
            </a:r>
          </a:p>
          <a:p>
            <a:pPr lvl="2"/>
            <a:r>
              <a:rPr lang="en-US" dirty="0"/>
              <a:t>Signed: 53 - 45 = 8 (result correct)</a:t>
            </a:r>
          </a:p>
        </p:txBody>
      </p:sp>
    </p:spTree>
    <p:extLst>
      <p:ext uri="{BB962C8B-B14F-4D97-AF65-F5344CB8AC3E}">
        <p14:creationId xmlns:p14="http://schemas.microsoft.com/office/powerpoint/2010/main" val="4826107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D0DEF-3C20-82B8-B6A3-C8218EB6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B138C-61FE-07CB-D11F-DB7B174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45C06F-237B-EC1B-7021-78E69689E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75</a:t>
            </a:fld>
            <a:endParaRPr kumimoji="0"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0675F8E-EB20-E461-4C15-CD0B7BF942DE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64352182"/>
              </p:ext>
            </p:extLst>
          </p:nvPr>
        </p:nvGraphicFramePr>
        <p:xfrm>
          <a:off x="4038600" y="4181132"/>
          <a:ext cx="43434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87872329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575582303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78767002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5747209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432F20-A1A6-80EB-5E72-9057131D5787}"/>
              </a:ext>
            </a:extLst>
          </p:cNvPr>
          <p:cNvCxnSpPr/>
          <p:nvPr/>
        </p:nvCxnSpPr>
        <p:spPr>
          <a:xfrm>
            <a:off x="3810000" y="5727710"/>
            <a:ext cx="48006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9A5994C-72E0-AE64-806E-04300F3AECE4}"/>
              </a:ext>
            </a:extLst>
          </p:cNvPr>
          <p:cNvSpPr txBox="1"/>
          <p:nvPr/>
        </p:nvSpPr>
        <p:spPr>
          <a:xfrm>
            <a:off x="8488281" y="4181132"/>
            <a:ext cx="918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02EE7-77AE-83EC-DBDD-6F6BFDB540CB}"/>
              </a:ext>
            </a:extLst>
          </p:cNvPr>
          <p:cNvSpPr txBox="1"/>
          <p:nvPr/>
        </p:nvSpPr>
        <p:spPr>
          <a:xfrm>
            <a:off x="8488281" y="4686284"/>
            <a:ext cx="148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Op1: 0x9E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DE8F13-E87B-85C0-3E66-3A282E155966}"/>
              </a:ext>
            </a:extLst>
          </p:cNvPr>
          <p:cNvSpPr txBox="1"/>
          <p:nvPr/>
        </p:nvSpPr>
        <p:spPr>
          <a:xfrm>
            <a:off x="8488281" y="5253577"/>
            <a:ext cx="15597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Op2: 0xD3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6E3F86-0810-DA82-7EA1-5E17D0846E2F}"/>
              </a:ext>
            </a:extLst>
          </p:cNvPr>
          <p:cNvSpPr txBox="1"/>
          <p:nvPr/>
        </p:nvSpPr>
        <p:spPr>
          <a:xfrm>
            <a:off x="8488281" y="5782486"/>
            <a:ext cx="3609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 0x71 </a:t>
            </a:r>
            <a:r>
              <a:rPr lang="en-US" sz="2000" dirty="0"/>
              <a:t>(drop 1 in 0x171)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317C32-947E-A6F4-BC8E-C46284D01C24}"/>
              </a:ext>
            </a:extLst>
          </p:cNvPr>
          <p:cNvSpPr txBox="1"/>
          <p:nvPr/>
        </p:nvSpPr>
        <p:spPr>
          <a:xfrm>
            <a:off x="2675874" y="5305432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AB0EB01-AB9A-79D1-E864-47FEB2A8BB2A}"/>
              </a:ext>
            </a:extLst>
          </p:cNvPr>
          <p:cNvSpPr txBox="1">
            <a:spLocks/>
          </p:cNvSpPr>
          <p:nvPr/>
        </p:nvSpPr>
        <p:spPr>
          <a:xfrm>
            <a:off x="609600" y="1219201"/>
            <a:ext cx="10972800" cy="296193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 an 8-bit system, calculate 0x9E - 0x2D, setting C and V flags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en-US" dirty="0"/>
              <a:t>Convert to binary and perform addition as in table</a:t>
            </a:r>
          </a:p>
          <a:p>
            <a:pPr lvl="2"/>
            <a:r>
              <a:rPr lang="en-US" dirty="0"/>
              <a:t>0x2D = 00101101, its negation TC(00101101) = 11010011 = 0xD3 </a:t>
            </a:r>
          </a:p>
          <a:p>
            <a:pPr lvl="1"/>
            <a:r>
              <a:rPr lang="en-US" dirty="0"/>
              <a:t>C = 1 since there is carry-out from MSB b7</a:t>
            </a:r>
          </a:p>
          <a:p>
            <a:pPr lvl="1"/>
            <a:r>
              <a:rPr lang="en-US" dirty="0"/>
              <a:t>V = 1 since Op1, Op2 are both negative, result is positive</a:t>
            </a:r>
          </a:p>
          <a:p>
            <a:pPr lvl="1"/>
            <a:r>
              <a:rPr lang="en-US" dirty="0"/>
              <a:t>In decimal: </a:t>
            </a:r>
          </a:p>
          <a:p>
            <a:pPr lvl="2"/>
            <a:r>
              <a:rPr lang="en-US" dirty="0"/>
              <a:t>Unsigned subtraction: 158 − 45 = 113 (result correct, C=1, Borrow Flag=0)</a:t>
            </a:r>
          </a:p>
          <a:p>
            <a:pPr lvl="2"/>
            <a:r>
              <a:rPr lang="en-US" dirty="0"/>
              <a:t>Signed subtraction: true sum = −98 − 45 = −143 → result = +113 (wrong, V=1)</a:t>
            </a:r>
          </a:p>
        </p:txBody>
      </p:sp>
    </p:spTree>
    <p:extLst>
      <p:ext uri="{BB962C8B-B14F-4D97-AF65-F5344CB8AC3E}">
        <p14:creationId xmlns:p14="http://schemas.microsoft.com/office/powerpoint/2010/main" val="374149057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4D96B-CDAF-6F32-B34C-04BB5A50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353507-57F7-A14A-4FDB-1B83792E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57B28B-AD1F-F39E-BC1C-E48DB6AA81D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D51E8B-70F1-53EE-AD4B-F18641609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0931" y="125658"/>
            <a:ext cx="5551469" cy="32237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2270794-1CFF-336B-C8A3-71E6232C6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66" y="3444872"/>
            <a:ext cx="5547182" cy="317655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F5B4FC4-7E21-DCE8-0AA2-1E2E416AE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18" y="3382762"/>
            <a:ext cx="5662926" cy="321084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8D4E74F-BA44-C4D4-025B-1B21C4165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25658"/>
            <a:ext cx="5517174" cy="2357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258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1A46-65C6-6523-33B9-ECC5C0C1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8F4A2-4529-92E6-5838-79F54A50B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C4192-D05B-82AA-36C0-2927E416110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Lesson 45b - Adders Carry and Overflow, </a:t>
            </a:r>
            <a:r>
              <a:rPr lang="en-US" dirty="0" err="1"/>
              <a:t>LBEbooks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https://www.youtube.com/watch?v=9cXe_T99nL4</a:t>
            </a:r>
            <a:r>
              <a:rPr lang="en-US" dirty="0"/>
              <a:t> </a:t>
            </a:r>
          </a:p>
          <a:p>
            <a:r>
              <a:rPr lang="en-US" dirty="0"/>
              <a:t>Lecture 25. Arithmetic and Logical Instructions</a:t>
            </a:r>
          </a:p>
          <a:p>
            <a:pPr lvl="1"/>
            <a:r>
              <a:rPr lang="en-US" dirty="0">
                <a:hlinkClick r:id="rId3"/>
              </a:rPr>
              <a:t>https://www.youtube.com/watch?v=H-vOP2yRUj4&amp;list=PLRJhV4hUhIymmp5CCeIFPyxbknsdcXCc8&amp;index=25</a:t>
            </a:r>
            <a:r>
              <a:rPr lang="en-US" dirty="0"/>
              <a:t> </a:t>
            </a:r>
          </a:p>
          <a:p>
            <a:r>
              <a:rPr lang="en-US" dirty="0"/>
              <a:t>Lecture 26. Updating NZCV bit flags</a:t>
            </a:r>
          </a:p>
          <a:p>
            <a:pPr lvl="1"/>
            <a:r>
              <a:rPr lang="en-US" dirty="0">
                <a:hlinkClick r:id="rId4"/>
              </a:rPr>
              <a:t>https://www.youtube.com/watch?v=SGJibM1D2_A&amp;list=PLRJhV4hUhIymmp5CCeIFPyxbknsdcXCc8&amp;index=26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106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3621</TotalTime>
  <Words>10329</Words>
  <Application>Microsoft Office PowerPoint</Application>
  <PresentationFormat>Widescreen</PresentationFormat>
  <Paragraphs>1532</Paragraphs>
  <Slides>77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94" baseType="lpstr">
      <vt:lpstr>Bookman Old Style (Headings)</vt:lpstr>
      <vt:lpstr>DejaVu Sans</vt:lpstr>
      <vt:lpstr>Gill Sans Light</vt:lpstr>
      <vt:lpstr>Arial</vt:lpstr>
      <vt:lpstr>Arial Narrow</vt:lpstr>
      <vt:lpstr>Bookman Old Style</vt:lpstr>
      <vt:lpstr>Calibri</vt:lpstr>
      <vt:lpstr>Cambria Math</vt:lpstr>
      <vt:lpstr>Consolas</vt:lpstr>
      <vt:lpstr>Courier New</vt:lpstr>
      <vt:lpstr>Gill Sans MT</vt:lpstr>
      <vt:lpstr>Palatino Linotype</vt:lpstr>
      <vt:lpstr>Tahoma</vt:lpstr>
      <vt:lpstr>Times New Roman</vt:lpstr>
      <vt:lpstr>Wingdings</vt:lpstr>
      <vt:lpstr>Wingdings 3</vt:lpstr>
      <vt:lpstr>Origin</vt:lpstr>
      <vt:lpstr>Z. Gu</vt:lpstr>
      <vt:lpstr>Adding Two Integers</vt:lpstr>
      <vt:lpstr>Adding Two Integers</vt:lpstr>
      <vt:lpstr>Adding Two Integers</vt:lpstr>
      <vt:lpstr>Adding Two Integers</vt:lpstr>
      <vt:lpstr>Adding Two Integers</vt:lpstr>
      <vt:lpstr>Adding Two Integers</vt:lpstr>
      <vt:lpstr>Example Arithmetic Instructions</vt:lpstr>
      <vt:lpstr>Example Logical Instructions</vt:lpstr>
      <vt:lpstr>Example Shift &amp; Rotate Instructions</vt:lpstr>
      <vt:lpstr>Example Data Transfer Instructions</vt:lpstr>
      <vt:lpstr>Overview:  Arithmetic and Logic Instructions</vt:lpstr>
      <vt:lpstr>Example: Add </vt:lpstr>
      <vt:lpstr>Commonly Used Arithmetic Operations</vt:lpstr>
      <vt:lpstr>ARM Programming Model</vt:lpstr>
      <vt:lpstr>Program Status Register (PSR)</vt:lpstr>
      <vt:lpstr>NZCV Flags in xPSR</vt:lpstr>
      <vt:lpstr>Updating NZCV flags in PSR</vt:lpstr>
      <vt:lpstr>ADD vs ADDS</vt:lpstr>
      <vt:lpstr>Suffix S:  Update Flags</vt:lpstr>
      <vt:lpstr>Example: 64-bit Addition</vt:lpstr>
      <vt:lpstr>Example: 64-bit Addition</vt:lpstr>
      <vt:lpstr>Example: 64-bit Subtraction</vt:lpstr>
      <vt:lpstr>Example: 96-bit Subtraction</vt:lpstr>
      <vt:lpstr>Example: Short Multiplication and Division</vt:lpstr>
      <vt:lpstr>Example: Long Multiplication</vt:lpstr>
      <vt:lpstr>Bitwise Logic</vt:lpstr>
      <vt:lpstr>Example: AND r2, r0, r1</vt:lpstr>
      <vt:lpstr>Example: ORR r2, r0, r1</vt:lpstr>
      <vt:lpstr>Example: BIC r2, r0, r1</vt:lpstr>
      <vt:lpstr>Example: BFC and BFI</vt:lpstr>
      <vt:lpstr>Bit Operators (&amp;, |, ~) vs  Boolean Operators (&amp;&amp; ,||, !)</vt:lpstr>
      <vt:lpstr>Saturating Instruction: SSAT and USAT</vt:lpstr>
      <vt:lpstr>Example of Saturation</vt:lpstr>
      <vt:lpstr>Reverse Order</vt:lpstr>
      <vt:lpstr>Reverse Order</vt:lpstr>
      <vt:lpstr>Reverse Order</vt:lpstr>
      <vt:lpstr>Reverse Order</vt:lpstr>
      <vt:lpstr>Sign and Zero Extension</vt:lpstr>
      <vt:lpstr>Sign and Zero Extension</vt:lpstr>
      <vt:lpstr>Move Data between Registers</vt:lpstr>
      <vt:lpstr>Move Immediate Number to Register</vt:lpstr>
      <vt:lpstr>Flexible 2nd Source Operand</vt:lpstr>
      <vt:lpstr>Use Shifts To Implement Multiplication And Division</vt:lpstr>
      <vt:lpstr>Barrel Shifter</vt:lpstr>
      <vt:lpstr>Updating APSR Flags</vt:lpstr>
      <vt:lpstr>Barrel Shifter: Explanations</vt:lpstr>
      <vt:lpstr>Examples (shifting by 4)</vt:lpstr>
      <vt:lpstr>Examples (rotate)</vt:lpstr>
      <vt:lpstr>Shift Operations</vt:lpstr>
      <vt:lpstr>Shift Operations</vt:lpstr>
      <vt:lpstr>Shift Operations</vt:lpstr>
      <vt:lpstr>Rotate Operations</vt:lpstr>
      <vt:lpstr>Rotate Operations</vt:lpstr>
      <vt:lpstr>Barrel Shifter More Examples</vt:lpstr>
      <vt:lpstr>SUB vs. RSB</vt:lpstr>
      <vt:lpstr>Integer Array Access with LSL</vt:lpstr>
      <vt:lpstr>Example 1: ANDS</vt:lpstr>
      <vt:lpstr>Example 2: ADDS</vt:lpstr>
      <vt:lpstr>Set a Bit in C</vt:lpstr>
      <vt:lpstr>Set a Bit in Assembly</vt:lpstr>
      <vt:lpstr>Clear a Bit in C</vt:lpstr>
      <vt:lpstr>Clear a Bit in Assembly</vt:lpstr>
      <vt:lpstr>Toggle a Bit in C</vt:lpstr>
      <vt:lpstr>Toggle a Bit in Assembly</vt:lpstr>
      <vt:lpstr>Mask</vt:lpstr>
      <vt:lpstr>Clear all unmasked bits</vt:lpstr>
      <vt:lpstr>Clear all masked bits</vt:lpstr>
      <vt:lpstr>Set all masked bits</vt:lpstr>
      <vt:lpstr>Toggle all tasked bits</vt:lpstr>
      <vt:lpstr>Carry and Overflow Flags w/ Arithmetic Instructions</vt:lpstr>
      <vt:lpstr>Example</vt:lpstr>
      <vt:lpstr>Example</vt:lpstr>
      <vt:lpstr>Example</vt:lpstr>
      <vt:lpstr>Example</vt:lpstr>
      <vt:lpstr>PowerPoint Presentation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380</cp:revision>
  <dcterms:created xsi:type="dcterms:W3CDTF">2014-02-05T02:41:42Z</dcterms:created>
  <dcterms:modified xsi:type="dcterms:W3CDTF">2025-10-14T23:11:07Z</dcterms:modified>
</cp:coreProperties>
</file>