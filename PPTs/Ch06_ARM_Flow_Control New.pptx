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sldIdLst>
    <p:sldId id="355" r:id="rId2"/>
    <p:sldId id="269" r:id="rId3"/>
    <p:sldId id="343" r:id="rId4"/>
    <p:sldId id="553" r:id="rId5"/>
    <p:sldId id="348" r:id="rId6"/>
    <p:sldId id="275" r:id="rId7"/>
    <p:sldId id="285" r:id="rId8"/>
    <p:sldId id="356" r:id="rId9"/>
    <p:sldId id="554" r:id="rId10"/>
    <p:sldId id="277" r:id="rId11"/>
    <p:sldId id="349" r:id="rId12"/>
    <p:sldId id="299" r:id="rId13"/>
    <p:sldId id="353" r:id="rId14"/>
    <p:sldId id="292" r:id="rId15"/>
    <p:sldId id="357" r:id="rId16"/>
    <p:sldId id="300" r:id="rId17"/>
    <p:sldId id="344" r:id="rId18"/>
    <p:sldId id="345" r:id="rId19"/>
    <p:sldId id="297" r:id="rId20"/>
    <p:sldId id="298" r:id="rId21"/>
    <p:sldId id="321" r:id="rId22"/>
    <p:sldId id="322" r:id="rId23"/>
    <p:sldId id="323" r:id="rId24"/>
    <p:sldId id="325" r:id="rId25"/>
    <p:sldId id="326" r:id="rId26"/>
    <p:sldId id="327" r:id="rId27"/>
    <p:sldId id="303" r:id="rId28"/>
    <p:sldId id="304" r:id="rId29"/>
    <p:sldId id="331" r:id="rId30"/>
    <p:sldId id="339" r:id="rId31"/>
    <p:sldId id="340" r:id="rId32"/>
    <p:sldId id="324" r:id="rId33"/>
    <p:sldId id="335" r:id="rId34"/>
    <p:sldId id="336" r:id="rId35"/>
    <p:sldId id="313" r:id="rId36"/>
    <p:sldId id="332" r:id="rId37"/>
    <p:sldId id="346" r:id="rId38"/>
    <p:sldId id="334" r:id="rId39"/>
    <p:sldId id="317" r:id="rId40"/>
    <p:sldId id="318" r:id="rId41"/>
    <p:sldId id="352" r:id="rId42"/>
    <p:sldId id="350" r:id="rId43"/>
    <p:sldId id="351" r:id="rId44"/>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DF1DF7-A2EF-4218-9C9F-6ED0D7142589}" v="198" dt="2025-10-02T21:48:36.6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461" autoAdjust="0"/>
    <p:restoredTop sz="86013" autoAdjust="0"/>
  </p:normalViewPr>
  <p:slideViewPr>
    <p:cSldViewPr>
      <p:cViewPr varScale="1">
        <p:scale>
          <a:sx n="70" d="100"/>
          <a:sy n="70" d="100"/>
        </p:scale>
        <p:origin x="72" y="67"/>
      </p:cViewPr>
      <p:guideLst>
        <p:guide orient="horz" pos="2160"/>
        <p:guide pos="3840"/>
      </p:guideLst>
    </p:cSldViewPr>
  </p:slideViewPr>
  <p:notesTextViewPr>
    <p:cViewPr>
      <p:scale>
        <a:sx n="1" d="1"/>
        <a:sy n="1" d="1"/>
      </p:scale>
      <p:origin x="0" y="0"/>
    </p:cViewPr>
  </p:notesTextViewPr>
  <p:sorterViewPr>
    <p:cViewPr>
      <p:scale>
        <a:sx n="150" d="100"/>
        <a:sy n="150" d="100"/>
      </p:scale>
      <p:origin x="0" y="-959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pc:chgData name="Zonghua Gu" userId="9a7e1853e1951ef5" providerId="LiveId" clId="{CF1FAA12-072C-4ED5-BA76-0FFFAEFDB88A}" dt="2025-10-02T21:50:18.173" v="549" actId="47"/>
      <pc:docMkLst>
        <pc:docMk/>
      </pc:docMkLst>
      <pc:sldChg chg="addSp delSp modSp del mod">
        <pc:chgData name="Zonghua Gu" userId="9a7e1853e1951ef5" providerId="LiveId" clId="{CF1FAA12-072C-4ED5-BA76-0FFFAEFDB88A}" dt="2025-10-02T21:17:35.809" v="3" actId="47"/>
        <pc:sldMkLst>
          <pc:docMk/>
          <pc:sldMk cId="1683281344" sldId="256"/>
        </pc:sldMkLst>
        <pc:spChg chg="del">
          <ac:chgData name="Zonghua Gu" userId="9a7e1853e1951ef5" providerId="LiveId" clId="{CF1FAA12-072C-4ED5-BA76-0FFFAEFDB88A}" dt="2025-10-02T21:17:15.951" v="0" actId="478"/>
          <ac:spMkLst>
            <pc:docMk/>
            <pc:sldMk cId="1683281344" sldId="256"/>
            <ac:spMk id="2" creationId="{00000000-0000-0000-0000-000000000000}"/>
          </ac:spMkLst>
        </pc:spChg>
        <pc:spChg chg="del">
          <ac:chgData name="Zonghua Gu" userId="9a7e1853e1951ef5" providerId="LiveId" clId="{CF1FAA12-072C-4ED5-BA76-0FFFAEFDB88A}" dt="2025-10-02T21:17:15.951" v="0" actId="478"/>
          <ac:spMkLst>
            <pc:docMk/>
            <pc:sldMk cId="1683281344" sldId="256"/>
            <ac:spMk id="3" creationId="{00000000-0000-0000-0000-000000000000}"/>
          </ac:spMkLst>
        </pc:spChg>
        <pc:spChg chg="del">
          <ac:chgData name="Zonghua Gu" userId="9a7e1853e1951ef5" providerId="LiveId" clId="{CF1FAA12-072C-4ED5-BA76-0FFFAEFDB88A}" dt="2025-10-02T21:17:15.951" v="0" actId="478"/>
          <ac:spMkLst>
            <pc:docMk/>
            <pc:sldMk cId="1683281344" sldId="256"/>
            <ac:spMk id="4" creationId="{00000000-0000-0000-0000-000000000000}"/>
          </ac:spMkLst>
        </pc:spChg>
        <pc:spChg chg="del">
          <ac:chgData name="Zonghua Gu" userId="9a7e1853e1951ef5" providerId="LiveId" clId="{CF1FAA12-072C-4ED5-BA76-0FFFAEFDB88A}" dt="2025-10-02T21:17:15.951" v="0" actId="478"/>
          <ac:spMkLst>
            <pc:docMk/>
            <pc:sldMk cId="1683281344" sldId="256"/>
            <ac:spMk id="5" creationId="{00000000-0000-0000-0000-000000000000}"/>
          </ac:spMkLst>
        </pc:spChg>
        <pc:spChg chg="del">
          <ac:chgData name="Zonghua Gu" userId="9a7e1853e1951ef5" providerId="LiveId" clId="{CF1FAA12-072C-4ED5-BA76-0FFFAEFDB88A}" dt="2025-10-02T21:17:15.951" v="0" actId="478"/>
          <ac:spMkLst>
            <pc:docMk/>
            <pc:sldMk cId="1683281344" sldId="256"/>
            <ac:spMk id="6" creationId="{00000000-0000-0000-0000-000000000000}"/>
          </ac:spMkLst>
        </pc:spChg>
        <pc:spChg chg="add del mod">
          <ac:chgData name="Zonghua Gu" userId="9a7e1853e1951ef5" providerId="LiveId" clId="{CF1FAA12-072C-4ED5-BA76-0FFFAEFDB88A}" dt="2025-10-02T21:17:19.205" v="1" actId="478"/>
          <ac:spMkLst>
            <pc:docMk/>
            <pc:sldMk cId="1683281344" sldId="256"/>
            <ac:spMk id="8" creationId="{51512173-B715-818D-70D9-92DAF3366671}"/>
          </ac:spMkLst>
        </pc:spChg>
        <pc:spChg chg="add del mod">
          <ac:chgData name="Zonghua Gu" userId="9a7e1853e1951ef5" providerId="LiveId" clId="{CF1FAA12-072C-4ED5-BA76-0FFFAEFDB88A}" dt="2025-10-02T21:17:19.205" v="1" actId="478"/>
          <ac:spMkLst>
            <pc:docMk/>
            <pc:sldMk cId="1683281344" sldId="256"/>
            <ac:spMk id="10" creationId="{61DB13A7-8F08-7088-DB83-67C75E5AF964}"/>
          </ac:spMkLst>
        </pc:spChg>
      </pc:sldChg>
      <pc:sldChg chg="modSp mod">
        <pc:chgData name="Zonghua Gu" userId="9a7e1853e1951ef5" providerId="LiveId" clId="{CF1FAA12-072C-4ED5-BA76-0FFFAEFDB88A}" dt="2025-10-02T21:19:03.671" v="14" actId="1076"/>
        <pc:sldMkLst>
          <pc:docMk/>
          <pc:sldMk cId="166800616" sldId="269"/>
        </pc:sldMkLst>
        <pc:spChg chg="mod">
          <ac:chgData name="Zonghua Gu" userId="9a7e1853e1951ef5" providerId="LiveId" clId="{CF1FAA12-072C-4ED5-BA76-0FFFAEFDB88A}" dt="2025-10-02T21:19:03.671" v="14" actId="1076"/>
          <ac:spMkLst>
            <pc:docMk/>
            <pc:sldMk cId="166800616" sldId="269"/>
            <ac:spMk id="12" creationId="{00000000-0000-0000-0000-000000000000}"/>
          </ac:spMkLst>
        </pc:spChg>
        <pc:spChg chg="mod">
          <ac:chgData name="Zonghua Gu" userId="9a7e1853e1951ef5" providerId="LiveId" clId="{CF1FAA12-072C-4ED5-BA76-0FFFAEFDB88A}" dt="2025-10-02T21:19:03.671" v="14" actId="1076"/>
          <ac:spMkLst>
            <pc:docMk/>
            <pc:sldMk cId="166800616" sldId="269"/>
            <ac:spMk id="15" creationId="{00000000-0000-0000-0000-000000000000}"/>
          </ac:spMkLst>
        </pc:spChg>
        <pc:spChg chg="mod">
          <ac:chgData name="Zonghua Gu" userId="9a7e1853e1951ef5" providerId="LiveId" clId="{CF1FAA12-072C-4ED5-BA76-0FFFAEFDB88A}" dt="2025-10-02T21:19:03.671" v="14" actId="1076"/>
          <ac:spMkLst>
            <pc:docMk/>
            <pc:sldMk cId="166800616" sldId="269"/>
            <ac:spMk id="18" creationId="{00000000-0000-0000-0000-000000000000}"/>
          </ac:spMkLst>
        </pc:spChg>
        <pc:spChg chg="mod">
          <ac:chgData name="Zonghua Gu" userId="9a7e1853e1951ef5" providerId="LiveId" clId="{CF1FAA12-072C-4ED5-BA76-0FFFAEFDB88A}" dt="2025-10-02T21:18:45.174" v="12" actId="404"/>
          <ac:spMkLst>
            <pc:docMk/>
            <pc:sldMk cId="166800616" sldId="269"/>
            <ac:spMk id="787459" creationId="{00000000-0000-0000-0000-000000000000}"/>
          </ac:spMkLst>
        </pc:spChg>
        <pc:grpChg chg="mod">
          <ac:chgData name="Zonghua Gu" userId="9a7e1853e1951ef5" providerId="LiveId" clId="{CF1FAA12-072C-4ED5-BA76-0FFFAEFDB88A}" dt="2025-10-02T21:19:03.671" v="14" actId="1076"/>
          <ac:grpSpMkLst>
            <pc:docMk/>
            <pc:sldMk cId="166800616" sldId="269"/>
            <ac:grpSpMk id="13" creationId="{B362000C-983C-524D-87C2-3EDCAF4543B1}"/>
          </ac:grpSpMkLst>
        </pc:grpChg>
        <pc:grpChg chg="mod">
          <ac:chgData name="Zonghua Gu" userId="9a7e1853e1951ef5" providerId="LiveId" clId="{CF1FAA12-072C-4ED5-BA76-0FFFAEFDB88A}" dt="2025-10-02T21:19:03.671" v="14" actId="1076"/>
          <ac:grpSpMkLst>
            <pc:docMk/>
            <pc:sldMk cId="166800616" sldId="269"/>
            <ac:grpSpMk id="16" creationId="{B2548B9B-63B4-EE41-BB16-A644D9AF1BF9}"/>
          </ac:grpSpMkLst>
        </pc:grpChg>
        <pc:picChg chg="mod">
          <ac:chgData name="Zonghua Gu" userId="9a7e1853e1951ef5" providerId="LiveId" clId="{CF1FAA12-072C-4ED5-BA76-0FFFAEFDB88A}" dt="2025-10-02T21:19:03.671" v="14" actId="1076"/>
          <ac:picMkLst>
            <pc:docMk/>
            <pc:sldMk cId="166800616" sldId="269"/>
            <ac:picMk id="11" creationId="{00000000-0000-0000-0000-000000000000}"/>
          </ac:picMkLst>
        </pc:picChg>
        <pc:picChg chg="mod">
          <ac:chgData name="Zonghua Gu" userId="9a7e1853e1951ef5" providerId="LiveId" clId="{CF1FAA12-072C-4ED5-BA76-0FFFAEFDB88A}" dt="2025-10-02T21:19:03.671" v="14" actId="1076"/>
          <ac:picMkLst>
            <pc:docMk/>
            <pc:sldMk cId="166800616" sldId="269"/>
            <ac:picMk id="14" creationId="{00000000-0000-0000-0000-000000000000}"/>
          </ac:picMkLst>
        </pc:picChg>
        <pc:picChg chg="mod">
          <ac:chgData name="Zonghua Gu" userId="9a7e1853e1951ef5" providerId="LiveId" clId="{CF1FAA12-072C-4ED5-BA76-0FFFAEFDB88A}" dt="2025-10-02T21:19:03.671" v="14" actId="1076"/>
          <ac:picMkLst>
            <pc:docMk/>
            <pc:sldMk cId="166800616" sldId="269"/>
            <ac:picMk id="17" creationId="{00000000-0000-0000-0000-000000000000}"/>
          </ac:picMkLst>
        </pc:picChg>
      </pc:sldChg>
      <pc:sldChg chg="modSp mod modNotesTx">
        <pc:chgData name="Zonghua Gu" userId="9a7e1853e1951ef5" providerId="LiveId" clId="{CF1FAA12-072C-4ED5-BA76-0FFFAEFDB88A}" dt="2025-10-02T21:32:52.199" v="367" actId="20577"/>
        <pc:sldMkLst>
          <pc:docMk/>
          <pc:sldMk cId="2502343479" sldId="275"/>
        </pc:sldMkLst>
        <pc:spChg chg="mod">
          <ac:chgData name="Zonghua Gu" userId="9a7e1853e1951ef5" providerId="LiveId" clId="{CF1FAA12-072C-4ED5-BA76-0FFFAEFDB88A}" dt="2025-10-02T21:32:44.144" v="366" actId="6549"/>
          <ac:spMkLst>
            <pc:docMk/>
            <pc:sldMk cId="2502343479" sldId="275"/>
            <ac:spMk id="5" creationId="{00000000-0000-0000-0000-000000000000}"/>
          </ac:spMkLst>
        </pc:spChg>
      </pc:sldChg>
      <pc:sldChg chg="del">
        <pc:chgData name="Zonghua Gu" userId="9a7e1853e1951ef5" providerId="LiveId" clId="{CF1FAA12-072C-4ED5-BA76-0FFFAEFDB88A}" dt="2025-10-02T21:32:56.562" v="368" actId="47"/>
        <pc:sldMkLst>
          <pc:docMk/>
          <pc:sldMk cId="3146583954" sldId="282"/>
        </pc:sldMkLst>
      </pc:sldChg>
      <pc:sldChg chg="del">
        <pc:chgData name="Zonghua Gu" userId="9a7e1853e1951ef5" providerId="LiveId" clId="{CF1FAA12-072C-4ED5-BA76-0FFFAEFDB88A}" dt="2025-10-02T21:38:05.585" v="432" actId="47"/>
        <pc:sldMkLst>
          <pc:docMk/>
          <pc:sldMk cId="3856419856" sldId="284"/>
        </pc:sldMkLst>
      </pc:sldChg>
      <pc:sldChg chg="addSp delSp modSp mod">
        <pc:chgData name="Zonghua Gu" userId="9a7e1853e1951ef5" providerId="LiveId" clId="{CF1FAA12-072C-4ED5-BA76-0FFFAEFDB88A}" dt="2025-10-02T21:35:10.038" v="405"/>
        <pc:sldMkLst>
          <pc:docMk/>
          <pc:sldMk cId="3410570449" sldId="285"/>
        </pc:sldMkLst>
        <pc:spChg chg="mod">
          <ac:chgData name="Zonghua Gu" userId="9a7e1853e1951ef5" providerId="LiveId" clId="{CF1FAA12-072C-4ED5-BA76-0FFFAEFDB88A}" dt="2025-10-02T21:35:02.003" v="403" actId="20577"/>
          <ac:spMkLst>
            <pc:docMk/>
            <pc:sldMk cId="3410570449" sldId="285"/>
            <ac:spMk id="5" creationId="{00000000-0000-0000-0000-000000000000}"/>
          </ac:spMkLst>
        </pc:spChg>
        <pc:spChg chg="del mod">
          <ac:chgData name="Zonghua Gu" userId="9a7e1853e1951ef5" providerId="LiveId" clId="{CF1FAA12-072C-4ED5-BA76-0FFFAEFDB88A}" dt="2025-10-02T21:35:10.038" v="405"/>
          <ac:spMkLst>
            <pc:docMk/>
            <pc:sldMk cId="3410570449" sldId="285"/>
            <ac:spMk id="7" creationId="{00000000-0000-0000-0000-000000000000}"/>
          </ac:spMkLst>
        </pc:spChg>
        <pc:spChg chg="add mod">
          <ac:chgData name="Zonghua Gu" userId="9a7e1853e1951ef5" providerId="LiveId" clId="{CF1FAA12-072C-4ED5-BA76-0FFFAEFDB88A}" dt="2025-10-02T21:34:53.613" v="385" actId="1076"/>
          <ac:spMkLst>
            <pc:docMk/>
            <pc:sldMk cId="3410570449" sldId="285"/>
            <ac:spMk id="8" creationId="{070E943D-54D2-737B-8F17-C236B0E07369}"/>
          </ac:spMkLst>
        </pc:spChg>
      </pc:sldChg>
      <pc:sldChg chg="del">
        <pc:chgData name="Zonghua Gu" userId="9a7e1853e1951ef5" providerId="LiveId" clId="{CF1FAA12-072C-4ED5-BA76-0FFFAEFDB88A}" dt="2025-10-02T21:50:18.173" v="549" actId="47"/>
        <pc:sldMkLst>
          <pc:docMk/>
          <pc:sldMk cId="2550961529" sldId="301"/>
        </pc:sldMkLst>
      </pc:sldChg>
      <pc:sldChg chg="addSp modSp mod">
        <pc:chgData name="Zonghua Gu" userId="9a7e1853e1951ef5" providerId="LiveId" clId="{CF1FAA12-072C-4ED5-BA76-0FFFAEFDB88A}" dt="2025-10-02T21:46:21.871" v="539" actId="1076"/>
        <pc:sldMkLst>
          <pc:docMk/>
          <pc:sldMk cId="1197208543" sldId="343"/>
        </pc:sldMkLst>
        <pc:spChg chg="mod">
          <ac:chgData name="Zonghua Gu" userId="9a7e1853e1951ef5" providerId="LiveId" clId="{CF1FAA12-072C-4ED5-BA76-0FFFAEFDB88A}" dt="2025-10-02T21:44:42.735" v="525" actId="20577"/>
          <ac:spMkLst>
            <pc:docMk/>
            <pc:sldMk cId="1197208543" sldId="343"/>
            <ac:spMk id="2" creationId="{00000000-0000-0000-0000-000000000000}"/>
          </ac:spMkLst>
        </pc:spChg>
        <pc:spChg chg="add mod">
          <ac:chgData name="Zonghua Gu" userId="9a7e1853e1951ef5" providerId="LiveId" clId="{CF1FAA12-072C-4ED5-BA76-0FFFAEFDB88A}" dt="2025-10-02T21:44:44.118" v="526"/>
          <ac:spMkLst>
            <pc:docMk/>
            <pc:sldMk cId="1197208543" sldId="343"/>
            <ac:spMk id="43" creationId="{A364F533-400C-D612-5898-222CAE8624CB}"/>
          </ac:spMkLst>
        </pc:spChg>
        <pc:picChg chg="add mod">
          <ac:chgData name="Zonghua Gu" userId="9a7e1853e1951ef5" providerId="LiveId" clId="{CF1FAA12-072C-4ED5-BA76-0FFFAEFDB88A}" dt="2025-10-02T21:46:21.871" v="539" actId="1076"/>
          <ac:picMkLst>
            <pc:docMk/>
            <pc:sldMk cId="1197208543" sldId="343"/>
            <ac:picMk id="45" creationId="{F4610FDE-7BE3-AC86-5E3F-50D53906FDD5}"/>
          </ac:picMkLst>
        </pc:picChg>
      </pc:sldChg>
      <pc:sldChg chg="del">
        <pc:chgData name="Zonghua Gu" userId="9a7e1853e1951ef5" providerId="LiveId" clId="{CF1FAA12-072C-4ED5-BA76-0FFFAEFDB88A}" dt="2025-10-02T21:18:53.161" v="13" actId="47"/>
        <pc:sldMkLst>
          <pc:docMk/>
          <pc:sldMk cId="3183429436" sldId="347"/>
        </pc:sldMkLst>
      </pc:sldChg>
      <pc:sldChg chg="modSp mod modAnim">
        <pc:chgData name="Zonghua Gu" userId="9a7e1853e1951ef5" providerId="LiveId" clId="{CF1FAA12-072C-4ED5-BA76-0FFFAEFDB88A}" dt="2025-10-02T21:26:33.884" v="221" actId="1076"/>
        <pc:sldMkLst>
          <pc:docMk/>
          <pc:sldMk cId="1680559388" sldId="348"/>
        </pc:sldMkLst>
        <pc:spChg chg="mod">
          <ac:chgData name="Zonghua Gu" userId="9a7e1853e1951ef5" providerId="LiveId" clId="{CF1FAA12-072C-4ED5-BA76-0FFFAEFDB88A}" dt="2025-10-02T21:26:17.336" v="213" actId="6549"/>
          <ac:spMkLst>
            <pc:docMk/>
            <pc:sldMk cId="1680559388" sldId="348"/>
            <ac:spMk id="4" creationId="{00000000-0000-0000-0000-000000000000}"/>
          </ac:spMkLst>
        </pc:spChg>
        <pc:graphicFrameChg chg="mod modGraphic">
          <ac:chgData name="Zonghua Gu" userId="9a7e1853e1951ef5" providerId="LiveId" clId="{CF1FAA12-072C-4ED5-BA76-0FFFAEFDB88A}" dt="2025-10-02T21:26:33.884" v="221" actId="1076"/>
          <ac:graphicFrameMkLst>
            <pc:docMk/>
            <pc:sldMk cId="1680559388" sldId="348"/>
            <ac:graphicFrameMk id="5" creationId="{00000000-0000-0000-0000-000000000000}"/>
          </ac:graphicFrameMkLst>
        </pc:graphicFrameChg>
      </pc:sldChg>
      <pc:sldChg chg="del">
        <pc:chgData name="Zonghua Gu" userId="9a7e1853e1951ef5" providerId="LiveId" clId="{CF1FAA12-072C-4ED5-BA76-0FFFAEFDB88A}" dt="2025-10-02T21:50:07.187" v="548" actId="47"/>
        <pc:sldMkLst>
          <pc:docMk/>
          <pc:sldMk cId="3358866911" sldId="354"/>
        </pc:sldMkLst>
      </pc:sldChg>
      <pc:sldChg chg="modSp add mod">
        <pc:chgData name="Zonghua Gu" userId="9a7e1853e1951ef5" providerId="LiveId" clId="{CF1FAA12-072C-4ED5-BA76-0FFFAEFDB88A}" dt="2025-10-02T21:17:45.416" v="4" actId="1076"/>
        <pc:sldMkLst>
          <pc:docMk/>
          <pc:sldMk cId="3103871726" sldId="355"/>
        </pc:sldMkLst>
        <pc:spChg chg="mod">
          <ac:chgData name="Zonghua Gu" userId="9a7e1853e1951ef5" providerId="LiveId" clId="{CF1FAA12-072C-4ED5-BA76-0FFFAEFDB88A}" dt="2025-10-02T21:17:45.416" v="4" actId="1076"/>
          <ac:spMkLst>
            <pc:docMk/>
            <pc:sldMk cId="3103871726" sldId="355"/>
            <ac:spMk id="5" creationId="{00000000-0000-0000-0000-000000000000}"/>
          </ac:spMkLst>
        </pc:spChg>
        <pc:spChg chg="mod">
          <ac:chgData name="Zonghua Gu" userId="9a7e1853e1951ef5" providerId="LiveId" clId="{CF1FAA12-072C-4ED5-BA76-0FFFAEFDB88A}" dt="2025-10-02T21:17:45.416" v="4" actId="1076"/>
          <ac:spMkLst>
            <pc:docMk/>
            <pc:sldMk cId="3103871726" sldId="355"/>
            <ac:spMk id="6" creationId="{00000000-0000-0000-0000-000000000000}"/>
          </ac:spMkLst>
        </pc:spChg>
      </pc:sldChg>
      <pc:sldChg chg="modSp add mod">
        <pc:chgData name="Zonghua Gu" userId="9a7e1853e1951ef5" providerId="LiveId" clId="{CF1FAA12-072C-4ED5-BA76-0FFFAEFDB88A}" dt="2025-10-02T21:37:55.645" v="431" actId="14100"/>
        <pc:sldMkLst>
          <pc:docMk/>
          <pc:sldMk cId="3037248441" sldId="356"/>
        </pc:sldMkLst>
        <pc:spChg chg="mod">
          <ac:chgData name="Zonghua Gu" userId="9a7e1853e1951ef5" providerId="LiveId" clId="{CF1FAA12-072C-4ED5-BA76-0FFFAEFDB88A}" dt="2025-10-02T21:37:55.645" v="431" actId="14100"/>
          <ac:spMkLst>
            <pc:docMk/>
            <pc:sldMk cId="3037248441" sldId="356"/>
            <ac:spMk id="4" creationId="{00000000-0000-0000-0000-000000000000}"/>
          </ac:spMkLst>
        </pc:spChg>
        <pc:graphicFrameChg chg="mod">
          <ac:chgData name="Zonghua Gu" userId="9a7e1853e1951ef5" providerId="LiveId" clId="{CF1FAA12-072C-4ED5-BA76-0FFFAEFDB88A}" dt="2025-10-02T21:37:53.665" v="430" actId="1076"/>
          <ac:graphicFrameMkLst>
            <pc:docMk/>
            <pc:sldMk cId="3037248441" sldId="356"/>
            <ac:graphicFrameMk id="5" creationId="{8DCF8158-0829-196C-D9FE-1C770A94B4C4}"/>
          </ac:graphicFrameMkLst>
        </pc:graphicFrameChg>
        <pc:graphicFrameChg chg="mod">
          <ac:chgData name="Zonghua Gu" userId="9a7e1853e1951ef5" providerId="LiveId" clId="{CF1FAA12-072C-4ED5-BA76-0FFFAEFDB88A}" dt="2025-10-02T21:37:53.665" v="430" actId="1076"/>
          <ac:graphicFrameMkLst>
            <pc:docMk/>
            <pc:sldMk cId="3037248441" sldId="356"/>
            <ac:graphicFrameMk id="6" creationId="{03FCCA32-130C-6803-E182-E05ADA9ECB49}"/>
          </ac:graphicFrameMkLst>
        </pc:graphicFrameChg>
      </pc:sldChg>
      <pc:sldChg chg="modSp add mod ord">
        <pc:chgData name="Zonghua Gu" userId="9a7e1853e1951ef5" providerId="LiveId" clId="{CF1FAA12-072C-4ED5-BA76-0FFFAEFDB88A}" dt="2025-10-02T21:50:01.874" v="547"/>
        <pc:sldMkLst>
          <pc:docMk/>
          <pc:sldMk cId="4245009867" sldId="357"/>
        </pc:sldMkLst>
        <pc:spChg chg="mod">
          <ac:chgData name="Zonghua Gu" userId="9a7e1853e1951ef5" providerId="LiveId" clId="{CF1FAA12-072C-4ED5-BA76-0FFFAEFDB88A}" dt="2025-10-02T21:48:48.653" v="543" actId="27636"/>
          <ac:spMkLst>
            <pc:docMk/>
            <pc:sldMk cId="4245009867" sldId="357"/>
            <ac:spMk id="4" creationId="{5422A2C6-7F24-FA4F-9F2C-00B81D4ABBD8}"/>
          </ac:spMkLst>
        </pc:spChg>
      </pc:sldChg>
      <pc:sldChg chg="modSp add mod">
        <pc:chgData name="Zonghua Gu" userId="9a7e1853e1951ef5" providerId="LiveId" clId="{CF1FAA12-072C-4ED5-BA76-0FFFAEFDB88A}" dt="2025-10-02T21:45:12.577" v="532" actId="14100"/>
        <pc:sldMkLst>
          <pc:docMk/>
          <pc:sldMk cId="1202265337" sldId="553"/>
        </pc:sldMkLst>
        <pc:spChg chg="mod">
          <ac:chgData name="Zonghua Gu" userId="9a7e1853e1951ef5" providerId="LiveId" clId="{CF1FAA12-072C-4ED5-BA76-0FFFAEFDB88A}" dt="2025-10-02T21:44:33.758" v="513" actId="1076"/>
          <ac:spMkLst>
            <pc:docMk/>
            <pc:sldMk cId="1202265337" sldId="553"/>
            <ac:spMk id="3" creationId="{4DF73044-40F3-F2D2-4520-3537F47168BE}"/>
          </ac:spMkLst>
        </pc:spChg>
        <pc:spChg chg="mod">
          <ac:chgData name="Zonghua Gu" userId="9a7e1853e1951ef5" providerId="LiveId" clId="{CF1FAA12-072C-4ED5-BA76-0FFFAEFDB88A}" dt="2025-10-02T21:44:38.154" v="524" actId="20577"/>
          <ac:spMkLst>
            <pc:docMk/>
            <pc:sldMk cId="1202265337" sldId="553"/>
            <ac:spMk id="38914" creationId="{00000000-0000-0000-0000-000000000000}"/>
          </ac:spMkLst>
        </pc:spChg>
        <pc:spChg chg="mod">
          <ac:chgData name="Zonghua Gu" userId="9a7e1853e1951ef5" providerId="LiveId" clId="{CF1FAA12-072C-4ED5-BA76-0FFFAEFDB88A}" dt="2025-10-02T21:44:50.252" v="528" actId="14100"/>
          <ac:spMkLst>
            <pc:docMk/>
            <pc:sldMk cId="1202265337" sldId="553"/>
            <ac:spMk id="38917" creationId="{00000000-0000-0000-0000-000000000000}"/>
          </ac:spMkLst>
        </pc:spChg>
        <pc:graphicFrameChg chg="mod modGraphic">
          <ac:chgData name="Zonghua Gu" userId="9a7e1853e1951ef5" providerId="LiveId" clId="{CF1FAA12-072C-4ED5-BA76-0FFFAEFDB88A}" dt="2025-10-02T21:45:12.577" v="532" actId="14100"/>
          <ac:graphicFrameMkLst>
            <pc:docMk/>
            <pc:sldMk cId="1202265337" sldId="553"/>
            <ac:graphicFrameMk id="2" creationId="{00000000-0000-0000-0000-000000000000}"/>
          </ac:graphicFrameMkLst>
        </pc:graphicFrameChg>
      </pc:sldChg>
      <pc:sldChg chg="addSp delSp modSp add mod">
        <pc:chgData name="Zonghua Gu" userId="9a7e1853e1951ef5" providerId="LiveId" clId="{CF1FAA12-072C-4ED5-BA76-0FFFAEFDB88A}" dt="2025-10-02T21:41:48.763" v="511" actId="20577"/>
        <pc:sldMkLst>
          <pc:docMk/>
          <pc:sldMk cId="2974562210" sldId="554"/>
        </pc:sldMkLst>
        <pc:spChg chg="mod">
          <ac:chgData name="Zonghua Gu" userId="9a7e1853e1951ef5" providerId="LiveId" clId="{CF1FAA12-072C-4ED5-BA76-0FFFAEFDB88A}" dt="2025-10-02T21:41:48.763" v="511" actId="20577"/>
          <ac:spMkLst>
            <pc:docMk/>
            <pc:sldMk cId="2974562210" sldId="554"/>
            <ac:spMk id="2" creationId="{EA2B27C1-1F30-01B4-EDA5-AA372A7564E3}"/>
          </ac:spMkLst>
        </pc:spChg>
        <pc:spChg chg="mod">
          <ac:chgData name="Zonghua Gu" userId="9a7e1853e1951ef5" providerId="LiveId" clId="{CF1FAA12-072C-4ED5-BA76-0FFFAEFDB88A}" dt="2025-10-02T21:41:34.067" v="509" actId="20577"/>
          <ac:spMkLst>
            <pc:docMk/>
            <pc:sldMk cId="2974562210" sldId="554"/>
            <ac:spMk id="4" creationId="{0994813A-6090-94C3-BB20-0506E22F6AC2}"/>
          </ac:spMkLst>
        </pc:spChg>
        <pc:spChg chg="del mod">
          <ac:chgData name="Zonghua Gu" userId="9a7e1853e1951ef5" providerId="LiveId" clId="{CF1FAA12-072C-4ED5-BA76-0FFFAEFDB88A}" dt="2025-10-02T21:41:31.547" v="508" actId="478"/>
          <ac:spMkLst>
            <pc:docMk/>
            <pc:sldMk cId="2974562210" sldId="554"/>
            <ac:spMk id="5" creationId="{35FA7799-1206-B233-B834-C4D6CB77EC59}"/>
          </ac:spMkLst>
        </pc:spChg>
        <pc:spChg chg="mod">
          <ac:chgData name="Zonghua Gu" userId="9a7e1853e1951ef5" providerId="LiveId" clId="{CF1FAA12-072C-4ED5-BA76-0FFFAEFDB88A}" dt="2025-10-02T21:39:27.709" v="464" actId="20577"/>
          <ac:spMkLst>
            <pc:docMk/>
            <pc:sldMk cId="2974562210" sldId="554"/>
            <ac:spMk id="6" creationId="{E5FFFCF9-37E2-4F46-BF73-3BA72A325AB2}"/>
          </ac:spMkLst>
        </pc:spChg>
        <pc:graphicFrameChg chg="add mod modGraphic">
          <ac:chgData name="Zonghua Gu" userId="9a7e1853e1951ef5" providerId="LiveId" clId="{CF1FAA12-072C-4ED5-BA76-0FFFAEFDB88A}" dt="2025-10-02T21:41:46.567" v="510" actId="1076"/>
          <ac:graphicFrameMkLst>
            <pc:docMk/>
            <pc:sldMk cId="2974562210" sldId="554"/>
            <ac:graphicFrameMk id="7" creationId="{92162710-0645-EA84-2B5C-000E62B73A45}"/>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0.55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1.33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10/2/2025</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en.wikipedia.org/wiki/Arithmetic"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N</a:t>
            </a:r>
            <a:r>
              <a:rPr lang="en-US" sz="1200" dirty="0"/>
              <a:t> (negative) – set (1) when a signed result is negative, otherwise cleared (0).</a:t>
            </a:r>
          </a:p>
          <a:p>
            <a:r>
              <a:rPr lang="en-US" sz="1200" b="1" dirty="0"/>
              <a:t>Z</a:t>
            </a:r>
            <a:r>
              <a:rPr lang="en-US" sz="1200" dirty="0"/>
              <a:t> (zero) – set (1) when a result is 0, otherwise cleared (0).</a:t>
            </a:r>
          </a:p>
          <a:p>
            <a:r>
              <a:rPr lang="en-US" sz="1200" b="1" dirty="0"/>
              <a:t>C</a:t>
            </a:r>
            <a:r>
              <a:rPr lang="en-US" sz="1200" dirty="0"/>
              <a:t> (carry) – set (1) when an add-based operation produces an overflow, when a subtract-based operation doesn’t require a borrow; when shifting, holds the last bit that’s been shifted out; otherwise cleared (0).</a:t>
            </a:r>
          </a:p>
          <a:p>
            <a:r>
              <a:rPr lang="en-US" sz="1200" b="1" dirty="0"/>
              <a:t>V</a:t>
            </a:r>
            <a:r>
              <a:rPr lang="en-US" sz="1200" dirty="0"/>
              <a:t> (overflow) – set (1) when an add- or subtract-based operation generates a signed overflow, otherwise cleared (0).</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3</a:t>
            </a:fld>
            <a:endParaRPr lang="en-US"/>
          </a:p>
        </p:txBody>
      </p:sp>
    </p:spTree>
    <p:extLst>
      <p:ext uri="{BB962C8B-B14F-4D97-AF65-F5344CB8AC3E}">
        <p14:creationId xmlns:p14="http://schemas.microsoft.com/office/powerpoint/2010/main" val="307402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p:spTree>
    <p:extLst>
      <p:ext uri="{BB962C8B-B14F-4D97-AF65-F5344CB8AC3E}">
        <p14:creationId xmlns:p14="http://schemas.microsoft.com/office/powerpoint/2010/main" val="3160037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a “compare-only” operation for branching or predication. </a:t>
            </a:r>
          </a:p>
          <a:p>
            <a:r>
              <a:rPr lang="en-US" dirty="0"/>
              <a:t>; it both computes and compares in one step</a:t>
            </a:r>
          </a:p>
        </p:txBody>
      </p:sp>
      <p:sp>
        <p:nvSpPr>
          <p:cNvPr id="4" name="Slide Number Placeholder 3"/>
          <p:cNvSpPr>
            <a:spLocks noGrp="1"/>
          </p:cNvSpPr>
          <p:nvPr>
            <p:ph type="sldNum" sz="quarter" idx="5"/>
          </p:nvPr>
        </p:nvSpPr>
        <p:spPr/>
        <p:txBody>
          <a:bodyPr/>
          <a:lstStyle/>
          <a:p>
            <a:fld id="{2D71AD5F-E36F-46B9-A99B-7B025244359D}" type="slidenum">
              <a:rPr lang="en-US" smtClean="0"/>
              <a:pPr/>
              <a:t>5</a:t>
            </a:fld>
            <a:endParaRPr lang="en-US"/>
          </a:p>
        </p:txBody>
      </p:sp>
    </p:spTree>
    <p:extLst>
      <p:ext uri="{BB962C8B-B14F-4D97-AF65-F5344CB8AC3E}">
        <p14:creationId xmlns:p14="http://schemas.microsoft.com/office/powerpoint/2010/main" val="655108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SUBS Rd, Rn, Op2: performs subtraction </a:t>
                </a:r>
                <a14:m>
                  <m:oMath xmlns:m="http://schemas.openxmlformats.org/officeDocument/2006/math">
                    <m:r>
                      <a:rPr lang="en-US" i="1">
                        <a:latin typeface="Cambria Math" panose="02040503050406030204" pitchFamily="18" charset="0"/>
                      </a:rPr>
                      <m:t>𝑅𝑛</m:t>
                    </m:r>
                    <m:r>
                      <a:rPr lang="en-US" b="0" i="0" smtClean="0">
                        <a:latin typeface="Cambria Math" panose="02040503050406030204" pitchFamily="18" charset="0"/>
                      </a:rPr>
                      <m:t> − </m:t>
                    </m:r>
                    <m:r>
                      <a:rPr lang="en-US" i="1">
                        <a:latin typeface="Cambria Math" panose="02040503050406030204" pitchFamily="18" charset="0"/>
                      </a:rPr>
                      <m:t>𝑂𝑝</m:t>
                    </m:r>
                    <m:r>
                      <a:rPr lang="en-US">
                        <a:latin typeface="Cambria Math" panose="02040503050406030204" pitchFamily="18" charset="0"/>
                      </a:rPr>
                      <m:t>2</m:t>
                    </m:r>
                  </m:oMath>
                </a14:m>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Rn, Operand2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Rn, Operand2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Operand2 from Rn.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Operand2 to Rn.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a:p>
                <a:endParaRPr lang="en-US" dirty="0"/>
              </a:p>
              <a:p>
                <a:endParaRPr lang="en-US" dirty="0"/>
              </a:p>
            </p:txBody>
          </p:sp>
        </mc:Choice>
        <mc:Fallback>
          <p:sp>
            <p:nvSpPr>
              <p:cNvPr id="3" name="Notes Placeholder 2"/>
              <p:cNvSpPr>
                <a:spLocks noGrp="1"/>
              </p:cNvSpPr>
              <p:nvPr>
                <p:ph type="body" idx="1"/>
              </p:nvPr>
            </p:nvSpPr>
            <p:spPr/>
            <p:txBody>
              <a:bodyPr/>
              <a:lstStyle/>
              <a:p>
                <a:r>
                  <a:rPr lang="en-US" dirty="0"/>
                  <a:t>SUBS Rd, Rn, Op2: performs subtraction </a:t>
                </a:r>
                <a:r>
                  <a:rPr lang="en-US" i="0">
                    <a:latin typeface="Cambria Math" panose="02040503050406030204" pitchFamily="18" charset="0"/>
                  </a:rPr>
                  <a:t>𝑅𝑛</a:t>
                </a:r>
                <a:r>
                  <a:rPr lang="en-US" b="0" i="0">
                    <a:latin typeface="Cambria Math" panose="02040503050406030204" pitchFamily="18" charset="0"/>
                  </a:rPr>
                  <a:t> − </a:t>
                </a:r>
                <a:r>
                  <a:rPr lang="en-US" i="0">
                    <a:latin typeface="Cambria Math" panose="02040503050406030204" pitchFamily="18" charset="0"/>
                  </a:rPr>
                  <a:t>𝑂𝑝2</a:t>
                </a:r>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Rn, Operand2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Rn, Operand2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Operand2 from Rn.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Operand2 to Rn.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6</a:t>
            </a:fld>
            <a:endParaRPr lang="en-US"/>
          </a:p>
        </p:txBody>
      </p:sp>
    </p:spTree>
    <p:extLst>
      <p:ext uri="{BB962C8B-B14F-4D97-AF65-F5344CB8AC3E}">
        <p14:creationId xmlns:p14="http://schemas.microsoft.com/office/powerpoint/2010/main" val="442449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Note: RSB = Reverse </a:t>
            </a:r>
            <a:r>
              <a:rPr lang="en-US" sz="1200" i="1" dirty="0" err="1"/>
              <a:t>SuBtract</a:t>
            </a:r>
            <a:endParaRPr lang="en-US" sz="1200" i="1"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7</a:t>
            </a:fld>
            <a:endParaRPr lang="en-US"/>
          </a:p>
        </p:txBody>
      </p:sp>
    </p:spTree>
    <p:extLst>
      <p:ext uri="{BB962C8B-B14F-4D97-AF65-F5344CB8AC3E}">
        <p14:creationId xmlns:p14="http://schemas.microsoft.com/office/powerpoint/2010/main" val="2445778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000" dirty="0"/>
                  <a:t>It </a:t>
                </a:r>
                <a:r>
                  <a:rPr lang="en-US" dirty="0"/>
                  <a:t>computes logical operation </a:t>
                </a:r>
                <a14:m>
                  <m:oMath xmlns:m="http://schemas.openxmlformats.org/officeDocument/2006/math">
                    <m:r>
                      <a:rPr lang="en-US" i="1">
                        <a:latin typeface="Cambria Math" panose="02040503050406030204" pitchFamily="18" charset="0"/>
                      </a:rPr>
                      <m:t>𝑅𝑑</m:t>
                    </m:r>
                    <m:r>
                      <a:rPr lang="en-US">
                        <a:latin typeface="Cambria Math" panose="02040503050406030204" pitchFamily="18" charset="0"/>
                      </a:rPr>
                      <m:t>⊕</m:t>
                    </m:r>
                    <m:r>
                      <a:rPr lang="en-US" i="1">
                        <a:latin typeface="Cambria Math" panose="02040503050406030204" pitchFamily="18" charset="0"/>
                      </a:rPr>
                      <m:t>𝑂𝑝</m:t>
                    </m:r>
                  </m:oMath>
                </a14:m>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14:m>
                  <m:oMath xmlns:m="http://schemas.openxmlformats.org/officeDocument/2006/math">
                    <m:r>
                      <a:rPr lang="en-US" sz="1200" i="1">
                        <a:latin typeface="Cambria Math" panose="02040503050406030204" pitchFamily="18" charset="0"/>
                      </a:rPr>
                      <m:t>𝑅𝑛</m:t>
                    </m:r>
                    <m:r>
                      <m:rPr>
                        <m:nor/>
                      </m:rPr>
                      <a:rPr lang="en-US" sz="1200" b="0" i="0" smtClean="0">
                        <a:latin typeface="Cambria Math" panose="02040503050406030204" pitchFamily="18" charset="0"/>
                      </a:rPr>
                      <m:t> </m:t>
                    </m:r>
                    <m:r>
                      <m:rPr>
                        <m:nor/>
                      </m:rPr>
                      <a:rPr lang="en-US"/>
                      <m:t>∧</m:t>
                    </m:r>
                    <m:r>
                      <m:rPr>
                        <m:nor/>
                      </m:rPr>
                      <a:rPr lang="en-US" b="0" i="0" smtClean="0"/>
                      <m:t> </m:t>
                    </m:r>
                    <m:r>
                      <a:rPr lang="en-US" sz="1200" i="1">
                        <a:latin typeface="Cambria Math" panose="02040503050406030204" pitchFamily="18" charset="0"/>
                      </a:rPr>
                      <m:t>𝑂𝑝𝑒𝑟𝑎𝑛𝑑</m:t>
                    </m:r>
                    <m:r>
                      <a:rPr lang="en-US" sz="1200" i="1">
                        <a:latin typeface="Cambria Math" panose="02040503050406030204" pitchFamily="18" charset="0"/>
                      </a:rPr>
                      <m:t>2</m:t>
                    </m:r>
                  </m:oMath>
                </a14:m>
                <a:r>
                  <a:rPr lang="en-US" sz="1200" dirty="0"/>
                  <a:t> is 0x0, then Rn and Operand2 are equal, Z is set to 1; otherwise Z is cleared.</a:t>
                </a:r>
                <a:endParaRPr lang="en-US" sz="1050" dirty="0"/>
              </a:p>
              <a:p>
                <a:endParaRPr lang="en-US" dirty="0"/>
              </a:p>
            </p:txBody>
          </p:sp>
        </mc:Choice>
        <mc:Fallback xmlns="">
          <p:sp>
            <p:nvSpPr>
              <p:cNvPr id="3" name="Notes Placeholder 2"/>
              <p:cNvSpPr>
                <a:spLocks noGrp="1"/>
              </p:cNvSpPr>
              <p:nvPr>
                <p:ph type="body" idx="1"/>
              </p:nvPr>
            </p:nvSpPr>
            <p:spPr/>
            <p:txBody>
              <a:bodyPr/>
              <a:lstStyle/>
              <a:p>
                <a:r>
                  <a:rPr lang="en-US" sz="1000" dirty="0"/>
                  <a:t>It </a:t>
                </a:r>
                <a:r>
                  <a:rPr lang="en-US" dirty="0"/>
                  <a:t>computes logical operation </a:t>
                </a:r>
                <a:r>
                  <a:rPr lang="en-US" i="0">
                    <a:latin typeface="Cambria Math" panose="02040503050406030204" pitchFamily="18" charset="0"/>
                  </a:rPr>
                  <a:t>𝑅𝑑⊕𝑂𝑝</a:t>
                </a:r>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r>
                  <a:rPr lang="en-US" sz="1200" i="0">
                    <a:latin typeface="Cambria Math" panose="02040503050406030204" pitchFamily="18" charset="0"/>
                  </a:rPr>
                  <a:t>𝑅𝑛</a:t>
                </a:r>
                <a:r>
                  <a:rPr lang="en-US" sz="1200" b="0" i="0">
                    <a:latin typeface="Cambria Math" panose="02040503050406030204" pitchFamily="18" charset="0"/>
                  </a:rPr>
                  <a:t>" </a:t>
                </a:r>
                <a:r>
                  <a:rPr lang="en-US" i="0">
                    <a:latin typeface="Cambria Math" panose="02040503050406030204" pitchFamily="18" charset="0"/>
                  </a:rPr>
                  <a:t>∧</a:t>
                </a:r>
                <a:r>
                  <a:rPr lang="en-US" b="0" i="0">
                    <a:latin typeface="Cambria Math" panose="02040503050406030204" pitchFamily="18" charset="0"/>
                  </a:rPr>
                  <a:t> </a:t>
                </a:r>
                <a:r>
                  <a:rPr lang="en-US" sz="1200" b="0" i="0">
                    <a:latin typeface="Cambria Math" panose="02040503050406030204" pitchFamily="18" charset="0"/>
                  </a:rPr>
                  <a:t>" </a:t>
                </a:r>
                <a:r>
                  <a:rPr lang="en-US" sz="1200" i="0">
                    <a:latin typeface="Cambria Math" panose="02040503050406030204" pitchFamily="18" charset="0"/>
                  </a:rPr>
                  <a:t>𝑂𝑝𝑒𝑟𝑎𝑛𝑑2</a:t>
                </a:r>
                <a:r>
                  <a:rPr lang="en-US" sz="1200" dirty="0"/>
                  <a:t> is 0x0, then Rn and Operand2 are equal, Z is set to 1; otherwise Z is cleared.</a:t>
                </a:r>
                <a:endParaRPr lang="en-US" sz="1050"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8</a:t>
            </a:fld>
            <a:endParaRPr lang="en-US"/>
          </a:p>
        </p:txBody>
      </p:sp>
    </p:spTree>
    <p:extLst>
      <p:ext uri="{BB962C8B-B14F-4D97-AF65-F5344CB8AC3E}">
        <p14:creationId xmlns:p14="http://schemas.microsoft.com/office/powerpoint/2010/main" val="3202191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813913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alone is unreliable when overflow occurs, so ARM uses N and V together:</a:t>
            </a:r>
          </a:p>
          <a:p>
            <a:pPr lvl="1"/>
            <a:endParaRPr lang="en-US" dirty="0"/>
          </a:p>
          <a:p>
            <a:r>
              <a:rPr lang="en-US" dirty="0"/>
              <a:t>Why this works: for signed a − b, overflow flips the apparent sign; comparing N to V “</a:t>
            </a:r>
            <a:r>
              <a:rPr lang="en-US" dirty="0" err="1"/>
              <a:t>unflips</a:t>
            </a:r>
            <a:r>
              <a:rPr lang="en-US" dirty="0"/>
              <a:t>” it. Equality is still just Z=1 because zero is unambiguous.</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15</a:t>
            </a:fld>
            <a:endParaRPr lang="en-US"/>
          </a:p>
        </p:txBody>
      </p:sp>
    </p:spTree>
    <p:extLst>
      <p:ext uri="{BB962C8B-B14F-4D97-AF65-F5344CB8AC3E}">
        <p14:creationId xmlns:p14="http://schemas.microsoft.com/office/powerpoint/2010/main" val="546083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396875" y="692150"/>
            <a:ext cx="6156325" cy="3463925"/>
          </a:xfrm>
          <a:ln/>
        </p:spPr>
      </p:sp>
      <p:sp>
        <p:nvSpPr>
          <p:cNvPr id="39939" name="Rectangle 3"/>
          <p:cNvSpPr>
            <a:spLocks noGrp="1" noChangeArrowheads="1"/>
          </p:cNvSpPr>
          <p:nvPr>
            <p:ph type="body" idx="1"/>
          </p:nvPr>
        </p:nvSpPr>
        <p:spPr>
          <a:noFill/>
          <a:ln/>
        </p:spPr>
        <p:txBody>
          <a:bodyPr/>
          <a:lstStyle/>
          <a:p>
            <a:pPr>
              <a:lnSpc>
                <a:spcPct val="90000"/>
              </a:lnSpc>
            </a:pPr>
            <a:r>
              <a:rPr lang="en-US" dirty="0">
                <a:solidFill>
                  <a:srgbClr val="000000"/>
                </a:solidFill>
              </a:rPr>
              <a:t>The Q flag is sticky in that, when set to 1 by an instruction, it remains set until explicitly</a:t>
            </a:r>
            <a:r>
              <a:rPr lang="en-US" baseline="0" dirty="0">
                <a:solidFill>
                  <a:srgbClr val="000000"/>
                </a:solidFill>
              </a:rPr>
              <a:t> </a:t>
            </a:r>
            <a:r>
              <a:rPr lang="en-US" dirty="0">
                <a:solidFill>
                  <a:srgbClr val="000000"/>
                </a:solidFill>
              </a:rPr>
              <a:t>cleared to 0 by an MSR instruction writing to the CPSR. Instructions cannot execute</a:t>
            </a:r>
            <a:r>
              <a:rPr lang="en-US" baseline="0" dirty="0">
                <a:solidFill>
                  <a:srgbClr val="000000"/>
                </a:solidFill>
              </a:rPr>
              <a:t> </a:t>
            </a:r>
            <a:r>
              <a:rPr lang="en-US" dirty="0">
                <a:solidFill>
                  <a:srgbClr val="000000"/>
                </a:solidFill>
              </a:rPr>
              <a:t>conditionally on the status of the Q flag.</a:t>
            </a:r>
          </a:p>
          <a:p>
            <a:pPr>
              <a:lnSpc>
                <a:spcPct val="90000"/>
              </a:lnSpc>
            </a:pPr>
            <a:endParaRPr lang="en-US" dirty="0">
              <a:solidFill>
                <a:srgbClr val="000000"/>
              </a:solidFill>
            </a:endParaRPr>
          </a:p>
          <a:p>
            <a:r>
              <a:rPr lang="en-US" b="1" dirty="0"/>
              <a:t>Saturation arithmetic</a:t>
            </a:r>
            <a:r>
              <a:rPr lang="en-US" dirty="0"/>
              <a:t> is a version of </a:t>
            </a:r>
            <a:r>
              <a:rPr lang="en-US" dirty="0">
                <a:hlinkClick r:id="rId3" tooltip="Arithmetic"/>
              </a:rPr>
              <a:t>arithmetic</a:t>
            </a:r>
            <a:r>
              <a:rPr lang="en-US" dirty="0"/>
              <a:t> in which all operations such as addition and multiplication are limited to a fixed range between a minimum and maximum value. If the result of an operation is greater than the maximum it is set ("clamped") to the maximum, while if it is below the minimum it is clamped to the minimum. The name comes from how the value becomes "saturated" once it reaches the extreme values; further additions to a maximum or subtractions from a minimum will not change the result.</a:t>
            </a:r>
          </a:p>
          <a:p>
            <a:r>
              <a:rPr lang="en-US" dirty="0"/>
              <a:t>For example, if the valid range of values is from -100 to 100, the following operations produce the following values:</a:t>
            </a:r>
          </a:p>
          <a:p>
            <a:r>
              <a:rPr lang="en-US" dirty="0"/>
              <a:t>60 + 43 = 100</a:t>
            </a:r>
          </a:p>
          <a:p>
            <a:r>
              <a:rPr lang="en-US" dirty="0"/>
              <a:t>(60 + 43) − 150 = −50</a:t>
            </a:r>
          </a:p>
          <a:p>
            <a:r>
              <a:rPr lang="en-US" dirty="0"/>
              <a:t>43 − 150 = −100</a:t>
            </a:r>
          </a:p>
          <a:p>
            <a:r>
              <a:rPr lang="en-US" dirty="0"/>
              <a:t>60 + (43 − 150) = −40</a:t>
            </a:r>
          </a:p>
          <a:p>
            <a:r>
              <a:rPr lang="en-US" dirty="0"/>
              <a:t>10 × 11 = 100</a:t>
            </a:r>
          </a:p>
          <a:p>
            <a:r>
              <a:rPr lang="en-US" dirty="0"/>
              <a:t>99 × 99 = 100</a:t>
            </a:r>
          </a:p>
          <a:p>
            <a:r>
              <a:rPr lang="en-US" dirty="0"/>
              <a:t>30 × (5 − 1) = 100</a:t>
            </a:r>
          </a:p>
          <a:p>
            <a:r>
              <a:rPr lang="en-US" dirty="0"/>
              <a:t>30×5 − 30×1 = 70</a:t>
            </a:r>
          </a:p>
          <a:p>
            <a:pPr>
              <a:lnSpc>
                <a:spcPct val="90000"/>
              </a:lnSpc>
            </a:pPr>
            <a:endParaRPr lang="en-US" dirty="0">
              <a:solidFill>
                <a:srgbClr val="000000"/>
              </a:solidFill>
            </a:endParaRPr>
          </a:p>
          <a:p>
            <a:pPr>
              <a:lnSpc>
                <a:spcPct val="90000"/>
              </a:lnSpc>
            </a:pPr>
            <a:endParaRPr lang="en-US" dirty="0">
              <a:solidFill>
                <a:srgbClr val="000000"/>
              </a:solidFill>
            </a:endParaRPr>
          </a:p>
          <a:p>
            <a:pPr>
              <a:lnSpc>
                <a:spcPct val="90000"/>
              </a:lnSpc>
            </a:pPr>
            <a:r>
              <a:rPr lang="en-US" dirty="0">
                <a:solidFill>
                  <a:srgbClr val="000000"/>
                </a:solidFill>
              </a:rPr>
              <a:t>Green </a:t>
            </a:r>
            <a:r>
              <a:rPr lang="en-US" dirty="0" err="1">
                <a:solidFill>
                  <a:srgbClr val="000000"/>
                </a:solidFill>
              </a:rPr>
              <a:t>psr</a:t>
            </a:r>
            <a:r>
              <a:rPr lang="en-US" dirty="0">
                <a:solidFill>
                  <a:srgbClr val="000000"/>
                </a:solidFill>
              </a:rPr>
              <a:t> bits are only in certain versions of the ARM architecture</a:t>
            </a:r>
          </a:p>
          <a:p>
            <a:pPr>
              <a:lnSpc>
                <a:spcPct val="90000"/>
              </a:lnSpc>
            </a:pPr>
            <a:r>
              <a:rPr lang="en-US" dirty="0">
                <a:solidFill>
                  <a:srgbClr val="000000"/>
                </a:solidFill>
              </a:rPr>
              <a:t>ALU status flags (set if "S" bit set, implied in Thumb state).</a:t>
            </a:r>
            <a:endParaRPr lang="en-US" dirty="0"/>
          </a:p>
          <a:p>
            <a:r>
              <a:rPr lang="en-US" dirty="0"/>
              <a:t>Sticky overflow flag (Q flag) is set either when </a:t>
            </a:r>
          </a:p>
          <a:p>
            <a:pPr lvl="1"/>
            <a:r>
              <a:rPr lang="en-US" dirty="0"/>
              <a:t>saturation occurs during QADD, QDADD, QSUB or QDSUB, or </a:t>
            </a:r>
          </a:p>
          <a:p>
            <a:pPr lvl="1"/>
            <a:r>
              <a:rPr lang="en-US" dirty="0"/>
              <a:t>the result of </a:t>
            </a:r>
            <a:r>
              <a:rPr lang="en-US" dirty="0" err="1"/>
              <a:t>SMLAxy</a:t>
            </a:r>
            <a:r>
              <a:rPr lang="en-US" dirty="0"/>
              <a:t> or </a:t>
            </a:r>
            <a:r>
              <a:rPr lang="en-US" dirty="0" err="1"/>
              <a:t>SMLAWx</a:t>
            </a:r>
            <a:r>
              <a:rPr lang="en-US" dirty="0"/>
              <a:t> overflows 32-bits</a:t>
            </a:r>
          </a:p>
          <a:p>
            <a:r>
              <a:rPr lang="en-US" dirty="0"/>
              <a:t>Once flag has been set can not be modified by one of the above instructions and must write to CPSR using MSR instruction to cleared</a:t>
            </a:r>
          </a:p>
          <a:p>
            <a:r>
              <a:rPr lang="en-US" dirty="0"/>
              <a:t>PSRs split into four 8-bit fields that can be individually written: </a:t>
            </a:r>
          </a:p>
          <a:p>
            <a:r>
              <a:rPr lang="en-US" dirty="0"/>
              <a:t>Control	(c)	bits 0-7    </a:t>
            </a:r>
          </a:p>
          <a:p>
            <a:r>
              <a:rPr lang="en-US" dirty="0"/>
              <a:t>Extension	(x)	bits 8-15	Reserved for future use</a:t>
            </a:r>
          </a:p>
          <a:p>
            <a:r>
              <a:rPr lang="en-US" dirty="0"/>
              <a:t>Status	(s)	bits 16-23	Reserved for future use</a:t>
            </a:r>
          </a:p>
          <a:p>
            <a:r>
              <a:rPr lang="en-US" dirty="0"/>
              <a:t>Flags	(f)	bits 24-31</a:t>
            </a:r>
          </a:p>
          <a:p>
            <a:r>
              <a:rPr lang="en-US" dirty="0"/>
              <a:t>Bits that are reserved for future use should not be modified by current software. Typically, a read-modify-write strategy should be used to update the value of a status register to ensure future compatibility. Note that the T/J bits in the CPSR should never be changed directly by writing to the PSR (use the BX/BXJ instruction to change state instead).</a:t>
            </a:r>
          </a:p>
          <a:p>
            <a:r>
              <a:rPr lang="en-US" dirty="0"/>
              <a:t>However, in cases where the processor state is known in advance (e.g. on reset, following an interrupt, or some other exception), an immediate value may be written directly into the status registers, to change only specific bits (e.g. to change mode).</a:t>
            </a:r>
          </a:p>
          <a:p>
            <a:r>
              <a:rPr lang="en-US" dirty="0"/>
              <a:t>New ARM V6 bits now shown.</a:t>
            </a:r>
          </a:p>
        </p:txBody>
      </p:sp>
    </p:spTree>
    <p:extLst>
      <p:ext uri="{BB962C8B-B14F-4D97-AF65-F5344CB8AC3E}">
        <p14:creationId xmlns:p14="http://schemas.microsoft.com/office/powerpoint/2010/main" val="2806559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039853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endParaRPr lang="en-US" dirty="0"/>
          </a:p>
        </p:txBody>
      </p:sp>
      <p:sp>
        <p:nvSpPr>
          <p:cNvPr id="46083"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776536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endParaRPr lang="en-US" dirty="0"/>
          </a:p>
        </p:txBody>
      </p:sp>
      <p:sp>
        <p:nvSpPr>
          <p:cNvPr id="46083"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1733569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endParaRPr lang="en-US" dirty="0"/>
          </a:p>
        </p:txBody>
      </p:sp>
      <p:sp>
        <p:nvSpPr>
          <p:cNvPr id="47107"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2424995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4256082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E26774B-6488-4259-9342-6CBDB2BFD4E4}" type="datetime1">
              <a:rPr lang="en-US" smtClean="0"/>
              <a:pPr eaLnBrk="1" latinLnBrk="0" hangingPunct="1"/>
              <a:t>10/2/2025</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10/2/2025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96E96F24-58CF-47DA-907C-A9CD6353E425}" type="datetime1">
              <a:rPr lang="en-US" smtClean="0"/>
              <a:pPr eaLnBrk="1" latinLnBrk="0" hangingPunct="1"/>
              <a:t>10/2/2025</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10/2/2025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10/2/2025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10/2/2025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10/2/2025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10/2/2025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10/2/2025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10/2/2025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10/2/2025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fld id="{F4EA606C-8FDC-48DF-B809-A9223E8539C3}" type="datetime1">
              <a:rPr lang="en-US" smtClean="0"/>
              <a:pPr>
                <a:defRPr/>
              </a:pPr>
              <a:t>10/2/2025</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85851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10/2/2025</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4572000" y="308816"/>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7156283" y="1800070"/>
            <a:ext cx="3856312" cy="830997"/>
          </a:xfrm>
          <a:prstGeom prst="rect">
            <a:avLst/>
          </a:prstGeom>
          <a:noFill/>
        </p:spPr>
        <p:txBody>
          <a:bodyPr wrap="none" rtlCol="0">
            <a:spAutoFit/>
          </a:bodyPr>
          <a:lstStyle/>
          <a:p>
            <a:pPr algn="r"/>
            <a:r>
              <a:rPr lang="en-US" sz="2400" b="1" dirty="0">
                <a:solidFill>
                  <a:srgbClr val="C00000"/>
                </a:solidFill>
              </a:rPr>
              <a:t>Chapter 6</a:t>
            </a:r>
          </a:p>
          <a:p>
            <a:pPr algn="r"/>
            <a:r>
              <a:rPr lang="en-US" sz="2400" b="1" dirty="0">
                <a:solidFill>
                  <a:srgbClr val="C00000"/>
                </a:solidFill>
              </a:rPr>
              <a:t>Flow Control in Assembly</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CDF938EB-593A-3F78-8471-70DE26383963}"/>
              </a:ext>
            </a:extLst>
          </p:cNvPr>
          <p:cNvSpPr txBox="1"/>
          <p:nvPr/>
        </p:nvSpPr>
        <p:spPr>
          <a:xfrm>
            <a:off x="2233138" y="6307128"/>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2"/>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3103871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70F042E-8630-4D89-B007-79A5D5D66790}" type="slidenum">
              <a:rPr lang="en-US" altLang="zh-TW"/>
              <a:pPr/>
              <a:t>2</a:t>
            </a:fld>
            <a:endParaRPr lang="en-US" altLang="zh-TW"/>
          </a:p>
        </p:txBody>
      </p:sp>
      <p:sp>
        <p:nvSpPr>
          <p:cNvPr id="787458" name="Rectangle 2"/>
          <p:cNvSpPr>
            <a:spLocks noGrp="1" noChangeArrowheads="1"/>
          </p:cNvSpPr>
          <p:nvPr>
            <p:ph type="title"/>
          </p:nvPr>
        </p:nvSpPr>
        <p:spPr/>
        <p:txBody>
          <a:bodyPr/>
          <a:lstStyle/>
          <a:p>
            <a:r>
              <a:rPr lang="en-US" dirty="0"/>
              <a:t>Three Control Structures</a:t>
            </a:r>
            <a:endParaRPr lang="zh-TW" altLang="en-US" dirty="0"/>
          </a:p>
        </p:txBody>
      </p:sp>
      <p:sp>
        <p:nvSpPr>
          <p:cNvPr id="787459" name="Rectangle 3"/>
          <p:cNvSpPr>
            <a:spLocks noGrp="1" noChangeArrowheads="1"/>
          </p:cNvSpPr>
          <p:nvPr>
            <p:ph type="body" idx="1"/>
          </p:nvPr>
        </p:nvSpPr>
        <p:spPr/>
        <p:txBody>
          <a:bodyPr>
            <a:normAutofit/>
          </a:bodyPr>
          <a:lstStyle/>
          <a:p>
            <a:r>
              <a:rPr lang="en-US" sz="1800" dirty="0"/>
              <a:t>Sequence Structure</a:t>
            </a:r>
          </a:p>
          <a:p>
            <a:pPr lvl="1"/>
            <a:r>
              <a:rPr lang="en-US" sz="1600" dirty="0"/>
              <a:t>Computer executes statements (instructions), one after another, in the order listed in the program</a:t>
            </a:r>
          </a:p>
          <a:p>
            <a:pPr>
              <a:lnSpc>
                <a:spcPct val="90000"/>
              </a:lnSpc>
            </a:pPr>
            <a:r>
              <a:rPr lang="en-US" altLang="zh-TW" sz="1800" b="1" dirty="0">
                <a:latin typeface="Courier New"/>
                <a:cs typeface="Courier New"/>
              </a:rPr>
              <a:t>Selection Structure</a:t>
            </a:r>
          </a:p>
          <a:p>
            <a:pPr lvl="1">
              <a:lnSpc>
                <a:spcPct val="90000"/>
              </a:lnSpc>
            </a:pPr>
            <a:r>
              <a:rPr lang="en-US" altLang="zh-TW" sz="1600" b="1" dirty="0">
                <a:latin typeface="Courier New"/>
                <a:cs typeface="Courier New"/>
              </a:rPr>
              <a:t>If-then-else</a:t>
            </a:r>
          </a:p>
          <a:p>
            <a:pPr>
              <a:lnSpc>
                <a:spcPct val="90000"/>
              </a:lnSpc>
            </a:pPr>
            <a:r>
              <a:rPr lang="en-US" altLang="zh-TW" sz="1800" b="1" dirty="0">
                <a:latin typeface="Courier New" pitchFamily="49" charset="0"/>
              </a:rPr>
              <a:t>Loop Structure</a:t>
            </a:r>
          </a:p>
          <a:p>
            <a:pPr lvl="1">
              <a:lnSpc>
                <a:spcPct val="90000"/>
              </a:lnSpc>
            </a:pPr>
            <a:r>
              <a:rPr lang="en-US" altLang="zh-TW" sz="1600" b="1" dirty="0">
                <a:latin typeface="Courier New" pitchFamily="49" charset="0"/>
              </a:rPr>
              <a:t>while loop</a:t>
            </a:r>
          </a:p>
          <a:p>
            <a:pPr lvl="1">
              <a:lnSpc>
                <a:spcPct val="90000"/>
              </a:lnSpc>
            </a:pPr>
            <a:r>
              <a:rPr lang="en-US" altLang="zh-TW" sz="1600" b="1" dirty="0">
                <a:latin typeface="Courier New" pitchFamily="49" charset="0"/>
              </a:rPr>
              <a:t>for </a:t>
            </a:r>
            <a:r>
              <a:rPr lang="en-US" altLang="zh-TW" sz="1800" b="1" dirty="0">
                <a:latin typeface="Courier New" pitchFamily="49" charset="0"/>
              </a:rPr>
              <a:t>loop</a:t>
            </a:r>
            <a:endParaRPr lang="en-US" altLang="zh-TW" sz="1800" dirty="0"/>
          </a:p>
        </p:txBody>
      </p:sp>
      <p:pic>
        <p:nvPicPr>
          <p:cNvPr id="1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3099329"/>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2133600" y="5896958"/>
            <a:ext cx="2209800" cy="369332"/>
          </a:xfrm>
          <a:prstGeom prst="rect">
            <a:avLst/>
          </a:prstGeom>
          <a:noFill/>
        </p:spPr>
        <p:txBody>
          <a:bodyPr wrap="square" rtlCol="0">
            <a:spAutoFit/>
          </a:bodyPr>
          <a:lstStyle/>
          <a:p>
            <a:pPr algn="ctr"/>
            <a:r>
              <a:rPr lang="en-US" dirty="0">
                <a:solidFill>
                  <a:srgbClr val="C00000"/>
                </a:solidFill>
              </a:rPr>
              <a:t>Sequence Structure</a:t>
            </a:r>
          </a:p>
        </p:txBody>
      </p:sp>
      <p:grpSp>
        <p:nvGrpSpPr>
          <p:cNvPr id="13" name="Group 12">
            <a:extLst>
              <a:ext uri="{FF2B5EF4-FFF2-40B4-BE49-F238E27FC236}">
                <a16:creationId xmlns:a16="http://schemas.microsoft.com/office/drawing/2014/main" id="{B362000C-983C-524D-87C2-3EDCAF4543B1}"/>
              </a:ext>
            </a:extLst>
          </p:cNvPr>
          <p:cNvGrpSpPr/>
          <p:nvPr/>
        </p:nvGrpSpPr>
        <p:grpSpPr>
          <a:xfrm>
            <a:off x="4759452" y="3210895"/>
            <a:ext cx="3657600" cy="3011381"/>
            <a:chOff x="2362200" y="1752600"/>
            <a:chExt cx="4132390" cy="3714428"/>
          </a:xfrm>
        </p:grpSpPr>
        <p:pic>
          <p:nvPicPr>
            <p:cNvPr id="1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752600"/>
              <a:ext cx="413239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3439086" y="5011470"/>
              <a:ext cx="2235462" cy="455558"/>
            </a:xfrm>
            <a:prstGeom prst="rect">
              <a:avLst/>
            </a:prstGeom>
            <a:noFill/>
          </p:spPr>
          <p:txBody>
            <a:bodyPr wrap="none" rtlCol="0">
              <a:spAutoFit/>
            </a:bodyPr>
            <a:lstStyle/>
            <a:p>
              <a:r>
                <a:rPr lang="en-US" dirty="0">
                  <a:solidFill>
                    <a:srgbClr val="C00000"/>
                  </a:solidFill>
                </a:rPr>
                <a:t>Selection Structure</a:t>
              </a:r>
            </a:p>
          </p:txBody>
        </p:sp>
      </p:grpSp>
      <p:grpSp>
        <p:nvGrpSpPr>
          <p:cNvPr id="16" name="Group 15">
            <a:extLst>
              <a:ext uri="{FF2B5EF4-FFF2-40B4-BE49-F238E27FC236}">
                <a16:creationId xmlns:a16="http://schemas.microsoft.com/office/drawing/2014/main" id="{B2548B9B-63B4-EE41-BB16-A644D9AF1BF9}"/>
              </a:ext>
            </a:extLst>
          </p:cNvPr>
          <p:cNvGrpSpPr/>
          <p:nvPr/>
        </p:nvGrpSpPr>
        <p:grpSpPr>
          <a:xfrm>
            <a:off x="9616640" y="2843013"/>
            <a:ext cx="2133600" cy="3379263"/>
            <a:chOff x="6400800" y="1447800"/>
            <a:chExt cx="2517213" cy="4008753"/>
          </a:xfrm>
        </p:grpSpPr>
        <p:pic>
          <p:nvPicPr>
            <p:cNvPr id="17"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1447800"/>
              <a:ext cx="2517213" cy="298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6853640" y="5018422"/>
              <a:ext cx="1901278" cy="438131"/>
            </a:xfrm>
            <a:prstGeom prst="rect">
              <a:avLst/>
            </a:prstGeom>
            <a:noFill/>
          </p:spPr>
          <p:txBody>
            <a:bodyPr wrap="none" rtlCol="0">
              <a:spAutoFit/>
            </a:bodyPr>
            <a:lstStyle/>
            <a:p>
              <a:r>
                <a:rPr lang="en-US" dirty="0">
                  <a:solidFill>
                    <a:srgbClr val="C00000"/>
                  </a:solidFill>
                </a:rPr>
                <a:t>Loop Structure</a:t>
              </a:r>
            </a:p>
          </p:txBody>
        </p:sp>
      </p:grpSp>
    </p:spTree>
    <p:extLst>
      <p:ext uri="{BB962C8B-B14F-4D97-AF65-F5344CB8AC3E}">
        <p14:creationId xmlns:p14="http://schemas.microsoft.com/office/powerpoint/2010/main" val="16680061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a:t>
            </a:fld>
            <a:endParaRPr kumimoji="0" lang="en-US" dirty="0"/>
          </a:p>
        </p:txBody>
      </p:sp>
      <p:sp>
        <p:nvSpPr>
          <p:cNvPr id="4" name="Content Placeholder 3"/>
          <p:cNvSpPr>
            <a:spLocks noGrp="1"/>
          </p:cNvSpPr>
          <p:nvPr>
            <p:ph sz="quarter" idx="1"/>
          </p:nvPr>
        </p:nvSpPr>
        <p:spPr>
          <a:xfrm>
            <a:off x="609600" y="2377588"/>
            <a:ext cx="8229600" cy="3718560"/>
          </a:xfrm>
        </p:spPr>
        <p:txBody>
          <a:bodyPr>
            <a:noAutofit/>
          </a:bodyPr>
          <a:lstStyle/>
          <a:p>
            <a:r>
              <a:rPr lang="en-US" sz="1600" b="1" dirty="0"/>
              <a:t>Negative</a:t>
            </a:r>
            <a:r>
              <a:rPr lang="en-US" sz="1600" dirty="0"/>
              <a:t> bit</a:t>
            </a:r>
          </a:p>
          <a:p>
            <a:pPr lvl="1"/>
            <a:r>
              <a:rPr lang="en-US" sz="1600" dirty="0">
                <a:latin typeface="Consolas" panose="020B0609020204030204" pitchFamily="49" charset="0"/>
                <a:cs typeface="Consolas" panose="020B0609020204030204" pitchFamily="49" charset="0"/>
              </a:rPr>
              <a:t>N = 1 </a:t>
            </a:r>
            <a:r>
              <a:rPr lang="en-US" sz="1600" dirty="0"/>
              <a:t>if most significant bit of result is </a:t>
            </a:r>
            <a:r>
              <a:rPr lang="en-US" sz="1600" dirty="0">
                <a:latin typeface="Consolas" panose="020B0609020204030204" pitchFamily="49" charset="0"/>
                <a:cs typeface="Consolas" panose="020B0609020204030204" pitchFamily="49" charset="0"/>
              </a:rPr>
              <a:t>1</a:t>
            </a:r>
          </a:p>
          <a:p>
            <a:r>
              <a:rPr lang="en-US" sz="1600" b="1" dirty="0"/>
              <a:t>Zero</a:t>
            </a:r>
            <a:r>
              <a:rPr lang="en-US" sz="1600" dirty="0"/>
              <a:t> bit</a:t>
            </a:r>
          </a:p>
          <a:p>
            <a:pPr lvl="1"/>
            <a:r>
              <a:rPr lang="en-US" sz="1600" dirty="0">
                <a:latin typeface="Consolas" panose="020B0609020204030204" pitchFamily="49" charset="0"/>
                <a:cs typeface="Consolas" panose="020B0609020204030204" pitchFamily="49" charset="0"/>
              </a:rPr>
              <a:t>Z = 1 </a:t>
            </a:r>
            <a:r>
              <a:rPr lang="en-US" sz="1600" dirty="0"/>
              <a:t>if all bits of result are </a:t>
            </a:r>
            <a:r>
              <a:rPr lang="en-US" sz="1600" dirty="0">
                <a:latin typeface="Consolas" panose="020B0609020204030204" pitchFamily="49" charset="0"/>
                <a:cs typeface="Consolas" panose="020B0609020204030204" pitchFamily="49" charset="0"/>
              </a:rPr>
              <a:t>0</a:t>
            </a:r>
          </a:p>
          <a:p>
            <a:r>
              <a:rPr lang="en-US" sz="1600" b="1" dirty="0"/>
              <a:t>Carry</a:t>
            </a:r>
            <a:r>
              <a:rPr lang="en-US" sz="1600" dirty="0"/>
              <a:t> bit</a:t>
            </a:r>
          </a:p>
          <a:p>
            <a:pPr lvl="1"/>
            <a:r>
              <a:rPr lang="en-US" sz="1600" dirty="0"/>
              <a:t>For unsigned addition, </a:t>
            </a:r>
            <a:r>
              <a:rPr lang="en-US" sz="1600" dirty="0">
                <a:latin typeface="Consolas" panose="020B0609020204030204" pitchFamily="49" charset="0"/>
                <a:cs typeface="Consolas" panose="020B0609020204030204" pitchFamily="49" charset="0"/>
              </a:rPr>
              <a:t>C = 1 </a:t>
            </a:r>
            <a:r>
              <a:rPr lang="en-US" sz="1600" dirty="0"/>
              <a:t>if carry takes place</a:t>
            </a:r>
          </a:p>
          <a:p>
            <a:pPr lvl="1"/>
            <a:r>
              <a:rPr lang="en-US" sz="1600" dirty="0"/>
              <a:t>For unsigned subtraction, </a:t>
            </a:r>
            <a:r>
              <a:rPr lang="en-US" sz="1600" dirty="0">
                <a:latin typeface="Consolas" panose="020B0609020204030204" pitchFamily="49" charset="0"/>
                <a:cs typeface="Consolas" panose="020B0609020204030204" pitchFamily="49" charset="0"/>
              </a:rPr>
              <a:t>C = 0 </a:t>
            </a:r>
            <a:r>
              <a:rPr lang="en-US" sz="1600" dirty="0"/>
              <a:t>(carry = not borrow) if borrow takes place</a:t>
            </a:r>
          </a:p>
          <a:p>
            <a:pPr lvl="1"/>
            <a:r>
              <a:rPr lang="en-US" sz="1600" dirty="0"/>
              <a:t>For shift/rotation, C = last bit shifted out</a:t>
            </a:r>
          </a:p>
          <a:p>
            <a:r>
              <a:rPr lang="en-US" sz="1600" b="1" dirty="0" err="1"/>
              <a:t>oVerflow</a:t>
            </a:r>
            <a:r>
              <a:rPr lang="en-US" sz="1600" dirty="0"/>
              <a:t> bit</a:t>
            </a:r>
          </a:p>
          <a:p>
            <a:pPr lvl="1"/>
            <a:r>
              <a:rPr lang="en-US" sz="1600" dirty="0">
                <a:latin typeface="Consolas" panose="020B0609020204030204" pitchFamily="49" charset="0"/>
                <a:cs typeface="Consolas" panose="020B0609020204030204" pitchFamily="49" charset="0"/>
              </a:rPr>
              <a:t>V = 1 </a:t>
            </a:r>
            <a:r>
              <a:rPr lang="en-US" sz="1600" dirty="0"/>
              <a:t>if adding 2 same-signed numbers produces a result with the opposite sign</a:t>
            </a:r>
          </a:p>
          <a:p>
            <a:pPr lvl="2"/>
            <a:r>
              <a:rPr lang="en-US" sz="1400" dirty="0"/>
              <a:t>Positive + Positive = Negative, or </a:t>
            </a:r>
          </a:p>
          <a:p>
            <a:pPr lvl="2"/>
            <a:r>
              <a:rPr lang="en-US" sz="1400" dirty="0"/>
              <a:t>Negative + negative = Positive</a:t>
            </a:r>
          </a:p>
          <a:p>
            <a:pPr lvl="1"/>
            <a:r>
              <a:rPr lang="en-US" sz="1600" dirty="0"/>
              <a:t>Non-arithmetic operations does not touch V bit, such as </a:t>
            </a:r>
            <a:r>
              <a:rPr lang="en-US" sz="16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2286000" y="1333086"/>
            <a:ext cx="8527446" cy="914401"/>
            <a:chOff x="974370" y="1440516"/>
            <a:chExt cx="7606093" cy="556276"/>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89015"/>
              <a:ext cx="14572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3" y="1440516"/>
              <a:ext cx="3325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939208"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grpSp>
      <p:sp>
        <p:nvSpPr>
          <p:cNvPr id="43" name="Horizontal Scroll 15">
            <a:extLst>
              <a:ext uri="{FF2B5EF4-FFF2-40B4-BE49-F238E27FC236}">
                <a16:creationId xmlns:a16="http://schemas.microsoft.com/office/drawing/2014/main" id="{A364F533-400C-D612-5898-222CAE8624CB}"/>
              </a:ext>
            </a:extLst>
          </p:cNvPr>
          <p:cNvSpPr/>
          <p:nvPr/>
        </p:nvSpPr>
        <p:spPr>
          <a:xfrm>
            <a:off x="609600" y="-7874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pic>
        <p:nvPicPr>
          <p:cNvPr id="45" name="Picture 44">
            <a:extLst>
              <a:ext uri="{FF2B5EF4-FFF2-40B4-BE49-F238E27FC236}">
                <a16:creationId xmlns:a16="http://schemas.microsoft.com/office/drawing/2014/main" id="{F4610FDE-7BE3-AC86-5E3F-50D53906FDD5}"/>
              </a:ext>
            </a:extLst>
          </p:cNvPr>
          <p:cNvPicPr>
            <a:picLocks noChangeAspect="1"/>
          </p:cNvPicPr>
          <p:nvPr/>
        </p:nvPicPr>
        <p:blipFill>
          <a:blip r:embed="rId3"/>
          <a:stretch>
            <a:fillRect/>
          </a:stretch>
        </p:blipFill>
        <p:spPr>
          <a:xfrm>
            <a:off x="6274168" y="2201915"/>
            <a:ext cx="5130063" cy="2080525"/>
          </a:xfrm>
          <a:prstGeom prst="rect">
            <a:avLst/>
          </a:prstGeom>
        </p:spPr>
      </p:pic>
    </p:spTree>
    <p:extLst>
      <p:ext uri="{BB962C8B-B14F-4D97-AF65-F5344CB8AC3E}">
        <p14:creationId xmlns:p14="http://schemas.microsoft.com/office/powerpoint/2010/main" val="119720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dirty="0"/>
              <a:t>Carry and Overflow Flags</a:t>
            </a:r>
          </a:p>
        </p:txBody>
      </p:sp>
      <p:sp>
        <p:nvSpPr>
          <p:cNvPr id="8" name="Slide Number Placeholder 3"/>
          <p:cNvSpPr>
            <a:spLocks noGrp="1"/>
          </p:cNvSpPr>
          <p:nvPr>
            <p:ph type="sldNum" sz="quarter" idx="4294967295"/>
          </p:nvPr>
        </p:nvSpPr>
        <p:spPr>
          <a:xfrm>
            <a:off x="2136648" y="6356350"/>
            <a:ext cx="1981200" cy="365760"/>
          </a:xfrm>
          <a:prstGeom prst="rect">
            <a:avLst/>
          </a:prstGeom>
        </p:spPr>
        <p:txBody>
          <a:bodyPr/>
          <a:lstStyle/>
          <a:p>
            <a:pPr>
              <a:defRPr/>
            </a:pPr>
            <a:fld id="{3D56C4D0-D1DD-434F-9E39-17578F101405}" type="slidenum">
              <a:rPr lang="en-US">
                <a:solidFill>
                  <a:srgbClr val="1F497D"/>
                </a:solidFill>
                <a:latin typeface="Gill Sans MT"/>
              </a:rPr>
              <a:pPr>
                <a:defRPr/>
              </a:pPr>
              <a:t>4</a:t>
            </a:fld>
            <a:endParaRPr lang="en-US">
              <a:solidFill>
                <a:srgbClr val="1F497D"/>
              </a:solidFill>
              <a:latin typeface="Gill Sans MT"/>
            </a:endParaRPr>
          </a:p>
        </p:txBody>
      </p:sp>
      <p:sp>
        <p:nvSpPr>
          <p:cNvPr id="323586" name="Date Placeholder 3"/>
          <p:cNvSpPr txBox="1">
            <a:spLocks noGrp="1"/>
          </p:cNvSpPr>
          <p:nvPr/>
        </p:nvSpPr>
        <p:spPr bwMode="auto">
          <a:xfrm>
            <a:off x="1981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defRPr/>
            </a:pPr>
            <a:endParaRPr lang="en-US" sz="1400">
              <a:solidFill>
                <a:srgbClr val="EEECE1"/>
              </a:solidFill>
            </a:endParaRPr>
          </a:p>
        </p:txBody>
      </p:sp>
      <p:sp>
        <p:nvSpPr>
          <p:cNvPr id="323587" name="Slide Number Placeholder 5"/>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defRPr/>
            </a:pPr>
            <a:fld id="{433D14BE-FE52-4332-969F-3696FB65ED39}" type="slidenum">
              <a:rPr lang="en-US" sz="1400">
                <a:solidFill>
                  <a:srgbClr val="EEECE1"/>
                </a:solidFill>
              </a:rPr>
              <a:pPr algn="r">
                <a:defRPr/>
              </a:pPr>
              <a:t>4</a:t>
            </a:fld>
            <a:endParaRPr lang="en-US" sz="1400">
              <a:solidFill>
                <a:srgbClr val="EEECE1"/>
              </a:solidFill>
            </a:endParaRPr>
          </a:p>
        </p:txBody>
      </p:sp>
      <p:sp>
        <p:nvSpPr>
          <p:cNvPr id="38917" name="Rectangle 5"/>
          <p:cNvSpPr>
            <a:spLocks noChangeArrowheads="1"/>
          </p:cNvSpPr>
          <p:nvPr/>
        </p:nvSpPr>
        <p:spPr bwMode="auto">
          <a:xfrm>
            <a:off x="762000" y="1571092"/>
            <a:ext cx="10515600" cy="1585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defRPr/>
            </a:pPr>
            <a:endParaRPr lang="en-US" sz="700" dirty="0">
              <a:solidFill>
                <a:prstClr val="black"/>
              </a:solidFill>
              <a:latin typeface="Gill Sans MT"/>
            </a:endParaRPr>
          </a:p>
          <a:p>
            <a:pPr>
              <a:defRPr/>
            </a:pPr>
            <a:r>
              <a:rPr lang="en-US" dirty="0">
                <a:solidFill>
                  <a:prstClr val="black"/>
                </a:solidFill>
                <a:latin typeface="Gill Sans MT"/>
                <a:cs typeface="Times New Roman" pitchFamily="18" charset="0"/>
              </a:rPr>
              <a:t>Carry flag C = 1 </a:t>
            </a:r>
            <a:r>
              <a:rPr lang="en-US" dirty="0">
                <a:solidFill>
                  <a:prstClr val="black"/>
                </a:solidFill>
                <a:latin typeface="Gill Sans MT"/>
              </a:rPr>
              <a:t>(Borrow flag = 0) </a:t>
            </a:r>
            <a:r>
              <a:rPr lang="en-US" dirty="0">
                <a:solidFill>
                  <a:prstClr val="black"/>
                </a:solidFill>
                <a:latin typeface="Gill Sans MT"/>
                <a:cs typeface="Times New Roman" pitchFamily="18" charset="0"/>
              </a:rPr>
              <a:t>upon an </a:t>
            </a:r>
            <a:r>
              <a:rPr lang="en-US" b="1" u="sng" dirty="0">
                <a:solidFill>
                  <a:srgbClr val="800000"/>
                </a:solidFill>
                <a:latin typeface="Gill Sans MT"/>
                <a:cs typeface="Times New Roman" pitchFamily="18" charset="0"/>
              </a:rPr>
              <a:t>unsigned</a:t>
            </a:r>
            <a:r>
              <a:rPr lang="en-US" dirty="0">
                <a:solidFill>
                  <a:prstClr val="black"/>
                </a:solidFill>
                <a:latin typeface="Gill Sans MT"/>
                <a:cs typeface="Times New Roman" pitchFamily="18" charset="0"/>
              </a:rPr>
              <a:t> addition if the answer is wrong (true result &gt; 2</a:t>
            </a:r>
            <a:r>
              <a:rPr lang="en-US" baseline="30000" dirty="0">
                <a:solidFill>
                  <a:prstClr val="black"/>
                </a:solidFill>
                <a:latin typeface="Gill Sans MT"/>
                <a:cs typeface="Times New Roman" pitchFamily="18" charset="0"/>
              </a:rPr>
              <a:t>n</a:t>
            </a:r>
            <a:r>
              <a:rPr lang="en-US" dirty="0">
                <a:solidFill>
                  <a:prstClr val="black"/>
                </a:solidFill>
                <a:latin typeface="Gill Sans MT"/>
                <a:cs typeface="Times New Roman" pitchFamily="18" charset="0"/>
              </a:rPr>
              <a:t>-1)</a:t>
            </a:r>
          </a:p>
          <a:p>
            <a:r>
              <a:rPr lang="en-US" dirty="0">
                <a:solidFill>
                  <a:prstClr val="black"/>
                </a:solidFill>
                <a:latin typeface="Gill Sans MT"/>
                <a:cs typeface="Times New Roman" pitchFamily="18" charset="0"/>
              </a:rPr>
              <a:t>Carry flag </a:t>
            </a:r>
            <a:r>
              <a:rPr lang="en-US" dirty="0">
                <a:solidFill>
                  <a:prstClr val="black"/>
                </a:solidFill>
                <a:latin typeface="Gill Sans MT"/>
              </a:rPr>
              <a:t>C = 0 (Borrow flag = 1) </a:t>
            </a:r>
            <a:r>
              <a:rPr lang="en-US" dirty="0">
                <a:solidFill>
                  <a:prstClr val="black"/>
                </a:solidFill>
                <a:latin typeface="Gill Sans MT"/>
                <a:cs typeface="Times New Roman" pitchFamily="18" charset="0"/>
              </a:rPr>
              <a:t>upon </a:t>
            </a:r>
            <a:r>
              <a:rPr lang="en-US" dirty="0">
                <a:solidFill>
                  <a:prstClr val="black"/>
                </a:solidFill>
                <a:latin typeface="Gill Sans MT"/>
              </a:rPr>
              <a:t>an </a:t>
            </a:r>
            <a:r>
              <a:rPr lang="en-US" u="sng" dirty="0">
                <a:solidFill>
                  <a:srgbClr val="800000"/>
                </a:solidFill>
                <a:latin typeface="Gill Sans MT"/>
              </a:rPr>
              <a:t>unsigned</a:t>
            </a:r>
            <a:r>
              <a:rPr lang="en-US" dirty="0">
                <a:solidFill>
                  <a:prstClr val="black"/>
                </a:solidFill>
                <a:latin typeface="Gill Sans MT"/>
              </a:rPr>
              <a:t> subtraction </a:t>
            </a:r>
            <a:r>
              <a:rPr lang="en-US" dirty="0">
                <a:solidFill>
                  <a:prstClr val="black"/>
                </a:solidFill>
                <a:latin typeface="Gill Sans MT"/>
                <a:cs typeface="Times New Roman" pitchFamily="18" charset="0"/>
              </a:rPr>
              <a:t>if the answer is wrong </a:t>
            </a:r>
            <a:r>
              <a:rPr lang="en-US" dirty="0">
                <a:solidFill>
                  <a:prstClr val="black"/>
                </a:solidFill>
                <a:latin typeface="Gill Sans MT"/>
              </a:rPr>
              <a:t> (</a:t>
            </a:r>
            <a:r>
              <a:rPr lang="en-US" dirty="0">
                <a:solidFill>
                  <a:prstClr val="black"/>
                </a:solidFill>
                <a:latin typeface="Gill Sans MT"/>
                <a:cs typeface="Times New Roman" pitchFamily="18" charset="0"/>
              </a:rPr>
              <a:t>true result &lt; 0)</a:t>
            </a:r>
            <a:endParaRPr lang="en-US" sz="700" dirty="0">
              <a:solidFill>
                <a:prstClr val="black"/>
              </a:solidFill>
              <a:latin typeface="Gill Sans MT"/>
            </a:endParaRPr>
          </a:p>
          <a:p>
            <a:pPr>
              <a:defRPr/>
            </a:pPr>
            <a:r>
              <a:rPr lang="en-US" dirty="0">
                <a:solidFill>
                  <a:prstClr val="black"/>
                </a:solidFill>
                <a:latin typeface="Gill Sans MT"/>
                <a:cs typeface="Times New Roman" pitchFamily="18" charset="0"/>
              </a:rPr>
              <a:t>Overflow flag V =1 upon a </a:t>
            </a:r>
            <a:r>
              <a:rPr lang="en-US" b="1" u="sng" dirty="0">
                <a:solidFill>
                  <a:srgbClr val="800000"/>
                </a:solidFill>
                <a:latin typeface="Gill Sans MT"/>
                <a:cs typeface="Times New Roman" pitchFamily="18" charset="0"/>
              </a:rPr>
              <a:t>signed</a:t>
            </a:r>
            <a:r>
              <a:rPr lang="en-US" dirty="0">
                <a:solidFill>
                  <a:prstClr val="black"/>
                </a:solidFill>
                <a:latin typeface="Gill Sans MT"/>
                <a:cs typeface="Times New Roman" pitchFamily="18" charset="0"/>
              </a:rPr>
              <a:t> addition or subtraction if the answer is wrong (true result &gt; 2</a:t>
            </a:r>
            <a:r>
              <a:rPr lang="en-US" baseline="30000" dirty="0">
                <a:solidFill>
                  <a:prstClr val="black"/>
                </a:solidFill>
                <a:latin typeface="Gill Sans MT"/>
                <a:cs typeface="Times New Roman" pitchFamily="18" charset="0"/>
              </a:rPr>
              <a:t>n</a:t>
            </a:r>
            <a:r>
              <a:rPr lang="en-US" altLang="zh-CN" baseline="30000" dirty="0">
                <a:solidFill>
                  <a:prstClr val="black"/>
                </a:solidFill>
                <a:latin typeface="Gill Sans MT"/>
                <a:cs typeface="Times New Roman" pitchFamily="18" charset="0"/>
              </a:rPr>
              <a:t>-1</a:t>
            </a:r>
            <a:r>
              <a:rPr lang="en-US" dirty="0">
                <a:solidFill>
                  <a:prstClr val="black"/>
                </a:solidFill>
                <a:latin typeface="Gill Sans MT"/>
                <a:cs typeface="Times New Roman" pitchFamily="18" charset="0"/>
              </a:rPr>
              <a:t>-1 </a:t>
            </a:r>
            <a:r>
              <a:rPr lang="en-US" altLang="zh-CN" dirty="0">
                <a:solidFill>
                  <a:prstClr val="black"/>
                </a:solidFill>
                <a:latin typeface="Gill Sans MT"/>
                <a:cs typeface="Times New Roman" pitchFamily="18" charset="0"/>
              </a:rPr>
              <a:t>or true result &lt; -</a:t>
            </a:r>
            <a:r>
              <a:rPr lang="en-US" dirty="0">
                <a:solidFill>
                  <a:prstClr val="black"/>
                </a:solidFill>
                <a:latin typeface="Gill Sans MT"/>
                <a:cs typeface="Times New Roman" pitchFamily="18" charset="0"/>
              </a:rPr>
              <a:t>2</a:t>
            </a:r>
            <a:r>
              <a:rPr lang="en-US" baseline="30000" dirty="0">
                <a:solidFill>
                  <a:prstClr val="black"/>
                </a:solidFill>
                <a:latin typeface="Gill Sans MT"/>
                <a:cs typeface="Times New Roman" pitchFamily="18" charset="0"/>
              </a:rPr>
              <a:t>n</a:t>
            </a:r>
            <a:r>
              <a:rPr lang="en-US" altLang="zh-CN" baseline="30000" dirty="0">
                <a:solidFill>
                  <a:prstClr val="black"/>
                </a:solidFill>
                <a:latin typeface="Gill Sans MT"/>
                <a:cs typeface="Times New Roman" pitchFamily="18" charset="0"/>
              </a:rPr>
              <a:t>-1</a:t>
            </a:r>
            <a:r>
              <a:rPr lang="en-US" altLang="zh-CN" dirty="0">
                <a:solidFill>
                  <a:prstClr val="black"/>
                </a:solidFill>
                <a:latin typeface="Gill Sans MT"/>
                <a:cs typeface="Times New Roman" pitchFamily="18" charset="0"/>
              </a:rPr>
              <a:t>)</a:t>
            </a:r>
            <a:endParaRPr lang="en-US" dirty="0">
              <a:solidFill>
                <a:prstClr val="black"/>
              </a:solidFill>
              <a:latin typeface="Gill Sans MT"/>
              <a:cs typeface="Times New Roman" pitchFamily="18" charset="0"/>
            </a:endParaRPr>
          </a:p>
          <a:p>
            <a:pPr eaLnBrk="0" hangingPunct="0">
              <a:defRPr/>
            </a:pPr>
            <a:endParaRPr lang="en-US" dirty="0">
              <a:solidFill>
                <a:prstClr val="black"/>
              </a:solidFill>
              <a:latin typeface="Gill Sans MT"/>
              <a:cs typeface="Times New Roman"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282616403"/>
              </p:ext>
            </p:extLst>
          </p:nvPr>
        </p:nvGraphicFramePr>
        <p:xfrm>
          <a:off x="1676400" y="3165892"/>
          <a:ext cx="8153399" cy="2775578"/>
        </p:xfrm>
        <a:graphic>
          <a:graphicData uri="http://schemas.openxmlformats.org/drawingml/2006/table">
            <a:tbl>
              <a:tblPr firstRow="1" firstCol="1" bandRow="1">
                <a:tableStyleId>{5C22544A-7EE6-4342-B048-85BDC9FD1C3A}</a:tableStyleId>
              </a:tblPr>
              <a:tblGrid>
                <a:gridCol w="1769460">
                  <a:extLst>
                    <a:ext uri="{9D8B030D-6E8A-4147-A177-3AD203B41FA5}">
                      <a16:colId xmlns:a16="http://schemas.microsoft.com/office/drawing/2014/main" val="3449689791"/>
                    </a:ext>
                  </a:extLst>
                </a:gridCol>
                <a:gridCol w="2121371">
                  <a:extLst>
                    <a:ext uri="{9D8B030D-6E8A-4147-A177-3AD203B41FA5}">
                      <a16:colId xmlns:a16="http://schemas.microsoft.com/office/drawing/2014/main" val="2443800576"/>
                    </a:ext>
                  </a:extLst>
                </a:gridCol>
                <a:gridCol w="2007373">
                  <a:extLst>
                    <a:ext uri="{9D8B030D-6E8A-4147-A177-3AD203B41FA5}">
                      <a16:colId xmlns:a16="http://schemas.microsoft.com/office/drawing/2014/main" val="1711257944"/>
                    </a:ext>
                  </a:extLst>
                </a:gridCol>
                <a:gridCol w="2255195">
                  <a:extLst>
                    <a:ext uri="{9D8B030D-6E8A-4147-A177-3AD203B41FA5}">
                      <a16:colId xmlns:a16="http://schemas.microsoft.com/office/drawing/2014/main" val="3663234745"/>
                    </a:ext>
                  </a:extLst>
                </a:gridCol>
              </a:tblGrid>
              <a:tr h="581018">
                <a:tc>
                  <a:txBody>
                    <a:bodyPr/>
                    <a:lstStyle/>
                    <a:p>
                      <a:pPr marL="0" marR="0">
                        <a:spcBef>
                          <a:spcPts val="0"/>
                        </a:spcBef>
                        <a:spcAft>
                          <a:spcPts val="0"/>
                        </a:spcAft>
                      </a:pPr>
                      <a:r>
                        <a:rPr lang="en-US" sz="1800" b="0" dirty="0">
                          <a:effectLst/>
                        </a:rPr>
                        <a:t> </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Unsigned Addition</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Unsigned Subtraction</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Signed Addition or Subtraction</a:t>
                      </a:r>
                      <a:endParaRPr lang="en-US" sz="1800" b="0" dirty="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840512487"/>
                  </a:ext>
                </a:extLst>
              </a:tr>
              <a:tr h="693247">
                <a:tc>
                  <a:txBody>
                    <a:bodyPr/>
                    <a:lstStyle/>
                    <a:p>
                      <a:pPr marL="0" marR="0">
                        <a:spcBef>
                          <a:spcPts val="0"/>
                        </a:spcBef>
                        <a:spcAft>
                          <a:spcPts val="0"/>
                        </a:spcAft>
                      </a:pPr>
                      <a:r>
                        <a:rPr lang="en-US" sz="1800" b="0" dirty="0">
                          <a:effectLst/>
                        </a:rPr>
                        <a:t>Carry flag</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solidFill>
                            <a:schemeClr val="tx1"/>
                          </a:solidFill>
                          <a:effectLst/>
                        </a:rPr>
                        <a:t>true result &gt; 2</a:t>
                      </a:r>
                      <a:r>
                        <a:rPr lang="en-US" sz="1800" b="0" baseline="30000" dirty="0">
                          <a:solidFill>
                            <a:schemeClr val="tx1"/>
                          </a:solidFill>
                          <a:effectLst/>
                        </a:rPr>
                        <a:t>n</a:t>
                      </a:r>
                      <a:r>
                        <a:rPr lang="en-US" sz="1800" b="0" dirty="0">
                          <a:solidFill>
                            <a:schemeClr val="tx1"/>
                          </a:solidFill>
                          <a:effectLst/>
                        </a:rPr>
                        <a:t>-1 </a:t>
                      </a:r>
                      <a:r>
                        <a:rPr lang="en-US" sz="1800" b="0" dirty="0">
                          <a:solidFill>
                            <a:schemeClr val="tx1"/>
                          </a:solidFill>
                          <a:effectLst/>
                          <a:sym typeface="Wingdings" panose="05000000000000000000" pitchFamily="2" charset="2"/>
                        </a:rPr>
                        <a:t></a:t>
                      </a:r>
                      <a:r>
                        <a:rPr lang="en-US" sz="1800" b="0" dirty="0">
                          <a:solidFill>
                            <a:schemeClr val="tx1"/>
                          </a:solidFill>
                          <a:effectLst/>
                        </a:rPr>
                        <a:t> Carry flag=1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Borrow flag=0</a:t>
                      </a:r>
                    </a:p>
                    <a:p>
                      <a:pPr marL="0" marR="0">
                        <a:spcBef>
                          <a:spcPts val="0"/>
                        </a:spcBef>
                        <a:spcAft>
                          <a:spcPts val="0"/>
                        </a:spcAft>
                      </a:pPr>
                      <a:r>
                        <a:rPr lang="en-US" sz="1800" b="0" dirty="0">
                          <a:solidFill>
                            <a:schemeClr val="tx1"/>
                          </a:solidFill>
                          <a:effectLst/>
                          <a:latin typeface="Times New Roman" panose="02020603050405020304" pitchFamily="18" charset="0"/>
                          <a:ea typeface="SimSun" panose="02010600030101010101" pitchFamily="2" charset="-122"/>
                        </a:rPr>
                        <a:t>(Result incorrect)</a:t>
                      </a:r>
                    </a:p>
                  </a:txBody>
                  <a:tcPr marL="68580" marR="68580" marT="0" marB="0"/>
                </a:tc>
                <a:tc>
                  <a:txBody>
                    <a:bodyPr/>
                    <a:lstStyle/>
                    <a:p>
                      <a:pPr marL="0" marR="0">
                        <a:spcBef>
                          <a:spcPts val="0"/>
                        </a:spcBef>
                        <a:spcAft>
                          <a:spcPts val="0"/>
                        </a:spcAft>
                      </a:pPr>
                      <a:r>
                        <a:rPr lang="en-US" sz="1800" b="0" dirty="0">
                          <a:solidFill>
                            <a:schemeClr val="tx1"/>
                          </a:solidFill>
                          <a:effectLst/>
                        </a:rPr>
                        <a:t>true result &lt; 0 </a:t>
                      </a:r>
                      <a:r>
                        <a:rPr lang="en-US" sz="1800" b="0" dirty="0">
                          <a:solidFill>
                            <a:schemeClr val="tx1"/>
                          </a:solidFill>
                          <a:effectLst/>
                          <a:sym typeface="Wingdings" panose="05000000000000000000" pitchFamily="2" charset="2"/>
                        </a:rPr>
                        <a:t></a:t>
                      </a:r>
                      <a:r>
                        <a:rPr lang="en-US" sz="1800" b="0" dirty="0">
                          <a:solidFill>
                            <a:schemeClr val="tx1"/>
                          </a:solidFill>
                          <a:effectLst/>
                        </a:rPr>
                        <a:t> Carry flag=0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Borrow flag=1</a:t>
                      </a:r>
                    </a:p>
                    <a:p>
                      <a:pPr marL="0" marR="0">
                        <a:spcBef>
                          <a:spcPts val="0"/>
                        </a:spcBef>
                        <a:spcAft>
                          <a:spcPts val="0"/>
                        </a:spcAft>
                      </a:pPr>
                      <a:r>
                        <a:rPr lang="en-US" sz="1800" b="0" dirty="0">
                          <a:solidFill>
                            <a:schemeClr val="tx1"/>
                          </a:solidFill>
                          <a:effectLst/>
                          <a:latin typeface="Times New Roman" panose="02020603050405020304" pitchFamily="18" charset="0"/>
                          <a:ea typeface="SimSun" panose="02010600030101010101" pitchFamily="2" charset="-122"/>
                        </a:rPr>
                        <a:t>(Result incorrect)</a:t>
                      </a:r>
                    </a:p>
                  </a:txBody>
                  <a:tcPr marL="68580" marR="68580" marT="0" marB="0"/>
                </a:tc>
                <a:tc>
                  <a:txBody>
                    <a:bodyPr/>
                    <a:lstStyle/>
                    <a:p>
                      <a:pPr marL="0" marR="0">
                        <a:spcBef>
                          <a:spcPts val="0"/>
                        </a:spcBef>
                        <a:spcAft>
                          <a:spcPts val="0"/>
                        </a:spcAft>
                      </a:pPr>
                      <a:r>
                        <a:rPr lang="en-US" sz="1800" b="0">
                          <a:effectLst/>
                        </a:rPr>
                        <a:t>N/A</a:t>
                      </a:r>
                      <a:endParaRPr lang="en-US" sz="1800" b="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963854241"/>
                  </a:ext>
                </a:extLst>
              </a:tr>
              <a:tr h="693247">
                <a:tc>
                  <a:txBody>
                    <a:bodyPr/>
                    <a:lstStyle/>
                    <a:p>
                      <a:pPr marL="0" marR="0">
                        <a:spcBef>
                          <a:spcPts val="0"/>
                        </a:spcBef>
                        <a:spcAft>
                          <a:spcPts val="0"/>
                        </a:spcAft>
                      </a:pPr>
                      <a:r>
                        <a:rPr lang="en-US" sz="1800" b="0">
                          <a:effectLst/>
                        </a:rPr>
                        <a:t>Overflow flag</a:t>
                      </a:r>
                      <a:endParaRPr lang="en-US" sz="18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a:effectLst/>
                        </a:rPr>
                        <a:t>N/A</a:t>
                      </a:r>
                      <a:endParaRPr lang="en-US" sz="18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a:effectLst/>
                        </a:rPr>
                        <a:t>N/A</a:t>
                      </a:r>
                      <a:endParaRPr lang="en-US" sz="18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true result &gt; 2</a:t>
                      </a:r>
                      <a:r>
                        <a:rPr lang="en-US" sz="1800" b="0" baseline="30000" dirty="0">
                          <a:effectLst/>
                        </a:rPr>
                        <a:t>n-1</a:t>
                      </a:r>
                      <a:r>
                        <a:rPr lang="en-US" sz="1800" b="0" dirty="0">
                          <a:effectLst/>
                        </a:rPr>
                        <a:t>-1 or true result &lt; -2</a:t>
                      </a:r>
                      <a:r>
                        <a:rPr lang="en-US" sz="1800" b="0" baseline="30000" dirty="0">
                          <a:effectLst/>
                        </a:rPr>
                        <a:t>n-1</a:t>
                      </a:r>
                    </a:p>
                    <a:p>
                      <a:pPr marL="285750" marR="0" indent="-285750">
                        <a:spcBef>
                          <a:spcPts val="0"/>
                        </a:spcBef>
                        <a:spcAft>
                          <a:spcPts val="0"/>
                        </a:spcAft>
                        <a:buFont typeface="Wingdings" panose="05000000000000000000" pitchFamily="2" charset="2"/>
                        <a:buChar char="è"/>
                      </a:pPr>
                      <a:r>
                        <a:rPr lang="en-US" sz="1800" b="0" dirty="0">
                          <a:effectLst/>
                        </a:rPr>
                        <a:t>Overflow flag=1</a:t>
                      </a:r>
                    </a:p>
                    <a:p>
                      <a:pPr marL="0" marR="0" indent="0">
                        <a:spcBef>
                          <a:spcPts val="0"/>
                        </a:spcBef>
                        <a:spcAft>
                          <a:spcPts val="0"/>
                        </a:spcAft>
                        <a:buFont typeface="Wingdings" panose="05000000000000000000" pitchFamily="2" charset="2"/>
                        <a:buNone/>
                      </a:pPr>
                      <a:r>
                        <a:rPr lang="en-US" sz="1800" b="0" dirty="0">
                          <a:effectLst/>
                          <a:latin typeface="Times New Roman" panose="02020603050405020304" pitchFamily="18" charset="0"/>
                          <a:ea typeface="SimSun" panose="02010600030101010101" pitchFamily="2" charset="-122"/>
                        </a:rPr>
                        <a:t>(Result incorrect)</a:t>
                      </a:r>
                    </a:p>
                  </a:txBody>
                  <a:tcPr marL="68580" marR="68580" marT="0" marB="0"/>
                </a:tc>
                <a:extLst>
                  <a:ext uri="{0D108BD9-81ED-4DB2-BD59-A6C34878D82A}">
                    <a16:rowId xmlns:a16="http://schemas.microsoft.com/office/drawing/2014/main" val="1206363004"/>
                  </a:ext>
                </a:extLst>
              </a:tr>
            </a:tbl>
          </a:graphicData>
        </a:graphic>
      </p:graphicFrame>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E2ACC35D-CF95-407F-B222-DF5A1F69BA9F}"/>
                  </a:ext>
                </a:extLst>
              </p14:cNvPr>
              <p14:cNvContentPartPr/>
              <p14:nvPr/>
            </p14:nvContentPartPr>
            <p14:xfrm>
              <a:off x="4591459" y="4660181"/>
              <a:ext cx="360" cy="360"/>
            </p14:xfrm>
          </p:contentPart>
        </mc:Choice>
        <mc:Fallback>
          <p:pic>
            <p:nvPicPr>
              <p:cNvPr id="5" name="Ink 4">
                <a:extLst>
                  <a:ext uri="{FF2B5EF4-FFF2-40B4-BE49-F238E27FC236}">
                    <a16:creationId xmlns:a16="http://schemas.microsoft.com/office/drawing/2014/main" id="{E2ACC35D-CF95-407F-B222-DF5A1F69BA9F}"/>
                  </a:ext>
                </a:extLst>
              </p:cNvPr>
              <p:cNvPicPr/>
              <p:nvPr/>
            </p:nvPicPr>
            <p:blipFill>
              <a:blip r:embed="rId4"/>
              <a:stretch>
                <a:fillRect/>
              </a:stretch>
            </p:blipFill>
            <p:spPr>
              <a:xfrm>
                <a:off x="4582459" y="4651181"/>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641399B7-0992-4159-AA56-A61464B0489C}"/>
                  </a:ext>
                </a:extLst>
              </p14:cNvPr>
              <p14:cNvContentPartPr/>
              <p14:nvPr/>
            </p14:nvContentPartPr>
            <p14:xfrm>
              <a:off x="5151979" y="4660181"/>
              <a:ext cx="360" cy="360"/>
            </p14:xfrm>
          </p:contentPart>
        </mc:Choice>
        <mc:Fallback>
          <p:pic>
            <p:nvPicPr>
              <p:cNvPr id="6" name="Ink 5">
                <a:extLst>
                  <a:ext uri="{FF2B5EF4-FFF2-40B4-BE49-F238E27FC236}">
                    <a16:creationId xmlns:a16="http://schemas.microsoft.com/office/drawing/2014/main" id="{641399B7-0992-4159-AA56-A61464B0489C}"/>
                  </a:ext>
                </a:extLst>
              </p:cNvPr>
              <p:cNvPicPr/>
              <p:nvPr/>
            </p:nvPicPr>
            <p:blipFill>
              <a:blip r:embed="rId4"/>
              <a:stretch>
                <a:fillRect/>
              </a:stretch>
            </p:blipFill>
            <p:spPr>
              <a:xfrm>
                <a:off x="5142979" y="4651181"/>
                <a:ext cx="18000" cy="18000"/>
              </a:xfrm>
              <a:prstGeom prst="rect">
                <a:avLst/>
              </a:prstGeom>
            </p:spPr>
          </p:pic>
        </mc:Fallback>
      </mc:AlternateContent>
      <p:sp>
        <p:nvSpPr>
          <p:cNvPr id="3" name="Horizontal Scroll 15">
            <a:extLst>
              <a:ext uri="{FF2B5EF4-FFF2-40B4-BE49-F238E27FC236}">
                <a16:creationId xmlns:a16="http://schemas.microsoft.com/office/drawing/2014/main" id="{4DF73044-40F3-F2D2-4520-3537F47168BE}"/>
              </a:ext>
            </a:extLst>
          </p:cNvPr>
          <p:cNvSpPr/>
          <p:nvPr/>
        </p:nvSpPr>
        <p:spPr>
          <a:xfrm>
            <a:off x="609600" y="-7874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spTree>
    <p:extLst>
      <p:ext uri="{BB962C8B-B14F-4D97-AF65-F5344CB8AC3E}">
        <p14:creationId xmlns:p14="http://schemas.microsoft.com/office/powerpoint/2010/main" val="12022653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a:t>
            </a:fld>
            <a:endParaRPr kumimoji="0" lang="en-US" dirty="0"/>
          </a:p>
        </p:txBody>
      </p:sp>
      <p:sp>
        <p:nvSpPr>
          <p:cNvPr id="4" name="Content Placeholder 3"/>
          <p:cNvSpPr>
            <a:spLocks noGrp="1"/>
          </p:cNvSpPr>
          <p:nvPr>
            <p:ph sz="quarter" idx="1"/>
          </p:nvPr>
        </p:nvSpPr>
        <p:spPr/>
        <p:txBody>
          <a:bodyPr/>
          <a:lstStyle/>
          <a:p>
            <a:r>
              <a:rPr lang="en-US" dirty="0"/>
              <a:t>Method </a:t>
            </a:r>
            <a:r>
              <a:rPr lang="en-US" dirty="0">
                <a:latin typeface="Consolas" panose="020B0609020204030204" pitchFamily="49" charset="0"/>
              </a:rPr>
              <a:t>1</a:t>
            </a:r>
            <a:r>
              <a:rPr lang="en-US" dirty="0"/>
              <a:t>:  append “</a:t>
            </a:r>
            <a:r>
              <a:rPr lang="en-US" b="1" dirty="0">
                <a:solidFill>
                  <a:srgbClr val="FF0000"/>
                </a:solidFill>
                <a:latin typeface="Consolas" panose="020B0609020204030204" pitchFamily="49" charset="0"/>
              </a:rPr>
              <a:t>S</a:t>
            </a:r>
            <a:r>
              <a:rPr lang="en-US" dirty="0"/>
              <a:t>”: updates destination register, and sets flags</a:t>
            </a:r>
          </a:p>
          <a:p>
            <a:pPr lvl="1"/>
            <a:r>
              <a:rPr lang="en-US" dirty="0">
                <a:latin typeface="Consolas" panose="020B0609020204030204" pitchFamily="49" charset="0"/>
              </a:rPr>
              <a:t>ADD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ADD</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ea typeface="Arial Unicode MS" panose="020B0604020202020204" pitchFamily="34" charset="-128"/>
                <a:cs typeface="Arial Unicode MS" panose="020B0604020202020204" pitchFamily="34" charset="-128"/>
              </a:rPr>
              <a:t> r0,r1,r2</a:t>
            </a:r>
            <a:r>
              <a:rPr lang="en-US" dirty="0"/>
              <a:t> </a:t>
            </a:r>
          </a:p>
          <a:p>
            <a:pPr lvl="1"/>
            <a:r>
              <a:rPr lang="en-US" dirty="0">
                <a:latin typeface="Consolas" panose="020B0609020204030204" pitchFamily="49" charset="0"/>
              </a:rPr>
              <a:t>SUB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SUB</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rPr>
              <a:t> r0,r1,r2</a:t>
            </a:r>
          </a:p>
          <a:p>
            <a:pPr lvl="1"/>
            <a:r>
              <a:rPr lang="en-US" dirty="0"/>
              <a:t>Performs operation, writes the result into Rd, and also updates NZCV flags</a:t>
            </a:r>
          </a:p>
          <a:p>
            <a:r>
              <a:rPr lang="en-US" dirty="0"/>
              <a:t>Method </a:t>
            </a:r>
            <a:r>
              <a:rPr lang="en-US" dirty="0">
                <a:latin typeface="Consolas" panose="020B0609020204030204" pitchFamily="49" charset="0"/>
              </a:rPr>
              <a:t>2</a:t>
            </a:r>
            <a:r>
              <a:rPr lang="en-US" dirty="0"/>
              <a:t>:  compare instructions: sets flags only</a:t>
            </a:r>
          </a:p>
          <a:p>
            <a:pPr lvl="1"/>
            <a:r>
              <a:rPr lang="en-US" dirty="0"/>
              <a:t>CMP/CMN/TEQ/TST: performs operation to update NZCV flags, but the computation result is not saved and discarded</a:t>
            </a:r>
          </a:p>
          <a:p>
            <a:endParaRPr lang="en-US" dirty="0">
              <a:latin typeface="Consolas" panose="020B0609020204030204" pitchFamily="49" charset="0"/>
            </a:endParaRPr>
          </a:p>
        </p:txBody>
      </p:sp>
      <p:graphicFrame>
        <p:nvGraphicFramePr>
          <p:cNvPr id="5" name="Table 4"/>
          <p:cNvGraphicFramePr>
            <a:graphicFrameLocks noGrp="1"/>
          </p:cNvGraphicFramePr>
          <p:nvPr>
            <p:extLst>
              <p:ext uri="{D42A27DB-BD31-4B8C-83A1-F6EECF244321}">
                <p14:modId xmlns:p14="http://schemas.microsoft.com/office/powerpoint/2010/main" val="655438929"/>
              </p:ext>
            </p:extLst>
          </p:nvPr>
        </p:nvGraphicFramePr>
        <p:xfrm>
          <a:off x="3851867" y="4445506"/>
          <a:ext cx="4488265"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Description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TEQ</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8055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5" name="Content Placeholder 4"/>
          <p:cNvSpPr>
            <a:spLocks noGrp="1"/>
          </p:cNvSpPr>
          <p:nvPr>
            <p:ph sz="quarter" idx="1"/>
          </p:nvPr>
        </p:nvSpPr>
        <p:spPr>
          <a:xfrm>
            <a:off x="1752599" y="3399790"/>
            <a:ext cx="8534400" cy="2956560"/>
          </a:xfrm>
        </p:spPr>
        <p:txBody>
          <a:bodyPr>
            <a:normAutofit fontScale="92500" lnSpcReduction="10000"/>
          </a:bodyPr>
          <a:lstStyle/>
          <a:p>
            <a:pPr>
              <a:lnSpc>
                <a:spcPct val="90000"/>
              </a:lnSpc>
              <a:buFont typeface="Wingdings" pitchFamily="2" charset="2"/>
              <a:buChar char="Ø"/>
            </a:pPr>
            <a:r>
              <a:rPr lang="en-US" altLang="zh-TW" sz="1900" b="1" dirty="0">
                <a:solidFill>
                  <a:srgbClr val="C00000"/>
                </a:solidFill>
              </a:rPr>
              <a:t>Update the status flags</a:t>
            </a:r>
            <a:endParaRPr lang="en-US" altLang="zh-TW" sz="1900" b="1" i="1" dirty="0"/>
          </a:p>
          <a:p>
            <a:pPr marL="800100" lvl="1" indent="-342900">
              <a:lnSpc>
                <a:spcPct val="90000"/>
              </a:lnSpc>
              <a:buFont typeface="Arial" pitchFamily="34" charset="0"/>
              <a:buChar char="•"/>
            </a:pPr>
            <a:r>
              <a:rPr lang="en-US" altLang="zh-TW" sz="1600" dirty="0"/>
              <a:t>No need to add S.</a:t>
            </a:r>
          </a:p>
          <a:p>
            <a:pPr marL="800100" lvl="1" indent="-342900">
              <a:lnSpc>
                <a:spcPct val="90000"/>
              </a:lnSpc>
              <a:buFont typeface="Arial" pitchFamily="34" charset="0"/>
              <a:buChar char="•"/>
            </a:pPr>
            <a:r>
              <a:rPr lang="en-US" altLang="zh-TW" sz="1600" dirty="0"/>
              <a:t>No need to specify destination register.</a:t>
            </a:r>
          </a:p>
          <a:p>
            <a:pPr>
              <a:lnSpc>
                <a:spcPct val="90000"/>
              </a:lnSpc>
              <a:buFont typeface="Wingdings" pitchFamily="2" charset="2"/>
              <a:buChar char="Ø"/>
            </a:pPr>
            <a:r>
              <a:rPr lang="en-US" altLang="zh-TW" sz="1900" dirty="0"/>
              <a:t>Operations are:</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CMP  </a:t>
            </a:r>
            <a:r>
              <a:rPr lang="en-US" altLang="zh-TW" sz="1600" dirty="0">
                <a:latin typeface="Consolas" panose="020B0609020204030204" pitchFamily="49" charset="0"/>
                <a:cs typeface="Consolas" panose="020B0609020204030204" pitchFamily="49" charset="0"/>
              </a:rPr>
              <a:t>Rn – Op2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Same as SUBS, except result discarded (not written to destination register)</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CMN  </a:t>
            </a:r>
            <a:r>
              <a:rPr lang="en-US" altLang="zh-TW" sz="1600" dirty="0">
                <a:latin typeface="Consolas" panose="020B0609020204030204" pitchFamily="49" charset="0"/>
                <a:cs typeface="Consolas" panose="020B0609020204030204" pitchFamily="49" charset="0"/>
              </a:rPr>
              <a:t>Rn + Op2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Same as ADDS, except result discarded</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TST  </a:t>
            </a:r>
            <a:r>
              <a:rPr lang="en-US" altLang="zh-TW" sz="1600" dirty="0">
                <a:latin typeface="Consolas" panose="020B0609020204030204" pitchFamily="49" charset="0"/>
                <a:cs typeface="Consolas" panose="020B0609020204030204" pitchFamily="49" charset="0"/>
              </a:rPr>
              <a:t>Rn &amp; Op2:</a:t>
            </a:r>
            <a:r>
              <a:rPr lang="en-US" altLang="zh-TW" sz="1600" dirty="0"/>
              <a:t> Same as ANDS, except result discarded</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TEQ  </a:t>
            </a:r>
            <a:r>
              <a:rPr lang="en-US" altLang="zh-TW" sz="1600" dirty="0">
                <a:latin typeface="Consolas" panose="020B0609020204030204" pitchFamily="49" charset="0"/>
              </a:rPr>
              <a:t>Rn</a:t>
            </a:r>
            <a:r>
              <a:rPr lang="en-US" altLang="zh-TW" sz="1600" dirty="0">
                <a:latin typeface="Consolas" panose="020B0609020204030204" pitchFamily="49" charset="0"/>
                <a:cs typeface="Consolas" panose="020B0609020204030204" pitchFamily="49" charset="0"/>
              </a:rPr>
              <a:t> ^ Op2:</a:t>
            </a:r>
            <a:r>
              <a:rPr lang="en-US" altLang="zh-TW" sz="1600" dirty="0"/>
              <a:t> Same as EORS, except result discarded</a:t>
            </a:r>
          </a:p>
          <a:p>
            <a:pPr>
              <a:lnSpc>
                <a:spcPct val="90000"/>
              </a:lnSpc>
              <a:buFont typeface="Wingdings" pitchFamily="2" charset="2"/>
              <a:buChar char="Ø"/>
            </a:pPr>
            <a:r>
              <a:rPr lang="en-US" altLang="zh-TW" sz="2100" dirty="0"/>
              <a:t>Examples:</a:t>
            </a:r>
            <a:endParaRPr lang="en-US" altLang="zh-TW" sz="2100" b="1" dirty="0">
              <a:latin typeface="Courier New" pitchFamily="49" charset="0"/>
            </a:endParaRPr>
          </a:p>
          <a:p>
            <a:pPr marL="800100" lvl="1" indent="-342900">
              <a:lnSpc>
                <a:spcPct val="90000"/>
              </a:lnSpc>
              <a:buFont typeface="Arial" pitchFamily="34" charset="0"/>
              <a:buChar char="•"/>
            </a:pPr>
            <a:r>
              <a:rPr lang="en-US" altLang="zh-TW" sz="1600" b="1" dirty="0">
                <a:latin typeface="Courier New" pitchFamily="49" charset="0"/>
              </a:rPr>
              <a:t>CMP  r0, r1</a:t>
            </a:r>
          </a:p>
          <a:p>
            <a:pPr marL="800100" lvl="1" indent="-342900">
              <a:lnSpc>
                <a:spcPct val="90000"/>
              </a:lnSpc>
              <a:buFont typeface="Arial" pitchFamily="34" charset="0"/>
              <a:buChar char="•"/>
            </a:pPr>
            <a:r>
              <a:rPr lang="en-US" altLang="zh-TW" sz="1600" b="1" dirty="0">
                <a:latin typeface="Courier New" pitchFamily="49" charset="0"/>
              </a:rPr>
              <a:t>TST  r2, #5</a:t>
            </a:r>
            <a:endParaRPr lang="zh-TW" altLang="en-US" sz="1600" b="1" dirty="0">
              <a:latin typeface="Courier New" pitchFamily="49" charset="0"/>
            </a:endParaRP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029720561"/>
              </p:ext>
            </p:extLst>
          </p:nvPr>
        </p:nvGraphicFramePr>
        <p:xfrm>
          <a:off x="2971800" y="1242566"/>
          <a:ext cx="6096001"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1607736">
                  <a:extLst>
                    <a:ext uri="{9D8B030D-6E8A-4147-A177-3AD203B41FA5}">
                      <a16:colId xmlns:a16="http://schemas.microsoft.com/office/drawing/2014/main" val="20001"/>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Brief description</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TEQ</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latin typeface="Consolas" panose="020B0609020204030204" pitchFamily="49" charset="0"/>
                        </a:rPr>
                        <a:t>Rn, Op2</a:t>
                      </a:r>
                      <a:endParaRPr lang="en-US" sz="180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3"/>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Rn</a:t>
                      </a:r>
                      <a:r>
                        <a:rPr lang="en-US" sz="1800" dirty="0">
                          <a:effectLst/>
                          <a:latin typeface="Consolas" panose="020B0609020204030204" pitchFamily="49" charset="0"/>
                        </a:rPr>
                        <a:t>, Op2</a:t>
                      </a:r>
                      <a:endParaRPr lang="en-US" sz="1800" dirty="0">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spTree>
    <p:extLst>
      <p:ext uri="{BB962C8B-B14F-4D97-AF65-F5344CB8AC3E}">
        <p14:creationId xmlns:p14="http://schemas.microsoft.com/office/powerpoint/2010/main" val="2502343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CMP</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dirty="0"/>
          </a:p>
        </p:txBody>
      </p:sp>
      <p:sp>
        <p:nvSpPr>
          <p:cNvPr id="5" name="Rectangle 4"/>
          <p:cNvSpPr/>
          <p:nvPr/>
        </p:nvSpPr>
        <p:spPr>
          <a:xfrm>
            <a:off x="2819400" y="2286000"/>
            <a:ext cx="6324600"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Area absolute, CODE, </a:t>
            </a:r>
            <a:r>
              <a:rPr lang="en-US" dirty="0" err="1">
                <a:latin typeface="Consolas" panose="020B0609020204030204" pitchFamily="49" charset="0"/>
                <a:cs typeface="Consolas" panose="020B0609020204030204" pitchFamily="49" charset="0"/>
              </a:rPr>
              <a:t>READONLY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EXPORT __main  </a:t>
            </a:r>
          </a:p>
          <a:p>
            <a:r>
              <a:rPr lang="en-US" dirty="0">
                <a:latin typeface="Consolas" panose="020B0609020204030204" pitchFamily="49" charset="0"/>
                <a:cs typeface="Consolas" panose="020B0609020204030204" pitchFamily="49" charset="0"/>
              </a:rPr>
              <a:t>       ENTRY</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__main </a:t>
            </a:r>
            <a:r>
              <a:rPr lang="en-US" dirty="0" err="1">
                <a:latin typeface="Consolas" panose="020B0609020204030204" pitchFamily="49" charset="0"/>
                <a:cs typeface="Consolas" panose="020B0609020204030204" pitchFamily="49" charset="0"/>
              </a:rPr>
              <a:t>PROC</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b="1" dirty="0" err="1">
                <a:solidFill>
                  <a:srgbClr val="FF0000"/>
                </a:solidFill>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r1, #0</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RSB</a:t>
            </a:r>
            <a:r>
              <a:rPr lang="en-US" b="1" dirty="0" err="1">
                <a:solidFill>
                  <a:srgbClr val="FF0000"/>
                </a:solidFill>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r0, r1, #0</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done   B done     </a:t>
            </a:r>
            <a:r>
              <a:rPr lang="en-US" dirty="0">
                <a:solidFill>
                  <a:schemeClr val="bg1">
                    <a:lumMod val="50000"/>
                  </a:schemeClr>
                </a:solidFill>
                <a:latin typeface="Consolas" panose="020B0609020204030204" pitchFamily="49" charset="0"/>
                <a:cs typeface="Consolas" panose="020B0609020204030204" pitchFamily="49" charset="0"/>
              </a:rPr>
              <a:t>; </a:t>
            </a:r>
            <a:r>
              <a:rPr lang="en-US" dirty="0" err="1">
                <a:solidFill>
                  <a:schemeClr val="bg1">
                    <a:lumMod val="50000"/>
                  </a:schemeClr>
                </a:solidFill>
                <a:latin typeface="Consolas" panose="020B0609020204030204" pitchFamily="49" charset="0"/>
                <a:cs typeface="Consolas" panose="020B0609020204030204" pitchFamily="49" charset="0"/>
              </a:rPr>
              <a:t>deadloop</a:t>
            </a:r>
            <a:r>
              <a:rPr lang="en-US" dirty="0">
                <a:solidFill>
                  <a:schemeClr val="bg1">
                    <a:lumMod val="50000"/>
                  </a:schemeClr>
                </a:solidFill>
                <a:latin typeface="Consolas" panose="020B0609020204030204" pitchFamily="49" charset="0"/>
                <a:cs typeface="Consolas" panose="020B0609020204030204" pitchFamily="49" charset="0"/>
              </a:rPr>
              <a:t>, end of program</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ENDP</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END</a:t>
            </a:r>
          </a:p>
        </p:txBody>
      </p:sp>
      <mc:AlternateContent xmlns:mc="http://schemas.openxmlformats.org/markup-compatibility/2006" xmlns:a14="http://schemas.microsoft.com/office/drawing/2010/main">
        <mc:Choice Requires="a14">
          <p:sp>
            <p:nvSpPr>
              <p:cNvPr id="6" name="TextBox 5"/>
              <p:cNvSpPr txBox="1"/>
              <p:nvPr/>
            </p:nvSpPr>
            <p:spPr>
              <a:xfrm>
                <a:off x="5105400" y="1524000"/>
                <a:ext cx="20574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a:rPr>
                        <m:t>𝑓</m:t>
                      </m:r>
                      <m:d>
                        <m:dPr>
                          <m:ctrlPr>
                            <a:rPr lang="en-US" sz="2800" i="1">
                              <a:latin typeface="Cambria Math" panose="02040503050406030204" pitchFamily="18" charset="0"/>
                            </a:rPr>
                          </m:ctrlPr>
                        </m:dPr>
                        <m:e>
                          <m:r>
                            <a:rPr lang="en-US" sz="2800" i="1">
                              <a:latin typeface="Cambria Math"/>
                            </a:rPr>
                            <m:t>𝑥</m:t>
                          </m:r>
                        </m:e>
                      </m:d>
                      <m:r>
                        <a:rPr lang="en-US" sz="2800" i="1">
                          <a:latin typeface="Cambria Math"/>
                        </a:rPr>
                        <m:t>=|</m:t>
                      </m:r>
                      <m:r>
                        <a:rPr lang="en-US" sz="2800" i="1">
                          <a:latin typeface="Cambria Math"/>
                        </a:rPr>
                        <m:t>𝑥</m:t>
                      </m:r>
                      <m:r>
                        <a:rPr lang="en-US" sz="2800" i="1">
                          <a:latin typeface="Cambria Math"/>
                        </a:rPr>
                        <m:t>|</m:t>
                      </m:r>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5105400" y="1524000"/>
                <a:ext cx="2057400" cy="523220"/>
              </a:xfrm>
              <a:prstGeom prst="rect">
                <a:avLst/>
              </a:prstGeom>
              <a:blipFill>
                <a:blip r:embed="rId3"/>
                <a:stretch>
                  <a:fillRect b="-19048"/>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4BB17C6-B669-1841-8CA4-0A66B23D05E5}"/>
              </a:ext>
            </a:extLst>
          </p:cNvPr>
          <p:cNvSpPr txBox="1"/>
          <p:nvPr/>
        </p:nvSpPr>
        <p:spPr>
          <a:xfrm>
            <a:off x="9448800" y="3670994"/>
            <a:ext cx="1905000" cy="646331"/>
          </a:xfrm>
          <a:prstGeom prst="rect">
            <a:avLst/>
          </a:prstGeom>
          <a:noFill/>
        </p:spPr>
        <p:txBody>
          <a:bodyPr wrap="square" rtlCol="0">
            <a:spAutoFit/>
          </a:bodyPr>
          <a:lstStyle/>
          <a:p>
            <a:r>
              <a:rPr lang="en-US" dirty="0"/>
              <a:t>Assume register </a:t>
            </a:r>
            <a:r>
              <a:rPr lang="en-US" dirty="0">
                <a:latin typeface="Consolas" panose="020B0609020204030204" pitchFamily="49" charset="0"/>
                <a:cs typeface="Consolas" panose="020B0609020204030204" pitchFamily="49" charset="0"/>
              </a:rPr>
              <a:t>r1</a:t>
            </a:r>
            <a:r>
              <a:rPr lang="en-US" dirty="0"/>
              <a:t> holds </a:t>
            </a:r>
            <a:r>
              <a:rPr lang="en-US" dirty="0">
                <a:latin typeface="Consolas" panose="020B0609020204030204" pitchFamily="49" charset="0"/>
                <a:cs typeface="Consolas" panose="020B0609020204030204" pitchFamily="49" charset="0"/>
              </a:rPr>
              <a:t>x</a:t>
            </a:r>
            <a:r>
              <a:rPr lang="en-US" dirty="0"/>
              <a:t>’s value.</a:t>
            </a:r>
          </a:p>
        </p:txBody>
      </p:sp>
      <p:sp>
        <p:nvSpPr>
          <p:cNvPr id="8" name="TextBox 7">
            <a:extLst>
              <a:ext uri="{FF2B5EF4-FFF2-40B4-BE49-F238E27FC236}">
                <a16:creationId xmlns:a16="http://schemas.microsoft.com/office/drawing/2014/main" id="{070E943D-54D2-737B-8F17-C236B0E07369}"/>
              </a:ext>
            </a:extLst>
          </p:cNvPr>
          <p:cNvSpPr txBox="1"/>
          <p:nvPr/>
        </p:nvSpPr>
        <p:spPr>
          <a:xfrm>
            <a:off x="2743199" y="5776516"/>
            <a:ext cx="6629400"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RSBLT r1, r1, #0:: conditional execution of the RSB instruction with condition code LT. If r1 &lt; 0, then set r1=−r1</a:t>
            </a:r>
            <a:endParaRPr lang="en-US" dirty="0"/>
          </a:p>
        </p:txBody>
      </p:sp>
    </p:spTree>
    <p:extLst>
      <p:ext uri="{BB962C8B-B14F-4D97-AF65-F5344CB8AC3E}">
        <p14:creationId xmlns:p14="http://schemas.microsoft.com/office/powerpoint/2010/main" val="3410570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TST and TEQ</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mc:AlternateContent xmlns:mc="http://schemas.openxmlformats.org/markup-compatibility/2006">
        <mc:Choice xmlns:a14="http://schemas.microsoft.com/office/drawing/2010/main" Requires="a14">
          <p:sp>
            <p:nvSpPr>
              <p:cNvPr id="4" name="Content Placeholder 3"/>
              <p:cNvSpPr>
                <a:spLocks noGrp="1"/>
              </p:cNvSpPr>
              <p:nvPr>
                <p:ph sz="quarter" idx="1"/>
              </p:nvPr>
            </p:nvSpPr>
            <p:spPr>
              <a:xfrm>
                <a:off x="685800" y="1447800"/>
                <a:ext cx="8686800" cy="4709160"/>
              </a:xfrm>
            </p:spPr>
            <p:txBody>
              <a:bodyPr>
                <a:normAutofit fontScale="92500" lnSpcReduction="10000"/>
              </a:bodyPr>
              <a:lstStyle/>
              <a:p>
                <a:pPr marL="0" indent="0">
                  <a:buNone/>
                </a:pPr>
                <a:r>
                  <a:rPr lang="en-US" sz="2400" b="1" dirty="0">
                    <a:solidFill>
                      <a:srgbClr val="FF0000"/>
                    </a:solidFill>
                    <a:latin typeface="Consolas" panose="020B0609020204030204" pitchFamily="49" charset="0"/>
                  </a:rPr>
                  <a:t>   TST</a:t>
                </a:r>
                <a:r>
                  <a:rPr lang="en-US" sz="2400" b="1" dirty="0">
                    <a:latin typeface="Consolas" panose="020B0609020204030204" pitchFamily="49" charset="0"/>
                  </a:rPr>
                  <a:t> Rn, Operand2  </a:t>
                </a:r>
                <a:r>
                  <a:rPr lang="en-US" sz="2400" b="1" dirty="0">
                    <a:solidFill>
                      <a:schemeClr val="bg1">
                        <a:lumMod val="50000"/>
                      </a:schemeClr>
                    </a:solidFill>
                    <a:latin typeface="Consolas" panose="020B0609020204030204" pitchFamily="49" charset="0"/>
                  </a:rPr>
                  <a:t>; Bitwise AND</a:t>
                </a:r>
              </a:p>
              <a:p>
                <a:pPr marL="0" indent="0">
                  <a:buNone/>
                </a:pPr>
                <a:r>
                  <a:rPr lang="en-US" sz="2400" b="1" dirty="0">
                    <a:solidFill>
                      <a:srgbClr val="FF0000"/>
                    </a:solidFill>
                    <a:latin typeface="Consolas" panose="020B0609020204030204" pitchFamily="49" charset="0"/>
                  </a:rPr>
                  <a:t>   TEQ</a:t>
                </a:r>
                <a:r>
                  <a:rPr lang="en-US" sz="2400" b="1" dirty="0">
                    <a:latin typeface="Consolas" panose="020B0609020204030204" pitchFamily="49" charset="0"/>
                  </a:rPr>
                  <a:t> Rn, Operand2  </a:t>
                </a:r>
                <a:r>
                  <a:rPr lang="en-US" sz="2400" b="1" dirty="0">
                    <a:solidFill>
                      <a:schemeClr val="bg1">
                        <a:lumMod val="50000"/>
                      </a:schemeClr>
                    </a:solidFill>
                    <a:latin typeface="Consolas" panose="020B0609020204030204" pitchFamily="49" charset="0"/>
                  </a:rPr>
                  <a:t>; Bitwise Exclusive OR</a:t>
                </a:r>
              </a:p>
              <a:p>
                <a:pPr marL="0" indent="0" algn="ctr">
                  <a:buNone/>
                </a:pPr>
                <a:endParaRPr lang="en-US" sz="1400" dirty="0"/>
              </a:p>
              <a:p>
                <a:r>
                  <a:rPr lang="en-US" sz="2000" dirty="0">
                    <a:solidFill>
                      <a:srgbClr val="FF0000"/>
                    </a:solidFill>
                  </a:rPr>
                  <a:t>Update N and Z </a:t>
                </a:r>
                <a:r>
                  <a:rPr lang="en-US" sz="2000" dirty="0"/>
                  <a:t>according to the result</a:t>
                </a:r>
              </a:p>
              <a:p>
                <a:r>
                  <a:rPr lang="en-US" sz="2000" dirty="0"/>
                  <a:t>Can update C during the calculation of Operand2 (w/ shifting)</a:t>
                </a:r>
              </a:p>
              <a:p>
                <a:r>
                  <a:rPr lang="en-US" sz="2000" dirty="0"/>
                  <a:t>Do not affect V</a:t>
                </a:r>
              </a:p>
              <a:p>
                <a:r>
                  <a:rPr lang="en-US" sz="2000" dirty="0"/>
                  <a:t>TST performs </a:t>
                </a:r>
                <a:r>
                  <a:rPr lang="en-US" sz="2000" dirty="0">
                    <a:solidFill>
                      <a:srgbClr val="FF0000"/>
                    </a:solidFill>
                  </a:rPr>
                  <a:t>bitwise AND </a:t>
                </a:r>
                <a:r>
                  <a:rPr lang="en-US" sz="2000" dirty="0"/>
                  <a:t>on Rn and Operand2. </a:t>
                </a:r>
              </a:p>
              <a:p>
                <a:pPr lvl="1"/>
                <a:r>
                  <a:rPr lang="en-US" sz="1800" dirty="0"/>
                  <a:t>Same as </a:t>
                </a:r>
                <a:r>
                  <a:rPr lang="en-US" sz="1800" dirty="0">
                    <a:latin typeface="Consolas" panose="020B0609020204030204" pitchFamily="49" charset="0"/>
                  </a:rPr>
                  <a:t>ANDS</a:t>
                </a:r>
                <a:r>
                  <a:rPr lang="en-US" sz="1800" dirty="0"/>
                  <a:t>, except result discarded.</a:t>
                </a:r>
              </a:p>
              <a:p>
                <a:pPr lvl="1"/>
                <a:r>
                  <a:rPr lang="en-US" sz="1800" dirty="0"/>
                  <a:t>Use Operand2 as a mask; Z=0 implies “some masked bit(s) are set, so result is non-zero” Z=1 implies “none of the masked bit(s) are set, so result is zero.” For a single-bit mask, Z=0 means “that bit in Rn is 1,” and Z=1 means “that bit is 0.”</a:t>
                </a:r>
              </a:p>
              <a:p>
                <a:r>
                  <a:rPr lang="en-US" sz="2000" dirty="0"/>
                  <a:t> TEQ performs </a:t>
                </a:r>
                <a:r>
                  <a:rPr lang="en-US" sz="2000" dirty="0">
                    <a:solidFill>
                      <a:srgbClr val="FF0000"/>
                    </a:solidFill>
                  </a:rPr>
                  <a:t>bitwise Exclusive OR </a:t>
                </a:r>
                <a:r>
                  <a:rPr lang="en-US" sz="2000" dirty="0"/>
                  <a:t>on Rn and Operand2.</a:t>
                </a:r>
              </a:p>
              <a:p>
                <a:pPr lvl="1"/>
                <a:r>
                  <a:rPr lang="en-US" sz="1800" dirty="0"/>
                  <a:t>Same as </a:t>
                </a:r>
                <a:r>
                  <a:rPr lang="en-US" sz="1800" dirty="0">
                    <a:latin typeface="Consolas" panose="020B0609020204030204" pitchFamily="49" charset="0"/>
                  </a:rPr>
                  <a:t>EORS</a:t>
                </a:r>
                <a:r>
                  <a:rPr lang="en-US" sz="1800" dirty="0"/>
                  <a:t>, except result discarded.</a:t>
                </a:r>
              </a:p>
              <a:p>
                <a:pPr lvl="1"/>
                <a:r>
                  <a:rPr lang="en-US" sz="1800" dirty="0"/>
                  <a:t>If Rn and Operand2 are equal, then </a:t>
                </a:r>
                <a14:m>
                  <m:oMath xmlns:m="http://schemas.openxmlformats.org/officeDocument/2006/math">
                    <m:r>
                      <a:rPr lang="en-US" sz="1800">
                        <a:latin typeface="Cambria Math" panose="02040503050406030204" pitchFamily="18" charset="0"/>
                      </a:rPr>
                      <m:t>𝑅𝑛</m:t>
                    </m:r>
                    <m:r>
                      <a:rPr lang="en-US" sz="1800">
                        <a:latin typeface="Cambria Math" panose="02040503050406030204" pitchFamily="18" charset="0"/>
                      </a:rPr>
                      <m:t>⊕</m:t>
                    </m:r>
                    <m:r>
                      <a:rPr lang="en-US" sz="1800">
                        <a:latin typeface="Cambria Math" panose="02040503050406030204" pitchFamily="18" charset="0"/>
                      </a:rPr>
                      <m:t>𝑂𝑝𝑒𝑟𝑎𝑛𝑑</m:t>
                    </m:r>
                    <m:r>
                      <a:rPr lang="en-US" sz="1800">
                        <a:latin typeface="Cambria Math" panose="02040503050406030204" pitchFamily="18" charset="0"/>
                      </a:rPr>
                      <m:t>2</m:t>
                    </m:r>
                  </m:oMath>
                </a14:m>
                <a:r>
                  <a:rPr lang="en-US" sz="1800" dirty="0"/>
                  <a:t> is zero, and Z is set to 1; otherwise Z is cleared.</a:t>
                </a:r>
              </a:p>
            </p:txBody>
          </p:sp>
        </mc:Choice>
        <mc:Fallback>
          <p:sp>
            <p:nvSpPr>
              <p:cNvPr id="4" name="Content Placeholder 3"/>
              <p:cNvSpPr>
                <a:spLocks noGrp="1" noRot="1" noChangeAspect="1" noMove="1" noResize="1" noEditPoints="1" noAdjustHandles="1" noChangeArrowheads="1" noChangeShapeType="1" noTextEdit="1"/>
              </p:cNvSpPr>
              <p:nvPr>
                <p:ph sz="quarter" idx="1"/>
              </p:nvPr>
            </p:nvSpPr>
            <p:spPr>
              <a:xfrm>
                <a:off x="685800" y="1447800"/>
                <a:ext cx="8686800" cy="4709160"/>
              </a:xfrm>
              <a:blipFill>
                <a:blip r:embed="rId3"/>
                <a:stretch>
                  <a:fillRect l="-211" t="-1554"/>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8DCF8158-0829-196C-D9FE-1C770A94B4C4}"/>
              </a:ext>
            </a:extLst>
          </p:cNvPr>
          <p:cNvGraphicFramePr>
            <a:graphicFrameLocks noGrp="1"/>
          </p:cNvGraphicFramePr>
          <p:nvPr>
            <p:extLst>
              <p:ext uri="{D42A27DB-BD31-4B8C-83A1-F6EECF244321}">
                <p14:modId xmlns:p14="http://schemas.microsoft.com/office/powerpoint/2010/main" val="1239562302"/>
              </p:ext>
            </p:extLst>
          </p:nvPr>
        </p:nvGraphicFramePr>
        <p:xfrm>
          <a:off x="9776968" y="1828800"/>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AND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771978248"/>
                  </a:ext>
                </a:extLst>
              </a:tr>
            </a:tbl>
          </a:graphicData>
        </a:graphic>
      </p:graphicFrame>
      <p:graphicFrame>
        <p:nvGraphicFramePr>
          <p:cNvPr id="6" name="Table 5">
            <a:extLst>
              <a:ext uri="{FF2B5EF4-FFF2-40B4-BE49-F238E27FC236}">
                <a16:creationId xmlns:a16="http://schemas.microsoft.com/office/drawing/2014/main" id="{03FCCA32-130C-6803-E182-E05ADA9ECB49}"/>
              </a:ext>
            </a:extLst>
          </p:cNvPr>
          <p:cNvGraphicFramePr>
            <a:graphicFrameLocks noGrp="1"/>
          </p:cNvGraphicFramePr>
          <p:nvPr>
            <p:extLst>
              <p:ext uri="{D42A27DB-BD31-4B8C-83A1-F6EECF244321}">
                <p14:modId xmlns:p14="http://schemas.microsoft.com/office/powerpoint/2010/main" val="375375003"/>
              </p:ext>
            </p:extLst>
          </p:nvPr>
        </p:nvGraphicFramePr>
        <p:xfrm>
          <a:off x="9776968" y="3949491"/>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XOR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771978248"/>
                  </a:ext>
                </a:extLst>
              </a:tr>
            </a:tbl>
          </a:graphicData>
        </a:graphic>
      </p:graphicFrame>
    </p:spTree>
    <p:extLst>
      <p:ext uri="{BB962C8B-B14F-4D97-AF65-F5344CB8AC3E}">
        <p14:creationId xmlns:p14="http://schemas.microsoft.com/office/powerpoint/2010/main" val="3037248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27C1-1F30-01B4-EDA5-AA372A7564E3}"/>
              </a:ext>
            </a:extLst>
          </p:cNvPr>
          <p:cNvSpPr>
            <a:spLocks noGrp="1"/>
          </p:cNvSpPr>
          <p:nvPr>
            <p:ph type="title"/>
          </p:nvPr>
        </p:nvSpPr>
        <p:spPr/>
        <p:txBody>
          <a:bodyPr/>
          <a:lstStyle/>
          <a:p>
            <a:r>
              <a:rPr lang="en-US" dirty="0"/>
              <a:t>Example of TEQ</a:t>
            </a:r>
          </a:p>
        </p:txBody>
      </p:sp>
      <p:sp>
        <p:nvSpPr>
          <p:cNvPr id="3" name="Slide Number Placeholder 2">
            <a:extLst>
              <a:ext uri="{FF2B5EF4-FFF2-40B4-BE49-F238E27FC236}">
                <a16:creationId xmlns:a16="http://schemas.microsoft.com/office/drawing/2014/main" id="{45F24D4A-7641-EB87-BBFE-58459B1F105F}"/>
              </a:ext>
            </a:extLst>
          </p:cNvPr>
          <p:cNvSpPr>
            <a:spLocks noGrp="1"/>
          </p:cNvSpPr>
          <p:nvPr>
            <p:ph type="sldNum" sz="quarter" idx="12"/>
          </p:nvPr>
        </p:nvSpPr>
        <p:spPr/>
        <p:txBody>
          <a:bodyPr/>
          <a:lstStyle/>
          <a:p>
            <a:fld id="{EA7C8D44-3667-46F6-9772-CC52308E2A7F}" type="slidenum">
              <a:rPr kumimoji="0" lang="en-US" smtClean="0"/>
              <a:pPr/>
              <a:t>9</a:t>
            </a:fld>
            <a:endParaRPr kumimoji="0" lang="en-US" dirty="0"/>
          </a:p>
        </p:txBody>
      </p:sp>
      <p:sp>
        <p:nvSpPr>
          <p:cNvPr id="4" name="Content Placeholder 3">
            <a:extLst>
              <a:ext uri="{FF2B5EF4-FFF2-40B4-BE49-F238E27FC236}">
                <a16:creationId xmlns:a16="http://schemas.microsoft.com/office/drawing/2014/main" id="{0994813A-6090-94C3-BB20-0506E22F6AC2}"/>
              </a:ext>
            </a:extLst>
          </p:cNvPr>
          <p:cNvSpPr>
            <a:spLocks noGrp="1"/>
          </p:cNvSpPr>
          <p:nvPr>
            <p:ph sz="quarter" idx="1"/>
          </p:nvPr>
        </p:nvSpPr>
        <p:spPr>
          <a:xfrm>
            <a:off x="990600" y="1219200"/>
            <a:ext cx="9220200" cy="990600"/>
          </a:xfrm>
        </p:spPr>
        <p:txBody>
          <a:bodyPr/>
          <a:lstStyle/>
          <a:p>
            <a:r>
              <a:rPr lang="pt-BR" dirty="0"/>
              <a:t>Translate C code into assembly:</a:t>
            </a:r>
          </a:p>
        </p:txBody>
      </p:sp>
      <mc:AlternateContent xmlns:mc="http://schemas.openxmlformats.org/markup-compatibility/2006">
        <mc:Choice xmlns:a14="http://schemas.microsoft.com/office/drawing/2010/main" Requires="a14">
          <p:sp>
            <p:nvSpPr>
              <p:cNvPr id="6" name="Content Placeholder 3">
                <a:extLst>
                  <a:ext uri="{FF2B5EF4-FFF2-40B4-BE49-F238E27FC236}">
                    <a16:creationId xmlns:a16="http://schemas.microsoft.com/office/drawing/2014/main" id="{E5FFFCF9-37E2-4F46-BF73-3BA72A325AB2}"/>
                  </a:ext>
                </a:extLst>
              </p:cNvPr>
              <p:cNvSpPr txBox="1">
                <a:spLocks/>
              </p:cNvSpPr>
              <p:nvPr/>
            </p:nvSpPr>
            <p:spPr>
              <a:xfrm>
                <a:off x="990600" y="3200400"/>
                <a:ext cx="10210800" cy="3281640"/>
              </a:xfrm>
              <a:prstGeom prst="rect">
                <a:avLst/>
              </a:prstGeom>
            </p:spPr>
            <p:txBody>
              <a:bodyPr vert="horz">
                <a:normAutofit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TEQ r0, #‘!’ performs a test-equal by computing </a:t>
                </a:r>
                <a14:m>
                  <m:oMath xmlns:m="http://schemas.openxmlformats.org/officeDocument/2006/math">
                    <m:r>
                      <a:rPr lang="en-US" i="1">
                        <a:latin typeface="Cambria Math" panose="02040503050406030204" pitchFamily="18" charset="0"/>
                      </a:rPr>
                      <m:t>𝑟</m:t>
                    </m:r>
                    <m:r>
                      <a:rPr lang="en-US">
                        <a:latin typeface="Cambria Math" panose="02040503050406030204" pitchFamily="18" charset="0"/>
                      </a:rPr>
                      <m:t>0</m:t>
                    </m:r>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m:t>
                        </m:r>
                      </m:sup>
                    </m:sSup>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m:t>
                        </m:r>
                      </m:sup>
                    </m:sSup>
                  </m:oMath>
                </a14:m>
                <a:r>
                  <a:rPr lang="ar-AE" dirty="0"/>
                  <a:t> </a:t>
                </a:r>
                <a:r>
                  <a:rPr lang="en-US" dirty="0"/>
                  <a:t>and setting condition flags; Z=1 when r0 equals ‘!’. </a:t>
                </a:r>
              </a:p>
              <a:p>
                <a:r>
                  <a:rPr lang="en-US" dirty="0"/>
                  <a:t>TEQNE r0, #‘?’ executes only if the previous Z=0 (i.e., char was not ‘!’); it tests r0 against ‘?’ and sets Z accordingly. This achieves the logical OR without branches by conditionally running the second test only when needed (short-circuit evaluation).</a:t>
                </a:r>
              </a:p>
              <a:p>
                <a:r>
                  <a:rPr lang="en-US" dirty="0"/>
                  <a:t>ADDEQ r1, r1, #1 executes only if Z=1 after the tests, meaning char matched either ‘!’ or ‘?’, so it increments found in r1</a:t>
                </a:r>
              </a:p>
              <a:p>
                <a:endParaRPr lang="en-US" dirty="0"/>
              </a:p>
            </p:txBody>
          </p:sp>
        </mc:Choice>
        <mc:Fallback>
          <p:sp>
            <p:nvSpPr>
              <p:cNvPr id="6" name="Content Placeholder 3">
                <a:extLst>
                  <a:ext uri="{FF2B5EF4-FFF2-40B4-BE49-F238E27FC236}">
                    <a16:creationId xmlns:a16="http://schemas.microsoft.com/office/drawing/2014/main" id="{E5FFFCF9-37E2-4F46-BF73-3BA72A325AB2}"/>
                  </a:ext>
                </a:extLst>
              </p:cNvPr>
              <p:cNvSpPr txBox="1">
                <a:spLocks noRot="1" noChangeAspect="1" noMove="1" noResize="1" noEditPoints="1" noAdjustHandles="1" noChangeArrowheads="1" noChangeShapeType="1" noTextEdit="1"/>
              </p:cNvSpPr>
              <p:nvPr/>
            </p:nvSpPr>
            <p:spPr>
              <a:xfrm>
                <a:off x="990600" y="3200400"/>
                <a:ext cx="10210800" cy="3281640"/>
              </a:xfrm>
              <a:prstGeom prst="rect">
                <a:avLst/>
              </a:prstGeom>
              <a:blipFill>
                <a:blip r:embed="rId2"/>
                <a:stretch>
                  <a:fillRect l="-537" t="-2974"/>
                </a:stretch>
              </a:blipFill>
            </p:spPr>
            <p:txBody>
              <a:bodyPr/>
              <a:lstStyle/>
              <a:p>
                <a:r>
                  <a:rPr lang="en-US">
                    <a:noFill/>
                  </a:rPr>
                  <a:t> </a:t>
                </a:r>
              </a:p>
            </p:txBody>
          </p:sp>
        </mc:Fallback>
      </mc:AlternateContent>
      <p:graphicFrame>
        <p:nvGraphicFramePr>
          <p:cNvPr id="7" name="Table 6">
            <a:extLst>
              <a:ext uri="{FF2B5EF4-FFF2-40B4-BE49-F238E27FC236}">
                <a16:creationId xmlns:a16="http://schemas.microsoft.com/office/drawing/2014/main" id="{92162710-0645-EA84-2B5C-000E62B73A45}"/>
              </a:ext>
            </a:extLst>
          </p:cNvPr>
          <p:cNvGraphicFramePr>
            <a:graphicFrameLocks noGrp="1"/>
          </p:cNvGraphicFramePr>
          <p:nvPr>
            <p:extLst>
              <p:ext uri="{D42A27DB-BD31-4B8C-83A1-F6EECF244321}">
                <p14:modId xmlns:p14="http://schemas.microsoft.com/office/powerpoint/2010/main" val="1083452584"/>
              </p:ext>
            </p:extLst>
          </p:nvPr>
        </p:nvGraphicFramePr>
        <p:xfrm>
          <a:off x="1828800" y="1806067"/>
          <a:ext cx="8256373" cy="1261872"/>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239268">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C Code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Assembly</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957072">
                <a:tc>
                  <a:txBody>
                    <a:bodyPr/>
                    <a:lstStyle/>
                    <a:p>
                      <a:pPr marL="0" marR="0" algn="just">
                        <a:spcBef>
                          <a:spcPts val="0"/>
                        </a:spcBef>
                        <a:spcAft>
                          <a:spcPts val="0"/>
                        </a:spcAft>
                      </a:pPr>
                      <a:r>
                        <a:rPr lang="en-US" sz="2000" dirty="0">
                          <a:effectLst/>
                          <a:latin typeface="Consolas" panose="020B0609020204030204" pitchFamily="49" charset="0"/>
                          <a:ea typeface="宋体"/>
                          <a:cs typeface="Consolas" panose="020B0609020204030204" pitchFamily="49" charset="0"/>
                        </a:rPr>
                        <a:t>if (char==‘!’||char==‘?’) found++; </a:t>
                      </a:r>
                    </a:p>
                    <a:p>
                      <a:pPr marL="0" marR="0" algn="just">
                        <a:spcBef>
                          <a:spcPts val="0"/>
                        </a:spcBef>
                        <a:spcAft>
                          <a:spcPts val="0"/>
                        </a:spcAft>
                      </a:pP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TEQ r0, #‘!’ </a:t>
                      </a:r>
                    </a:p>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TEQNE r0, #‘?’</a:t>
                      </a:r>
                    </a:p>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ADDEQ r1, r1, #1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74562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Unconditional Branch Instructions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10</a:t>
            </a:fld>
            <a:endParaRPr kumimoji="0" lang="en-US" dirty="0"/>
          </a:p>
        </p:txBody>
      </p:sp>
      <p:sp>
        <p:nvSpPr>
          <p:cNvPr id="5" name="Content Placeholder 4"/>
          <p:cNvSpPr>
            <a:spLocks noGrp="1"/>
          </p:cNvSpPr>
          <p:nvPr>
            <p:ph sz="quarter" idx="1"/>
          </p:nvPr>
        </p:nvSpPr>
        <p:spPr>
          <a:xfrm>
            <a:off x="842932" y="3228829"/>
            <a:ext cx="8534400" cy="2880360"/>
          </a:xfrm>
        </p:spPr>
        <p:txBody>
          <a:bodyPr>
            <a:normAutofit fontScale="92500" lnSpcReduction="20000"/>
          </a:bodyPr>
          <a:lstStyle/>
          <a:p>
            <a:r>
              <a:rPr lang="en-US" sz="2000" i="1" dirty="0">
                <a:solidFill>
                  <a:srgbClr val="FF0000"/>
                </a:solidFill>
              </a:rPr>
              <a:t>B label</a:t>
            </a:r>
            <a:r>
              <a:rPr lang="en-US" sz="2000" dirty="0"/>
              <a:t> </a:t>
            </a:r>
          </a:p>
          <a:p>
            <a:pPr lvl="1"/>
            <a:r>
              <a:rPr lang="en-US" sz="1700" dirty="0"/>
              <a:t>cause a branch to label.</a:t>
            </a:r>
          </a:p>
          <a:p>
            <a:r>
              <a:rPr lang="en-US" sz="2000" i="1" dirty="0">
                <a:solidFill>
                  <a:srgbClr val="FF0000"/>
                </a:solidFill>
              </a:rPr>
              <a:t>BL label</a:t>
            </a:r>
            <a:endParaRPr lang="en-US" sz="2000" dirty="0"/>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cause a branch to label.</a:t>
            </a:r>
          </a:p>
          <a:p>
            <a:r>
              <a:rPr lang="en-US" sz="2000" i="1" dirty="0">
                <a:solidFill>
                  <a:srgbClr val="FF0000"/>
                </a:solidFill>
              </a:rPr>
              <a:t>BX Rm</a:t>
            </a:r>
            <a:endParaRPr lang="en-US" sz="2000" dirty="0"/>
          </a:p>
          <a:p>
            <a:pPr lvl="1"/>
            <a:r>
              <a:rPr lang="en-US" sz="1700" dirty="0"/>
              <a:t>branch to the address held in Rm</a:t>
            </a:r>
          </a:p>
          <a:p>
            <a:r>
              <a:rPr lang="en-US" sz="2000" i="1" dirty="0">
                <a:solidFill>
                  <a:srgbClr val="FF0000"/>
                </a:solidFill>
              </a:rPr>
              <a:t>BLX Rm</a:t>
            </a:r>
            <a:r>
              <a:rPr lang="en-US" sz="2000" dirty="0"/>
              <a:t>: </a:t>
            </a:r>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branch to the address held in Rm</a:t>
            </a:r>
          </a:p>
        </p:txBody>
      </p:sp>
      <p:graphicFrame>
        <p:nvGraphicFramePr>
          <p:cNvPr id="3" name="Table 2"/>
          <p:cNvGraphicFramePr>
            <a:graphicFrameLocks noGrp="1"/>
          </p:cNvGraphicFramePr>
          <p:nvPr>
            <p:extLst>
              <p:ext uri="{D42A27DB-BD31-4B8C-83A1-F6EECF244321}">
                <p14:modId xmlns:p14="http://schemas.microsoft.com/office/powerpoint/2010/main" val="2406667574"/>
              </p:ext>
            </p:extLst>
          </p:nvPr>
        </p:nvGraphicFramePr>
        <p:xfrm>
          <a:off x="3352801" y="1503389"/>
          <a:ext cx="5791199" cy="1478280"/>
        </p:xfrm>
        <a:graphic>
          <a:graphicData uri="http://schemas.openxmlformats.org/drawingml/2006/table">
            <a:tbl>
              <a:tblPr firstRow="1" firstCol="1" bandRow="1">
                <a:tableStyleId>{B301B821-A1FF-4177-AEE7-76D212191A09}</a:tableStyleId>
              </a:tblPr>
              <a:tblGrid>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104057392"/>
                    </a:ext>
                  </a:extLst>
                </a:gridCol>
                <a:gridCol w="3047999">
                  <a:extLst>
                    <a:ext uri="{9D8B030D-6E8A-4147-A177-3AD203B41FA5}">
                      <a16:colId xmlns:a16="http://schemas.microsoft.com/office/drawing/2014/main" val="20002"/>
                    </a:ext>
                  </a:extLst>
                </a:gridCol>
              </a:tblGrid>
              <a:tr h="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nchorCtr="1">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Consolas" panose="020B0609020204030204" pitchFamily="49" charset="0"/>
                        </a:rPr>
                        <a:t>label</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effectLst/>
                          <a:latin typeface="Consolas" panose="020B0609020204030204" pitchFamily="49" charset="0"/>
                        </a:rPr>
                        <a:t>label</a:t>
                      </a:r>
                      <a:endParaRPr lang="en-US" sz="180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BLX</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BX</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6055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Unconditional Branch Instructions:</a:t>
            </a:r>
            <a:br>
              <a:rPr lang="en-US" dirty="0"/>
            </a:br>
            <a:r>
              <a:rPr lang="en-US" dirty="0"/>
              <a:t>A Simple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11</a:t>
            </a:fld>
            <a:endParaRPr kumimoji="0" lang="en-US" dirty="0"/>
          </a:p>
        </p:txBody>
      </p:sp>
      <p:sp>
        <p:nvSpPr>
          <p:cNvPr id="4" name="Content Placeholder 3"/>
          <p:cNvSpPr>
            <a:spLocks noGrp="1"/>
          </p:cNvSpPr>
          <p:nvPr>
            <p:ph sz="quarter" idx="1"/>
          </p:nvPr>
        </p:nvSpPr>
        <p:spPr>
          <a:xfrm>
            <a:off x="2136648" y="4253396"/>
            <a:ext cx="8229600" cy="1280160"/>
          </a:xfrm>
        </p:spPr>
        <p:txBody>
          <a:bodyPr>
            <a:normAutofit fontScale="77500" lnSpcReduction="20000"/>
          </a:bodyPr>
          <a:lstStyle/>
          <a:p>
            <a:r>
              <a:rPr lang="en-US" dirty="0"/>
              <a:t>A </a:t>
            </a:r>
            <a:r>
              <a:rPr lang="en-US" dirty="0">
                <a:solidFill>
                  <a:srgbClr val="FF0000"/>
                </a:solidFill>
              </a:rPr>
              <a:t>label</a:t>
            </a:r>
            <a:r>
              <a:rPr lang="en-US" dirty="0"/>
              <a:t> marks the location of an instruction</a:t>
            </a:r>
          </a:p>
          <a:p>
            <a:r>
              <a:rPr lang="en-US" dirty="0"/>
              <a:t>Labels helps human to read the code</a:t>
            </a:r>
          </a:p>
          <a:p>
            <a:r>
              <a:rPr lang="en-US" dirty="0"/>
              <a:t>In machine program, labels are converted to numeric offsets by assembler </a:t>
            </a:r>
          </a:p>
        </p:txBody>
      </p:sp>
      <p:sp>
        <p:nvSpPr>
          <p:cNvPr id="5" name="TextBox 4"/>
          <p:cNvSpPr txBox="1"/>
          <p:nvPr/>
        </p:nvSpPr>
        <p:spPr>
          <a:xfrm>
            <a:off x="3478894" y="1729343"/>
            <a:ext cx="5545108"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latin typeface="Consolas" panose="020B0609020204030204" pitchFamily="49" charset="0"/>
              </a:rPr>
              <a:t>       MOVS r1, #1</a:t>
            </a:r>
          </a:p>
          <a:p>
            <a:r>
              <a:rPr lang="en-US" sz="2000" dirty="0">
                <a:latin typeface="Consolas" panose="020B0609020204030204" pitchFamily="49" charset="0"/>
              </a:rPr>
              <a:t>       </a:t>
            </a:r>
            <a:r>
              <a:rPr lang="en-US" sz="2000" b="1" dirty="0">
                <a:solidFill>
                  <a:srgbClr val="FF0000"/>
                </a:solidFill>
                <a:latin typeface="Consolas" panose="020B0609020204030204" pitchFamily="49" charset="0"/>
              </a:rPr>
              <a:t>B    target  </a:t>
            </a:r>
            <a:r>
              <a:rPr lang="en-US" sz="2000" dirty="0">
                <a:solidFill>
                  <a:schemeClr val="bg1">
                    <a:lumMod val="50000"/>
                  </a:schemeClr>
                </a:solidFill>
                <a:latin typeface="Consolas" panose="020B0609020204030204" pitchFamily="49" charset="0"/>
              </a:rPr>
              <a:t>; Branch to target</a:t>
            </a:r>
            <a:endParaRPr lang="en-US" sz="2000" b="1" dirty="0">
              <a:solidFill>
                <a:srgbClr val="FF0000"/>
              </a:solidFill>
              <a:latin typeface="Consolas" panose="020B0609020204030204" pitchFamily="49" charset="0"/>
            </a:endParaRPr>
          </a:p>
          <a:p>
            <a:r>
              <a:rPr lang="en-US" sz="2000" dirty="0">
                <a:latin typeface="Consolas" panose="020B0609020204030204" pitchFamily="49" charset="0"/>
              </a:rPr>
              <a:t>       MOVS r2, #2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r3, #3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r4, #4  </a:t>
            </a:r>
            <a:r>
              <a:rPr lang="en-US" sz="2000" dirty="0">
                <a:solidFill>
                  <a:srgbClr val="0000FF"/>
                </a:solidFill>
                <a:latin typeface="Consolas" panose="020B0609020204030204" pitchFamily="49" charset="0"/>
              </a:rPr>
              <a:t>; Not executed</a:t>
            </a:r>
          </a:p>
          <a:p>
            <a:r>
              <a:rPr lang="en-US" sz="2000" b="1" dirty="0">
                <a:solidFill>
                  <a:srgbClr val="FF0000"/>
                </a:solidFill>
                <a:latin typeface="Consolas" panose="020B0609020204030204" pitchFamily="49" charset="0"/>
              </a:rPr>
              <a:t>target</a:t>
            </a:r>
            <a:r>
              <a:rPr lang="en-US" sz="2000" dirty="0">
                <a:latin typeface="Consolas" panose="020B0609020204030204" pitchFamily="49" charset="0"/>
              </a:rPr>
              <a:t> MOVS r5, #5</a:t>
            </a:r>
          </a:p>
        </p:txBody>
      </p:sp>
    </p:spTree>
    <p:extLst>
      <p:ext uri="{BB962C8B-B14F-4D97-AF65-F5344CB8AC3E}">
        <p14:creationId xmlns:p14="http://schemas.microsoft.com/office/powerpoint/2010/main" val="2162368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981200" y="5038"/>
            <a:ext cx="7772400" cy="1143000"/>
          </a:xfrm>
        </p:spPr>
        <p:txBody>
          <a:bodyPr/>
          <a:lstStyle/>
          <a:p>
            <a:r>
              <a:rPr lang="en-US" dirty="0"/>
              <a:t>Signed vs. Unsigned</a:t>
            </a:r>
            <a:r>
              <a:rPr lang="zh-CN" altLang="en-US" dirty="0"/>
              <a:t> </a:t>
            </a:r>
            <a:r>
              <a:rPr lang="en-US" altLang="zh-CN" dirty="0"/>
              <a:t>Comparison</a:t>
            </a:r>
            <a:endParaRPr lang="en-US" dirty="0"/>
          </a:p>
        </p:txBody>
      </p:sp>
      <p:sp>
        <p:nvSpPr>
          <p:cNvPr id="2" name="Slide Number Placeholder 1"/>
          <p:cNvSpPr>
            <a:spLocks noGrp="1"/>
          </p:cNvSpPr>
          <p:nvPr>
            <p:ph type="sldNum" sz="quarter" idx="11"/>
          </p:nvPr>
        </p:nvSpPr>
        <p:spPr/>
        <p:txBody>
          <a:bodyPr/>
          <a:lstStyle/>
          <a:p>
            <a:pPr>
              <a:defRPr/>
            </a:pPr>
            <a:fld id="{7D3083A4-9012-4F92-8AC9-739FC4D3B103}" type="slidenum">
              <a:rPr lang="en-US" smtClean="0"/>
              <a:pPr>
                <a:defRPr/>
              </a:pPr>
              <a:t>12</a:t>
            </a:fld>
            <a:endParaRPr lang="en-US"/>
          </a:p>
        </p:txBody>
      </p:sp>
      <p:sp>
        <p:nvSpPr>
          <p:cNvPr id="3" name="TextBox 2"/>
          <p:cNvSpPr txBox="1"/>
          <p:nvPr/>
        </p:nvSpPr>
        <p:spPr>
          <a:xfrm>
            <a:off x="6797812" y="1241454"/>
            <a:ext cx="3396977" cy="646331"/>
          </a:xfrm>
          <a:prstGeom prst="rect">
            <a:avLst/>
          </a:prstGeom>
          <a:noFill/>
        </p:spPr>
        <p:txBody>
          <a:bodyPr wrap="square" rtlCol="0">
            <a:spAutoFit/>
          </a:bodyPr>
          <a:lstStyle/>
          <a:p>
            <a:pPr algn="ctr"/>
            <a:r>
              <a:rPr lang="en-US" dirty="0"/>
              <a:t>Conditional codes applied to branch instructions</a:t>
            </a:r>
          </a:p>
        </p:txBody>
      </p:sp>
      <p:sp>
        <p:nvSpPr>
          <p:cNvPr id="4" name="Right Arrow 3"/>
          <p:cNvSpPr/>
          <p:nvPr/>
        </p:nvSpPr>
        <p:spPr>
          <a:xfrm>
            <a:off x="5776783" y="3238500"/>
            <a:ext cx="533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roup 92"/>
          <p:cNvGraphicFramePr>
            <a:graphicFrameLocks/>
          </p:cNvGraphicFramePr>
          <p:nvPr>
            <p:extLst>
              <p:ext uri="{D42A27DB-BD31-4B8C-83A1-F6EECF244321}">
                <p14:modId xmlns:p14="http://schemas.microsoft.com/office/powerpoint/2010/main" val="217241857"/>
              </p:ext>
            </p:extLst>
          </p:nvPr>
        </p:nvGraphicFramePr>
        <p:xfrm>
          <a:off x="6553201" y="1981200"/>
          <a:ext cx="3886201" cy="2743200"/>
        </p:xfrm>
        <a:graphic>
          <a:graphicData uri="http://schemas.openxmlformats.org/drawingml/2006/table">
            <a:tbl>
              <a:tblPr/>
              <a:tblGrid>
                <a:gridCol w="1423903">
                  <a:extLst>
                    <a:ext uri="{9D8B030D-6E8A-4147-A177-3AD203B41FA5}">
                      <a16:colId xmlns:a16="http://schemas.microsoft.com/office/drawing/2014/main" val="20000"/>
                    </a:ext>
                  </a:extLst>
                </a:gridCol>
                <a:gridCol w="1173389">
                  <a:extLst>
                    <a:ext uri="{9D8B030D-6E8A-4147-A177-3AD203B41FA5}">
                      <a16:colId xmlns:a16="http://schemas.microsoft.com/office/drawing/2014/main" val="20001"/>
                    </a:ext>
                  </a:extLst>
                </a:gridCol>
                <a:gridCol w="1288909">
                  <a:extLst>
                    <a:ext uri="{9D8B030D-6E8A-4147-A177-3AD203B41FA5}">
                      <a16:colId xmlns:a16="http://schemas.microsoft.com/office/drawing/2014/main" val="20002"/>
                    </a:ext>
                  </a:extLst>
                </a:gridCol>
              </a:tblGrid>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807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13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924021"/>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4926228"/>
                  </a:ext>
                </a:extLst>
              </a:tr>
            </a:tbl>
          </a:graphicData>
        </a:graphic>
      </p:graphicFrame>
      <p:graphicFrame>
        <p:nvGraphicFramePr>
          <p:cNvPr id="449628" name="Group 92"/>
          <p:cNvGraphicFramePr>
            <a:graphicFrameLocks noGrp="1"/>
          </p:cNvGraphicFramePr>
          <p:nvPr>
            <p:ph idx="1"/>
            <p:extLst>
              <p:ext uri="{D42A27DB-BD31-4B8C-83A1-F6EECF244321}">
                <p14:modId xmlns:p14="http://schemas.microsoft.com/office/powerpoint/2010/main" val="1554878028"/>
              </p:ext>
            </p:extLst>
          </p:nvPr>
        </p:nvGraphicFramePr>
        <p:xfrm>
          <a:off x="1752600" y="1981200"/>
          <a:ext cx="3809998" cy="2743200"/>
        </p:xfrm>
        <a:graphic>
          <a:graphicData uri="http://schemas.openxmlformats.org/drawingml/2006/table">
            <a:tbl>
              <a:tblPr/>
              <a:tblGrid>
                <a:gridCol w="1191059">
                  <a:extLst>
                    <a:ext uri="{9D8B030D-6E8A-4147-A177-3AD203B41FA5}">
                      <a16:colId xmlns:a16="http://schemas.microsoft.com/office/drawing/2014/main" val="20000"/>
                    </a:ext>
                  </a:extLst>
                </a:gridCol>
                <a:gridCol w="1281608">
                  <a:extLst>
                    <a:ext uri="{9D8B030D-6E8A-4147-A177-3AD203B41FA5}">
                      <a16:colId xmlns:a16="http://schemas.microsoft.com/office/drawing/2014/main" val="20001"/>
                    </a:ext>
                  </a:extLst>
                </a:gridCol>
                <a:gridCol w="1337331">
                  <a:extLst>
                    <a:ext uri="{9D8B030D-6E8A-4147-A177-3AD203B41FA5}">
                      <a16:colId xmlns:a16="http://schemas.microsoft.com/office/drawing/2014/main" val="20002"/>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Tree>
    <p:extLst>
      <p:ext uri="{BB962C8B-B14F-4D97-AF65-F5344CB8AC3E}">
        <p14:creationId xmlns:p14="http://schemas.microsoft.com/office/powerpoint/2010/main" val="20960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13</a:t>
            </a:fld>
            <a:endParaRPr kumimoji="0" lang="en-US" dirty="0"/>
          </a:p>
        </p:txBody>
      </p:sp>
      <p:graphicFrame>
        <p:nvGraphicFramePr>
          <p:cNvPr id="5" name="Table 4"/>
          <p:cNvGraphicFramePr>
            <a:graphicFrameLocks noGrp="1"/>
          </p:cNvGraphicFramePr>
          <p:nvPr/>
        </p:nvGraphicFramePr>
        <p:xfrm>
          <a:off x="1981200" y="1251568"/>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a:effectLst/>
                        </a:rPr>
                        <a:t>Unconditional Branch</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1307188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14342" name="Rectangle 5"/>
          <p:cNvSpPr>
            <a:spLocks noChangeArrowheads="1"/>
          </p:cNvSpPr>
          <p:nvPr/>
        </p:nvSpPr>
        <p:spPr bwMode="auto">
          <a:xfrm>
            <a:off x="4220972" y="2309814"/>
            <a:ext cx="3435035" cy="265113"/>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4220972" y="25749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4220972" y="28400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4220972" y="310515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4220972" y="204470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4220972" y="3635377"/>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4220972" y="3900489"/>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4220972" y="416560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4220972" y="443071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4220972" y="3370264"/>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4220972" y="49609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4220972" y="522605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4220972" y="549116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4220972" y="5756277"/>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4220972" y="46958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2947975" y="20447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2947975" y="23098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2947975" y="25749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2947975" y="28400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2947975" y="33702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2947975" y="36353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2947975" y="41656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2947975" y="44307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2947975" y="46958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2947975" y="49609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2947975" y="52260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2947975" y="54911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2947975" y="57562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2947975" y="31051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2947975" y="390048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2947975" y="1779589"/>
            <a:ext cx="1272997"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4220972" y="1779589"/>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14374" name="Rectangle 37"/>
          <p:cNvSpPr>
            <a:spLocks noChangeArrowheads="1"/>
          </p:cNvSpPr>
          <p:nvPr/>
        </p:nvSpPr>
        <p:spPr bwMode="auto">
          <a:xfrm>
            <a:off x="7656006" y="23098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a:t>
            </a:r>
          </a:p>
        </p:txBody>
      </p:sp>
      <p:sp>
        <p:nvSpPr>
          <p:cNvPr id="14375" name="Rectangle 38"/>
          <p:cNvSpPr>
            <a:spLocks noChangeArrowheads="1"/>
          </p:cNvSpPr>
          <p:nvPr/>
        </p:nvSpPr>
        <p:spPr bwMode="auto">
          <a:xfrm>
            <a:off x="7656006" y="25749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a:t>
            </a:r>
          </a:p>
        </p:txBody>
      </p:sp>
      <p:sp>
        <p:nvSpPr>
          <p:cNvPr id="14376" name="Rectangle 39"/>
          <p:cNvSpPr>
            <a:spLocks noChangeArrowheads="1"/>
          </p:cNvSpPr>
          <p:nvPr/>
        </p:nvSpPr>
        <p:spPr bwMode="auto">
          <a:xfrm>
            <a:off x="7656006" y="284003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a:t>
            </a:r>
          </a:p>
        </p:txBody>
      </p:sp>
      <p:sp>
        <p:nvSpPr>
          <p:cNvPr id="14377" name="Rectangle 40"/>
          <p:cNvSpPr>
            <a:spLocks noChangeArrowheads="1"/>
          </p:cNvSpPr>
          <p:nvPr/>
        </p:nvSpPr>
        <p:spPr bwMode="auto">
          <a:xfrm>
            <a:off x="7656006" y="20447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a:t>
            </a:r>
          </a:p>
        </p:txBody>
      </p:sp>
      <p:sp>
        <p:nvSpPr>
          <p:cNvPr id="14378" name="Rectangle 41"/>
          <p:cNvSpPr>
            <a:spLocks noChangeArrowheads="1"/>
          </p:cNvSpPr>
          <p:nvPr/>
        </p:nvSpPr>
        <p:spPr bwMode="auto">
          <a:xfrm>
            <a:off x="7656006" y="1779589"/>
            <a:ext cx="2021394"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rPr>
              <a:t>Flags tested</a:t>
            </a:r>
          </a:p>
        </p:txBody>
      </p:sp>
      <p:sp>
        <p:nvSpPr>
          <p:cNvPr id="14379" name="Rectangle 42"/>
          <p:cNvSpPr>
            <a:spLocks noChangeArrowheads="1"/>
          </p:cNvSpPr>
          <p:nvPr/>
        </p:nvSpPr>
        <p:spPr bwMode="auto">
          <a:xfrm>
            <a:off x="7656006" y="31051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N==1</a:t>
            </a:r>
          </a:p>
        </p:txBody>
      </p:sp>
      <p:sp>
        <p:nvSpPr>
          <p:cNvPr id="14380" name="Rectangle 43"/>
          <p:cNvSpPr>
            <a:spLocks noChangeArrowheads="1"/>
          </p:cNvSpPr>
          <p:nvPr/>
        </p:nvSpPr>
        <p:spPr bwMode="auto">
          <a:xfrm>
            <a:off x="7656006" y="33702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N==0</a:t>
            </a:r>
          </a:p>
        </p:txBody>
      </p:sp>
      <p:sp>
        <p:nvSpPr>
          <p:cNvPr id="14381" name="Rectangle 44"/>
          <p:cNvSpPr>
            <a:spLocks noChangeArrowheads="1"/>
          </p:cNvSpPr>
          <p:nvPr/>
        </p:nvSpPr>
        <p:spPr bwMode="auto">
          <a:xfrm>
            <a:off x="7656006" y="363537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V==1</a:t>
            </a:r>
          </a:p>
        </p:txBody>
      </p:sp>
      <p:sp>
        <p:nvSpPr>
          <p:cNvPr id="14382" name="Rectangle 45"/>
          <p:cNvSpPr>
            <a:spLocks noChangeArrowheads="1"/>
          </p:cNvSpPr>
          <p:nvPr/>
        </p:nvSpPr>
        <p:spPr bwMode="auto">
          <a:xfrm>
            <a:off x="7656006" y="390048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V==0</a:t>
            </a:r>
          </a:p>
        </p:txBody>
      </p:sp>
      <p:sp>
        <p:nvSpPr>
          <p:cNvPr id="14383" name="Rectangle 46"/>
          <p:cNvSpPr>
            <a:spLocks noChangeArrowheads="1"/>
          </p:cNvSpPr>
          <p:nvPr/>
        </p:nvSpPr>
        <p:spPr bwMode="auto">
          <a:xfrm>
            <a:off x="7656006" y="41656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 and Z==0</a:t>
            </a:r>
          </a:p>
        </p:txBody>
      </p:sp>
      <p:sp>
        <p:nvSpPr>
          <p:cNvPr id="14384" name="Rectangle 47"/>
          <p:cNvSpPr>
            <a:spLocks noChangeArrowheads="1"/>
          </p:cNvSpPr>
          <p:nvPr/>
        </p:nvSpPr>
        <p:spPr bwMode="auto">
          <a:xfrm>
            <a:off x="7656006" y="44307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 or Z==1</a:t>
            </a:r>
          </a:p>
        </p:txBody>
      </p:sp>
      <p:sp>
        <p:nvSpPr>
          <p:cNvPr id="14385" name="Rectangle 48"/>
          <p:cNvSpPr>
            <a:spLocks noChangeArrowheads="1"/>
          </p:cNvSpPr>
          <p:nvPr/>
        </p:nvSpPr>
        <p:spPr bwMode="auto">
          <a:xfrm>
            <a:off x="7656006" y="46958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N==V</a:t>
            </a:r>
          </a:p>
        </p:txBody>
      </p:sp>
      <p:sp>
        <p:nvSpPr>
          <p:cNvPr id="14386" name="Rectangle 49"/>
          <p:cNvSpPr>
            <a:spLocks noChangeArrowheads="1"/>
          </p:cNvSpPr>
          <p:nvPr/>
        </p:nvSpPr>
        <p:spPr bwMode="auto">
          <a:xfrm>
            <a:off x="7656006" y="4960939"/>
            <a:ext cx="2021394" cy="265113"/>
          </a:xfrm>
          <a:prstGeom prst="rect">
            <a:avLst/>
          </a:prstGeom>
          <a:noFill/>
          <a:ln w="12700">
            <a:solidFill>
              <a:schemeClr val="tx1"/>
            </a:solidFill>
            <a:miter lim="800000"/>
            <a:headEnd/>
            <a:tailEnd/>
          </a:ln>
        </p:spPr>
        <p:txBody>
          <a:bodyPr wrap="none" anchor="ctr"/>
          <a:lstStyle/>
          <a:p>
            <a:r>
              <a:rPr lang="en-US" b="1">
                <a:solidFill>
                  <a:srgbClr val="FF0000"/>
                </a:solidFill>
                <a:latin typeface="Consolas" panose="020B0609020204030204" pitchFamily="49" charset="0"/>
              </a:rPr>
              <a:t>N!=V</a:t>
            </a:r>
          </a:p>
        </p:txBody>
      </p:sp>
      <p:sp>
        <p:nvSpPr>
          <p:cNvPr id="14387" name="Rectangle 50"/>
          <p:cNvSpPr>
            <a:spLocks noChangeArrowheads="1"/>
          </p:cNvSpPr>
          <p:nvPr/>
        </p:nvSpPr>
        <p:spPr bwMode="auto">
          <a:xfrm>
            <a:off x="7656006" y="52260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 and N==V</a:t>
            </a:r>
          </a:p>
        </p:txBody>
      </p:sp>
      <p:sp>
        <p:nvSpPr>
          <p:cNvPr id="14388" name="Rectangle 51"/>
          <p:cNvSpPr>
            <a:spLocks noChangeArrowheads="1"/>
          </p:cNvSpPr>
          <p:nvPr/>
        </p:nvSpPr>
        <p:spPr bwMode="auto">
          <a:xfrm>
            <a:off x="7656006" y="54911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 or N!=V</a:t>
            </a:r>
          </a:p>
        </p:txBody>
      </p:sp>
      <p:sp>
        <p:nvSpPr>
          <p:cNvPr id="14389" name="Rectangle 52"/>
          <p:cNvSpPr>
            <a:spLocks noChangeArrowheads="1"/>
          </p:cNvSpPr>
          <p:nvPr/>
        </p:nvSpPr>
        <p:spPr bwMode="auto">
          <a:xfrm>
            <a:off x="7656006" y="5756277"/>
            <a:ext cx="2021394" cy="265113"/>
          </a:xfrm>
          <a:prstGeom prst="rect">
            <a:avLst/>
          </a:prstGeom>
          <a:noFill/>
          <a:ln w="12700">
            <a:solidFill>
              <a:schemeClr val="tx1"/>
            </a:solidFill>
            <a:miter lim="800000"/>
            <a:headEnd/>
            <a:tailEnd/>
          </a:ln>
        </p:spPr>
        <p:txBody>
          <a:bodyPr wrap="none" anchor="ctr"/>
          <a:lstStyle/>
          <a:p>
            <a:endParaRPr lang="en-GB" b="1">
              <a:solidFill>
                <a:srgbClr val="FF0000"/>
              </a:solidFill>
              <a:latin typeface="Consolas" panose="020B0609020204030204" pitchFamily="49" charset="0"/>
            </a:endParaRPr>
          </a:p>
        </p:txBody>
      </p:sp>
      <p:sp>
        <p:nvSpPr>
          <p:cNvPr id="54" name="Slide Number Placeholder 53"/>
          <p:cNvSpPr>
            <a:spLocks noGrp="1"/>
          </p:cNvSpPr>
          <p:nvPr>
            <p:ph type="sldNum" sz="quarter" idx="12"/>
          </p:nvPr>
        </p:nvSpPr>
        <p:spPr/>
        <p:txBody>
          <a:bodyPr/>
          <a:lstStyle/>
          <a:p>
            <a:fld id="{AEE14D4A-FE32-40AF-B06D-E9622816B101}" type="slidenum">
              <a:rPr lang="en-US" smtClean="0"/>
              <a:pPr/>
              <a:t>14</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Tree>
    <p:extLst>
      <p:ext uri="{BB962C8B-B14F-4D97-AF65-F5344CB8AC3E}">
        <p14:creationId xmlns:p14="http://schemas.microsoft.com/office/powerpoint/2010/main" val="19778787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7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8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38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3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3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38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3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38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38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74" grpId="0" animBg="1"/>
      <p:bldP spid="14375" grpId="0" animBg="1"/>
      <p:bldP spid="14376" grpId="0" animBg="1"/>
      <p:bldP spid="14379" grpId="0" animBg="1"/>
      <p:bldP spid="14380" grpId="0" animBg="1"/>
      <p:bldP spid="14381" grpId="0" animBg="1"/>
      <p:bldP spid="14382" grpId="0" animBg="1"/>
      <p:bldP spid="14383" grpId="0" animBg="1"/>
      <p:bldP spid="14384" grpId="0" animBg="1"/>
      <p:bldP spid="14385" grpId="0" animBg="1"/>
      <p:bldP spid="14386" grpId="0" animBg="1"/>
      <p:bldP spid="14387" grpId="0" animBg="1"/>
      <p:bldP spid="14388" grpId="0" animBg="1"/>
      <p:bldP spid="1438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EB266-2500-E048-2146-236F3D176B69}"/>
              </a:ext>
            </a:extLst>
          </p:cNvPr>
          <p:cNvSpPr>
            <a:spLocks noGrp="1"/>
          </p:cNvSpPr>
          <p:nvPr>
            <p:ph type="title"/>
          </p:nvPr>
        </p:nvSpPr>
        <p:spPr/>
        <p:txBody>
          <a:bodyPr/>
          <a:lstStyle/>
          <a:p>
            <a:r>
              <a:rPr lang="en-US" dirty="0"/>
              <a:t>Unsigned and Signed Compares</a:t>
            </a:r>
          </a:p>
        </p:txBody>
      </p:sp>
      <p:sp>
        <p:nvSpPr>
          <p:cNvPr id="3" name="Slide Number Placeholder 2">
            <a:extLst>
              <a:ext uri="{FF2B5EF4-FFF2-40B4-BE49-F238E27FC236}">
                <a16:creationId xmlns:a16="http://schemas.microsoft.com/office/drawing/2014/main" id="{7AF22305-B408-E751-8150-138A525AD7A4}"/>
              </a:ext>
            </a:extLst>
          </p:cNvPr>
          <p:cNvSpPr>
            <a:spLocks noGrp="1"/>
          </p:cNvSpPr>
          <p:nvPr>
            <p:ph type="sldNum" sz="quarter" idx="12"/>
          </p:nvPr>
        </p:nvSpPr>
        <p:spPr/>
        <p:txBody>
          <a:bodyPr/>
          <a:lstStyle/>
          <a:p>
            <a:fld id="{EA7C8D44-3667-46F6-9772-CC52308E2A7F}" type="slidenum">
              <a:rPr kumimoji="0" lang="en-US" smtClean="0"/>
              <a:pPr/>
              <a:t>15</a:t>
            </a:fld>
            <a:endParaRPr kumimoji="0" lang="en-US" dirty="0"/>
          </a:p>
        </p:txBody>
      </p:sp>
      <p:sp>
        <p:nvSpPr>
          <p:cNvPr id="4" name="Content Placeholder 3">
            <a:extLst>
              <a:ext uri="{FF2B5EF4-FFF2-40B4-BE49-F238E27FC236}">
                <a16:creationId xmlns:a16="http://schemas.microsoft.com/office/drawing/2014/main" id="{5422A2C6-7F24-FA4F-9F2C-00B81D4ABBD8}"/>
              </a:ext>
            </a:extLst>
          </p:cNvPr>
          <p:cNvSpPr>
            <a:spLocks noGrp="1"/>
          </p:cNvSpPr>
          <p:nvPr>
            <p:ph sz="quarter" idx="1"/>
          </p:nvPr>
        </p:nvSpPr>
        <p:spPr>
          <a:xfrm>
            <a:off x="816864" y="1219200"/>
            <a:ext cx="10689336" cy="5257800"/>
          </a:xfrm>
        </p:spPr>
        <p:txBody>
          <a:bodyPr>
            <a:normAutofit fontScale="85000" lnSpcReduction="20000"/>
          </a:bodyPr>
          <a:lstStyle/>
          <a:p>
            <a:r>
              <a:rPr lang="en-US" dirty="0"/>
              <a:t>CMP a, b computes a - b and sets flags without keeping the result. For unsigned subtraction, borrow happens when a &lt; b.  ARM encodes “no borrow” (a ≥ b) as C=1, and “borrow” (a &lt; b) as C=0, while Z distinguishes equality. </a:t>
            </a:r>
          </a:p>
          <a:p>
            <a:pPr lvl="1"/>
            <a:r>
              <a:rPr lang="en-US" dirty="0"/>
              <a:t>HI (unsigned higher &gt;): the subtraction needs no borrow, so C=1, and it’s not equal, so Z=0. </a:t>
            </a:r>
          </a:p>
          <a:p>
            <a:pPr lvl="1"/>
            <a:r>
              <a:rPr lang="en-US" dirty="0"/>
              <a:t>HS/CS (higher or same/carry set ≥) : no borrow → C=1; equality allowed.</a:t>
            </a:r>
          </a:p>
          <a:p>
            <a:pPr lvl="1"/>
            <a:r>
              <a:rPr lang="en-US" dirty="0"/>
              <a:t>LO/CC (unsigned lower/carry clear &lt;): subtraction borrows → C=0. </a:t>
            </a:r>
          </a:p>
          <a:p>
            <a:pPr lvl="1"/>
            <a:r>
              <a:rPr lang="en-US" dirty="0"/>
              <a:t>LS (unsigned lower or same ≤): “lower or same” means either borrowed or equal → C=0 or Z=1. </a:t>
            </a:r>
          </a:p>
          <a:p>
            <a:r>
              <a:rPr lang="en-US" dirty="0"/>
              <a:t>For signed subtraction a - b, the sign bit N is correct if a ≥ b (no overflow, V = 0); the sign bit N is incorrect if a &lt; b (overflow, V = 1). </a:t>
            </a:r>
          </a:p>
          <a:p>
            <a:pPr lvl="1"/>
            <a:r>
              <a:rPr lang="en-US" dirty="0"/>
              <a:t>GE (signed greater or equal ≥): N == V. If there’s no overflow (V=0), non‑negative (N=0) means ≥; if there is overflow (V=1), N=1 (incorrect) also indicates the ≥ relation.</a:t>
            </a:r>
          </a:p>
          <a:p>
            <a:pPr lvl="1"/>
            <a:r>
              <a:rPr lang="en-US" dirty="0"/>
              <a:t>LT (signed less than &lt;): N != V. If there’s no overflow (V=0), negative (N=1) means &lt;; if there is overflow (V=1), N=0 (incorrect) also indicates the &lt; relation.</a:t>
            </a:r>
          </a:p>
          <a:p>
            <a:pPr lvl="1"/>
            <a:r>
              <a:rPr lang="en-US" dirty="0"/>
              <a:t>GT (signed greater than &gt;): N==V and Z=0. Strictly greater excludes equality, so combine GE with not equal.</a:t>
            </a:r>
          </a:p>
          <a:p>
            <a:pPr lvl="1"/>
            <a:r>
              <a:rPr lang="en-US" dirty="0"/>
              <a:t>LE (signed less or equal ≤): N != V or Z=1. Either strictly less, or equal.</a:t>
            </a:r>
          </a:p>
        </p:txBody>
      </p:sp>
    </p:spTree>
    <p:extLst>
      <p:ext uri="{BB962C8B-B14F-4D97-AF65-F5344CB8AC3E}">
        <p14:creationId xmlns:p14="http://schemas.microsoft.com/office/powerpoint/2010/main" val="4245009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2067858"/>
              </p:ext>
            </p:extLst>
          </p:nvPr>
        </p:nvGraphicFramePr>
        <p:xfrm>
          <a:off x="1676401" y="1865532"/>
          <a:ext cx="8763002" cy="3651349"/>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nchor="ctr" anchorCtr="1"/>
                </a:tc>
                <a:tc>
                  <a:txBody>
                    <a:bodyPr/>
                    <a:lstStyle/>
                    <a:p>
                      <a:pPr algn="ctr"/>
                      <a:r>
                        <a:rPr lang="en-US" dirty="0">
                          <a:latin typeface="Consolas" panose="020B0609020204030204" pitchFamily="49" charset="0"/>
                          <a:cs typeface="Consolas" panose="020B0609020204030204" pitchFamily="49" charset="0"/>
                        </a:rPr>
                        <a:t> N = 0</a:t>
                      </a:r>
                    </a:p>
                  </a:txBody>
                  <a:tcPr anchor="ctr" anchorCtr="1"/>
                </a:tc>
                <a:tc>
                  <a:txBody>
                    <a:bodyPr/>
                    <a:lstStyle/>
                    <a:p>
                      <a:pPr algn="ctr"/>
                      <a:r>
                        <a:rPr lang="en-US"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dirty="0"/>
                        <a:t>No</a:t>
                      </a:r>
                      <a:r>
                        <a:rPr lang="en-US" baseline="0" dirty="0"/>
                        <a:t> overflow, implying the result is correct. </a:t>
                      </a:r>
                    </a:p>
                    <a:p>
                      <a:pPr marL="285750" indent="-285750">
                        <a:buFont typeface="Arial" pitchFamily="34" charset="0"/>
                        <a:buChar char="•"/>
                      </a:pPr>
                      <a:r>
                        <a:rPr lang="en-US" baseline="0" dirty="0"/>
                        <a:t>The result is non-negative, </a:t>
                      </a:r>
                    </a:p>
                    <a:p>
                      <a:pPr marL="285750" indent="-285750">
                        <a:buFont typeface="Arial" pitchFamily="34" charset="0"/>
                        <a:buChar char="•"/>
                      </a:pPr>
                      <a:r>
                        <a:rPr lang="en-US" baseline="0" dirty="0"/>
                        <a:t>Thus </a:t>
                      </a:r>
                      <a:r>
                        <a:rPr lang="en-US" baseline="0" dirty="0">
                          <a:latin typeface="Consolas" panose="020B0609020204030204" pitchFamily="49" charset="0"/>
                        </a:rPr>
                        <a:t>r0 – r1 ≥ 0</a:t>
                      </a:r>
                      <a:r>
                        <a:rPr lang="en-US" baseline="0" dirty="0"/>
                        <a:t>, i.e., </a:t>
                      </a: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dirty="0"/>
                        <a:t>No overflow, implying the result is correct.</a:t>
                      </a:r>
                    </a:p>
                    <a:p>
                      <a:pPr marL="285750" indent="-285750">
                        <a:buFont typeface="Arial" pitchFamily="34" charset="0"/>
                        <a:buChar char="•"/>
                      </a:pPr>
                      <a:r>
                        <a:rPr lang="en-US" dirty="0"/>
                        <a:t>The</a:t>
                      </a:r>
                      <a:r>
                        <a:rPr lang="en-US" baseline="0" dirty="0"/>
                        <a:t> result is</a:t>
                      </a:r>
                      <a:r>
                        <a:rPr lang="en-US" dirty="0"/>
                        <a:t> negative</a:t>
                      </a:r>
                      <a:r>
                        <a:rPr lang="en-US" baseline="0" dirty="0"/>
                        <a:t>.</a:t>
                      </a:r>
                    </a:p>
                    <a:p>
                      <a:pPr marL="285750" indent="-285750">
                        <a:buFont typeface="Arial" pitchFamily="34" charset="0"/>
                        <a:buChar char="•"/>
                      </a:pPr>
                      <a:r>
                        <a:rPr lang="en-US" baseline="0" dirty="0"/>
                        <a:t>Thus </a:t>
                      </a:r>
                      <a:r>
                        <a:rPr lang="en-US" baseline="0" dirty="0">
                          <a:latin typeface="Consolas" panose="020B0609020204030204" pitchFamily="49" charset="0"/>
                        </a:rPr>
                        <a:t>r0 – r1 &lt; 0</a:t>
                      </a:r>
                      <a:r>
                        <a:rPr lang="en-US" baseline="0" dirty="0"/>
                        <a:t>, i.e., </a:t>
                      </a: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a:t>O</a:t>
                      </a:r>
                      <a:r>
                        <a:rPr lang="en-US" baseline="0" dirty="0"/>
                        <a:t>verflow occurs, implying the result is incorrect.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The result is mistakenly reported as non-negative and in fact it should be negative.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Thus </a:t>
                      </a:r>
                      <a:r>
                        <a:rPr lang="en-US" baseline="0" dirty="0">
                          <a:latin typeface="Consolas" panose="020B0609020204030204" pitchFamily="49" charset="0"/>
                        </a:rPr>
                        <a:t>r0 – r1 &lt; 0 </a:t>
                      </a:r>
                      <a:r>
                        <a:rPr lang="en-US" baseline="0" dirty="0"/>
                        <a:t>in reality, i.e., </a:t>
                      </a: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a:t>O</a:t>
                      </a:r>
                      <a:r>
                        <a:rPr lang="en-US" baseline="0" dirty="0"/>
                        <a:t>verflow occurs, implying the result is incorrect.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The result is mistakenly reported as negative and in fact it should be non-negative.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a:t>Thus </a:t>
                      </a:r>
                      <a:r>
                        <a:rPr lang="en-US" baseline="0" dirty="0">
                          <a:latin typeface="Consolas" panose="020B0609020204030204" pitchFamily="49" charset="0"/>
                        </a:rPr>
                        <a:t>r0 – r1 ≥ 0 </a:t>
                      </a:r>
                      <a:r>
                        <a:rPr lang="en-US" baseline="0" dirty="0"/>
                        <a:t>in reality., i.e.  </a:t>
                      </a: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2057400" y="1219201"/>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2057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203524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211735855"/>
              </p:ext>
            </p:extLst>
          </p:nvPr>
        </p:nvGraphicFramePr>
        <p:xfrm>
          <a:off x="1676401" y="1865531"/>
          <a:ext cx="8763002" cy="3639226"/>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tc>
                <a:tc>
                  <a:txBody>
                    <a:bodyPr/>
                    <a:lstStyle/>
                    <a:p>
                      <a:pPr algn="ctr"/>
                      <a:r>
                        <a:rPr lang="en-US" dirty="0">
                          <a:latin typeface="Consolas" panose="020B0609020204030204" pitchFamily="49" charset="0"/>
                          <a:cs typeface="Consolas" panose="020B0609020204030204" pitchFamily="49" charset="0"/>
                        </a:rPr>
                        <a:t> N = 0</a:t>
                      </a:r>
                    </a:p>
                  </a:txBody>
                  <a:tcPr/>
                </a:tc>
                <a:tc>
                  <a:txBody>
                    <a:bodyPr/>
                    <a:lstStyle/>
                    <a:p>
                      <a:pPr algn="ctr"/>
                      <a:r>
                        <a:rPr lang="en-US" dirty="0">
                          <a:latin typeface="Consolas" panose="020B0609020204030204" pitchFamily="49" charset="0"/>
                          <a:cs typeface="Consolas" panose="020B0609020204030204" pitchFamily="49" charset="0"/>
                        </a:rPr>
                        <a:t> N = 1</a:t>
                      </a:r>
                    </a:p>
                  </a:txBody>
                  <a:tcPr/>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0" indent="0" algn="ctr">
                        <a:buFont typeface="Arial" pitchFamily="34" charset="0"/>
                        <a:buNone/>
                      </a:pP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tc>
                  <a:txBody>
                    <a:bodyPr/>
                    <a:lstStyle/>
                    <a:p>
                      <a:pPr marL="0" indent="0" algn="ctr">
                        <a:buFont typeface="Arial" pitchFamily="34" charset="0"/>
                        <a:buNone/>
                      </a:pP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a:latin typeface="Consolas" panose="020B0609020204030204" pitchFamily="49" charset="0"/>
                        </a:rPr>
                        <a:t>r0 &lt; r1</a:t>
                      </a:r>
                      <a:endParaRPr lang="en-US" dirty="0">
                        <a:latin typeface="Consolas" panose="020B0609020204030204" pitchFamily="49" charset="0"/>
                        <a:cs typeface="Times New Roman" pitchFamily="18" charset="0"/>
                      </a:endParaRP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a:latin typeface="Consolas" panose="020B0609020204030204" pitchFamily="49" charset="0"/>
                        </a:rPr>
                        <a:t>r0 ≥ r1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2057400" y="1219201"/>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2057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205157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Signed Greater or Equal (</a:t>
            </a:r>
            <a:r>
              <a:rPr lang="en-US" sz="3600" b="1" dirty="0">
                <a:solidFill>
                  <a:srgbClr val="FF0000"/>
                </a:solidFill>
                <a:latin typeface="Consolas" panose="020B0609020204030204" pitchFamily="49" charset="0"/>
              </a:rPr>
              <a:t>N == V</a:t>
            </a:r>
            <a:r>
              <a:rPr lang="en-US" dirty="0"/>
              <a: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421143121"/>
              </p:ext>
            </p:extLst>
          </p:nvPr>
        </p:nvGraphicFramePr>
        <p:xfrm>
          <a:off x="1676401" y="1865531"/>
          <a:ext cx="8763002" cy="3639226"/>
        </p:xfrm>
        <a:graphic>
          <a:graphicData uri="http://schemas.openxmlformats.org/drawingml/2006/table">
            <a:tbl>
              <a:tblPr firstRow="1" firstCol="1" bandRow="1">
                <a:tableStyleId>{5C22544A-7EE6-4342-B048-85BDC9FD1C3A}</a:tableStyleId>
              </a:tblPr>
              <a:tblGrid>
                <a:gridCol w="914399">
                  <a:extLst>
                    <a:ext uri="{9D8B030D-6E8A-4147-A177-3AD203B41FA5}">
                      <a16:colId xmlns:a16="http://schemas.microsoft.com/office/drawing/2014/main" val="20000"/>
                    </a:ext>
                  </a:extLst>
                </a:gridCol>
                <a:gridCol w="3866760">
                  <a:extLst>
                    <a:ext uri="{9D8B030D-6E8A-4147-A177-3AD203B41FA5}">
                      <a16:colId xmlns:a16="http://schemas.microsoft.com/office/drawing/2014/main" val="20001"/>
                    </a:ext>
                  </a:extLst>
                </a:gridCol>
                <a:gridCol w="3981843">
                  <a:extLst>
                    <a:ext uri="{9D8B030D-6E8A-4147-A177-3AD203B41FA5}">
                      <a16:colId xmlns:a16="http://schemas.microsoft.com/office/drawing/2014/main" val="20002"/>
                    </a:ext>
                  </a:extLst>
                </a:gridCol>
              </a:tblGrid>
              <a:tr h="363556">
                <a:tc>
                  <a:txBody>
                    <a:bodyPr/>
                    <a:lstStyle/>
                    <a:p>
                      <a:endParaRPr lang="en-US" dirty="0">
                        <a:latin typeface="Consolas" panose="020B0609020204030204" pitchFamily="49" charset="0"/>
                        <a:cs typeface="Consolas" panose="020B0609020204030204" pitchFamily="49" charset="0"/>
                      </a:endParaRPr>
                    </a:p>
                  </a:txBody>
                  <a:tcPr/>
                </a:tc>
                <a:tc>
                  <a:txBody>
                    <a:bodyPr/>
                    <a:lstStyle/>
                    <a:p>
                      <a:pPr algn="ctr"/>
                      <a:r>
                        <a:rPr lang="en-US" dirty="0">
                          <a:latin typeface="Consolas" panose="020B0609020204030204" pitchFamily="49" charset="0"/>
                          <a:cs typeface="Consolas" panose="020B0609020204030204" pitchFamily="49" charset="0"/>
                        </a:rPr>
                        <a:t> N = 0</a:t>
                      </a:r>
                    </a:p>
                  </a:txBody>
                  <a:tcPr/>
                </a:tc>
                <a:tc>
                  <a:txBody>
                    <a:bodyPr/>
                    <a:lstStyle/>
                    <a:p>
                      <a:pPr algn="ctr"/>
                      <a:r>
                        <a:rPr lang="en-US" dirty="0">
                          <a:latin typeface="Consolas" panose="020B0609020204030204" pitchFamily="49" charset="0"/>
                          <a:cs typeface="Consolas" panose="020B0609020204030204" pitchFamily="49" charset="0"/>
                        </a:rPr>
                        <a:t> N = 1</a:t>
                      </a:r>
                    </a:p>
                  </a:txBody>
                  <a:tcPr/>
                </a:tc>
                <a:extLst>
                  <a:ext uri="{0D108BD9-81ED-4DB2-BD59-A6C34878D82A}">
                    <a16:rowId xmlns:a16="http://schemas.microsoft.com/office/drawing/2014/main" val="10000"/>
                  </a:ext>
                </a:extLst>
              </a:tr>
              <a:tr h="1273909">
                <a:tc>
                  <a:txBody>
                    <a:bodyPr/>
                    <a:lstStyle/>
                    <a:p>
                      <a:pPr algn="ctr"/>
                      <a:r>
                        <a:rPr lang="en-US" dirty="0">
                          <a:latin typeface="Consolas" panose="020B0609020204030204" pitchFamily="49" charset="0"/>
                          <a:cs typeface="Consolas" panose="020B0609020204030204" pitchFamily="49" charset="0"/>
                        </a:rPr>
                        <a:t>V = 0</a:t>
                      </a:r>
                    </a:p>
                  </a:txBody>
                  <a:tcPr anchor="ctr" anchorCtr="1"/>
                </a:tc>
                <a:tc>
                  <a:txBody>
                    <a:bodyPr/>
                    <a:lstStyle/>
                    <a:p>
                      <a:pPr marL="0" indent="0" algn="ctr">
                        <a:buFont typeface="Arial" pitchFamily="34" charset="0"/>
                        <a:buNone/>
                      </a:pPr>
                      <a:r>
                        <a:rPr lang="en-US" altLang="zh-CN" baseline="0" dirty="0">
                          <a:latin typeface="Consolas" panose="020B0609020204030204" pitchFamily="49" charset="0"/>
                        </a:rPr>
                        <a:t>1</a:t>
                      </a:r>
                      <a:endParaRPr lang="en-US" dirty="0">
                        <a:latin typeface="Consolas" panose="020B0609020204030204" pitchFamily="49" charset="0"/>
                        <a:cs typeface="Times New Roman" pitchFamily="18" charset="0"/>
                      </a:endParaRPr>
                    </a:p>
                  </a:txBody>
                  <a:tcPr anchor="ctr" anchorCtr="1"/>
                </a:tc>
                <a:tc>
                  <a:txBody>
                    <a:bodyPr/>
                    <a:lstStyle/>
                    <a:p>
                      <a:pPr marL="0" indent="0" algn="ctr">
                        <a:buFont typeface="Arial" pitchFamily="34" charset="0"/>
                        <a:buNone/>
                      </a:pPr>
                      <a:r>
                        <a:rPr lang="en-US" altLang="zh-CN" baseline="0" dirty="0">
                          <a:latin typeface="Consolas" panose="020B0609020204030204" pitchFamily="49" charset="0"/>
                        </a:rPr>
                        <a:t>0</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dirty="0">
                          <a:latin typeface="Consolas" panose="020B0609020204030204" pitchFamily="49" charset="0"/>
                          <a:cs typeface="Consolas" panose="020B0609020204030204" pitchFamily="49" charset="0"/>
                        </a:rPr>
                        <a:t>V = 1</a:t>
                      </a: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baseline="0" dirty="0">
                          <a:latin typeface="Consolas" panose="020B0609020204030204" pitchFamily="49" charset="0"/>
                        </a:rPr>
                        <a:t>0</a:t>
                      </a:r>
                      <a:endParaRPr lang="en-US" dirty="0">
                        <a:latin typeface="Consolas" panose="020B0609020204030204" pitchFamily="49" charset="0"/>
                        <a:cs typeface="Times New Roman" pitchFamily="18" charset="0"/>
                      </a:endParaRPr>
                    </a:p>
                  </a:txBody>
                  <a:tcPr anchor="ctr" anchorCtr="1"/>
                </a:tc>
                <a:tc>
                  <a:txBody>
                    <a:bodyPr/>
                    <a:lstStyle/>
                    <a:p>
                      <a:pPr marL="0" marR="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altLang="zh-CN" baseline="0" dirty="0">
                          <a:latin typeface="Consolas" panose="020B0609020204030204" pitchFamily="49" charset="0"/>
                        </a:rPr>
                        <a:t>1</a:t>
                      </a:r>
                      <a:endParaRPr lang="en-US"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6" name="TextBox 5"/>
          <p:cNvSpPr txBox="1"/>
          <p:nvPr/>
        </p:nvSpPr>
        <p:spPr>
          <a:xfrm>
            <a:off x="2057400" y="1219201"/>
            <a:ext cx="5465342" cy="646331"/>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CMP r0, r1</a:t>
            </a:r>
          </a:p>
          <a:p>
            <a:r>
              <a:rPr lang="en-US" dirty="0"/>
              <a:t>perform subtraction </a:t>
            </a:r>
            <a:r>
              <a:rPr lang="en-US" dirty="0">
                <a:latin typeface="Consolas" panose="020B0609020204030204" pitchFamily="49" charset="0"/>
              </a:rPr>
              <a:t>r0 – r1</a:t>
            </a:r>
            <a:r>
              <a:rPr lang="en-US" dirty="0"/>
              <a:t>, without saving the result</a:t>
            </a:r>
          </a:p>
        </p:txBody>
      </p:sp>
      <p:sp>
        <p:nvSpPr>
          <p:cNvPr id="7" name="TextBox 6"/>
          <p:cNvSpPr txBox="1"/>
          <p:nvPr/>
        </p:nvSpPr>
        <p:spPr>
          <a:xfrm>
            <a:off x="2057400" y="5539026"/>
            <a:ext cx="6400800" cy="861774"/>
          </a:xfrm>
          <a:prstGeom prst="rect">
            <a:avLst/>
          </a:prstGeom>
          <a:noFill/>
        </p:spPr>
        <p:txBody>
          <a:bodyPr wrap="square" rtlCol="0">
            <a:spAutoFit/>
          </a:bodyPr>
          <a:lstStyle/>
          <a:p>
            <a:r>
              <a:rPr lang="en-US" sz="1600" dirty="0"/>
              <a:t>Conclusions:</a:t>
            </a:r>
          </a:p>
          <a:p>
            <a:pPr marL="285750" indent="-285750">
              <a:buFont typeface="Arial" pitchFamily="34" charset="0"/>
              <a:buChar char="•"/>
            </a:pPr>
            <a:r>
              <a:rPr lang="en-US" sz="1600" dirty="0"/>
              <a:t>If N == V, then it is signed greater or equal (GE).</a:t>
            </a:r>
          </a:p>
          <a:p>
            <a:pPr marL="285750" indent="-285750">
              <a:buFont typeface="Arial" pitchFamily="34" charset="0"/>
              <a:buChar char="•"/>
            </a:pPr>
            <a:r>
              <a:rPr lang="en-US" sz="1600" dirty="0"/>
              <a:t>Otherwise, it is signed less than (LT)</a:t>
            </a:r>
          </a:p>
        </p:txBody>
      </p:sp>
    </p:spTree>
    <p:extLst>
      <p:ext uri="{BB962C8B-B14F-4D97-AF65-F5344CB8AC3E}">
        <p14:creationId xmlns:p14="http://schemas.microsoft.com/office/powerpoint/2010/main" val="548132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a:bodyPr>
          <a:lstStyle/>
          <a:p>
            <a:r>
              <a:rPr lang="en-US" dirty="0"/>
              <a:t>Number Interpretation</a:t>
            </a:r>
            <a:endParaRPr lang="en-US" dirty="0">
              <a:solidFill>
                <a:schemeClr val="tx1"/>
              </a:solidFill>
              <a:latin typeface="Tahoma" pitchFamily="34" charset="0"/>
              <a:cs typeface="Times New Roman" pitchFamily="18" charset="0"/>
            </a:endParaRP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19</a:t>
            </a:fld>
            <a:endParaRPr kumimoji="0" lang="en-US" dirty="0"/>
          </a:p>
        </p:txBody>
      </p:sp>
      <p:sp>
        <p:nvSpPr>
          <p:cNvPr id="6" name="Content Placeholder 5"/>
          <p:cNvSpPr>
            <a:spLocks noGrp="1"/>
          </p:cNvSpPr>
          <p:nvPr>
            <p:ph sz="quarter" idx="1"/>
          </p:nvPr>
        </p:nvSpPr>
        <p:spPr>
          <a:xfrm>
            <a:off x="609600" y="3036505"/>
            <a:ext cx="10287000" cy="2575560"/>
          </a:xfrm>
        </p:spPr>
        <p:txBody>
          <a:bodyPr>
            <a:normAutofit/>
          </a:bodyPr>
          <a:lstStyle/>
          <a:p>
            <a:r>
              <a:rPr lang="en-US" sz="2400" dirty="0"/>
              <a:t>If they represent signed numbers, the latter is greater. </a:t>
            </a:r>
          </a:p>
          <a:p>
            <a:pPr marL="0" indent="0">
              <a:buNone/>
            </a:pPr>
            <a:r>
              <a:rPr lang="en-US" sz="2400" dirty="0"/>
              <a:t>   (</a:t>
            </a:r>
            <a:r>
              <a:rPr lang="en-US" sz="2400" b="1" dirty="0">
                <a:latin typeface="Consolas" panose="020B0609020204030204" pitchFamily="49" charset="0"/>
                <a:cs typeface="Consolas" panose="020B0609020204030204" pitchFamily="49" charset="0"/>
              </a:rPr>
              <a:t>1 &gt; -1</a:t>
            </a:r>
            <a:r>
              <a:rPr lang="en-US" sz="2400" dirty="0"/>
              <a:t>).</a:t>
            </a:r>
          </a:p>
          <a:p>
            <a:pPr marL="0" indent="0">
              <a:buNone/>
            </a:pPr>
            <a:endParaRPr lang="en-US" sz="2400" dirty="0"/>
          </a:p>
          <a:p>
            <a:r>
              <a:rPr lang="en-US" sz="2400" dirty="0"/>
              <a:t>If they represent unsigned numbers, the former is greater.</a:t>
            </a:r>
          </a:p>
          <a:p>
            <a:pPr marL="0" indent="0">
              <a:buNone/>
            </a:pPr>
            <a:r>
              <a:rPr lang="en-US" sz="2400" dirty="0"/>
              <a:t>   (</a:t>
            </a:r>
            <a:r>
              <a:rPr lang="en-US" sz="2400" b="1" dirty="0">
                <a:latin typeface="Consolas" panose="020B0609020204030204" pitchFamily="49" charset="0"/>
                <a:cs typeface="Consolas" panose="020B0609020204030204" pitchFamily="49" charset="0"/>
              </a:rPr>
              <a:t>4294967295 &gt; 1</a:t>
            </a:r>
            <a:r>
              <a:rPr lang="en-US" sz="2400" dirty="0"/>
              <a:t>).</a:t>
            </a:r>
          </a:p>
          <a:p>
            <a:endParaRPr lang="en-US" sz="2400" dirty="0"/>
          </a:p>
        </p:txBody>
      </p:sp>
      <p:sp>
        <p:nvSpPr>
          <p:cNvPr id="2" name="Rectangle 1"/>
          <p:cNvSpPr/>
          <p:nvPr/>
        </p:nvSpPr>
        <p:spPr>
          <a:xfrm>
            <a:off x="1981200" y="1295401"/>
            <a:ext cx="7772400" cy="1061829"/>
          </a:xfrm>
          <a:prstGeom prst="rect">
            <a:avLst/>
          </a:prstGeom>
        </p:spPr>
        <p:txBody>
          <a:bodyPr wrap="square">
            <a:spAutoFit/>
          </a:bodyPr>
          <a:lstStyle/>
          <a:p>
            <a:r>
              <a:rPr lang="en-US" sz="2800" dirty="0"/>
              <a:t>Which is greater?</a:t>
            </a:r>
          </a:p>
          <a:p>
            <a:endParaRPr lang="en-US" sz="1100" dirty="0"/>
          </a:p>
          <a:p>
            <a:r>
              <a:rPr lang="en-US" sz="2400" dirty="0">
                <a:latin typeface="Consolas" panose="020B0609020204030204" pitchFamily="49" charset="0"/>
                <a:cs typeface="Consolas" panose="020B0609020204030204" pitchFamily="49" charset="0"/>
              </a:rPr>
              <a:t>	</a:t>
            </a:r>
            <a:r>
              <a:rPr lang="en-US" sz="2400" b="1" dirty="0" err="1">
                <a:solidFill>
                  <a:srgbClr val="FF0000"/>
                </a:solidFill>
                <a:latin typeface="Consolas" panose="020B0609020204030204" pitchFamily="49" charset="0"/>
                <a:cs typeface="Consolas" panose="020B0609020204030204" pitchFamily="49" charset="0"/>
              </a:rPr>
              <a:t>0xFFFFFFFF</a:t>
            </a:r>
            <a:r>
              <a:rPr lang="en-US" sz="2400" dirty="0">
                <a:latin typeface="Tahoma" pitchFamily="34" charset="0"/>
                <a:cs typeface="Times New Roman" pitchFamily="18" charset="0"/>
              </a:rPr>
              <a:t> or </a:t>
            </a:r>
            <a:r>
              <a:rPr lang="en-US" sz="2400" b="1" dirty="0" err="1">
                <a:solidFill>
                  <a:srgbClr val="FF0000"/>
                </a:solidFill>
                <a:latin typeface="Consolas" panose="020B0609020204030204" pitchFamily="49" charset="0"/>
                <a:cs typeface="Consolas" panose="020B0609020204030204" pitchFamily="49" charset="0"/>
              </a:rPr>
              <a:t>0x00000001</a:t>
            </a:r>
            <a:endParaRPr lang="en-US" sz="2400" b="1" dirty="0">
              <a:solidFill>
                <a:srgbClr val="FF0000"/>
              </a:solidFill>
              <a:latin typeface="Tahoma" pitchFamily="34" charset="0"/>
              <a:cs typeface="Times New Roman" pitchFamily="18" charset="0"/>
            </a:endParaRPr>
          </a:p>
        </p:txBody>
      </p:sp>
    </p:spTree>
    <p:extLst>
      <p:ext uri="{BB962C8B-B14F-4D97-AF65-F5344CB8AC3E}">
        <p14:creationId xmlns:p14="http://schemas.microsoft.com/office/powerpoint/2010/main" val="231923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615906" y="132281"/>
            <a:ext cx="8686800" cy="990600"/>
          </a:xfrm>
        </p:spPr>
        <p:txBody>
          <a:bodyPr>
            <a:normAutofit fontScale="90000"/>
          </a:bodyPr>
          <a:lstStyle/>
          <a:p>
            <a:r>
              <a:rPr lang="en-US" dirty="0"/>
              <a:t>Which is Greater: </a:t>
            </a:r>
            <a:r>
              <a:rPr lang="en-US" dirty="0">
                <a:solidFill>
                  <a:schemeClr val="tx1"/>
                </a:solidFill>
                <a:latin typeface="Consolas" panose="020B0609020204030204" pitchFamily="49" charset="0"/>
                <a:cs typeface="Consolas" panose="020B0609020204030204" pitchFamily="49" charset="0"/>
              </a:rPr>
              <a:t>0xFFFFFFFF</a:t>
            </a:r>
            <a:r>
              <a:rPr lang="en-US" dirty="0">
                <a:solidFill>
                  <a:schemeClr val="tx1"/>
                </a:solidFill>
                <a:latin typeface="Tahoma" pitchFamily="34" charset="0"/>
                <a:cs typeface="Times New Roman" pitchFamily="18" charset="0"/>
              </a:rPr>
              <a:t> or </a:t>
            </a:r>
            <a:r>
              <a:rPr lang="en-US" dirty="0">
                <a:solidFill>
                  <a:schemeClr val="tx1"/>
                </a:solidFill>
                <a:latin typeface="Consolas" panose="020B0609020204030204" pitchFamily="49" charset="0"/>
                <a:cs typeface="Consolas" panose="020B0609020204030204" pitchFamily="49" charset="0"/>
              </a:rPr>
              <a:t>0x00000001</a:t>
            </a:r>
            <a:r>
              <a:rPr lang="en-US" dirty="0">
                <a:solidFill>
                  <a:schemeClr val="tx1"/>
                </a:solidFill>
                <a:latin typeface="Tahoma" pitchFamily="34" charset="0"/>
                <a:cs typeface="Times New Roman" pitchFamily="18" charset="0"/>
              </a:rPr>
              <a:t>?</a:t>
            </a:r>
          </a:p>
        </p:txBody>
      </p:sp>
      <p:sp>
        <p:nvSpPr>
          <p:cNvPr id="119811" name="Text Box 3"/>
          <p:cNvSpPr txBox="1">
            <a:spLocks noChangeArrowheads="1"/>
          </p:cNvSpPr>
          <p:nvPr/>
        </p:nvSpPr>
        <p:spPr bwMode="auto">
          <a:xfrm>
            <a:off x="2498388" y="2331184"/>
            <a:ext cx="298801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solidFill>
                  <a:srgbClr val="C00000"/>
                </a:solidFill>
                <a:latin typeface="Consolas" panose="020B0609020204030204" pitchFamily="49" charset="0"/>
                <a:cs typeface="Consolas" panose="020B0609020204030204" pitchFamily="49" charset="0"/>
              </a:rPr>
              <a:t>signed</a:t>
            </a:r>
            <a:r>
              <a:rPr lang="en-US" sz="2000" dirty="0">
                <a:solidFill>
                  <a:schemeClr val="tx1"/>
                </a:solidFill>
                <a:latin typeface="Consolas" panose="020B0609020204030204" pitchFamily="49" charset="0"/>
                <a:cs typeface="Consolas" panose="020B0609020204030204" pitchFamily="49" charset="0"/>
              </a:rPr>
              <a:t> </a:t>
            </a:r>
            <a:r>
              <a:rPr lang="en-US" sz="2000" dirty="0" err="1">
                <a:solidFill>
                  <a:schemeClr val="tx1"/>
                </a:solidFill>
                <a:latin typeface="Consolas" panose="020B0609020204030204" pitchFamily="49" charset="0"/>
                <a:cs typeface="Consolas" panose="020B0609020204030204" pitchFamily="49" charset="0"/>
              </a:rPr>
              <a:t>int</a:t>
            </a:r>
            <a:r>
              <a:rPr lang="en-US" sz="2000" dirty="0">
                <a:solidFill>
                  <a:schemeClr val="tx1"/>
                </a:solidFill>
                <a:latin typeface="Consolas" panose="020B0609020204030204" pitchFamily="49" charset="0"/>
                <a:cs typeface="Consolas" panose="020B0609020204030204" pitchFamily="49" charset="0"/>
              </a:rPr>
              <a:t> x, y ;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x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9812" name="Text Box 4"/>
          <p:cNvSpPr txBox="1">
            <a:spLocks noChangeArrowheads="1"/>
          </p:cNvSpPr>
          <p:nvPr/>
        </p:nvSpPr>
        <p:spPr bwMode="auto">
          <a:xfrm>
            <a:off x="2484398" y="4388584"/>
            <a:ext cx="300200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1" dirty="0">
                <a:solidFill>
                  <a:srgbClr val="C00000"/>
                </a:solidFill>
                <a:latin typeface="Consolas" panose="020B0609020204030204" pitchFamily="49" charset="0"/>
                <a:cs typeface="Consolas" panose="020B0609020204030204" pitchFamily="49" charset="0"/>
              </a:rPr>
              <a:t>unsigned</a:t>
            </a:r>
            <a:r>
              <a:rPr lang="en-US" sz="2000" dirty="0">
                <a:solidFill>
                  <a:schemeClr val="tx1"/>
                </a:solidFill>
                <a:latin typeface="Consolas" panose="020B0609020204030204" pitchFamily="49" charset="0"/>
                <a:cs typeface="Consolas" panose="020B0609020204030204" pitchFamily="49" charset="0"/>
              </a:rPr>
              <a:t> int x, y ;</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x = 4294967295;</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20</a:t>
            </a:fld>
            <a:endParaRPr kumimoji="0" lang="en-US" dirty="0"/>
          </a:p>
        </p:txBody>
      </p:sp>
      <p:sp>
        <p:nvSpPr>
          <p:cNvPr id="2" name="TextBox 1"/>
          <p:cNvSpPr txBox="1"/>
          <p:nvPr/>
        </p:nvSpPr>
        <p:spPr>
          <a:xfrm>
            <a:off x="4114800" y="3974068"/>
            <a:ext cx="4131580" cy="369332"/>
          </a:xfrm>
          <a:prstGeom prst="rect">
            <a:avLst/>
          </a:prstGeom>
          <a:noFill/>
        </p:spPr>
        <p:txBody>
          <a:bodyPr wrap="none" rtlCol="0">
            <a:spAutoFit/>
          </a:bodyPr>
          <a:lstStyle/>
          <a:p>
            <a:r>
              <a:rPr lang="en-US" b="1" dirty="0"/>
              <a:t>BLE</a:t>
            </a:r>
            <a:r>
              <a:rPr lang="en-US" dirty="0"/>
              <a:t>: Branch if less than or equal, signed ≤</a:t>
            </a:r>
          </a:p>
        </p:txBody>
      </p:sp>
      <p:sp>
        <p:nvSpPr>
          <p:cNvPr id="9" name="TextBox 8"/>
          <p:cNvSpPr txBox="1"/>
          <p:nvPr/>
        </p:nvSpPr>
        <p:spPr>
          <a:xfrm>
            <a:off x="4041726" y="6031468"/>
            <a:ext cx="4076437" cy="369332"/>
          </a:xfrm>
          <a:prstGeom prst="rect">
            <a:avLst/>
          </a:prstGeom>
          <a:noFill/>
        </p:spPr>
        <p:txBody>
          <a:bodyPr wrap="none" rtlCol="0">
            <a:spAutoFit/>
          </a:bodyPr>
          <a:lstStyle/>
          <a:p>
            <a:r>
              <a:rPr lang="en-US" b="1" dirty="0"/>
              <a:t>BLS</a:t>
            </a:r>
            <a:r>
              <a:rPr lang="en-US" dirty="0"/>
              <a:t>: Branch if lower or same, unsigned ≤</a:t>
            </a:r>
          </a:p>
        </p:txBody>
      </p:sp>
      <p:sp>
        <p:nvSpPr>
          <p:cNvPr id="4" name="TextBox 3"/>
          <p:cNvSpPr txBox="1"/>
          <p:nvPr/>
        </p:nvSpPr>
        <p:spPr>
          <a:xfrm>
            <a:off x="600986" y="1220257"/>
            <a:ext cx="7473905" cy="1015663"/>
          </a:xfrm>
          <a:prstGeom prst="rect">
            <a:avLst/>
          </a:prstGeom>
          <a:noFill/>
        </p:spPr>
        <p:txBody>
          <a:bodyPr wrap="none" rtlCol="0">
            <a:spAutoFit/>
          </a:bodyPr>
          <a:lstStyle/>
          <a:p>
            <a:r>
              <a:rPr lang="en-US" sz="2000" dirty="0"/>
              <a:t>It’s </a:t>
            </a:r>
            <a:r>
              <a:rPr lang="en-US" sz="2000" b="1" dirty="0">
                <a:solidFill>
                  <a:srgbClr val="0000FF"/>
                </a:solidFill>
              </a:rPr>
              <a:t>software’s responsibility </a:t>
            </a:r>
            <a:r>
              <a:rPr lang="en-US" sz="2000" dirty="0"/>
              <a:t>to tell computer how to interpret data:</a:t>
            </a:r>
          </a:p>
          <a:p>
            <a:pPr marL="285750" indent="-285750">
              <a:buFont typeface="Arial" pitchFamily="34" charset="0"/>
              <a:buChar char="•"/>
            </a:pPr>
            <a:r>
              <a:rPr lang="en-US" sz="2000" dirty="0"/>
              <a:t>If written in C,  declare the signed </a:t>
            </a:r>
            <a:r>
              <a:rPr lang="en-US" sz="2000" i="1" dirty="0"/>
              <a:t>vs</a:t>
            </a:r>
            <a:r>
              <a:rPr lang="en-US" sz="2000" dirty="0"/>
              <a:t> unsigned variable </a:t>
            </a:r>
          </a:p>
          <a:p>
            <a:pPr marL="285750" indent="-285750">
              <a:buFont typeface="Arial" pitchFamily="34" charset="0"/>
              <a:buChar char="•"/>
            </a:pPr>
            <a:r>
              <a:rPr lang="en-US" sz="2000" dirty="0"/>
              <a:t>If written in Assembly, use signed </a:t>
            </a:r>
            <a:r>
              <a:rPr lang="en-US" sz="2000" i="1" dirty="0"/>
              <a:t>vs</a:t>
            </a:r>
            <a:r>
              <a:rPr lang="en-US" sz="2000" dirty="0"/>
              <a:t> unsigned branch instructions</a:t>
            </a:r>
          </a:p>
        </p:txBody>
      </p:sp>
      <p:sp>
        <p:nvSpPr>
          <p:cNvPr id="10" name="Text Box 3"/>
          <p:cNvSpPr txBox="1">
            <a:spLocks noChangeArrowheads="1"/>
          </p:cNvSpPr>
          <p:nvPr/>
        </p:nvSpPr>
        <p:spPr bwMode="auto">
          <a:xfrm>
            <a:off x="5712453" y="2327728"/>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MOVS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MOVS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BLE</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 name="Text Box 4"/>
          <p:cNvSpPr txBox="1">
            <a:spLocks noChangeArrowheads="1"/>
          </p:cNvSpPr>
          <p:nvPr/>
        </p:nvSpPr>
        <p:spPr bwMode="auto">
          <a:xfrm>
            <a:off x="5715000" y="4369367"/>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MOVS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MOVS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BLS</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Tree>
    <p:extLst>
      <p:ext uri="{BB962C8B-B14F-4D97-AF65-F5344CB8AC3E}">
        <p14:creationId xmlns:p14="http://schemas.microsoft.com/office/powerpoint/2010/main" val="2121641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193184421"/>
              </p:ext>
            </p:extLst>
          </p:nvPr>
        </p:nvGraphicFramePr>
        <p:xfrm>
          <a:off x="2819400" y="2057400"/>
          <a:ext cx="2667000" cy="1280160"/>
        </p:xfrm>
        <a:graphic>
          <a:graphicData uri="http://schemas.openxmlformats.org/drawingml/2006/table">
            <a:tbl>
              <a:tblPr firstRow="1" firstCol="1" bandRow="1">
                <a:tableStyleId>{69012ECD-51FC-41F1-AA8D-1B2483CD663E}</a:tableStyleId>
              </a:tblPr>
              <a:tblGrid>
                <a:gridCol w="2667000">
                  <a:extLst>
                    <a:ext uri="{9D8B030D-6E8A-4147-A177-3AD203B41FA5}">
                      <a16:colId xmlns:a16="http://schemas.microsoft.com/office/drawing/2014/main" val="20000"/>
                    </a:ext>
                  </a:extLst>
                </a:gridCol>
              </a:tblGrid>
              <a:tr h="13589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603250">
                <a:tc>
                  <a:txBody>
                    <a:bodyPr/>
                    <a:lstStyle/>
                    <a:p>
                      <a:pPr marL="0" marR="0" algn="just">
                        <a:spcBef>
                          <a:spcPts val="0"/>
                        </a:spcBef>
                        <a:spcAft>
                          <a:spcPts val="0"/>
                        </a:spcAft>
                      </a:pPr>
                      <a:r>
                        <a:rPr lang="en-US" sz="1400" dirty="0">
                          <a:solidFill>
                            <a:schemeClr val="bg1">
                              <a:lumMod val="65000"/>
                            </a:schemeClr>
                          </a:solidFill>
                          <a:effectLst/>
                          <a:latin typeface="Consolas" panose="020B0609020204030204" pitchFamily="49" charset="0"/>
                          <a:cs typeface="Consolas" panose="020B0609020204030204" pitchFamily="49" charset="0"/>
                        </a:rPr>
                        <a:t>// a</a:t>
                      </a:r>
                      <a:r>
                        <a:rPr lang="en-US" sz="14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4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if (a &lt; 0 ) {</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a = 0 – a;</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x = x + 1;</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331068"/>
            <a:ext cx="2362200" cy="2936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2819400" y="4562475"/>
            <a:ext cx="6553200"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r1 = a (signed integer), r2 = x</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Compare a with 0</a:t>
            </a:r>
          </a:p>
          <a:p>
            <a:r>
              <a:rPr lang="en-US" dirty="0">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BGE</a:t>
            </a:r>
            <a:r>
              <a:rPr lang="en-US" dirty="0">
                <a:solidFill>
                  <a:srgbClr val="C00000"/>
                </a:solidFill>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Go to </a:t>
            </a:r>
            <a:r>
              <a:rPr lang="en-US" dirty="0" err="1">
                <a:solidFill>
                  <a:schemeClr val="bg1">
                    <a:lumMod val="65000"/>
                  </a:schemeClr>
                </a:solidFill>
                <a:latin typeface="Consolas" panose="020B0609020204030204" pitchFamily="49" charset="0"/>
                <a:cs typeface="Consolas" panose="020B0609020204030204" pitchFamily="49" charset="0"/>
              </a:rPr>
              <a:t>endif</a:t>
            </a:r>
            <a:r>
              <a:rPr lang="en-US" dirty="0">
                <a:solidFill>
                  <a:schemeClr val="bg1">
                    <a:lumMod val="65000"/>
                  </a:schemeClr>
                </a:solidFill>
                <a:latin typeface="Consolas" panose="020B0609020204030204" pitchFamily="49" charset="0"/>
                <a:cs typeface="Consolas" panose="020B0609020204030204" pitchFamily="49" charset="0"/>
              </a:rPr>
              <a:t> if a ≥ 0</a:t>
            </a:r>
          </a:p>
          <a:p>
            <a:r>
              <a:rPr lang="en-US" dirty="0">
                <a:latin typeface="Consolas" panose="020B0609020204030204" pitchFamily="49" charset="0"/>
                <a:cs typeface="Consolas" panose="020B0609020204030204" pitchFamily="49" charset="0"/>
              </a:rPr>
              <a:t>then    </a:t>
            </a:r>
            <a:r>
              <a:rPr lang="en-US" dirty="0" err="1">
                <a:latin typeface="Consolas" panose="020B0609020204030204" pitchFamily="49" charset="0"/>
                <a:cs typeface="Consolas" panose="020B0609020204030204" pitchFamily="49" charset="0"/>
              </a:rPr>
              <a:t>RSB</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a = - a</a:t>
            </a:r>
          </a:p>
          <a:p>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ADD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x = x + 1</a:t>
            </a:r>
          </a:p>
        </p:txBody>
      </p:sp>
      <p:sp>
        <p:nvSpPr>
          <p:cNvPr id="7" name="TextBox 6"/>
          <p:cNvSpPr txBox="1"/>
          <p:nvPr/>
        </p:nvSpPr>
        <p:spPr>
          <a:xfrm>
            <a:off x="1880682" y="4080019"/>
            <a:ext cx="1877437" cy="369332"/>
          </a:xfrm>
          <a:prstGeom prst="rect">
            <a:avLst/>
          </a:prstGeom>
          <a:noFill/>
        </p:spPr>
        <p:txBody>
          <a:bodyPr wrap="none" rtlCol="0">
            <a:spAutoFit/>
          </a:bodyPr>
          <a:lstStyle/>
          <a:p>
            <a:r>
              <a:rPr lang="en-US" dirty="0"/>
              <a:t>Implementation </a:t>
            </a:r>
            <a:r>
              <a:rPr lang="en-US" dirty="0">
                <a:latin typeface="Consolas" panose="020B0609020204030204" pitchFamily="49" charset="0"/>
                <a:cs typeface="Consolas" panose="020B0609020204030204" pitchFamily="49" charset="0"/>
              </a:rPr>
              <a:t>1</a:t>
            </a:r>
            <a:r>
              <a:rPr lang="en-US" dirty="0"/>
              <a:t>:</a:t>
            </a:r>
          </a:p>
        </p:txBody>
      </p:sp>
    </p:spTree>
    <p:extLst>
      <p:ext uri="{BB962C8B-B14F-4D97-AF65-F5344CB8AC3E}">
        <p14:creationId xmlns:p14="http://schemas.microsoft.com/office/powerpoint/2010/main" val="956433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pic>
        <p:nvPicPr>
          <p:cNvPr id="102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331068"/>
            <a:ext cx="2362200" cy="2936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2819400" y="4562476"/>
            <a:ext cx="655320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a:t>
            </a:r>
            <a:r>
              <a:rPr lang="en-US" dirty="0" err="1">
                <a:solidFill>
                  <a:schemeClr val="bg1">
                    <a:lumMod val="65000"/>
                  </a:schemeClr>
                </a:solidFill>
                <a:latin typeface="Consolas" panose="020B0609020204030204" pitchFamily="49" charset="0"/>
                <a:cs typeface="Consolas" panose="020B0609020204030204" pitchFamily="49" charset="0"/>
              </a:rPr>
              <a:t>r1</a:t>
            </a:r>
            <a:r>
              <a:rPr lang="en-US" dirty="0">
                <a:solidFill>
                  <a:schemeClr val="bg1">
                    <a:lumMod val="65000"/>
                  </a:schemeClr>
                </a:solidFill>
                <a:latin typeface="Consolas" panose="020B0609020204030204" pitchFamily="49" charset="0"/>
                <a:cs typeface="Consolas" panose="020B0609020204030204" pitchFamily="49" charset="0"/>
              </a:rPr>
              <a:t> = a, </a:t>
            </a:r>
            <a:r>
              <a:rPr lang="en-US" dirty="0" err="1">
                <a:solidFill>
                  <a:schemeClr val="bg1">
                    <a:lumMod val="65000"/>
                  </a:schemeClr>
                </a:solidFill>
                <a:latin typeface="Consolas" panose="020B0609020204030204" pitchFamily="49" charset="0"/>
                <a:cs typeface="Consolas" panose="020B0609020204030204" pitchFamily="49" charset="0"/>
              </a:rPr>
              <a:t>r2</a:t>
            </a:r>
            <a:r>
              <a:rPr lang="en-US" dirty="0">
                <a:solidFill>
                  <a:schemeClr val="bg1">
                    <a:lumMod val="65000"/>
                  </a:schemeClr>
                </a:solidFill>
                <a:latin typeface="Consolas" panose="020B0609020204030204" pitchFamily="49" charset="0"/>
                <a:cs typeface="Consolas" panose="020B0609020204030204" pitchFamily="49" charset="0"/>
              </a:rPr>
              <a:t> = x</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Compare a with 0 </a:t>
            </a:r>
          </a:p>
          <a:p>
            <a:r>
              <a:rPr lang="en-US" dirty="0">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RSBLT</a:t>
            </a:r>
            <a:r>
              <a:rPr lang="en-US" dirty="0">
                <a:solidFill>
                  <a:srgbClr val="C00000"/>
                </a:solidFill>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#0   </a:t>
            </a:r>
            <a:r>
              <a:rPr lang="en-US" dirty="0">
                <a:solidFill>
                  <a:schemeClr val="bg1">
                    <a:lumMod val="65000"/>
                  </a:schemeClr>
                </a:solidFill>
                <a:latin typeface="Consolas" panose="020B0609020204030204" pitchFamily="49" charset="0"/>
                <a:cs typeface="Consolas" panose="020B0609020204030204" pitchFamily="49" charset="0"/>
              </a:rPr>
              <a:t>; a = 0 - a if a &lt; 0</a:t>
            </a:r>
          </a:p>
          <a:p>
            <a:r>
              <a:rPr lang="en-US" dirty="0">
                <a:latin typeface="Consolas" panose="020B0609020204030204" pitchFamily="49" charset="0"/>
                <a:cs typeface="Consolas" panose="020B0609020204030204" pitchFamily="49" charset="0"/>
              </a:rPr>
              <a:t>        ADD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r2</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x = x + 1</a:t>
            </a:r>
          </a:p>
        </p:txBody>
      </p:sp>
      <p:sp>
        <p:nvSpPr>
          <p:cNvPr id="7" name="TextBox 6"/>
          <p:cNvSpPr txBox="1"/>
          <p:nvPr/>
        </p:nvSpPr>
        <p:spPr>
          <a:xfrm>
            <a:off x="1880682" y="4080019"/>
            <a:ext cx="1877437" cy="369332"/>
          </a:xfrm>
          <a:prstGeom prst="rect">
            <a:avLst/>
          </a:prstGeom>
          <a:noFill/>
        </p:spPr>
        <p:txBody>
          <a:bodyPr wrap="none" rtlCol="0">
            <a:spAutoFit/>
          </a:bodyPr>
          <a:lstStyle/>
          <a:p>
            <a:r>
              <a:rPr lang="en-US" dirty="0"/>
              <a:t>Implementation </a:t>
            </a:r>
            <a:r>
              <a:rPr lang="en-US" dirty="0">
                <a:latin typeface="Consolas" panose="020B0609020204030204" pitchFamily="49" charset="0"/>
                <a:cs typeface="Consolas" panose="020B0609020204030204" pitchFamily="49" charset="0"/>
              </a:rPr>
              <a:t>2</a:t>
            </a:r>
            <a:r>
              <a:rPr lang="en-US" dirty="0"/>
              <a:t>:</a:t>
            </a:r>
          </a:p>
        </p:txBody>
      </p:sp>
      <p:graphicFrame>
        <p:nvGraphicFramePr>
          <p:cNvPr id="8" name="Table 7"/>
          <p:cNvGraphicFramePr>
            <a:graphicFrameLocks noGrp="1"/>
          </p:cNvGraphicFramePr>
          <p:nvPr>
            <p:extLst>
              <p:ext uri="{D42A27DB-BD31-4B8C-83A1-F6EECF244321}">
                <p14:modId xmlns:p14="http://schemas.microsoft.com/office/powerpoint/2010/main" val="1612063975"/>
              </p:ext>
            </p:extLst>
          </p:nvPr>
        </p:nvGraphicFramePr>
        <p:xfrm>
          <a:off x="2819400" y="2057400"/>
          <a:ext cx="2667000" cy="1280160"/>
        </p:xfrm>
        <a:graphic>
          <a:graphicData uri="http://schemas.openxmlformats.org/drawingml/2006/table">
            <a:tbl>
              <a:tblPr firstRow="1" firstCol="1" bandRow="1">
                <a:tableStyleId>{69012ECD-51FC-41F1-AA8D-1B2483CD663E}</a:tableStyleId>
              </a:tblPr>
              <a:tblGrid>
                <a:gridCol w="2667000">
                  <a:extLst>
                    <a:ext uri="{9D8B030D-6E8A-4147-A177-3AD203B41FA5}">
                      <a16:colId xmlns:a16="http://schemas.microsoft.com/office/drawing/2014/main" val="20000"/>
                    </a:ext>
                  </a:extLst>
                </a:gridCol>
              </a:tblGrid>
              <a:tr h="13589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603250">
                <a:tc>
                  <a:txBody>
                    <a:bodyPr/>
                    <a:lstStyle/>
                    <a:p>
                      <a:pPr marL="0" marR="0" algn="just">
                        <a:spcBef>
                          <a:spcPts val="0"/>
                        </a:spcBef>
                        <a:spcAft>
                          <a:spcPts val="0"/>
                        </a:spcAft>
                      </a:pPr>
                      <a:r>
                        <a:rPr lang="en-US" sz="1400" dirty="0">
                          <a:solidFill>
                            <a:schemeClr val="bg1">
                              <a:lumMod val="65000"/>
                            </a:schemeClr>
                          </a:solidFill>
                          <a:effectLst/>
                          <a:latin typeface="Consolas" panose="020B0609020204030204" pitchFamily="49" charset="0"/>
                          <a:cs typeface="Consolas" panose="020B0609020204030204" pitchFamily="49" charset="0"/>
                        </a:rPr>
                        <a:t>// a</a:t>
                      </a:r>
                      <a:r>
                        <a:rPr lang="en-US" sz="14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4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if (a &lt; 0 ) {</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a = 0 – a;</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x = x + 1;</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53589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Compound Boolean Expression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
        <p:nvSpPr>
          <p:cNvPr id="5" name="Rectangle 4"/>
          <p:cNvSpPr/>
          <p:nvPr/>
        </p:nvSpPr>
        <p:spPr>
          <a:xfrm>
            <a:off x="3581400" y="1600200"/>
            <a:ext cx="4572000" cy="923330"/>
          </a:xfrm>
          <a:prstGeom prst="rect">
            <a:avLst/>
          </a:prstGeom>
        </p:spPr>
        <p:txBody>
          <a:bodyPr>
            <a:spAutoFit/>
          </a:bodyPr>
          <a:lstStyle/>
          <a:p>
            <a:pPr algn="ctr"/>
            <a:r>
              <a:rPr lang="en-US" dirty="0">
                <a:latin typeface="Consolas" panose="020B0609020204030204" pitchFamily="49" charset="0"/>
                <a:cs typeface="Consolas" panose="020B0609020204030204" pitchFamily="49" charset="0"/>
              </a:rPr>
              <a:t>x &gt; 20 &amp;&amp; x &lt; 25</a:t>
            </a:r>
          </a:p>
          <a:p>
            <a:pPr algn="ctr"/>
            <a:r>
              <a:rPr lang="en-US" dirty="0">
                <a:latin typeface="Consolas" panose="020B0609020204030204" pitchFamily="49" charset="0"/>
                <a:cs typeface="Consolas" panose="020B0609020204030204" pitchFamily="49" charset="0"/>
              </a:rPr>
              <a:t>x == 20 || x == 25</a:t>
            </a:r>
          </a:p>
          <a:p>
            <a:pPr algn="ctr"/>
            <a:r>
              <a:rPr lang="en-US" dirty="0">
                <a:latin typeface="Consolas" panose="020B0609020204030204" pitchFamily="49" charset="0"/>
                <a:cs typeface="Consolas" panose="020B0609020204030204" pitchFamily="49" charset="0"/>
              </a:rPr>
              <a:t>!(x == 20 || x == 25)</a:t>
            </a:r>
          </a:p>
        </p:txBody>
      </p:sp>
      <p:graphicFrame>
        <p:nvGraphicFramePr>
          <p:cNvPr id="6" name="Table 5"/>
          <p:cNvGraphicFramePr>
            <a:graphicFrameLocks noGrp="1"/>
          </p:cNvGraphicFramePr>
          <p:nvPr>
            <p:extLst>
              <p:ext uri="{D42A27DB-BD31-4B8C-83A1-F6EECF244321}">
                <p14:modId xmlns:p14="http://schemas.microsoft.com/office/powerpoint/2010/main" val="4261454475"/>
              </p:ext>
            </p:extLst>
          </p:nvPr>
        </p:nvGraphicFramePr>
        <p:xfrm>
          <a:off x="2057400" y="3186819"/>
          <a:ext cx="8229600" cy="2083237"/>
        </p:xfrm>
        <a:graphic>
          <a:graphicData uri="http://schemas.openxmlformats.org/drawingml/2006/table">
            <a:tbl>
              <a:tblPr firstRow="1" firstCol="1" bandRow="1">
                <a:tableStyleId>{5940675A-B579-460E-94D1-54222C63F5DA}</a:tableStyleId>
              </a:tblPr>
              <a:tblGrid>
                <a:gridCol w="2885704">
                  <a:extLst>
                    <a:ext uri="{9D8B030D-6E8A-4147-A177-3AD203B41FA5}">
                      <a16:colId xmlns:a16="http://schemas.microsoft.com/office/drawing/2014/main" val="20000"/>
                    </a:ext>
                  </a:extLst>
                </a:gridCol>
                <a:gridCol w="5343896">
                  <a:extLst>
                    <a:ext uri="{9D8B030D-6E8A-4147-A177-3AD203B41FA5}">
                      <a16:colId xmlns:a16="http://schemas.microsoft.com/office/drawing/2014/main" val="20001"/>
                    </a:ext>
                  </a:extLst>
                </a:gridCol>
              </a:tblGrid>
              <a:tr h="218003">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1839397">
                <a:tc>
                  <a:txBody>
                    <a:bodyPr/>
                    <a:lstStyle/>
                    <a:p>
                      <a:pPr marL="0" marR="0" algn="just">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x is a signed integer</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if(x &lt;= 20 || x &gt;= 25){</a:t>
                      </a:r>
                      <a:endParaRPr lang="en-US" sz="20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 = 1</a:t>
                      </a:r>
                      <a:endParaRPr lang="en-US" sz="20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a:t>
                      </a:r>
                      <a:r>
                        <a:rPr lang="en-US" sz="1600" dirty="0" err="1">
                          <a:solidFill>
                            <a:schemeClr val="bg1">
                              <a:lumMod val="65000"/>
                            </a:schemeClr>
                          </a:solidFill>
                          <a:effectLst/>
                          <a:latin typeface="Consolas" panose="020B0609020204030204" pitchFamily="49" charset="0"/>
                          <a:cs typeface="Consolas" panose="020B0609020204030204" pitchFamily="49" charset="0"/>
                        </a:rPr>
                        <a:t>r0</a:t>
                      </a:r>
                      <a:r>
                        <a:rPr lang="en-US" sz="1600" dirty="0">
                          <a:solidFill>
                            <a:schemeClr val="bg1">
                              <a:lumMod val="65000"/>
                            </a:schemeClr>
                          </a:solidFill>
                          <a:effectLst/>
                          <a:latin typeface="Consolas" panose="020B0609020204030204" pitchFamily="49" charset="0"/>
                          <a:cs typeface="Consolas" panose="020B0609020204030204" pitchFamily="49" charset="0"/>
                        </a:rPr>
                        <a:t> = x</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20</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solidFill>
                            <a:srgbClr val="FF0000"/>
                          </a:solidFill>
                          <a:effectLst/>
                          <a:latin typeface="Consolas" panose="020B0609020204030204" pitchFamily="49" charset="0"/>
                          <a:cs typeface="Consolas" panose="020B0609020204030204" pitchFamily="49" charset="0"/>
                        </a:rPr>
                        <a:t>BLE</a:t>
                      </a:r>
                      <a:r>
                        <a:rPr lang="en-US" sz="1600" dirty="0">
                          <a:solidFill>
                            <a:srgbClr val="FF0000"/>
                          </a:solidFill>
                          <a:effectLst/>
                          <a:latin typeface="Consolas" panose="020B0609020204030204" pitchFamily="49" charset="0"/>
                          <a:cs typeface="Consolas" panose="020B0609020204030204" pitchFamily="49" charset="0"/>
                        </a:rPr>
                        <a:t>  then      </a:t>
                      </a:r>
                      <a:r>
                        <a:rPr lang="en-US" sz="1600" dirty="0">
                          <a:solidFill>
                            <a:schemeClr val="bg1">
                              <a:lumMod val="65000"/>
                            </a:schemeClr>
                          </a:solidFill>
                          <a:effectLst/>
                          <a:latin typeface="Consolas" panose="020B0609020204030204" pitchFamily="49" charset="0"/>
                          <a:cs typeface="Consolas" panose="020B0609020204030204" pitchFamily="49" charset="0"/>
                        </a:rPr>
                        <a:t>; go to then if x ≤ 20</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#25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25</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rgbClr val="FF0000"/>
                          </a:solidFill>
                          <a:effectLst/>
                          <a:latin typeface="Consolas" panose="020B0609020204030204" pitchFamily="49" charset="0"/>
                          <a:cs typeface="Consolas" panose="020B0609020204030204" pitchFamily="49" charset="0"/>
                        </a:rPr>
                        <a:t>BLT  </a:t>
                      </a:r>
                      <a:r>
                        <a:rPr lang="en-US" sz="1600" dirty="0" err="1">
                          <a:solidFill>
                            <a:srgbClr val="FF0000"/>
                          </a:solidFill>
                          <a:effectLst/>
                          <a:latin typeface="Consolas" panose="020B0609020204030204" pitchFamily="49" charset="0"/>
                          <a:cs typeface="Consolas" panose="020B0609020204030204" pitchFamily="49" charset="0"/>
                        </a:rPr>
                        <a:t>endif</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a:t>
                      </a:r>
                      <a:r>
                        <a:rPr lang="en-US" sz="1600" dirty="0" err="1">
                          <a:solidFill>
                            <a:schemeClr val="bg1">
                              <a:lumMod val="65000"/>
                            </a:schemeClr>
                          </a:solidFill>
                          <a:effectLst/>
                          <a:latin typeface="Consolas" panose="020B0609020204030204" pitchFamily="49" charset="0"/>
                          <a:cs typeface="Consolas" panose="020B0609020204030204" pitchFamily="49" charset="0"/>
                        </a:rPr>
                        <a:t>endif</a:t>
                      </a:r>
                      <a:r>
                        <a:rPr lang="en-US" sz="1600" dirty="0">
                          <a:solidFill>
                            <a:schemeClr val="bg1">
                              <a:lumMod val="65000"/>
                            </a:schemeClr>
                          </a:solidFill>
                          <a:effectLst/>
                          <a:latin typeface="Consolas" panose="020B0609020204030204" pitchFamily="49" charset="0"/>
                          <a:cs typeface="Consolas" panose="020B0609020204030204" pitchFamily="49" charset="0"/>
                        </a:rPr>
                        <a:t> if x &lt; 25</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then   </a:t>
                      </a:r>
                      <a:r>
                        <a:rPr lang="en-US" sz="1600" dirty="0" err="1">
                          <a:effectLst/>
                          <a:latin typeface="Consolas" panose="020B0609020204030204" pitchFamily="49" charset="0"/>
                          <a:cs typeface="Consolas" panose="020B0609020204030204" pitchFamily="49" charset="0"/>
                        </a:rPr>
                        <a:t>MOV</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 = 1 </a:t>
                      </a:r>
                      <a:endParaRPr lang="en-US" sz="20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600" dirty="0" err="1">
                          <a:effectLst/>
                          <a:latin typeface="Consolas" panose="020B0609020204030204" pitchFamily="49" charset="0"/>
                          <a:cs typeface="Consolas" panose="020B0609020204030204" pitchFamily="49" charset="0"/>
                        </a:rPr>
                        <a:t>endif</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677036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If-then-else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79993707"/>
              </p:ext>
            </p:extLst>
          </p:nvPr>
        </p:nvGraphicFramePr>
        <p:xfrm>
          <a:off x="3276600" y="1933098"/>
          <a:ext cx="1447800" cy="1410654"/>
        </p:xfrm>
        <a:graphic>
          <a:graphicData uri="http://schemas.openxmlformats.org/drawingml/2006/table">
            <a:tbl>
              <a:tblPr firstRow="1" firstCol="1" bandRow="1">
                <a:tableStyleId>{69012ECD-51FC-41F1-AA8D-1B2483CD663E}</a:tableStyleId>
              </a:tblPr>
              <a:tblGrid>
                <a:gridCol w="1447800">
                  <a:extLst>
                    <a:ext uri="{9D8B030D-6E8A-4147-A177-3AD203B41FA5}">
                      <a16:colId xmlns:a16="http://schemas.microsoft.com/office/drawing/2014/main" val="20000"/>
                    </a:ext>
                  </a:extLst>
                </a:gridCol>
              </a:tblGrid>
              <a:tr h="233363">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C Program</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1166814">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 (a == 1)</a:t>
                      </a:r>
                    </a:p>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   b = 3;</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else</a:t>
                      </a:r>
                    </a:p>
                    <a:p>
                      <a:pPr marL="0" marR="0" algn="just">
                        <a:spcBef>
                          <a:spcPts val="0"/>
                        </a:spcBef>
                        <a:spcAft>
                          <a:spcPts val="0"/>
                        </a:spcAft>
                      </a:pPr>
                      <a:r>
                        <a:rPr lang="en-US" sz="1600" dirty="0">
                          <a:solidFill>
                            <a:srgbClr val="FF0000"/>
                          </a:solidFill>
                          <a:effectLst/>
                          <a:latin typeface="Consolas" panose="020B0609020204030204" pitchFamily="49" charset="0"/>
                          <a:cs typeface="Consolas" panose="020B0609020204030204" pitchFamily="49" charset="0"/>
                        </a:rPr>
                        <a:t>   b = 4;</a:t>
                      </a:r>
                      <a:endParaRPr lang="en-US" sz="16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51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6286" y="1524000"/>
            <a:ext cx="3409950" cy="22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3276600" y="3981857"/>
            <a:ext cx="55626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a:t>
            </a:r>
            <a:r>
              <a:rPr lang="en-US" dirty="0" err="1">
                <a:solidFill>
                  <a:schemeClr val="bg1">
                    <a:lumMod val="65000"/>
                  </a:schemeClr>
                </a:solidFill>
                <a:latin typeface="Consolas" panose="020B0609020204030204" pitchFamily="49" charset="0"/>
                <a:cs typeface="Consolas" panose="020B0609020204030204" pitchFamily="49" charset="0"/>
              </a:rPr>
              <a:t>r1</a:t>
            </a:r>
            <a:r>
              <a:rPr lang="en-US" dirty="0">
                <a:solidFill>
                  <a:schemeClr val="bg1">
                    <a:lumMod val="65000"/>
                  </a:schemeClr>
                </a:solidFill>
                <a:latin typeface="Consolas" panose="020B0609020204030204" pitchFamily="49" charset="0"/>
                <a:cs typeface="Consolas" panose="020B0609020204030204" pitchFamily="49" charset="0"/>
              </a:rPr>
              <a:t> = a, </a:t>
            </a:r>
            <a:r>
              <a:rPr lang="en-US" dirty="0" err="1">
                <a:solidFill>
                  <a:schemeClr val="bg1">
                    <a:lumMod val="65000"/>
                  </a:schemeClr>
                </a:solidFill>
                <a:latin typeface="Consolas" panose="020B0609020204030204" pitchFamily="49" charset="0"/>
                <a:cs typeface="Consolas" panose="020B0609020204030204" pitchFamily="49" charset="0"/>
              </a:rPr>
              <a:t>r2</a:t>
            </a:r>
            <a:r>
              <a:rPr lang="en-US" dirty="0">
                <a:solidFill>
                  <a:schemeClr val="bg1">
                    <a:lumMod val="65000"/>
                  </a:schemeClr>
                </a:solidFill>
                <a:latin typeface="Consolas" panose="020B0609020204030204" pitchFamily="49" charset="0"/>
                <a:cs typeface="Consolas" panose="020B0609020204030204" pitchFamily="49" charset="0"/>
              </a:rPr>
              <a:t> = b</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r1</a:t>
            </a:r>
            <a:r>
              <a:rPr lang="en-US" dirty="0">
                <a:latin typeface="Consolas" panose="020B0609020204030204" pitchFamily="49" charset="0"/>
                <a:cs typeface="Consolas" panose="020B0609020204030204" pitchFamily="49" charset="0"/>
              </a:rPr>
              <a:t>, #1   </a:t>
            </a:r>
            <a:r>
              <a:rPr lang="en-US" dirty="0">
                <a:solidFill>
                  <a:schemeClr val="bg1">
                    <a:lumMod val="65000"/>
                  </a:schemeClr>
                </a:solidFill>
                <a:latin typeface="Consolas" panose="020B0609020204030204" pitchFamily="49" charset="0"/>
                <a:cs typeface="Consolas" panose="020B0609020204030204" pitchFamily="49" charset="0"/>
              </a:rPr>
              <a:t>; compare a and 1</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BNE</a:t>
            </a:r>
            <a:r>
              <a:rPr lang="en-US" dirty="0">
                <a:latin typeface="Consolas" panose="020B0609020204030204" pitchFamily="49" charset="0"/>
                <a:cs typeface="Consolas" panose="020B0609020204030204" pitchFamily="49" charset="0"/>
              </a:rPr>
              <a:t> else     </a:t>
            </a:r>
            <a:r>
              <a:rPr lang="en-US" dirty="0">
                <a:solidFill>
                  <a:schemeClr val="bg1">
                    <a:lumMod val="65000"/>
                  </a:schemeClr>
                </a:solidFill>
                <a:latin typeface="Consolas" panose="020B0609020204030204" pitchFamily="49" charset="0"/>
                <a:cs typeface="Consolas" panose="020B0609020204030204" pitchFamily="49" charset="0"/>
              </a:rPr>
              <a:t>; go to else if a ≠ 1  </a:t>
            </a:r>
          </a:p>
          <a:p>
            <a:r>
              <a:rPr lang="en-US" dirty="0">
                <a:latin typeface="Consolas" panose="020B0609020204030204" pitchFamily="49" charset="0"/>
                <a:cs typeface="Consolas" panose="020B0609020204030204" pitchFamily="49" charset="0"/>
              </a:rPr>
              <a:t>then   </a:t>
            </a:r>
            <a:r>
              <a:rPr lang="en-US" dirty="0" err="1">
                <a:solidFill>
                  <a:srgbClr val="0000FF"/>
                </a:solidFill>
                <a:latin typeface="Consolas" panose="020B0609020204030204" pitchFamily="49" charset="0"/>
                <a:cs typeface="Consolas" panose="020B0609020204030204" pitchFamily="49" charset="0"/>
              </a:rPr>
              <a:t>MOV</a:t>
            </a:r>
            <a:r>
              <a:rPr lang="en-US" dirty="0">
                <a:solidFill>
                  <a:srgbClr val="0000FF"/>
                </a:solidFill>
                <a:latin typeface="Consolas" panose="020B0609020204030204" pitchFamily="49" charset="0"/>
                <a:cs typeface="Consolas" panose="020B0609020204030204" pitchFamily="49" charset="0"/>
              </a:rPr>
              <a:t> </a:t>
            </a:r>
            <a:r>
              <a:rPr lang="en-US" dirty="0" err="1">
                <a:solidFill>
                  <a:srgbClr val="0000FF"/>
                </a:solidFill>
                <a:latin typeface="Consolas" panose="020B0609020204030204" pitchFamily="49" charset="0"/>
                <a:cs typeface="Consolas" panose="020B0609020204030204" pitchFamily="49" charset="0"/>
              </a:rPr>
              <a:t>r2</a:t>
            </a:r>
            <a:r>
              <a:rPr lang="en-US" dirty="0">
                <a:solidFill>
                  <a:srgbClr val="0000FF"/>
                </a:solidFill>
                <a:latin typeface="Consolas" panose="020B0609020204030204" pitchFamily="49" charset="0"/>
                <a:cs typeface="Consolas" panose="020B0609020204030204" pitchFamily="49" charset="0"/>
              </a:rPr>
              <a:t>, #3   </a:t>
            </a:r>
            <a:r>
              <a:rPr lang="en-US" dirty="0">
                <a:solidFill>
                  <a:schemeClr val="bg1">
                    <a:lumMod val="65000"/>
                  </a:schemeClr>
                </a:solidFill>
                <a:latin typeface="Consolas" panose="020B0609020204030204" pitchFamily="49" charset="0"/>
                <a:cs typeface="Consolas" panose="020B0609020204030204" pitchFamily="49" charset="0"/>
              </a:rPr>
              <a:t>; b = 3 </a:t>
            </a:r>
          </a:p>
          <a:p>
            <a:r>
              <a:rPr lang="en-US" dirty="0">
                <a:latin typeface="Consolas" panose="020B0609020204030204" pitchFamily="49" charset="0"/>
                <a:cs typeface="Consolas" panose="020B0609020204030204" pitchFamily="49" charset="0"/>
              </a:rPr>
              <a:t>       B   </a:t>
            </a:r>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r>
              <a:rPr lang="en-US" dirty="0">
                <a:solidFill>
                  <a:schemeClr val="bg1">
                    <a:lumMod val="65000"/>
                  </a:schemeClr>
                </a:solidFill>
                <a:latin typeface="Consolas" panose="020B0609020204030204" pitchFamily="49" charset="0"/>
                <a:cs typeface="Consolas" panose="020B0609020204030204" pitchFamily="49" charset="0"/>
              </a:rPr>
              <a:t>; go to </a:t>
            </a:r>
            <a:r>
              <a:rPr lang="en-US" dirty="0" err="1">
                <a:solidFill>
                  <a:schemeClr val="bg1">
                    <a:lumMod val="65000"/>
                  </a:schemeClr>
                </a:solidFill>
                <a:latin typeface="Consolas" panose="020B0609020204030204" pitchFamily="49" charset="0"/>
                <a:cs typeface="Consolas" panose="020B0609020204030204" pitchFamily="49" charset="0"/>
              </a:rPr>
              <a:t>endif</a:t>
            </a:r>
            <a:endParaRPr lang="en-US" dirty="0">
              <a:solidFill>
                <a:schemeClr val="bg1">
                  <a:lumMod val="65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else   </a:t>
            </a:r>
            <a:r>
              <a:rPr lang="en-US" dirty="0" err="1">
                <a:solidFill>
                  <a:srgbClr val="FF0000"/>
                </a:solidFill>
                <a:latin typeface="Consolas" panose="020B0609020204030204" pitchFamily="49" charset="0"/>
                <a:cs typeface="Consolas" panose="020B0609020204030204" pitchFamily="49" charset="0"/>
              </a:rPr>
              <a:t>MOV</a:t>
            </a:r>
            <a:r>
              <a:rPr lang="en-US" dirty="0">
                <a:solidFill>
                  <a:srgbClr val="FF0000"/>
                </a:solidFill>
                <a:latin typeface="Consolas" panose="020B0609020204030204" pitchFamily="49" charset="0"/>
                <a:cs typeface="Consolas" panose="020B0609020204030204" pitchFamily="49" charset="0"/>
              </a:rPr>
              <a:t> </a:t>
            </a:r>
            <a:r>
              <a:rPr lang="en-US" dirty="0" err="1">
                <a:solidFill>
                  <a:srgbClr val="FF0000"/>
                </a:solidFill>
                <a:latin typeface="Consolas" panose="020B0609020204030204" pitchFamily="49" charset="0"/>
                <a:cs typeface="Consolas" panose="020B0609020204030204" pitchFamily="49" charset="0"/>
              </a:rPr>
              <a:t>r2</a:t>
            </a:r>
            <a:r>
              <a:rPr lang="en-US" dirty="0">
                <a:solidFill>
                  <a:srgbClr val="FF0000"/>
                </a:solidFill>
                <a:latin typeface="Consolas" panose="020B0609020204030204" pitchFamily="49" charset="0"/>
                <a:cs typeface="Consolas" panose="020B0609020204030204" pitchFamily="49" charset="0"/>
              </a:rPr>
              <a:t>, #4   </a:t>
            </a:r>
            <a:r>
              <a:rPr lang="en-US" dirty="0">
                <a:solidFill>
                  <a:schemeClr val="bg1">
                    <a:lumMod val="65000"/>
                  </a:schemeClr>
                </a:solidFill>
                <a:latin typeface="Consolas" panose="020B0609020204030204" pitchFamily="49" charset="0"/>
                <a:cs typeface="Consolas" panose="020B0609020204030204" pitchFamily="49" charset="0"/>
              </a:rPr>
              <a:t>; b = 4 </a:t>
            </a:r>
          </a:p>
          <a:p>
            <a:r>
              <a:rPr lang="en-US" dirty="0" err="1">
                <a:latin typeface="Consolas" panose="020B0609020204030204" pitchFamily="49" charset="0"/>
                <a:cs typeface="Consolas" panose="020B0609020204030204" pitchFamily="49" charset="0"/>
              </a:rPr>
              <a:t>endif</a:t>
            </a:r>
            <a:r>
              <a:rPr lang="en-US" dirty="0">
                <a:latin typeface="Consolas" panose="020B0609020204030204" pitchFamily="49" charset="0"/>
                <a:cs typeface="Consolas" panose="020B0609020204030204" pitchFamily="49" charset="0"/>
              </a:rPr>
              <a:t> </a:t>
            </a:r>
          </a:p>
        </p:txBody>
      </p:sp>
    </p:spTree>
    <p:extLst>
      <p:ext uri="{BB962C8B-B14F-4D97-AF65-F5344CB8AC3E}">
        <p14:creationId xmlns:p14="http://schemas.microsoft.com/office/powerpoint/2010/main" val="2331627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537093681"/>
              </p:ext>
            </p:extLst>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pic>
        <p:nvPicPr>
          <p:cNvPr id="614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8766" y="609600"/>
            <a:ext cx="2468162" cy="3205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2919918" y="4079467"/>
            <a:ext cx="64008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latin typeface="Consolas" panose="020B0609020204030204" pitchFamily="49" charset="0"/>
                <a:cs typeface="Consolas" panose="020B0609020204030204" pitchFamily="49" charset="0"/>
              </a:rPr>
              <a:t>      	</a:t>
            </a:r>
            <a:r>
              <a:rPr lang="pt-BR" dirty="0">
                <a:solidFill>
                  <a:srgbClr val="0000FF"/>
                </a:solidFill>
                <a:latin typeface="Consolas" panose="020B0609020204030204" pitchFamily="49" charset="0"/>
                <a:cs typeface="Consolas" panose="020B0609020204030204" pitchFamily="49" charset="0"/>
              </a:rPr>
              <a:t>B   check</a:t>
            </a:r>
          </a:p>
          <a:p>
            <a:r>
              <a:rPr lang="pt-BR" b="1"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a:t>
            </a:r>
            <a:r>
              <a:rPr lang="pt-BR" dirty="0" err="1">
                <a:solidFill>
                  <a:schemeClr val="bg1">
                    <a:lumMod val="65000"/>
                  </a:schemeClr>
                </a:solidFill>
                <a:latin typeface="Consolas" panose="020B0609020204030204" pitchFamily="49" charset="0"/>
                <a:cs typeface="Consolas" panose="020B0609020204030204" pitchFamily="49" charset="0"/>
              </a:rPr>
              <a:t>i</a:t>
            </a:r>
            <a:endParaRPr lang="pt-BR" dirty="0">
              <a:solidFill>
                <a:schemeClr val="bg1">
                  <a:lumMod val="65000"/>
                </a:schemeClr>
              </a:solidFill>
              <a:latin typeface="Consolas" panose="020B0609020204030204" pitchFamily="49" charset="0"/>
              <a:cs typeface="Consolas" panose="020B0609020204030204" pitchFamily="49" charset="0"/>
            </a:endParaRP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i</a:t>
            </a:r>
            <a:r>
              <a:rPr lang="pt-BR" dirty="0">
                <a:solidFill>
                  <a:schemeClr val="bg1">
                    <a:lumMod val="65000"/>
                  </a:schemeClr>
                </a:solidFill>
                <a:latin typeface="Consolas" panose="020B0609020204030204" pitchFamily="49" charset="0"/>
                <a:cs typeface="Consolas" panose="020B0609020204030204" pitchFamily="49" charset="0"/>
              </a:rPr>
              <a:t>++</a:t>
            </a:r>
          </a:p>
          <a:p>
            <a:r>
              <a:rPr lang="pt-BR" dirty="0">
                <a:solidFill>
                  <a:srgbClr val="0000FF"/>
                </a:solidFill>
                <a:latin typeface="Consolas" panose="020B0609020204030204" pitchFamily="49" charset="0"/>
                <a:cs typeface="Consolas" panose="020B0609020204030204" pitchFamily="49" charset="0"/>
              </a:rPr>
              <a:t>check</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check</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whether</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i</a:t>
            </a:r>
            <a:r>
              <a:rPr lang="pt-BR" dirty="0">
                <a:solidFill>
                  <a:schemeClr val="bg1">
                    <a:lumMod val="65000"/>
                  </a:schemeClr>
                </a:solidFill>
                <a:latin typeface="Consolas" panose="020B0609020204030204" pitchFamily="49" charset="0"/>
                <a:cs typeface="Consolas" panose="020B0609020204030204" pitchFamily="49" charset="0"/>
              </a:rPr>
              <a:t> &lt; 10</a:t>
            </a:r>
          </a:p>
          <a:p>
            <a:r>
              <a:rPr lang="pt-BR" dirty="0">
                <a:latin typeface="Consolas" panose="020B0609020204030204" pitchFamily="49" charset="0"/>
                <a:cs typeface="Consolas" panose="020B0609020204030204" pitchFamily="49" charset="0"/>
              </a:rPr>
              <a:t>      	</a:t>
            </a:r>
            <a:r>
              <a:rPr lang="pt-BR" b="1" dirty="0">
                <a:solidFill>
                  <a:srgbClr val="FF0000"/>
                </a:solidFill>
                <a:latin typeface="Consolas" panose="020B0609020204030204" pitchFamily="49" charset="0"/>
                <a:cs typeface="Consolas" panose="020B0609020204030204" pitchFamily="49" charset="0"/>
              </a:rPr>
              <a:t>BLT loop</a:t>
            </a:r>
            <a:r>
              <a:rPr lang="pt-BR" b="1" dirty="0">
                <a:solidFill>
                  <a:schemeClr val="bg1">
                    <a:lumMod val="65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 loop </a:t>
            </a:r>
            <a:r>
              <a:rPr lang="pt-BR" dirty="0" err="1">
                <a:solidFill>
                  <a:schemeClr val="bg1">
                    <a:lumMod val="65000"/>
                  </a:schemeClr>
                </a:solidFill>
                <a:latin typeface="Consolas" panose="020B0609020204030204" pitchFamily="49" charset="0"/>
                <a:cs typeface="Consolas" panose="020B0609020204030204" pitchFamily="49" charset="0"/>
              </a:rPr>
              <a:t>if</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signed</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less</a:t>
            </a:r>
            <a:r>
              <a:rPr lang="pt-BR" dirty="0">
                <a:solidFill>
                  <a:schemeClr val="bg1">
                    <a:lumMod val="65000"/>
                  </a:schemeClr>
                </a:solidFill>
                <a:latin typeface="Consolas" panose="020B0609020204030204" pitchFamily="49" charset="0"/>
                <a:cs typeface="Consolas" panose="020B0609020204030204" pitchFamily="49" charset="0"/>
              </a:rPr>
              <a:t> </a:t>
            </a:r>
            <a:r>
              <a:rPr lang="pt-BR" dirty="0" err="1">
                <a:solidFill>
                  <a:schemeClr val="bg1">
                    <a:lumMod val="65000"/>
                  </a:schemeClr>
                </a:solidFill>
                <a:latin typeface="Consolas" panose="020B0609020204030204" pitchFamily="49" charset="0"/>
                <a:cs typeface="Consolas" panose="020B0609020204030204" pitchFamily="49" charset="0"/>
              </a:rPr>
              <a:t>than</a:t>
            </a:r>
            <a:endParaRPr lang="pt-BR" dirty="0">
              <a:solidFill>
                <a:srgbClr val="FF0000"/>
              </a:solidFill>
              <a:latin typeface="Consolas" panose="020B0609020204030204" pitchFamily="49" charset="0"/>
              <a:cs typeface="Consolas" panose="020B0609020204030204" pitchFamily="49" charset="0"/>
            </a:endParaRP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1981201" y="3581400"/>
            <a:ext cx="1877437" cy="369332"/>
          </a:xfrm>
          <a:prstGeom prst="rect">
            <a:avLst/>
          </a:prstGeom>
          <a:noFill/>
        </p:spPr>
        <p:txBody>
          <a:bodyPr wrap="none" rtlCol="0">
            <a:spAutoFit/>
          </a:bodyPr>
          <a:lstStyle/>
          <a:p>
            <a:r>
              <a:rPr lang="en-US" dirty="0"/>
              <a:t>Implementation 1:</a:t>
            </a:r>
          </a:p>
        </p:txBody>
      </p:sp>
    </p:spTree>
    <p:extLst>
      <p:ext uri="{BB962C8B-B14F-4D97-AF65-F5344CB8AC3E}">
        <p14:creationId xmlns:p14="http://schemas.microsoft.com/office/powerpoint/2010/main" val="3293036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95422949"/>
              </p:ext>
            </p:extLst>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3124200" y="4112249"/>
            <a:ext cx="58674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check whether i &lt; 10</a:t>
            </a:r>
          </a:p>
          <a:p>
            <a:r>
              <a:rPr lang="pt-BR" dirty="0">
                <a:solidFill>
                  <a:srgbClr val="FF0000"/>
                </a:solidFill>
                <a:latin typeface="Consolas" panose="020B0609020204030204" pitchFamily="49" charset="0"/>
                <a:cs typeface="Consolas" panose="020B0609020204030204" pitchFamily="49" charset="0"/>
              </a:rPr>
              <a:t>      	BGE endloop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skip if ≥</a:t>
            </a:r>
          </a:p>
          <a:p>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i</a:t>
            </a: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solidFill>
                  <a:srgbClr val="FF0000"/>
                </a:solidFill>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1981201" y="3581400"/>
            <a:ext cx="1877437" cy="369332"/>
          </a:xfrm>
          <a:prstGeom prst="rect">
            <a:avLst/>
          </a:prstGeom>
          <a:noFill/>
        </p:spPr>
        <p:txBody>
          <a:bodyPr wrap="none" rtlCol="0">
            <a:spAutoFit/>
          </a:bodyPr>
          <a:lstStyle/>
          <a:p>
            <a:r>
              <a:rPr lang="en-US" dirty="0"/>
              <a:t>Implementation 2:</a:t>
            </a:r>
          </a:p>
        </p:txBody>
      </p:sp>
      <p:pic>
        <p:nvPicPr>
          <p:cNvPr id="8" name="Picture 1">
            <a:extLst>
              <a:ext uri="{FF2B5EF4-FFF2-40B4-BE49-F238E27FC236}">
                <a16:creationId xmlns:a16="http://schemas.microsoft.com/office/drawing/2014/main" id="{058AAE44-F9DE-6449-BAC0-7E350273C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8766" y="609600"/>
            <a:ext cx="2468162" cy="32050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2116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075"/>
          <p:cNvSpPr>
            <a:spLocks noGrp="1" noChangeArrowheads="1"/>
          </p:cNvSpPr>
          <p:nvPr>
            <p:ph type="title"/>
          </p:nvPr>
        </p:nvSpPr>
        <p:spPr/>
        <p:txBody>
          <a:bodyPr>
            <a:normAutofit/>
          </a:bodyPr>
          <a:lstStyle/>
          <a:p>
            <a:r>
              <a:rPr lang="en-US" dirty="0"/>
              <a:t>Combined Program Status Registers (</a:t>
            </a:r>
            <a:r>
              <a:rPr lang="en-US" dirty="0" err="1"/>
              <a:t>xPSR</a:t>
            </a:r>
            <a:r>
              <a:rPr lang="en-US" dirty="0"/>
              <a:t>)</a:t>
            </a:r>
          </a:p>
        </p:txBody>
      </p:sp>
      <p:sp>
        <p:nvSpPr>
          <p:cNvPr id="50" name="Slide Number Placeholder 49"/>
          <p:cNvSpPr>
            <a:spLocks noGrp="1"/>
          </p:cNvSpPr>
          <p:nvPr>
            <p:ph type="sldNum" sz="quarter" idx="12"/>
          </p:nvPr>
        </p:nvSpPr>
        <p:spPr/>
        <p:txBody>
          <a:bodyPr/>
          <a:lstStyle/>
          <a:p>
            <a:fld id="{AEE14D4A-FE32-40AF-B06D-E9622816B101}" type="slidenum">
              <a:rPr lang="en-US" smtClean="0"/>
              <a:pPr/>
              <a:t>27</a:t>
            </a:fld>
            <a:endParaRPr lang="en-US"/>
          </a:p>
        </p:txBody>
      </p:sp>
      <p:pic>
        <p:nvPicPr>
          <p:cNvPr id="3" name="Picture 2"/>
          <p:cNvPicPr>
            <a:picLocks noChangeAspect="1"/>
          </p:cNvPicPr>
          <p:nvPr/>
        </p:nvPicPr>
        <p:blipFill>
          <a:blip r:embed="rId3"/>
          <a:stretch>
            <a:fillRect/>
          </a:stretch>
        </p:blipFill>
        <p:spPr>
          <a:xfrm>
            <a:off x="1600201" y="1828800"/>
            <a:ext cx="9035457" cy="2590800"/>
          </a:xfrm>
          <a:prstGeom prst="rect">
            <a:avLst/>
          </a:prstGeom>
        </p:spPr>
      </p:pic>
    </p:spTree>
    <p:extLst>
      <p:ext uri="{BB962C8B-B14F-4D97-AF65-F5344CB8AC3E}">
        <p14:creationId xmlns:p14="http://schemas.microsoft.com/office/powerpoint/2010/main" val="173513219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28</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14340" name="Group 4"/>
          <p:cNvGrpSpPr>
            <a:grpSpLocks/>
          </p:cNvGrpSpPr>
          <p:nvPr/>
        </p:nvGrpSpPr>
        <p:grpSpPr bwMode="auto">
          <a:xfrm>
            <a:off x="2947974" y="1779588"/>
            <a:ext cx="6362700" cy="4241800"/>
            <a:chOff x="1488" y="1584"/>
            <a:chExt cx="2784" cy="2304"/>
          </a:xfrm>
        </p:grpSpPr>
        <p:sp>
          <p:nvSpPr>
            <p:cNvPr id="14342" name="Rectangle 5"/>
            <p:cNvSpPr>
              <a:spLocks noChangeArrowheads="1"/>
            </p:cNvSpPr>
            <p:nvPr/>
          </p:nvSpPr>
          <p:spPr bwMode="auto">
            <a:xfrm>
              <a:off x="2045" y="187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Not equal</a:t>
              </a:r>
            </a:p>
          </p:txBody>
        </p:sp>
        <p:sp>
          <p:nvSpPr>
            <p:cNvPr id="14343" name="Rectangle 6"/>
            <p:cNvSpPr>
              <a:spLocks noChangeArrowheads="1"/>
            </p:cNvSpPr>
            <p:nvPr/>
          </p:nvSpPr>
          <p:spPr bwMode="auto">
            <a:xfrm>
              <a:off x="2045" y="201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 or same</a:t>
              </a:r>
            </a:p>
          </p:txBody>
        </p:sp>
        <p:sp>
          <p:nvSpPr>
            <p:cNvPr id="14344" name="Rectangle 7"/>
            <p:cNvSpPr>
              <a:spLocks noChangeArrowheads="1"/>
            </p:cNvSpPr>
            <p:nvPr/>
          </p:nvSpPr>
          <p:spPr bwMode="auto">
            <a:xfrm>
              <a:off x="2045" y="216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lower</a:t>
              </a:r>
            </a:p>
          </p:txBody>
        </p:sp>
        <p:sp>
          <p:nvSpPr>
            <p:cNvPr id="14345" name="Rectangle 8"/>
            <p:cNvSpPr>
              <a:spLocks noChangeArrowheads="1"/>
            </p:cNvSpPr>
            <p:nvPr/>
          </p:nvSpPr>
          <p:spPr bwMode="auto">
            <a:xfrm>
              <a:off x="2045" y="2304"/>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Negative</a:t>
              </a:r>
            </a:p>
          </p:txBody>
        </p:sp>
        <p:sp>
          <p:nvSpPr>
            <p:cNvPr id="14346" name="Rectangle 9"/>
            <p:cNvSpPr>
              <a:spLocks noChangeArrowheads="1"/>
            </p:cNvSpPr>
            <p:nvPr/>
          </p:nvSpPr>
          <p:spPr bwMode="auto">
            <a:xfrm>
              <a:off x="2045" y="1728"/>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Equal</a:t>
              </a:r>
            </a:p>
          </p:txBody>
        </p:sp>
        <p:sp>
          <p:nvSpPr>
            <p:cNvPr id="14347" name="Rectangle 10"/>
            <p:cNvSpPr>
              <a:spLocks noChangeArrowheads="1"/>
            </p:cNvSpPr>
            <p:nvPr/>
          </p:nvSpPr>
          <p:spPr bwMode="auto">
            <a:xfrm>
              <a:off x="2045" y="259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Overflow</a:t>
              </a:r>
            </a:p>
          </p:txBody>
        </p:sp>
        <p:sp>
          <p:nvSpPr>
            <p:cNvPr id="14348" name="Rectangle 11"/>
            <p:cNvSpPr>
              <a:spLocks noChangeArrowheads="1"/>
            </p:cNvSpPr>
            <p:nvPr/>
          </p:nvSpPr>
          <p:spPr bwMode="auto">
            <a:xfrm>
              <a:off x="2045" y="273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No overflow</a:t>
              </a:r>
            </a:p>
          </p:txBody>
        </p:sp>
        <p:sp>
          <p:nvSpPr>
            <p:cNvPr id="14349" name="Rectangle 12"/>
            <p:cNvSpPr>
              <a:spLocks noChangeArrowheads="1"/>
            </p:cNvSpPr>
            <p:nvPr/>
          </p:nvSpPr>
          <p:spPr bwMode="auto">
            <a:xfrm>
              <a:off x="2045" y="288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a:t>
              </a:r>
            </a:p>
          </p:txBody>
        </p:sp>
        <p:sp>
          <p:nvSpPr>
            <p:cNvPr id="14350" name="Rectangle 13"/>
            <p:cNvSpPr>
              <a:spLocks noChangeArrowheads="1"/>
            </p:cNvSpPr>
            <p:nvPr/>
          </p:nvSpPr>
          <p:spPr bwMode="auto">
            <a:xfrm>
              <a:off x="2045" y="302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Unsigned lower or same</a:t>
              </a:r>
            </a:p>
          </p:txBody>
        </p:sp>
        <p:sp>
          <p:nvSpPr>
            <p:cNvPr id="14351" name="Rectangle 14"/>
            <p:cNvSpPr>
              <a:spLocks noChangeArrowheads="1"/>
            </p:cNvSpPr>
            <p:nvPr/>
          </p:nvSpPr>
          <p:spPr bwMode="auto">
            <a:xfrm>
              <a:off x="2045" y="244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Positive or Zero</a:t>
              </a:r>
            </a:p>
          </p:txBody>
        </p:sp>
        <p:sp>
          <p:nvSpPr>
            <p:cNvPr id="14352" name="Rectangle 15"/>
            <p:cNvSpPr>
              <a:spLocks noChangeArrowheads="1"/>
            </p:cNvSpPr>
            <p:nvPr/>
          </p:nvSpPr>
          <p:spPr bwMode="auto">
            <a:xfrm>
              <a:off x="2045" y="3312"/>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a:t>
              </a:r>
            </a:p>
          </p:txBody>
        </p:sp>
        <p:sp>
          <p:nvSpPr>
            <p:cNvPr id="14353" name="Rectangle 16"/>
            <p:cNvSpPr>
              <a:spLocks noChangeArrowheads="1"/>
            </p:cNvSpPr>
            <p:nvPr/>
          </p:nvSpPr>
          <p:spPr bwMode="auto">
            <a:xfrm>
              <a:off x="2045" y="345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than</a:t>
              </a:r>
            </a:p>
          </p:txBody>
        </p:sp>
        <p:sp>
          <p:nvSpPr>
            <p:cNvPr id="14354" name="Rectangle 17"/>
            <p:cNvSpPr>
              <a:spLocks noChangeArrowheads="1"/>
            </p:cNvSpPr>
            <p:nvPr/>
          </p:nvSpPr>
          <p:spPr bwMode="auto">
            <a:xfrm>
              <a:off x="2045" y="360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 or equal</a:t>
              </a:r>
            </a:p>
          </p:txBody>
        </p:sp>
        <p:sp>
          <p:nvSpPr>
            <p:cNvPr id="14355" name="Rectangle 18"/>
            <p:cNvSpPr>
              <a:spLocks noChangeArrowheads="1"/>
            </p:cNvSpPr>
            <p:nvPr/>
          </p:nvSpPr>
          <p:spPr bwMode="auto">
            <a:xfrm>
              <a:off x="2045" y="374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Always</a:t>
              </a:r>
            </a:p>
          </p:txBody>
        </p:sp>
        <p:sp>
          <p:nvSpPr>
            <p:cNvPr id="14356" name="Rectangle 19"/>
            <p:cNvSpPr>
              <a:spLocks noChangeArrowheads="1"/>
            </p:cNvSpPr>
            <p:nvPr/>
          </p:nvSpPr>
          <p:spPr bwMode="auto">
            <a:xfrm>
              <a:off x="2045" y="316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or equal</a:t>
              </a:r>
            </a:p>
          </p:txBody>
        </p:sp>
        <p:sp>
          <p:nvSpPr>
            <p:cNvPr id="14357" name="Rectangle 20"/>
            <p:cNvSpPr>
              <a:spLocks noChangeArrowheads="1"/>
            </p:cNvSpPr>
            <p:nvPr/>
          </p:nvSpPr>
          <p:spPr bwMode="auto">
            <a:xfrm>
              <a:off x="1488" y="172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88" y="187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88" y="201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88" y="216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88" y="244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88" y="259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88" y="288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88" y="302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88" y="316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88" y="331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88" y="345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88" y="360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88" y="374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88" y="230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88" y="273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88" y="1584"/>
              <a:ext cx="557"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045" y="1584"/>
              <a:ext cx="1503"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3548" y="187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3548" y="201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3548" y="216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3548" y="172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3548" y="1584"/>
              <a:ext cx="724"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3548" y="230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3548" y="244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3548" y="259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3548" y="273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3548" y="288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3548" y="302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3548" y="316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3548" y="331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3548" y="345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3548" y="3600"/>
              <a:ext cx="724"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3548" y="3744"/>
              <a:ext cx="724" cy="144"/>
            </a:xfrm>
            <a:prstGeom prst="rect">
              <a:avLst/>
            </a:prstGeom>
            <a:noFill/>
            <a:ln w="12700">
              <a:solidFill>
                <a:schemeClr val="tx1"/>
              </a:solidFill>
              <a:miter lim="800000"/>
              <a:headEnd/>
              <a:tailEnd/>
            </a:ln>
          </p:spPr>
          <p:txBody>
            <a:bodyPr wrap="none" anchor="ctr"/>
            <a:lstStyle/>
            <a:p>
              <a:endParaRPr lang="en-GB">
                <a:solidFill>
                  <a:schemeClr val="hlink"/>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80961325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Execution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10460754"/>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V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V = 0</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 &amp;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 or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 &amp;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Z = 1 or N = !V</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601302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Conditional Execution</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30</a:t>
            </a:fld>
            <a:endParaRPr lang="en-US"/>
          </a:p>
        </p:txBody>
      </p:sp>
      <p:sp>
        <p:nvSpPr>
          <p:cNvPr id="3" name="Rectangle 2"/>
          <p:cNvSpPr/>
          <p:nvPr/>
        </p:nvSpPr>
        <p:spPr>
          <a:xfrm>
            <a:off x="2136648" y="2170794"/>
            <a:ext cx="1830950" cy="1200329"/>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dirty="0">
                <a:latin typeface="Consolas" panose="020B0609020204030204" pitchFamily="49" charset="0"/>
                <a:cs typeface="Consolas" panose="020B0609020204030204" pitchFamily="49" charset="0"/>
              </a:rPr>
              <a:t>if (a &lt;= 0)  </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p:txBody>
      </p:sp>
      <p:sp>
        <p:nvSpPr>
          <p:cNvPr id="7" name="Rectangle 6"/>
          <p:cNvSpPr/>
          <p:nvPr/>
        </p:nvSpPr>
        <p:spPr>
          <a:xfrm>
            <a:off x="5638800" y="2310225"/>
            <a:ext cx="403860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r0</a:t>
            </a:r>
            <a:r>
              <a:rPr lang="en-US" dirty="0">
                <a:latin typeface="Consolas" panose="020B0609020204030204" pitchFamily="49" charset="0"/>
                <a:cs typeface="Consolas" panose="020B0609020204030204" pitchFamily="49" charset="0"/>
              </a:rPr>
              <a:t>, #0</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LE</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GT</a:t>
            </a:r>
          </a:p>
        </p:txBody>
      </p:sp>
      <p:sp>
        <p:nvSpPr>
          <p:cNvPr id="5" name="Right Arrow 4"/>
          <p:cNvSpPr/>
          <p:nvPr/>
        </p:nvSpPr>
        <p:spPr>
          <a:xfrm>
            <a:off x="4419600" y="2665189"/>
            <a:ext cx="838200" cy="2115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867401" y="3581401"/>
            <a:ext cx="3065263" cy="646331"/>
          </a:xfrm>
          <a:prstGeom prst="rect">
            <a:avLst/>
          </a:prstGeom>
          <a:noFill/>
        </p:spPr>
        <p:txBody>
          <a:bodyPr wrap="none" rtlCol="0">
            <a:spAutoFit/>
          </a:bodyPr>
          <a:lstStyle/>
          <a:p>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a:t>
            </a:r>
            <a:r>
              <a:rPr lang="en-US" dirty="0"/>
              <a:t>Signed Less than or Equal</a:t>
            </a:r>
          </a:p>
          <a:p>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a:t>
            </a:r>
            <a:r>
              <a:rPr lang="en-US" dirty="0"/>
              <a:t>Signed Greater Than</a:t>
            </a:r>
          </a:p>
        </p:txBody>
      </p:sp>
      <p:sp>
        <p:nvSpPr>
          <p:cNvPr id="2" name="TextBox 1"/>
          <p:cNvSpPr txBox="1"/>
          <p:nvPr/>
        </p:nvSpPr>
        <p:spPr>
          <a:xfrm>
            <a:off x="5858360" y="1460700"/>
            <a:ext cx="1090363" cy="646331"/>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a:t>
            </a:r>
            <a:r>
              <a:rPr lang="en-US" dirty="0" err="1">
                <a:latin typeface="Consolas" panose="020B0609020204030204" pitchFamily="49" charset="0"/>
                <a:ea typeface="Cambria Math"/>
                <a:cs typeface="Consolas" panose="020B0609020204030204" pitchFamily="49" charset="0"/>
              </a:rPr>
              <a:t>r0</a:t>
            </a:r>
            <a:endParaRPr lang="en-US" dirty="0">
              <a:latin typeface="Consolas" panose="020B0609020204030204" pitchFamily="49" charset="0"/>
              <a:ea typeface="Cambria Math"/>
              <a:cs typeface="Consolas" panose="020B0609020204030204" pitchFamily="49" charset="0"/>
            </a:endParaRP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a:t>
            </a:r>
            <a:r>
              <a:rPr lang="en-US" dirty="0" err="1">
                <a:latin typeface="Consolas" panose="020B0609020204030204" pitchFamily="49" charset="0"/>
                <a:ea typeface="Cambria Math"/>
                <a:cs typeface="Consolas" panose="020B0609020204030204" pitchFamily="49" charset="0"/>
              </a:rPr>
              <a:t>r1</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9086899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Conditional Execution</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31</a:t>
            </a:fld>
            <a:endParaRPr lang="en-US"/>
          </a:p>
        </p:txBody>
      </p:sp>
      <p:sp>
        <p:nvSpPr>
          <p:cNvPr id="3" name="Rectangle 2"/>
          <p:cNvSpPr/>
          <p:nvPr/>
        </p:nvSpPr>
        <p:spPr>
          <a:xfrm>
            <a:off x="1600200" y="2453041"/>
            <a:ext cx="3477234" cy="1200329"/>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dirty="0">
                <a:latin typeface="Consolas" panose="020B0609020204030204" pitchFamily="49" charset="0"/>
                <a:cs typeface="Consolas" panose="020B0609020204030204" pitchFamily="49" charset="0"/>
              </a:rPr>
              <a:t>if (a==1 || a==7 || a==11)</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p:txBody>
      </p:sp>
      <p:sp>
        <p:nvSpPr>
          <p:cNvPr id="7" name="Rectangle 6"/>
          <p:cNvSpPr/>
          <p:nvPr/>
        </p:nvSpPr>
        <p:spPr>
          <a:xfrm>
            <a:off x="5997102" y="2310225"/>
            <a:ext cx="4594699"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r0</a:t>
            </a:r>
            <a:r>
              <a:rPr lang="en-US" dirty="0">
                <a:latin typeface="Consolas" panose="020B0609020204030204" pitchFamily="49" charset="0"/>
                <a:cs typeface="Consolas" panose="020B0609020204030204" pitchFamily="49" charset="0"/>
              </a:rPr>
              <a:t>,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#7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#11 </a:t>
            </a:r>
            <a:r>
              <a:rPr lang="en-US" dirty="0">
                <a:solidFill>
                  <a:schemeClr val="bg1">
                    <a:lumMod val="50000"/>
                  </a:schemeClr>
                </a:solidFill>
                <a:latin typeface="Consolas" panose="020B0609020204030204" pitchFamily="49" charset="0"/>
                <a:cs typeface="Consolas" panose="020B0609020204030204" pitchFamily="49" charset="0"/>
              </a:rPr>
              <a:t>; executed if r0 != 7</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p:txBody>
      </p:sp>
      <p:sp>
        <p:nvSpPr>
          <p:cNvPr id="5" name="Right Arrow 4"/>
          <p:cNvSpPr/>
          <p:nvPr/>
        </p:nvSpPr>
        <p:spPr>
          <a:xfrm>
            <a:off x="5302994" y="2947436"/>
            <a:ext cx="468549" cy="2115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096001" y="4114801"/>
            <a:ext cx="1514517" cy="646331"/>
          </a:xfrm>
          <a:prstGeom prst="rect">
            <a:avLst/>
          </a:prstGeom>
          <a:noFill/>
        </p:spPr>
        <p:txBody>
          <a:bodyPr wrap="none" rtlCol="0">
            <a:spAutoFit/>
          </a:bodyPr>
          <a:lstStyle/>
          <a:p>
            <a:r>
              <a:rPr lang="en-US" dirty="0">
                <a:solidFill>
                  <a:srgbClr val="FF0000"/>
                </a:solidFill>
                <a:latin typeface="Consolas" panose="020B0609020204030204" pitchFamily="49" charset="0"/>
              </a:rPr>
              <a:t>NE</a:t>
            </a:r>
            <a:r>
              <a:rPr lang="en-US" dirty="0"/>
              <a:t>: Not Equal</a:t>
            </a:r>
          </a:p>
          <a:p>
            <a:r>
              <a:rPr lang="en-US" dirty="0" err="1">
                <a:solidFill>
                  <a:srgbClr val="FF0000"/>
                </a:solidFill>
                <a:latin typeface="Consolas" panose="020B0609020204030204" pitchFamily="49" charset="0"/>
              </a:rPr>
              <a:t>EQ</a:t>
            </a:r>
            <a:r>
              <a:rPr lang="en-US" dirty="0"/>
              <a:t>: Equal</a:t>
            </a:r>
          </a:p>
        </p:txBody>
      </p:sp>
      <p:sp>
        <p:nvSpPr>
          <p:cNvPr id="9" name="TextBox 8"/>
          <p:cNvSpPr txBox="1"/>
          <p:nvPr/>
        </p:nvSpPr>
        <p:spPr>
          <a:xfrm>
            <a:off x="5991936" y="1585655"/>
            <a:ext cx="1090363" cy="646331"/>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a:t>
            </a:r>
            <a:r>
              <a:rPr lang="en-US" dirty="0" err="1">
                <a:latin typeface="Consolas" panose="020B0609020204030204" pitchFamily="49" charset="0"/>
                <a:ea typeface="Cambria Math"/>
                <a:cs typeface="Consolas" panose="020B0609020204030204" pitchFamily="49" charset="0"/>
              </a:rPr>
              <a:t>r0</a:t>
            </a:r>
            <a:endParaRPr lang="en-US" dirty="0">
              <a:latin typeface="Consolas" panose="020B0609020204030204" pitchFamily="49" charset="0"/>
              <a:ea typeface="Cambria Math"/>
              <a:cs typeface="Consolas" panose="020B0609020204030204" pitchFamily="49" charset="0"/>
            </a:endParaRP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a:t>
            </a:r>
            <a:r>
              <a:rPr lang="en-US" dirty="0" err="1">
                <a:latin typeface="Consolas" panose="020B0609020204030204" pitchFamily="49" charset="0"/>
                <a:ea typeface="Cambria Math"/>
                <a:cs typeface="Consolas" panose="020B0609020204030204" pitchFamily="49" charset="0"/>
              </a:rPr>
              <a:t>r1</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0995830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Compound Boolean Expression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dirty="0"/>
          </a:p>
        </p:txBody>
      </p:sp>
      <p:graphicFrame>
        <p:nvGraphicFramePr>
          <p:cNvPr id="4" name="Table 3"/>
          <p:cNvGraphicFramePr>
            <a:graphicFrameLocks noGrp="1"/>
          </p:cNvGraphicFramePr>
          <p:nvPr>
            <p:extLst>
              <p:ext uri="{D42A27DB-BD31-4B8C-83A1-F6EECF244321}">
                <p14:modId xmlns:p14="http://schemas.microsoft.com/office/powerpoint/2010/main" val="4042436493"/>
              </p:ext>
            </p:extLst>
          </p:nvPr>
        </p:nvGraphicFramePr>
        <p:xfrm>
          <a:off x="1981200" y="2819400"/>
          <a:ext cx="8382000" cy="2301896"/>
        </p:xfrm>
        <a:graphic>
          <a:graphicData uri="http://schemas.openxmlformats.org/drawingml/2006/table">
            <a:tbl>
              <a:tblPr firstRow="1" firstCol="1" bandRow="1">
                <a:tableStyleId>{5940675A-B579-460E-94D1-54222C63F5DA}</a:tableStyleId>
              </a:tblPr>
              <a:tblGrid>
                <a:gridCol w="2903825">
                  <a:extLst>
                    <a:ext uri="{9D8B030D-6E8A-4147-A177-3AD203B41FA5}">
                      <a16:colId xmlns:a16="http://schemas.microsoft.com/office/drawing/2014/main" val="20000"/>
                    </a:ext>
                  </a:extLst>
                </a:gridCol>
                <a:gridCol w="5478175">
                  <a:extLst>
                    <a:ext uri="{9D8B030D-6E8A-4147-A177-3AD203B41FA5}">
                      <a16:colId xmlns:a16="http://schemas.microsoft.com/office/drawing/2014/main" val="20001"/>
                    </a:ext>
                  </a:extLst>
                </a:gridCol>
              </a:tblGrid>
              <a:tr h="227944">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2058056">
                <a:tc>
                  <a:txBody>
                    <a:bodyPr/>
                    <a:lstStyle/>
                    <a:p>
                      <a:pPr marL="0" marR="0" algn="just">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x is a signed integer</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if(x &lt;= 20 || x &gt;= 25){</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   a = 1;</a:t>
                      </a:r>
                    </a:p>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a:t>
                      </a:r>
                      <a:r>
                        <a:rPr lang="en-US" sz="1600" dirty="0" err="1">
                          <a:solidFill>
                            <a:schemeClr val="bg1">
                              <a:lumMod val="65000"/>
                            </a:schemeClr>
                          </a:solidFill>
                          <a:effectLst/>
                          <a:latin typeface="Consolas" panose="020B0609020204030204" pitchFamily="49" charset="0"/>
                          <a:cs typeface="Consolas" panose="020B0609020204030204" pitchFamily="49" charset="0"/>
                        </a:rPr>
                        <a:t>r0</a:t>
                      </a:r>
                      <a:r>
                        <a:rPr lang="en-US" sz="1600" dirty="0">
                          <a:solidFill>
                            <a:schemeClr val="bg1">
                              <a:lumMod val="65000"/>
                            </a:schemeClr>
                          </a:solidFill>
                          <a:effectLst/>
                          <a:latin typeface="Consolas" panose="020B0609020204030204" pitchFamily="49" charset="0"/>
                          <a:cs typeface="Consolas" panose="020B0609020204030204" pitchFamily="49" charset="0"/>
                        </a:rPr>
                        <a:t> = x, </a:t>
                      </a:r>
                      <a:r>
                        <a:rPr lang="en-US" sz="1600" dirty="0" err="1">
                          <a:solidFill>
                            <a:schemeClr val="bg1">
                              <a:lumMod val="65000"/>
                            </a:schemeClr>
                          </a:solidFill>
                          <a:effectLst/>
                          <a:latin typeface="Consolas" panose="020B0609020204030204" pitchFamily="49" charset="0"/>
                          <a:cs typeface="Consolas" panose="020B0609020204030204" pitchFamily="49" charset="0"/>
                        </a:rPr>
                        <a:t>r1</a:t>
                      </a:r>
                      <a:r>
                        <a:rPr lang="en-US" sz="1600" dirty="0">
                          <a:solidFill>
                            <a:schemeClr val="bg1">
                              <a:lumMod val="65000"/>
                            </a:schemeClr>
                          </a:solidFill>
                          <a:effectLst/>
                          <a:latin typeface="Consolas" panose="020B0609020204030204" pitchFamily="49" charset="0"/>
                          <a:cs typeface="Consolas" panose="020B0609020204030204" pitchFamily="49" charset="0"/>
                        </a:rPr>
                        <a:t> = a</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x and 20</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b="1" dirty="0" err="1">
                          <a:solidFill>
                            <a:srgbClr val="C00000"/>
                          </a:solidFill>
                          <a:effectLst/>
                          <a:latin typeface="Consolas" panose="020B0609020204030204" pitchFamily="49" charset="0"/>
                          <a:cs typeface="Consolas" panose="020B0609020204030204" pitchFamily="49" charset="0"/>
                        </a:rPr>
                        <a:t>LE</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a=1 if less or equal</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CMP</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r0</a:t>
                      </a:r>
                      <a:r>
                        <a:rPr lang="en-US" sz="1600" dirty="0">
                          <a:effectLst/>
                          <a:latin typeface="Consolas" panose="020B0609020204030204" pitchFamily="49" charset="0"/>
                          <a:cs typeface="Consolas" panose="020B0609020204030204" pitchFamily="49" charset="0"/>
                        </a:rPr>
                        <a:t>, #25  </a:t>
                      </a:r>
                      <a:r>
                        <a:rPr lang="en-US" sz="1600" dirty="0">
                          <a:solidFill>
                            <a:schemeClr val="bg1">
                              <a:lumMod val="65000"/>
                            </a:schemeClr>
                          </a:solidFill>
                          <a:effectLst/>
                          <a:latin typeface="Consolas" panose="020B0609020204030204" pitchFamily="49" charset="0"/>
                          <a:cs typeface="Consolas" panose="020B0609020204030204" pitchFamily="49" charset="0"/>
                        </a:rPr>
                        <a:t>; </a:t>
                      </a:r>
                      <a:r>
                        <a:rPr lang="en-US" sz="1600" dirty="0" err="1">
                          <a:solidFill>
                            <a:schemeClr val="bg1">
                              <a:lumMod val="65000"/>
                            </a:schemeClr>
                          </a:solidFill>
                          <a:effectLst/>
                          <a:latin typeface="Consolas" panose="020B0609020204030204" pitchFamily="49" charset="0"/>
                          <a:cs typeface="Consolas" panose="020B0609020204030204" pitchFamily="49" charset="0"/>
                        </a:rPr>
                        <a:t>CMP</a:t>
                      </a:r>
                      <a:r>
                        <a:rPr lang="en-US" sz="1600" dirty="0">
                          <a:solidFill>
                            <a:schemeClr val="bg1">
                              <a:lumMod val="65000"/>
                            </a:schemeClr>
                          </a:solidFill>
                          <a:effectLst/>
                          <a:latin typeface="Consolas" panose="020B0609020204030204" pitchFamily="49" charset="0"/>
                          <a:cs typeface="Consolas" panose="020B0609020204030204" pitchFamily="49" charset="0"/>
                        </a:rPr>
                        <a:t> if greater than</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MOV</a:t>
                      </a:r>
                      <a:r>
                        <a:rPr lang="en-US" sz="1600" b="1" dirty="0" err="1">
                          <a:solidFill>
                            <a:srgbClr val="C00000"/>
                          </a:solidFill>
                          <a:effectLst/>
                          <a:latin typeface="Consolas" panose="020B0609020204030204" pitchFamily="49" charset="0"/>
                          <a:cs typeface="Consolas" panose="020B0609020204030204" pitchFamily="49" charset="0"/>
                        </a:rPr>
                        <a:t>GE</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r>
                        <a:rPr lang="en-US" sz="1600" dirty="0">
                          <a:effectLst/>
                          <a:latin typeface="Consolas" panose="020B0609020204030204" pitchFamily="49" charset="0"/>
                          <a:cs typeface="Consolas" panose="020B0609020204030204" pitchFamily="49" charset="0"/>
                        </a:rPr>
                        <a:t>, #1   </a:t>
                      </a:r>
                      <a:r>
                        <a:rPr lang="en-US" sz="1600" dirty="0">
                          <a:solidFill>
                            <a:schemeClr val="bg1">
                              <a:lumMod val="65000"/>
                            </a:schemeClr>
                          </a:solidFill>
                          <a:effectLst/>
                          <a:latin typeface="Consolas" panose="020B0609020204030204" pitchFamily="49" charset="0"/>
                          <a:cs typeface="Consolas" panose="020B0609020204030204" pitchFamily="49" charset="0"/>
                        </a:rPr>
                        <a:t>; a=1 if greater or equal</a:t>
                      </a:r>
                    </a:p>
                    <a:p>
                      <a:pPr marL="0" marR="0" algn="l">
                        <a:spcBef>
                          <a:spcPts val="0"/>
                        </a:spcBef>
                        <a:spcAft>
                          <a:spcPts val="0"/>
                        </a:spcAft>
                      </a:pPr>
                      <a:r>
                        <a:rPr lang="en-US" sz="1600" dirty="0" err="1">
                          <a:effectLst/>
                          <a:latin typeface="Consolas" panose="020B0609020204030204" pitchFamily="49" charset="0"/>
                          <a:cs typeface="Consolas" panose="020B0609020204030204" pitchFamily="49" charset="0"/>
                        </a:rPr>
                        <a:t>endif</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240453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1" name="Rectangle 57"/>
          <p:cNvSpPr>
            <a:spLocks noGrp="1" noChangeArrowheads="1"/>
          </p:cNvSpPr>
          <p:nvPr>
            <p:ph type="title"/>
          </p:nvPr>
        </p:nvSpPr>
        <p:spPr/>
        <p:txBody>
          <a:bodyPr>
            <a:normAutofit/>
          </a:bodyPr>
          <a:lstStyle/>
          <a:p>
            <a:r>
              <a:rPr lang="en-US" dirty="0"/>
              <a:t>Example 1: Greatest Common Divider (GCD)</a:t>
            </a:r>
          </a:p>
        </p:txBody>
      </p:sp>
      <p:sp>
        <p:nvSpPr>
          <p:cNvPr id="16387" name="Rectangle 3"/>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88" name="Rectangle 4"/>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16389" name="Rectangle 5"/>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90" name="Rectangle 6"/>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58" name="Slide Number Placeholder 57"/>
          <p:cNvSpPr>
            <a:spLocks noGrp="1"/>
          </p:cNvSpPr>
          <p:nvPr>
            <p:ph type="sldNum" sz="quarter" idx="12"/>
          </p:nvPr>
        </p:nvSpPr>
        <p:spPr/>
        <p:txBody>
          <a:bodyPr/>
          <a:lstStyle/>
          <a:p>
            <a:fld id="{AEE14D4A-FE32-40AF-B06D-E9622816B101}" type="slidenum">
              <a:rPr lang="en-US" smtClean="0"/>
              <a:pPr/>
              <a:t>33</a:t>
            </a:fld>
            <a:endParaRPr lang="en-US"/>
          </a:p>
        </p:txBody>
      </p:sp>
      <p:sp>
        <p:nvSpPr>
          <p:cNvPr id="61" name="TextBox 60"/>
          <p:cNvSpPr txBox="1"/>
          <p:nvPr/>
        </p:nvSpPr>
        <p:spPr>
          <a:xfrm>
            <a:off x="1804932" y="3706685"/>
            <a:ext cx="4519669" cy="2308324"/>
          </a:xfrm>
          <a:prstGeom prst="rect">
            <a:avLst/>
          </a:prstGeom>
          <a:noFill/>
          <a:ln>
            <a:solidFill>
              <a:schemeClr val="accent1"/>
            </a:solidFill>
          </a:ln>
        </p:spPr>
        <p:txBody>
          <a:bodyPr wrap="square" rtlCol="0">
            <a:spAutoFit/>
          </a:bodyPr>
          <a:lstStyle/>
          <a:p>
            <a:r>
              <a:rPr lang="en-US" sz="1600" dirty="0">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suppose r0 = a and r1 = b</a:t>
            </a:r>
          </a:p>
          <a:p>
            <a:r>
              <a:rPr lang="en-US" sz="1600" b="1" dirty="0" err="1">
                <a:solidFill>
                  <a:srgbClr val="FF40FF"/>
                </a:solidFill>
                <a:latin typeface="Consolas" panose="020B0609020204030204" pitchFamily="49" charset="0"/>
                <a:cs typeface="Consolas" panose="020B0609020204030204" pitchFamily="49" charset="0"/>
              </a:rPr>
              <a:t>gcd</a:t>
            </a:r>
            <a:r>
              <a:rPr lang="en-US" sz="1600" dirty="0">
                <a:latin typeface="Consolas" panose="020B0609020204030204" pitchFamily="49" charset="0"/>
                <a:cs typeface="Consolas" panose="020B0609020204030204" pitchFamily="49" charset="0"/>
              </a:rPr>
              <a:t>   CMP r0, r1	      </a:t>
            </a:r>
            <a:r>
              <a:rPr lang="en-US" sz="1600" dirty="0">
                <a:solidFill>
                  <a:schemeClr val="bg1">
                    <a:lumMod val="65000"/>
                  </a:schemeClr>
                </a:solidFill>
                <a:latin typeface="Consolas" panose="020B0609020204030204" pitchFamily="49" charset="0"/>
                <a:cs typeface="Consolas" panose="020B0609020204030204" pitchFamily="49" charset="0"/>
              </a:rPr>
              <a:t>; a &gt; b?</a:t>
            </a:r>
          </a:p>
          <a:p>
            <a:r>
              <a:rPr lang="en-US" sz="1600" b="1" dirty="0">
                <a:solidFill>
                  <a:srgbClr val="0000FF"/>
                </a:solidFill>
                <a:latin typeface="Consolas" panose="020B0609020204030204" pitchFamily="49" charset="0"/>
                <a:cs typeface="Consolas" panose="020B0609020204030204" pitchFamily="49" charset="0"/>
              </a:rPr>
              <a:t>      BEQ end</a:t>
            </a:r>
            <a:r>
              <a:rPr lang="en-US" sz="1600" dirty="0">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if a = b, done</a:t>
            </a:r>
          </a:p>
          <a:p>
            <a:r>
              <a:rPr lang="en-US" sz="1600"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BLO less</a:t>
            </a:r>
            <a:r>
              <a:rPr lang="en-US" sz="1600" dirty="0">
                <a:solidFill>
                  <a:srgbClr val="FF0000"/>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a &lt; b</a:t>
            </a:r>
          </a:p>
          <a:p>
            <a:r>
              <a:rPr lang="en-US" sz="1600" dirty="0">
                <a:latin typeface="Consolas" panose="020B0609020204030204" pitchFamily="49" charset="0"/>
                <a:cs typeface="Consolas" panose="020B0609020204030204" pitchFamily="49" charset="0"/>
              </a:rPr>
              <a:t>      SUB r0, r0, r1  </a:t>
            </a:r>
            <a:r>
              <a:rPr lang="en-US" sz="1600" dirty="0">
                <a:solidFill>
                  <a:schemeClr val="bg1">
                    <a:lumMod val="65000"/>
                  </a:schemeClr>
                </a:solidFill>
                <a:latin typeface="Consolas" panose="020B0609020204030204" pitchFamily="49" charset="0"/>
                <a:cs typeface="Consolas" panose="020B0609020204030204" pitchFamily="49" charset="0"/>
              </a:rPr>
              <a:t>; a = a – b</a:t>
            </a:r>
          </a:p>
          <a:p>
            <a:r>
              <a:rPr lang="en-US" sz="1600" dirty="0">
                <a:latin typeface="Consolas" panose="020B0609020204030204" pitchFamily="49" charset="0"/>
                <a:cs typeface="Consolas" panose="020B0609020204030204" pitchFamily="49" charset="0"/>
              </a:rPr>
              <a:t>      </a:t>
            </a:r>
            <a:r>
              <a:rPr lang="en-US" sz="1600" b="1" dirty="0">
                <a:solidFill>
                  <a:srgbClr val="FF40FF"/>
                </a:solidFill>
                <a:latin typeface="Consolas" panose="020B0609020204030204" pitchFamily="49" charset="0"/>
                <a:cs typeface="Consolas" panose="020B0609020204030204" pitchFamily="49" charset="0"/>
              </a:rPr>
              <a:t>B   </a:t>
            </a:r>
            <a:r>
              <a:rPr lang="en-US" sz="1600" b="1" dirty="0" err="1">
                <a:solidFill>
                  <a:srgbClr val="FF40FF"/>
                </a:solidFill>
                <a:latin typeface="Consolas" panose="020B0609020204030204" pitchFamily="49" charset="0"/>
                <a:cs typeface="Consolas" panose="020B0609020204030204" pitchFamily="49" charset="0"/>
              </a:rPr>
              <a:t>gcd</a:t>
            </a:r>
            <a:endParaRPr lang="en-US" sz="1600" b="1" dirty="0">
              <a:solidFill>
                <a:srgbClr val="FF40FF"/>
              </a:solidFill>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less  </a:t>
            </a:r>
            <a:r>
              <a:rPr lang="en-US" sz="1600" dirty="0">
                <a:latin typeface="Consolas" panose="020B0609020204030204" pitchFamily="49" charset="0"/>
                <a:cs typeface="Consolas" panose="020B0609020204030204" pitchFamily="49" charset="0"/>
              </a:rPr>
              <a:t>SUB r1, r1, r0  </a:t>
            </a:r>
            <a:r>
              <a:rPr lang="en-US" sz="1600" dirty="0">
                <a:solidFill>
                  <a:schemeClr val="bg1">
                    <a:lumMod val="65000"/>
                  </a:schemeClr>
                </a:solidFill>
                <a:latin typeface="Consolas" panose="020B0609020204030204" pitchFamily="49" charset="0"/>
                <a:cs typeface="Consolas" panose="020B0609020204030204" pitchFamily="49" charset="0"/>
              </a:rPr>
              <a:t>; b = b – a</a:t>
            </a:r>
          </a:p>
          <a:p>
            <a:r>
              <a:rPr lang="en-US" sz="1600" dirty="0">
                <a:latin typeface="Consolas" panose="020B0609020204030204" pitchFamily="49" charset="0"/>
                <a:cs typeface="Consolas" panose="020B0609020204030204" pitchFamily="49" charset="0"/>
              </a:rPr>
              <a:t>      </a:t>
            </a:r>
            <a:r>
              <a:rPr lang="en-US" sz="1600" b="1" dirty="0">
                <a:solidFill>
                  <a:srgbClr val="FF40FF"/>
                </a:solidFill>
                <a:latin typeface="Consolas" panose="020B0609020204030204" pitchFamily="49" charset="0"/>
                <a:cs typeface="Consolas" panose="020B0609020204030204" pitchFamily="49" charset="0"/>
              </a:rPr>
              <a:t>B   </a:t>
            </a:r>
            <a:r>
              <a:rPr lang="en-US" sz="1600" b="1" dirty="0" err="1">
                <a:solidFill>
                  <a:srgbClr val="FF40FF"/>
                </a:solidFill>
                <a:latin typeface="Consolas" panose="020B0609020204030204" pitchFamily="49" charset="0"/>
                <a:cs typeface="Consolas" panose="020B0609020204030204" pitchFamily="49" charset="0"/>
              </a:rPr>
              <a:t>gcd</a:t>
            </a:r>
            <a:r>
              <a:rPr lang="en-US" sz="1600" dirty="0">
                <a:latin typeface="Consolas" panose="020B0609020204030204" pitchFamily="49" charset="0"/>
                <a:cs typeface="Consolas" panose="020B0609020204030204" pitchFamily="49" charset="0"/>
              </a:rPr>
              <a:t>	</a:t>
            </a:r>
          </a:p>
          <a:p>
            <a:r>
              <a:rPr lang="en-US" sz="1600" dirty="0">
                <a:solidFill>
                  <a:srgbClr val="0000FF"/>
                </a:solidFill>
                <a:latin typeface="Consolas" panose="020B0609020204030204" pitchFamily="49" charset="0"/>
                <a:cs typeface="Consolas" panose="020B0609020204030204" pitchFamily="49" charset="0"/>
              </a:rPr>
              <a:t>end</a:t>
            </a:r>
          </a:p>
        </p:txBody>
      </p:sp>
      <p:sp>
        <p:nvSpPr>
          <p:cNvPr id="62" name="Down Arrow 61"/>
          <p:cNvSpPr/>
          <p:nvPr/>
        </p:nvSpPr>
        <p:spPr>
          <a:xfrm>
            <a:off x="2667001" y="3352062"/>
            <a:ext cx="166171" cy="2884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p:cNvSpPr txBox="1"/>
          <p:nvPr/>
        </p:nvSpPr>
        <p:spPr>
          <a:xfrm>
            <a:off x="1711420" y="1121015"/>
            <a:ext cx="1655774" cy="338554"/>
          </a:xfrm>
          <a:prstGeom prst="rect">
            <a:avLst/>
          </a:prstGeom>
          <a:noFill/>
        </p:spPr>
        <p:txBody>
          <a:bodyPr wrap="none" rtlCol="0">
            <a:spAutoFit/>
          </a:bodyPr>
          <a:lstStyle/>
          <a:p>
            <a:r>
              <a:rPr lang="en-US" sz="1600" dirty="0">
                <a:solidFill>
                  <a:srgbClr val="FF0000"/>
                </a:solidFill>
              </a:rPr>
              <a:t>Euclid’s Algorithm</a:t>
            </a:r>
          </a:p>
        </p:txBody>
      </p:sp>
      <p:grpSp>
        <p:nvGrpSpPr>
          <p:cNvPr id="66" name="Group 65"/>
          <p:cNvGrpSpPr/>
          <p:nvPr/>
        </p:nvGrpSpPr>
        <p:grpSpPr>
          <a:xfrm>
            <a:off x="6118036" y="1619479"/>
            <a:ext cx="3488529" cy="1077218"/>
            <a:chOff x="4461833" y="1619479"/>
            <a:chExt cx="3488529" cy="1077218"/>
          </a:xfrm>
        </p:grpSpPr>
        <p:sp>
          <p:nvSpPr>
            <p:cNvPr id="64" name="Right Arrow 63"/>
            <p:cNvSpPr/>
            <p:nvPr/>
          </p:nvSpPr>
          <p:spPr>
            <a:xfrm>
              <a:off x="4461833" y="2027104"/>
              <a:ext cx="716096" cy="2093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5409282" y="1619479"/>
              <a:ext cx="2541080" cy="1077218"/>
            </a:xfrm>
            <a:prstGeom prst="rect">
              <a:avLst/>
            </a:prstGeom>
            <a:noFill/>
            <a:ln>
              <a:solidFill>
                <a:schemeClr val="accent1"/>
              </a:solidFill>
            </a:ln>
          </p:spPr>
          <p:txBody>
            <a:bodyPr wrap="none" rtlCol="0">
              <a:spAutoFit/>
            </a:bodyPr>
            <a:lstStyle/>
            <a:p>
              <a:r>
                <a:rPr lang="en-US" sz="1600" dirty="0" err="1">
                  <a:solidFill>
                    <a:srgbClr val="FF0000"/>
                  </a:solidFill>
                  <a:latin typeface="Consolas" panose="020B0609020204030204" pitchFamily="49" charset="0"/>
                  <a:cs typeface="Consolas" panose="020B0609020204030204" pitchFamily="49" charset="0"/>
                </a:rPr>
                <a:t>gcd</a:t>
              </a:r>
              <a:r>
                <a:rPr lang="en-US" sz="1600" dirty="0">
                  <a:solidFill>
                    <a:srgbClr val="FF0000"/>
                  </a:solidFill>
                  <a:latin typeface="Consolas" panose="020B0609020204030204" pitchFamily="49" charset="0"/>
                  <a:cs typeface="Consolas" panose="020B0609020204030204" pitchFamily="49" charset="0"/>
                </a:rPr>
                <a:t>  </a:t>
              </a:r>
              <a:r>
                <a:rPr lang="en-US" sz="1600" dirty="0" err="1">
                  <a:solidFill>
                    <a:srgbClr val="FF0000"/>
                  </a:solidFill>
                  <a:latin typeface="Consolas" panose="020B0609020204030204" pitchFamily="49" charset="0"/>
                  <a:cs typeface="Consolas" panose="020B0609020204030204" pitchFamily="49" charset="0"/>
                </a:rPr>
                <a:t>CMP</a:t>
              </a:r>
              <a:r>
                <a:rPr lang="en-US" sz="1600" dirty="0">
                  <a:solidFill>
                    <a:srgbClr val="FF0000"/>
                  </a:solidFill>
                  <a:latin typeface="Consolas" panose="020B0609020204030204" pitchFamily="49" charset="0"/>
                  <a:cs typeface="Consolas" panose="020B0609020204030204" pitchFamily="49" charset="0"/>
                </a:rPr>
                <a:t> r0, r1</a:t>
              </a:r>
            </a:p>
            <a:p>
              <a:r>
                <a:rPr lang="en-US" sz="1600" dirty="0">
                  <a:solidFill>
                    <a:srgbClr val="FF0000"/>
                  </a:solidFill>
                  <a:latin typeface="Consolas" panose="020B0609020204030204" pitchFamily="49" charset="0"/>
                  <a:cs typeface="Consolas" panose="020B0609020204030204" pitchFamily="49" charset="0"/>
                </a:rPr>
                <a:t>     SUBHI r0, r0, r1</a:t>
              </a:r>
            </a:p>
            <a:p>
              <a:r>
                <a:rPr lang="en-US" sz="1600" dirty="0">
                  <a:solidFill>
                    <a:srgbClr val="FF0000"/>
                  </a:solidFill>
                  <a:latin typeface="Consolas" panose="020B0609020204030204" pitchFamily="49" charset="0"/>
                  <a:cs typeface="Consolas" panose="020B0609020204030204" pitchFamily="49" charset="0"/>
                </a:rPr>
                <a:t>     SUBLO r1, r1, r0</a:t>
              </a:r>
            </a:p>
            <a:p>
              <a:r>
                <a:rPr lang="en-US" sz="1600" dirty="0">
                  <a:solidFill>
                    <a:srgbClr val="FF0000"/>
                  </a:solidFill>
                  <a:latin typeface="Consolas" panose="020B0609020204030204" pitchFamily="49" charset="0"/>
                  <a:cs typeface="Consolas" panose="020B0609020204030204" pitchFamily="49" charset="0"/>
                </a:rPr>
                <a:t>     </a:t>
              </a:r>
              <a:r>
                <a:rPr lang="en-US" sz="1600" dirty="0" err="1">
                  <a:solidFill>
                    <a:srgbClr val="FF0000"/>
                  </a:solidFill>
                  <a:latin typeface="Consolas" panose="020B0609020204030204" pitchFamily="49" charset="0"/>
                  <a:cs typeface="Consolas" panose="020B0609020204030204" pitchFamily="49" charset="0"/>
                </a:rPr>
                <a:t>BNE</a:t>
              </a:r>
              <a:r>
                <a:rPr lang="en-US" sz="1600" dirty="0">
                  <a:solidFill>
                    <a:srgbClr val="FF0000"/>
                  </a:solidFill>
                  <a:latin typeface="Consolas" panose="020B0609020204030204" pitchFamily="49" charset="0"/>
                  <a:cs typeface="Consolas" panose="020B0609020204030204" pitchFamily="49" charset="0"/>
                </a:rPr>
                <a:t> </a:t>
              </a:r>
              <a:r>
                <a:rPr lang="en-US" sz="1600" dirty="0" err="1">
                  <a:solidFill>
                    <a:srgbClr val="FF0000"/>
                  </a:solidFill>
                  <a:latin typeface="Consolas" panose="020B0609020204030204" pitchFamily="49" charset="0"/>
                  <a:cs typeface="Consolas" panose="020B0609020204030204" pitchFamily="49" charset="0"/>
                </a:rPr>
                <a:t>gcd</a:t>
              </a:r>
              <a:endParaRPr lang="en-US" sz="1600" dirty="0">
                <a:solidFill>
                  <a:srgbClr val="FF0000"/>
                </a:solidFill>
                <a:latin typeface="Consolas" panose="020B0609020204030204" pitchFamily="49" charset="0"/>
                <a:cs typeface="Consolas" panose="020B0609020204030204" pitchFamily="49" charset="0"/>
              </a:endParaRPr>
            </a:p>
          </p:txBody>
        </p:sp>
      </p:grpSp>
      <p:sp>
        <p:nvSpPr>
          <p:cNvPr id="60" name="TextBox 59"/>
          <p:cNvSpPr txBox="1"/>
          <p:nvPr/>
        </p:nvSpPr>
        <p:spPr>
          <a:xfrm>
            <a:off x="1804932" y="1470044"/>
            <a:ext cx="3944037" cy="1815882"/>
          </a:xfrm>
          <a:prstGeom prst="rect">
            <a:avLst/>
          </a:prstGeom>
          <a:noFill/>
          <a:ln>
            <a:solidFill>
              <a:schemeClr val="accent1"/>
            </a:solidFill>
          </a:ln>
        </p:spPr>
        <p:txBody>
          <a:bodyPr wrap="square" rtlCol="0">
            <a:spAutoFit/>
          </a:bodyPr>
          <a:lstStyle/>
          <a:p>
            <a:r>
              <a:rPr lang="en-US" sz="1600" dirty="0">
                <a:latin typeface="Consolas" panose="020B0609020204030204" pitchFamily="49" charset="0"/>
                <a:cs typeface="Consolas" panose="020B0609020204030204" pitchFamily="49" charset="0"/>
              </a:rPr>
              <a:t>uint32_t a, b;</a:t>
            </a:r>
          </a:p>
          <a:p>
            <a:r>
              <a:rPr lang="en-US" sz="1600" dirty="0">
                <a:latin typeface="Consolas" panose="020B0609020204030204" pitchFamily="49" charset="0"/>
                <a:cs typeface="Consolas" panose="020B0609020204030204" pitchFamily="49" charset="0"/>
              </a:rPr>
              <a:t>while (a != b ) {</a:t>
            </a:r>
          </a:p>
          <a:p>
            <a:r>
              <a:rPr lang="en-US" sz="1600" dirty="0">
                <a:latin typeface="Consolas" panose="020B0609020204030204" pitchFamily="49" charset="0"/>
                <a:cs typeface="Consolas" panose="020B0609020204030204" pitchFamily="49" charset="0"/>
              </a:rPr>
              <a:t>    if (a &gt; b) </a:t>
            </a:r>
          </a:p>
          <a:p>
            <a:r>
              <a:rPr lang="en-US" sz="1600" dirty="0">
                <a:latin typeface="Consolas" panose="020B0609020204030204" pitchFamily="49" charset="0"/>
                <a:cs typeface="Consolas" panose="020B0609020204030204" pitchFamily="49" charset="0"/>
              </a:rPr>
              <a:t>       a = a – b; </a:t>
            </a:r>
          </a:p>
          <a:p>
            <a:r>
              <a:rPr lang="en-US" sz="1600" dirty="0">
                <a:latin typeface="Consolas" panose="020B0609020204030204" pitchFamily="49" charset="0"/>
                <a:cs typeface="Consolas" panose="020B0609020204030204" pitchFamily="49" charset="0"/>
              </a:rPr>
              <a:t>    else </a:t>
            </a:r>
          </a:p>
          <a:p>
            <a:r>
              <a:rPr lang="en-US" sz="1600" dirty="0">
                <a:latin typeface="Consolas" panose="020B0609020204030204" pitchFamily="49" charset="0"/>
                <a:cs typeface="Consolas" panose="020B0609020204030204" pitchFamily="49" charset="0"/>
              </a:rPr>
              <a:t>       b = b – a; </a:t>
            </a:r>
          </a:p>
          <a:p>
            <a:r>
              <a:rPr lang="en-US" sz="16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0152285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34</a:t>
            </a:fld>
            <a:endParaRPr kumimoji="0" lang="en-US" dirty="0"/>
          </a:p>
        </p:txBody>
      </p:sp>
      <p:sp>
        <p:nvSpPr>
          <p:cNvPr id="5" name="Rectangle 4"/>
          <p:cNvSpPr/>
          <p:nvPr/>
        </p:nvSpPr>
        <p:spPr>
          <a:xfrm>
            <a:off x="2151434" y="1575948"/>
            <a:ext cx="32766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 x in r0, y in r1</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if ( x + y &lt; 0 )</a:t>
            </a:r>
          </a:p>
          <a:p>
            <a:r>
              <a:rPr lang="en-US" dirty="0">
                <a:latin typeface="Consolas" panose="020B0609020204030204" pitchFamily="49" charset="0"/>
                <a:cs typeface="Consolas" panose="020B0609020204030204" pitchFamily="49" charset="0"/>
              </a:rPr>
              <a:t>      x = 0;</a:t>
            </a:r>
          </a:p>
          <a:p>
            <a:r>
              <a:rPr lang="en-US" dirty="0">
                <a:latin typeface="Consolas" panose="020B0609020204030204" pitchFamily="49" charset="0"/>
                <a:cs typeface="Consolas" panose="020B0609020204030204" pitchFamily="49" charset="0"/>
              </a:rPr>
              <a:t>  else</a:t>
            </a:r>
          </a:p>
          <a:p>
            <a:r>
              <a:rPr lang="en-US" dirty="0">
                <a:latin typeface="Consolas" panose="020B0609020204030204" pitchFamily="49" charset="0"/>
                <a:cs typeface="Consolas" panose="020B0609020204030204" pitchFamily="49" charset="0"/>
              </a:rPr>
              <a:t>      x = 1;</a:t>
            </a:r>
          </a:p>
          <a:p>
            <a:endParaRPr lang="en-US" dirty="0">
              <a:latin typeface="Consolas" panose="020B0609020204030204" pitchFamily="49" charset="0"/>
              <a:cs typeface="Consolas" panose="020B0609020204030204" pitchFamily="49" charset="0"/>
            </a:endParaRPr>
          </a:p>
        </p:txBody>
      </p:sp>
      <p:sp>
        <p:nvSpPr>
          <p:cNvPr id="6" name="Rectangle 5"/>
          <p:cNvSpPr/>
          <p:nvPr/>
        </p:nvSpPr>
        <p:spPr>
          <a:xfrm>
            <a:off x="6096000" y="1676400"/>
            <a:ext cx="31242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ADD</a:t>
            </a:r>
            <a:r>
              <a:rPr lang="en-US" dirty="0">
                <a:solidFill>
                  <a:srgbClr val="FF0000"/>
                </a:solidFill>
                <a:latin typeface="Consolas" panose="020B0609020204030204" pitchFamily="49" charset="0"/>
                <a:cs typeface="Consolas" panose="020B0609020204030204" pitchFamily="49" charset="0"/>
              </a:rPr>
              <a:t>S </a:t>
            </a:r>
            <a:r>
              <a:rPr lang="en-US" dirty="0">
                <a:latin typeface="Consolas" panose="020B0609020204030204" pitchFamily="49" charset="0"/>
                <a:cs typeface="Consolas" panose="020B0609020204030204" pitchFamily="49" charset="0"/>
              </a:rPr>
              <a:t>r0, r0, r1</a:t>
            </a:r>
          </a:p>
          <a:p>
            <a:r>
              <a:rPr lang="en-US" dirty="0">
                <a:latin typeface="Consolas" panose="020B0609020204030204" pitchFamily="49" charset="0"/>
                <a:cs typeface="Consolas" panose="020B0609020204030204" pitchFamily="49" charset="0"/>
              </a:rPr>
              <a:t>        B</a:t>
            </a:r>
            <a:r>
              <a:rPr lang="en-US" dirty="0">
                <a:solidFill>
                  <a:srgbClr val="FF0000"/>
                </a:solidFill>
                <a:latin typeface="Consolas" panose="020B0609020204030204" pitchFamily="49" charset="0"/>
                <a:cs typeface="Consolas" panose="020B0609020204030204" pitchFamily="49" charset="0"/>
              </a:rPr>
              <a:t>PL  </a:t>
            </a:r>
            <a:r>
              <a:rPr lang="en-US" dirty="0" err="1">
                <a:latin typeface="Consolas" panose="020B0609020204030204" pitchFamily="49" charset="0"/>
                <a:cs typeface="Consolas" panose="020B0609020204030204" pitchFamily="49" charset="0"/>
              </a:rPr>
              <a:t>PosOrZ</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MOV  r0, #0</a:t>
            </a:r>
          </a:p>
          <a:p>
            <a:r>
              <a:rPr lang="en-US" dirty="0">
                <a:latin typeface="Consolas" panose="020B0609020204030204" pitchFamily="49" charset="0"/>
                <a:cs typeface="Consolas" panose="020B0609020204030204" pitchFamily="49" charset="0"/>
              </a:rPr>
              <a:t>        B    done</a:t>
            </a:r>
            <a:endParaRPr lang="en-US" dirty="0">
              <a:solidFill>
                <a:srgbClr val="0000FF"/>
              </a:solidFill>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PosOrZ</a:t>
            </a:r>
            <a:r>
              <a:rPr lang="en-US" dirty="0">
                <a:latin typeface="Consolas" panose="020B0609020204030204" pitchFamily="49" charset="0"/>
                <a:cs typeface="Consolas" panose="020B0609020204030204" pitchFamily="49" charset="0"/>
              </a:rPr>
              <a:t>  MOV  r0, #1</a:t>
            </a:r>
          </a:p>
          <a:p>
            <a:r>
              <a:rPr lang="en-US" dirty="0">
                <a:latin typeface="Consolas" panose="020B0609020204030204" pitchFamily="49" charset="0"/>
                <a:cs typeface="Consolas" panose="020B0609020204030204" pitchFamily="49" charset="0"/>
              </a:rPr>
              <a:t>done	 </a:t>
            </a:r>
          </a:p>
        </p:txBody>
      </p:sp>
      <p:sp>
        <p:nvSpPr>
          <p:cNvPr id="7" name="Rectangle 6"/>
          <p:cNvSpPr/>
          <p:nvPr/>
        </p:nvSpPr>
        <p:spPr>
          <a:xfrm>
            <a:off x="2151434" y="4040222"/>
            <a:ext cx="7602166"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ADD</a:t>
            </a:r>
            <a:r>
              <a:rPr lang="pt-BR" b="1" dirty="0">
                <a:solidFill>
                  <a:srgbClr val="FF0000"/>
                </a:solidFill>
                <a:latin typeface="Consolas" panose="020B0609020204030204" pitchFamily="49" charset="0"/>
                <a:cs typeface="Consolas" panose="020B0609020204030204" pitchFamily="49" charset="0"/>
              </a:rPr>
              <a:t>S</a:t>
            </a:r>
            <a:r>
              <a:rPr lang="pt-BR" dirty="0">
                <a:latin typeface="Consolas" panose="020B0609020204030204" pitchFamily="49" charset="0"/>
                <a:cs typeface="Consolas" panose="020B0609020204030204" pitchFamily="49" charset="0"/>
              </a:rPr>
              <a:t>	r0, r0, r1  </a:t>
            </a:r>
            <a:r>
              <a:rPr lang="pt-BR" dirty="0">
                <a:solidFill>
                  <a:schemeClr val="bg1">
                    <a:lumMod val="65000"/>
                  </a:schemeClr>
                </a:solidFill>
                <a:latin typeface="Consolas" panose="020B0609020204030204" pitchFamily="49" charset="0"/>
                <a:cs typeface="Consolas" panose="020B0609020204030204" pitchFamily="49" charset="0"/>
              </a:rPr>
              <a:t>;  r0 = x + y,  setting </a:t>
            </a:r>
            <a:r>
              <a:rPr lang="pt-BR" dirty="0" err="1">
                <a:solidFill>
                  <a:schemeClr val="bg1">
                    <a:lumMod val="65000"/>
                  </a:schemeClr>
                </a:solidFill>
                <a:latin typeface="Consolas" panose="020B0609020204030204" pitchFamily="49" charset="0"/>
                <a:cs typeface="Consolas" panose="020B0609020204030204" pitchFamily="49" charset="0"/>
              </a:rPr>
              <a:t>CCs</a:t>
            </a:r>
            <a:endParaRPr lang="pt-BR" dirty="0">
              <a:solidFill>
                <a:schemeClr val="bg1">
                  <a:lumMod val="65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MOV</a:t>
            </a:r>
            <a:r>
              <a:rPr lang="en-US" b="1" dirty="0">
                <a:solidFill>
                  <a:srgbClr val="FF0000"/>
                </a:solidFill>
                <a:latin typeface="Consolas" panose="020B0609020204030204" pitchFamily="49" charset="0"/>
                <a:cs typeface="Consolas" panose="020B0609020204030204" pitchFamily="49" charset="0"/>
              </a:rPr>
              <a:t>MI</a:t>
            </a:r>
            <a:r>
              <a:rPr lang="en-US" dirty="0">
                <a:latin typeface="Consolas" panose="020B0609020204030204" pitchFamily="49" charset="0"/>
                <a:cs typeface="Consolas" panose="020B0609020204030204" pitchFamily="49" charset="0"/>
              </a:rPr>
              <a:t> 	r0, #0	     </a:t>
            </a:r>
            <a:r>
              <a:rPr lang="en-US" dirty="0">
                <a:solidFill>
                  <a:schemeClr val="bg1">
                    <a:lumMod val="65000"/>
                  </a:schemeClr>
                </a:solidFill>
                <a:latin typeface="Consolas" panose="020B0609020204030204" pitchFamily="49" charset="0"/>
                <a:cs typeface="Consolas" panose="020B0609020204030204" pitchFamily="49" charset="0"/>
              </a:rPr>
              <a:t>;  return 0 if n bit = 1</a:t>
            </a:r>
          </a:p>
          <a:p>
            <a:r>
              <a:rPr lang="en-US" dirty="0">
                <a:latin typeface="Consolas" panose="020B0609020204030204" pitchFamily="49" charset="0"/>
                <a:cs typeface="Consolas" panose="020B0609020204030204" pitchFamily="49" charset="0"/>
              </a:rPr>
              <a:t>	MOV</a:t>
            </a:r>
            <a:r>
              <a:rPr lang="en-US" b="1" dirty="0">
                <a:solidFill>
                  <a:srgbClr val="FF0000"/>
                </a:solidFill>
                <a:latin typeface="Consolas" panose="020B0609020204030204" pitchFamily="49" charset="0"/>
                <a:cs typeface="Consolas" panose="020B0609020204030204" pitchFamily="49" charset="0"/>
              </a:rPr>
              <a:t>PL</a:t>
            </a:r>
            <a:r>
              <a:rPr lang="en-US" dirty="0">
                <a:latin typeface="Consolas" panose="020B0609020204030204" pitchFamily="49" charset="0"/>
                <a:cs typeface="Consolas" panose="020B0609020204030204" pitchFamily="49" charset="0"/>
              </a:rPr>
              <a:t> 	r0, #1	     </a:t>
            </a:r>
            <a:r>
              <a:rPr lang="en-US" dirty="0">
                <a:solidFill>
                  <a:schemeClr val="bg1">
                    <a:lumMod val="65000"/>
                  </a:schemeClr>
                </a:solidFill>
                <a:latin typeface="Consolas" panose="020B0609020204030204" pitchFamily="49" charset="0"/>
                <a:cs typeface="Consolas" panose="020B0609020204030204" pitchFamily="49" charset="0"/>
              </a:rPr>
              <a:t>;  return 1 if n bit = 0</a:t>
            </a:r>
          </a:p>
        </p:txBody>
      </p:sp>
    </p:spTree>
    <p:extLst>
      <p:ext uri="{BB962C8B-B14F-4D97-AF65-F5344CB8AC3E}">
        <p14:creationId xmlns:p14="http://schemas.microsoft.com/office/powerpoint/2010/main" val="15205966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35</a:t>
            </a:fld>
            <a:endParaRPr kumimoji="0" lang="en-US"/>
          </a:p>
        </p:txBody>
      </p:sp>
      <p:sp>
        <p:nvSpPr>
          <p:cNvPr id="5" name="Content Placeholder 4"/>
          <p:cNvSpPr>
            <a:spLocks noGrp="1"/>
          </p:cNvSpPr>
          <p:nvPr>
            <p:ph sz="quarter" idx="1"/>
          </p:nvPr>
        </p:nvSpPr>
        <p:spPr>
          <a:xfrm>
            <a:off x="1981200" y="3124200"/>
            <a:ext cx="8229600" cy="3032760"/>
          </a:xfrm>
        </p:spPr>
        <p:txBody>
          <a:bodyPr>
            <a:normAutofit/>
          </a:bodyPr>
          <a:lstStyle/>
          <a:p>
            <a:r>
              <a:rPr lang="en-US" sz="2000" dirty="0"/>
              <a:t>Except that it does not change the status flags, </a:t>
            </a:r>
            <a:r>
              <a:rPr lang="en-US" sz="2000" dirty="0">
                <a:solidFill>
                  <a:srgbClr val="FF0000"/>
                </a:solidFill>
                <a:latin typeface="Consolas" panose="020B0609020204030204" pitchFamily="49" charset="0"/>
              </a:rPr>
              <a:t>CBZ </a:t>
            </a:r>
            <a:r>
              <a:rPr lang="en-US" sz="2000" dirty="0" err="1">
                <a:solidFill>
                  <a:srgbClr val="FF0000"/>
                </a:solidFill>
                <a:latin typeface="Consolas" panose="020B0609020204030204" pitchFamily="49" charset="0"/>
              </a:rPr>
              <a:t>Rn,label</a:t>
            </a:r>
            <a:r>
              <a:rPr lang="en-US" sz="2000" dirty="0">
                <a:latin typeface="Consolas" panose="020B0609020204030204" pitchFamily="49" charset="0"/>
              </a:rPr>
              <a:t> </a:t>
            </a:r>
            <a:r>
              <a:rPr lang="en-US" sz="2000" dirty="0"/>
              <a:t>is equivalent to:</a:t>
            </a:r>
          </a:p>
          <a:p>
            <a:pPr marL="274320" lvl="1" indent="0">
              <a:buNone/>
            </a:pPr>
            <a:r>
              <a:rPr lang="en-US" sz="1800" b="1" dirty="0"/>
              <a:t>    </a:t>
            </a:r>
            <a:r>
              <a:rPr lang="en-US" sz="1800" b="1" dirty="0">
                <a:latin typeface="Consolas" panose="020B0609020204030204" pitchFamily="49" charset="0"/>
                <a:cs typeface="Consolas" panose="020B0609020204030204" pitchFamily="49" charset="0"/>
              </a:rPr>
              <a:t>CMP Rn, #0</a:t>
            </a:r>
          </a:p>
          <a:p>
            <a:pPr marL="274320" lvl="1" indent="0">
              <a:buNone/>
            </a:pPr>
            <a:r>
              <a:rPr lang="en-US" sz="1800" b="1" dirty="0">
                <a:latin typeface="Consolas" panose="020B0609020204030204" pitchFamily="49" charset="0"/>
                <a:cs typeface="Consolas" panose="020B0609020204030204" pitchFamily="49" charset="0"/>
              </a:rPr>
              <a:t>  BEQ label</a:t>
            </a:r>
          </a:p>
          <a:p>
            <a:r>
              <a:rPr lang="en-US" sz="2000" dirty="0"/>
              <a:t>Except that it does not change the status flags, </a:t>
            </a:r>
            <a:r>
              <a:rPr lang="en-US" sz="2000" dirty="0">
                <a:solidFill>
                  <a:srgbClr val="FF0000"/>
                </a:solidFill>
                <a:latin typeface="Consolas" panose="020B0609020204030204" pitchFamily="49" charset="0"/>
              </a:rPr>
              <a:t>CBNZ </a:t>
            </a:r>
            <a:r>
              <a:rPr lang="en-US" sz="2000" dirty="0" err="1">
                <a:solidFill>
                  <a:srgbClr val="FF0000"/>
                </a:solidFill>
                <a:latin typeface="Consolas" panose="020B0609020204030204" pitchFamily="49" charset="0"/>
              </a:rPr>
              <a:t>Rn,label</a:t>
            </a:r>
            <a:r>
              <a:rPr lang="en-US" sz="2000" dirty="0">
                <a:solidFill>
                  <a:srgbClr val="FF0000"/>
                </a:solidFill>
                <a:latin typeface="Consolas" panose="020B0609020204030204" pitchFamily="49" charset="0"/>
              </a:rPr>
              <a:t> </a:t>
            </a:r>
            <a:r>
              <a:rPr lang="en-US" sz="2000" dirty="0"/>
              <a:t>is equivalent to:</a:t>
            </a:r>
          </a:p>
          <a:p>
            <a:pPr marL="274320" lvl="1" indent="0">
              <a:buNone/>
            </a:pPr>
            <a:r>
              <a:rPr lang="en-US" sz="1800" b="1" dirty="0">
                <a:latin typeface="Consolas" panose="020B0609020204030204" pitchFamily="49" charset="0"/>
                <a:cs typeface="Consolas" panose="020B0609020204030204" pitchFamily="49" charset="0"/>
              </a:rPr>
              <a:t>  CMP  Rn, #0</a:t>
            </a:r>
          </a:p>
          <a:p>
            <a:pPr marL="274320" lvl="1" indent="0">
              <a:buNone/>
            </a:pPr>
            <a:r>
              <a:rPr lang="en-US" sz="1800" b="1" dirty="0">
                <a:latin typeface="Consolas" panose="020B0609020204030204" pitchFamily="49" charset="0"/>
                <a:cs typeface="Consolas" panose="020B0609020204030204" pitchFamily="49" charset="0"/>
              </a:rPr>
              <a:t>  BNE  label</a:t>
            </a:r>
          </a:p>
        </p:txBody>
      </p:sp>
      <p:graphicFrame>
        <p:nvGraphicFramePr>
          <p:cNvPr id="3" name="Table 2"/>
          <p:cNvGraphicFramePr>
            <a:graphicFrameLocks noGrp="1"/>
          </p:cNvGraphicFramePr>
          <p:nvPr>
            <p:extLst>
              <p:ext uri="{D42A27DB-BD31-4B8C-83A1-F6EECF244321}">
                <p14:modId xmlns:p14="http://schemas.microsoft.com/office/powerpoint/2010/main" val="2316428214"/>
              </p:ext>
            </p:extLst>
          </p:nvPr>
        </p:nvGraphicFramePr>
        <p:xfrm>
          <a:off x="2890908" y="1342391"/>
          <a:ext cx="6410185" cy="1454733"/>
        </p:xfrm>
        <a:graphic>
          <a:graphicData uri="http://schemas.openxmlformats.org/drawingml/2006/table">
            <a:tbl>
              <a:tblPr firstRow="1" bandRow="1">
                <a:tableStyleId>{5C22544A-7EE6-4342-B048-85BDC9FD1C3A}</a:tableStyleId>
              </a:tblPr>
              <a:tblGrid>
                <a:gridCol w="1331577">
                  <a:extLst>
                    <a:ext uri="{9D8B030D-6E8A-4147-A177-3AD203B41FA5}">
                      <a16:colId xmlns:a16="http://schemas.microsoft.com/office/drawing/2014/main" val="20000"/>
                    </a:ext>
                  </a:extLst>
                </a:gridCol>
                <a:gridCol w="1640223">
                  <a:extLst>
                    <a:ext uri="{9D8B030D-6E8A-4147-A177-3AD203B41FA5}">
                      <a16:colId xmlns:a16="http://schemas.microsoft.com/office/drawing/2014/main" val="20001"/>
                    </a:ext>
                  </a:extLst>
                </a:gridCol>
                <a:gridCol w="3438385">
                  <a:extLst>
                    <a:ext uri="{9D8B030D-6E8A-4147-A177-3AD203B41FA5}">
                      <a16:colId xmlns:a16="http://schemas.microsoft.com/office/drawing/2014/main" val="20002"/>
                    </a:ext>
                  </a:extLst>
                </a:gridCol>
              </a:tblGrid>
              <a:tr h="484911">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Rn, label</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CBNZ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Rn, label</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Non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4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490201870"/>
              </p:ext>
            </p:extLst>
          </p:nvPr>
        </p:nvGraphicFramePr>
        <p:xfrm>
          <a:off x="1954427" y="1895475"/>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024246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46676030"/>
              </p:ext>
            </p:extLst>
          </p:nvPr>
        </p:nvGraphicFramePr>
        <p:xfrm>
          <a:off x="1954427" y="1895475"/>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b="0" dirty="0">
                          <a:solidFill>
                            <a:srgbClr val="FF0000"/>
                          </a:solidFill>
                          <a:effectLst/>
                          <a:latin typeface="Consolas" panose="020B0609020204030204" pitchFamily="49" charset="0"/>
                          <a:cs typeface="Consolas" panose="020B0609020204030204" pitchFamily="49" charset="0"/>
                        </a:rPr>
                        <a:t>0, 1</a:t>
                      </a:r>
                      <a:endParaRPr lang="en-US" sz="2000" b="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dirty="0">
                          <a:solidFill>
                            <a:srgbClr val="FF0000"/>
                          </a:solidFill>
                          <a:effectLst/>
                          <a:latin typeface="Consolas" panose="020B0609020204030204" pitchFamily="49" charset="0"/>
                          <a:cs typeface="Consolas" panose="020B0609020204030204" pitchFamily="49" charset="0"/>
                        </a:rPr>
                        <a:t>0, 1, 3, 4</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37900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and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625210527"/>
              </p:ext>
            </p:extLst>
          </p:nvPr>
        </p:nvGraphicFramePr>
        <p:xfrm>
          <a:off x="2057400" y="1600201"/>
          <a:ext cx="8382000" cy="4395551"/>
        </p:xfrm>
        <a:graphic>
          <a:graphicData uri="http://schemas.openxmlformats.org/drawingml/2006/table">
            <a:tbl>
              <a:tblPr firstRow="1" firstCol="1" bandRow="1">
                <a:tableStyleId>{5940675A-B579-460E-94D1-54222C63F5DA}</a:tableStyleId>
              </a:tblPr>
              <a:tblGrid>
                <a:gridCol w="3418974">
                  <a:extLst>
                    <a:ext uri="{9D8B030D-6E8A-4147-A177-3AD203B41FA5}">
                      <a16:colId xmlns:a16="http://schemas.microsoft.com/office/drawing/2014/main" val="20000"/>
                    </a:ext>
                  </a:extLst>
                </a:gridCol>
                <a:gridCol w="4963026">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Find string length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"hello";</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int</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 </a:t>
                      </a:r>
                      <a:r>
                        <a:rPr lang="en-US" sz="1800" dirty="0" err="1">
                          <a:solidFill>
                            <a:schemeClr val="bg1">
                              <a:lumMod val="50000"/>
                            </a:schemeClr>
                          </a:solidFill>
                          <a:effectLst/>
                          <a:latin typeface="Consolas" panose="020B0609020204030204" pitchFamily="49" charset="0"/>
                          <a:cs typeface="Consolas" panose="020B0609020204030204" pitchFamily="49" charset="0"/>
                        </a:rPr>
                        <a:t>r0</a:t>
                      </a:r>
                      <a:r>
                        <a:rPr lang="en-US" sz="1800" dirty="0">
                          <a:solidFill>
                            <a:schemeClr val="bg1">
                              <a:lumMod val="50000"/>
                            </a:schemeClr>
                          </a:solidFill>
                          <a:effectLst/>
                          <a:latin typeface="Consolas" panose="020B0609020204030204" pitchFamily="49" charset="0"/>
                          <a:cs typeface="Consolas" panose="020B0609020204030204" pitchFamily="49" charset="0"/>
                        </a:rPr>
                        <a:t>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 </a:t>
                      </a:r>
                      <a:r>
                        <a:rPr lang="en-US" sz="1800" dirty="0" err="1">
                          <a:solidFill>
                            <a:schemeClr val="bg1">
                              <a:lumMod val="50000"/>
                            </a:schemeClr>
                          </a:solidFill>
                          <a:effectLst/>
                          <a:latin typeface="Consolas" panose="020B0609020204030204" pitchFamily="49" charset="0"/>
                          <a:cs typeface="Consolas" panose="020B0609020204030204" pitchFamily="49" charset="0"/>
                        </a:rPr>
                        <a:t>r1</a:t>
                      </a:r>
                      <a:r>
                        <a:rPr lang="en-US" sz="1800" dirty="0">
                          <a:solidFill>
                            <a:schemeClr val="bg1">
                              <a:lumMod val="50000"/>
                            </a:schemeClr>
                          </a:solidFill>
                          <a:effectLst/>
                          <a:latin typeface="Consolas" panose="020B0609020204030204" pitchFamily="49" charset="0"/>
                          <a:cs typeface="Consolas" panose="020B0609020204030204" pitchFamily="49" charset="0"/>
                        </a:rPr>
                        <a:t>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MOV</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#0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 = 0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a:t>
                      </a:r>
                      <a:r>
                        <a:rPr lang="en-US" sz="1800" dirty="0" err="1">
                          <a:effectLst/>
                          <a:latin typeface="Consolas" panose="020B0609020204030204" pitchFamily="49" charset="0"/>
                          <a:cs typeface="Consolas" panose="020B0609020204030204" pitchFamily="49" charset="0"/>
                        </a:rPr>
                        <a:t>LDRB</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r2</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err="1">
                          <a:solidFill>
                            <a:srgbClr val="FF0000"/>
                          </a:solidFill>
                          <a:effectLst/>
                          <a:latin typeface="Consolas" panose="020B0609020204030204" pitchFamily="49" charset="0"/>
                          <a:cs typeface="Consolas" panose="020B0609020204030204" pitchFamily="49" charset="0"/>
                        </a:rPr>
                        <a:t>CBNZ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r2</a:t>
                      </a:r>
                      <a:r>
                        <a:rPr lang="en-US" sz="1800" dirty="0">
                          <a:effectLst/>
                          <a:latin typeface="Consolas" panose="020B0609020204030204" pitchFamily="49" charset="0"/>
                          <a:cs typeface="Consolas" panose="020B0609020204030204" pitchFamily="49" charset="0"/>
                        </a:rPr>
                        <a:t>, </a:t>
                      </a:r>
                      <a:r>
                        <a:rPr lang="en-US" sz="1800" b="1" dirty="0" err="1">
                          <a:solidFill>
                            <a:srgbClr val="FF0000"/>
                          </a:solidFill>
                          <a:effectLst/>
                          <a:latin typeface="Consolas" panose="020B0609020204030204" pitchFamily="49" charset="0"/>
                          <a:cs typeface="Consolas" panose="020B0609020204030204" pitchFamily="49" charset="0"/>
                        </a:rPr>
                        <a:t>notZero</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a:t>
                      </a: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notZero</a:t>
                      </a:r>
                      <a:r>
                        <a:rPr lang="en-US" sz="1800" dirty="0">
                          <a:effectLst/>
                          <a:latin typeface="Consolas" panose="020B0609020204030204" pitchFamily="49" charset="0"/>
                          <a:cs typeface="Consolas" panose="020B0609020204030204" pitchFamily="49" charset="0"/>
                        </a:rPr>
                        <a:t>  ADD  </a:t>
                      </a:r>
                      <a:r>
                        <a:rPr lang="en-US" sz="1800" dirty="0" err="1">
                          <a:effectLst/>
                          <a:latin typeface="Consolas" panose="020B0609020204030204" pitchFamily="49" charset="0"/>
                          <a:cs typeface="Consolas" panose="020B0609020204030204" pitchFamily="49" charset="0"/>
                        </a:rPr>
                        <a:t>r0</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r0</a:t>
                      </a:r>
                      <a:r>
                        <a:rPr lang="en-US" sz="1800" dirty="0">
                          <a:effectLst/>
                          <a:latin typeface="Consolas" panose="020B0609020204030204" pitchFamily="49" charset="0"/>
                          <a:cs typeface="Consolas" panose="020B0609020204030204" pitchFamily="49" charset="0"/>
                        </a:rPr>
                        <a:t>,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str</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r1</a:t>
                      </a:r>
                      <a:r>
                        <a:rPr lang="en-US" sz="1800" dirty="0">
                          <a:effectLst/>
                          <a:latin typeface="Consolas" panose="020B0609020204030204" pitchFamily="49" charset="0"/>
                          <a:cs typeface="Consolas" panose="020B0609020204030204" pitchFamily="49" charset="0"/>
                        </a:rPr>
                        <a:t>,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91846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(If-Then) instruction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39</a:t>
            </a:fld>
            <a:endParaRPr kumimoji="0" lang="en-US" dirty="0"/>
          </a:p>
        </p:txBody>
      </p:sp>
      <p:sp>
        <p:nvSpPr>
          <p:cNvPr id="4" name="Content Placeholder 3"/>
          <p:cNvSpPr>
            <a:spLocks noGrp="1"/>
          </p:cNvSpPr>
          <p:nvPr>
            <p:ph sz="quarter" idx="1"/>
          </p:nvPr>
        </p:nvSpPr>
        <p:spPr>
          <a:xfrm>
            <a:off x="1981200" y="1295400"/>
            <a:ext cx="8229600" cy="1676400"/>
          </a:xfrm>
        </p:spPr>
        <p:txBody>
          <a:bodyPr>
            <a:noAutofit/>
          </a:bodyPr>
          <a:lstStyle/>
          <a:p>
            <a:pPr marL="0" indent="0" algn="ctr">
              <a:buNone/>
            </a:pPr>
            <a:r>
              <a:rPr lang="en-US" sz="1600" b="1" dirty="0">
                <a:solidFill>
                  <a:srgbClr val="0000FF"/>
                </a:solidFill>
              </a:rPr>
              <a:t>IT{x{y{z}}} {</a:t>
            </a:r>
            <a:r>
              <a:rPr lang="en-US" sz="1600" b="1" dirty="0" err="1">
                <a:solidFill>
                  <a:srgbClr val="0000FF"/>
                </a:solidFill>
              </a:rPr>
              <a:t>cond</a:t>
            </a:r>
            <a:r>
              <a:rPr lang="en-US" sz="1600" b="1" dirty="0">
                <a:solidFill>
                  <a:srgbClr val="0000FF"/>
                </a:solidFill>
              </a:rPr>
              <a:t>}</a:t>
            </a:r>
          </a:p>
          <a:p>
            <a:r>
              <a:rPr lang="en-US" sz="1600" dirty="0"/>
              <a:t>where the x, y, and z specify the existence of the optional second, third, and fourth conditional instruction respectively. </a:t>
            </a:r>
          </a:p>
          <a:p>
            <a:r>
              <a:rPr lang="en-US" sz="1600" dirty="0"/>
              <a:t>x, y, and z are either </a:t>
            </a:r>
            <a:r>
              <a:rPr lang="en-US" sz="1600" dirty="0">
                <a:solidFill>
                  <a:srgbClr val="FF0000"/>
                </a:solidFill>
              </a:rPr>
              <a:t>T</a:t>
            </a:r>
            <a:r>
              <a:rPr lang="en-US" sz="1600" dirty="0"/>
              <a:t> (Then) or </a:t>
            </a:r>
            <a:r>
              <a:rPr lang="en-US" sz="1600" dirty="0">
                <a:solidFill>
                  <a:srgbClr val="FF0000"/>
                </a:solidFill>
              </a:rPr>
              <a:t>E </a:t>
            </a:r>
            <a:r>
              <a:rPr lang="en-US" sz="1600" dirty="0"/>
              <a:t>(Else)</a:t>
            </a:r>
          </a:p>
        </p:txBody>
      </p:sp>
      <p:sp>
        <p:nvSpPr>
          <p:cNvPr id="5" name="Rectangle 4"/>
          <p:cNvSpPr/>
          <p:nvPr/>
        </p:nvSpPr>
        <p:spPr>
          <a:xfrm>
            <a:off x="1569289" y="3268972"/>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ITTE</a:t>
            </a:r>
            <a:r>
              <a:rPr lang="en-US" sz="1400" dirty="0"/>
              <a:t>   NE            ; IT can be omitted</a:t>
            </a:r>
          </a:p>
          <a:p>
            <a:r>
              <a:rPr lang="en-US" sz="1400" dirty="0"/>
              <a:t>    ANDNE  r0,r0,r1   ; 16-bit AND, not ANDS</a:t>
            </a:r>
          </a:p>
          <a:p>
            <a:r>
              <a:rPr lang="en-US" sz="1400" dirty="0"/>
              <a:t>    ADDNE  r2,r2,#1  ; 32-bit ADDS</a:t>
            </a:r>
          </a:p>
          <a:p>
            <a:r>
              <a:rPr lang="en-US" sz="1400" dirty="0"/>
              <a:t>    MOVEQ  r2,r3       ; 16-bit MOV</a:t>
            </a:r>
          </a:p>
        </p:txBody>
      </p:sp>
      <p:sp>
        <p:nvSpPr>
          <p:cNvPr id="6" name="Rectangle 5"/>
          <p:cNvSpPr/>
          <p:nvPr/>
        </p:nvSpPr>
        <p:spPr>
          <a:xfrm>
            <a:off x="5335835" y="4461144"/>
            <a:ext cx="5237648"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AL             ; emit 2 non-flag setting 16-bit instructions</a:t>
            </a:r>
          </a:p>
          <a:p>
            <a:r>
              <a:rPr lang="en-US" sz="1400" dirty="0"/>
              <a:t>    ADDAL  r0,r0,r1  ; 16-bit ADD, not ADDS</a:t>
            </a:r>
          </a:p>
          <a:p>
            <a:r>
              <a:rPr lang="en-US" sz="1400" dirty="0"/>
              <a:t>    SUBAL  r2,r2,#1  ; 16-bit SUB, not SUB</a:t>
            </a:r>
          </a:p>
          <a:p>
            <a:r>
              <a:rPr lang="en-US" sz="1400" dirty="0"/>
              <a:t>    ADD     r0,r0,r1   ; expands into 32-bit ADD, and is not in  IT block</a:t>
            </a:r>
          </a:p>
        </p:txBody>
      </p:sp>
      <p:sp>
        <p:nvSpPr>
          <p:cNvPr id="7" name="Rectangle 6"/>
          <p:cNvSpPr/>
          <p:nvPr/>
        </p:nvSpPr>
        <p:spPr>
          <a:xfrm>
            <a:off x="5335835" y="3268972"/>
            <a:ext cx="5237648"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a:t>
            </a:r>
          </a:p>
          <a:p>
            <a:r>
              <a:rPr lang="en-US" sz="1400" dirty="0"/>
              <a:t>    MOVEQ  r0,r1</a:t>
            </a:r>
          </a:p>
          <a:p>
            <a:r>
              <a:rPr lang="en-US" sz="1400" dirty="0"/>
              <a:t>    BEQ    </a:t>
            </a:r>
            <a:r>
              <a:rPr lang="en-US" sz="1400" dirty="0" err="1"/>
              <a:t>dloop</a:t>
            </a:r>
            <a:r>
              <a:rPr lang="en-US" sz="1400" dirty="0"/>
              <a:t>     ; branch at end of IT block is permitted</a:t>
            </a:r>
          </a:p>
          <a:p>
            <a:endParaRPr lang="en-US" sz="1400" dirty="0"/>
          </a:p>
        </p:txBody>
      </p:sp>
      <p:sp>
        <p:nvSpPr>
          <p:cNvPr id="8" name="Rectangle 7"/>
          <p:cNvSpPr/>
          <p:nvPr/>
        </p:nvSpPr>
        <p:spPr>
          <a:xfrm>
            <a:off x="1569289" y="4468079"/>
            <a:ext cx="3614147" cy="7386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a:t>
            </a:r>
          </a:p>
          <a:p>
            <a:r>
              <a:rPr lang="en-US" sz="1400" dirty="0"/>
              <a:t>    MOVEQ  r0,r1</a:t>
            </a:r>
          </a:p>
          <a:p>
            <a:r>
              <a:rPr lang="en-US" sz="1400" dirty="0"/>
              <a:t>    ADDEQ  r0,r0,#1 </a:t>
            </a:r>
          </a:p>
        </p:txBody>
      </p:sp>
      <p:sp>
        <p:nvSpPr>
          <p:cNvPr id="9" name="TextBox 8"/>
          <p:cNvSpPr txBox="1"/>
          <p:nvPr/>
        </p:nvSpPr>
        <p:spPr>
          <a:xfrm>
            <a:off x="1569288" y="2855705"/>
            <a:ext cx="1107996" cy="369332"/>
          </a:xfrm>
          <a:prstGeom prst="rect">
            <a:avLst/>
          </a:prstGeom>
          <a:noFill/>
        </p:spPr>
        <p:txBody>
          <a:bodyPr wrap="none" rtlCol="0">
            <a:spAutoFit/>
          </a:bodyPr>
          <a:lstStyle/>
          <a:p>
            <a:r>
              <a:rPr lang="en-US" dirty="0"/>
              <a:t>Examples:</a:t>
            </a:r>
          </a:p>
        </p:txBody>
      </p:sp>
    </p:spTree>
    <p:extLst>
      <p:ext uri="{BB962C8B-B14F-4D97-AF65-F5344CB8AC3E}">
        <p14:creationId xmlns:p14="http://schemas.microsoft.com/office/powerpoint/2010/main" val="2075995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(If-Then) instruction </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sp>
        <p:nvSpPr>
          <p:cNvPr id="4" name="Content Placeholder 3"/>
          <p:cNvSpPr>
            <a:spLocks noGrp="1"/>
          </p:cNvSpPr>
          <p:nvPr>
            <p:ph sz="quarter" idx="1"/>
          </p:nvPr>
        </p:nvSpPr>
        <p:spPr>
          <a:xfrm>
            <a:off x="1981200" y="3200400"/>
            <a:ext cx="8229600" cy="2346960"/>
          </a:xfrm>
        </p:spPr>
        <p:txBody>
          <a:bodyPr>
            <a:normAutofit/>
          </a:bodyPr>
          <a:lstStyle/>
          <a:p>
            <a:r>
              <a:rPr lang="en-US" sz="2000" dirty="0">
                <a:solidFill>
                  <a:srgbClr val="C00000"/>
                </a:solidFill>
              </a:rPr>
              <a:t>You do not need to write IT instructions in your code. </a:t>
            </a:r>
          </a:p>
          <a:p>
            <a:endParaRPr lang="en-US" sz="2000" dirty="0">
              <a:solidFill>
                <a:srgbClr val="C00000"/>
              </a:solidFill>
            </a:endParaRPr>
          </a:p>
          <a:p>
            <a:r>
              <a:rPr lang="en-US" sz="2000" dirty="0">
                <a:solidFill>
                  <a:srgbClr val="C00000"/>
                </a:solidFill>
              </a:rPr>
              <a:t>The assembler generates them for you automatically according to the conditions specified.</a:t>
            </a:r>
          </a:p>
        </p:txBody>
      </p:sp>
      <p:sp>
        <p:nvSpPr>
          <p:cNvPr id="5" name="Content Placeholder 3"/>
          <p:cNvSpPr txBox="1">
            <a:spLocks/>
          </p:cNvSpPr>
          <p:nvPr/>
        </p:nvSpPr>
        <p:spPr>
          <a:xfrm>
            <a:off x="1981200" y="1333500"/>
            <a:ext cx="8229600" cy="1676400"/>
          </a:xfrm>
          <a:prstGeom prst="rect">
            <a:avLst/>
          </a:prstGeom>
        </p:spPr>
        <p:txBody>
          <a:bodyPr vert="horz">
            <a:no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ctr">
              <a:buNone/>
            </a:pPr>
            <a:r>
              <a:rPr lang="en-US" sz="2400" b="1" dirty="0">
                <a:solidFill>
                  <a:srgbClr val="0000FF"/>
                </a:solidFill>
                <a:latin typeface="Consolas" panose="020B0609020204030204" pitchFamily="49" charset="0"/>
                <a:cs typeface="Consolas" panose="020B0609020204030204" pitchFamily="49" charset="0"/>
              </a:rPr>
              <a:t>IT{x{y{z}}} {</a:t>
            </a:r>
            <a:r>
              <a:rPr lang="en-US" sz="2400" b="1" dirty="0" err="1">
                <a:solidFill>
                  <a:srgbClr val="0000FF"/>
                </a:solidFill>
                <a:latin typeface="Consolas" panose="020B0609020204030204" pitchFamily="49" charset="0"/>
                <a:cs typeface="Consolas" panose="020B0609020204030204" pitchFamily="49" charset="0"/>
              </a:rPr>
              <a:t>cond</a:t>
            </a:r>
            <a:r>
              <a:rPr lang="en-US" sz="2400" b="1" dirty="0">
                <a:solidFill>
                  <a:srgbClr val="0000FF"/>
                </a:solidFill>
                <a:latin typeface="Consolas" panose="020B0609020204030204" pitchFamily="49" charset="0"/>
                <a:cs typeface="Consolas" panose="020B0609020204030204" pitchFamily="49" charset="0"/>
              </a:rPr>
              <a:t>}</a:t>
            </a:r>
          </a:p>
          <a:p>
            <a:r>
              <a:rPr lang="en-US" sz="2000" dirty="0"/>
              <a:t>where the x, y, and z specify the existence of the optional second, third, and fourth conditional instruction respectively. </a:t>
            </a:r>
          </a:p>
          <a:p>
            <a:r>
              <a:rPr lang="en-US" sz="2000" dirty="0"/>
              <a:t>x, y, and z are either </a:t>
            </a:r>
            <a:r>
              <a:rPr lang="en-US" sz="2000" dirty="0">
                <a:solidFill>
                  <a:srgbClr val="FF0000"/>
                </a:solidFill>
              </a:rPr>
              <a:t>T</a:t>
            </a:r>
            <a:r>
              <a:rPr lang="en-US" sz="2000" dirty="0"/>
              <a:t> (Then) or </a:t>
            </a:r>
            <a:r>
              <a:rPr lang="en-US" sz="2000" dirty="0">
                <a:solidFill>
                  <a:srgbClr val="FF0000"/>
                </a:solidFill>
              </a:rPr>
              <a:t>E </a:t>
            </a:r>
            <a:r>
              <a:rPr lang="en-US" sz="2000" dirty="0"/>
              <a:t>(Else)</a:t>
            </a:r>
          </a:p>
        </p:txBody>
      </p:sp>
    </p:spTree>
    <p:extLst>
      <p:ext uri="{BB962C8B-B14F-4D97-AF65-F5344CB8AC3E}">
        <p14:creationId xmlns:p14="http://schemas.microsoft.com/office/powerpoint/2010/main" val="20697874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normAutofit/>
          </a:bodyPr>
          <a:lstStyle/>
          <a:p>
            <a:r>
              <a:rPr lang="en-US" dirty="0"/>
              <a:t>Summary: Condition Codes </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41</a:t>
            </a:fld>
            <a:endParaRPr lang="en-US"/>
          </a:p>
        </p:txBody>
      </p:sp>
      <p:sp>
        <p:nvSpPr>
          <p:cNvPr id="2" name="Rectangle 1"/>
          <p:cNvSpPr/>
          <p:nvPr/>
        </p:nvSpPr>
        <p:spPr>
          <a:xfrm>
            <a:off x="2914650" y="5765381"/>
            <a:ext cx="6358825"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4" name="Group 3"/>
          <p:cNvGrpSpPr/>
          <p:nvPr/>
        </p:nvGrpSpPr>
        <p:grpSpPr>
          <a:xfrm>
            <a:off x="2914650" y="1412357"/>
            <a:ext cx="6362700" cy="4241801"/>
            <a:chOff x="1423974" y="1779588"/>
            <a:chExt cx="6362700" cy="4241801"/>
          </a:xfrm>
        </p:grpSpPr>
        <p:sp>
          <p:nvSpPr>
            <p:cNvPr id="14342" name="Rectangle 5"/>
            <p:cNvSpPr>
              <a:spLocks noChangeArrowheads="1"/>
            </p:cNvSpPr>
            <p:nvPr/>
          </p:nvSpPr>
          <p:spPr bwMode="auto">
            <a:xfrm>
              <a:off x="2696971" y="2309813"/>
              <a:ext cx="3435035"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cs typeface="Consolas" panose="020B0609020204030204" pitchFamily="49" charset="0"/>
                </a:rPr>
                <a:t>N</a:t>
              </a:r>
              <a:r>
                <a:rPr lang="en-US" dirty="0">
                  <a:latin typeface="Consolas" panose="020B0609020204030204" pitchFamily="49" charset="0"/>
                  <a:cs typeface="Consolas" panose="020B0609020204030204" pitchFamily="49" charset="0"/>
                </a:rPr>
                <a:t>ot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43" name="Rectangle 6"/>
            <p:cNvSpPr>
              <a:spLocks noChangeArrowheads="1"/>
            </p:cNvSpPr>
            <p:nvPr/>
          </p:nvSpPr>
          <p:spPr bwMode="auto">
            <a:xfrm>
              <a:off x="2696971" y="25749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H</a:t>
              </a:r>
              <a:r>
                <a:rPr lang="en-US" dirty="0">
                  <a:latin typeface="Consolas" panose="020B0609020204030204" pitchFamily="49" charset="0"/>
                  <a:cs typeface="Consolas" panose="020B0609020204030204" pitchFamily="49" charset="0"/>
                </a:rPr>
                <a:t>igher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44" name="Rectangle 7"/>
            <p:cNvSpPr>
              <a:spLocks noChangeArrowheads="1"/>
            </p:cNvSpPr>
            <p:nvPr/>
          </p:nvSpPr>
          <p:spPr bwMode="auto">
            <a:xfrm>
              <a:off x="2696971" y="28400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LO</a:t>
              </a:r>
              <a:r>
                <a:rPr lang="en-US" dirty="0" err="1">
                  <a:latin typeface="Consolas" panose="020B0609020204030204" pitchFamily="49" charset="0"/>
                  <a:cs typeface="Consolas" panose="020B0609020204030204" pitchFamily="49" charset="0"/>
                </a:rPr>
                <a:t>wer</a:t>
              </a:r>
              <a:endParaRPr lang="en-US" dirty="0">
                <a:latin typeface="Consolas" panose="020B0609020204030204" pitchFamily="49" charset="0"/>
                <a:cs typeface="Consolas" panose="020B0609020204030204" pitchFamily="49" charset="0"/>
              </a:endParaRPr>
            </a:p>
          </p:txBody>
        </p:sp>
        <p:sp>
          <p:nvSpPr>
            <p:cNvPr id="14345" name="Rectangle 8"/>
            <p:cNvSpPr>
              <a:spLocks noChangeArrowheads="1"/>
            </p:cNvSpPr>
            <p:nvPr/>
          </p:nvSpPr>
          <p:spPr bwMode="auto">
            <a:xfrm>
              <a:off x="2696971" y="310515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MI</a:t>
              </a:r>
              <a:r>
                <a:rPr lang="en-US" dirty="0" err="1">
                  <a:latin typeface="Consolas" panose="020B0609020204030204" pitchFamily="49" charset="0"/>
                  <a:cs typeface="Consolas" panose="020B0609020204030204" pitchFamily="49" charset="0"/>
                </a:rPr>
                <a:t>nus</a:t>
              </a:r>
              <a:r>
                <a:rPr lang="en-US" dirty="0">
                  <a:latin typeface="Consolas" panose="020B0609020204030204" pitchFamily="49" charset="0"/>
                  <a:cs typeface="Consolas" panose="020B0609020204030204" pitchFamily="49" charset="0"/>
                </a:rPr>
                <a:t> (Negative)</a:t>
              </a:r>
            </a:p>
          </p:txBody>
        </p:sp>
        <p:sp>
          <p:nvSpPr>
            <p:cNvPr id="14346" name="Rectangle 9"/>
            <p:cNvSpPr>
              <a:spLocks noChangeArrowheads="1"/>
            </p:cNvSpPr>
            <p:nvPr/>
          </p:nvSpPr>
          <p:spPr bwMode="auto">
            <a:xfrm>
              <a:off x="2696971" y="204470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EQ</a:t>
              </a:r>
              <a:r>
                <a:rPr lang="en-US" dirty="0" err="1">
                  <a:latin typeface="Consolas" panose="020B0609020204030204" pitchFamily="49" charset="0"/>
                  <a:cs typeface="Consolas" panose="020B0609020204030204" pitchFamily="49" charset="0"/>
                </a:rPr>
                <a:t>ual</a:t>
              </a:r>
              <a:endParaRPr lang="en-US" dirty="0">
                <a:latin typeface="Consolas" panose="020B0609020204030204" pitchFamily="49" charset="0"/>
                <a:cs typeface="Consolas" panose="020B0609020204030204" pitchFamily="49" charset="0"/>
              </a:endParaRPr>
            </a:p>
          </p:txBody>
        </p:sp>
        <p:sp>
          <p:nvSpPr>
            <p:cNvPr id="14347" name="Rectangle 10"/>
            <p:cNvSpPr>
              <a:spLocks noChangeArrowheads="1"/>
            </p:cNvSpPr>
            <p:nvPr/>
          </p:nvSpPr>
          <p:spPr bwMode="auto">
            <a:xfrm>
              <a:off x="2696971" y="3635376"/>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et</a:t>
              </a:r>
            </a:p>
          </p:txBody>
        </p:sp>
        <p:sp>
          <p:nvSpPr>
            <p:cNvPr id="14348" name="Rectangle 11"/>
            <p:cNvSpPr>
              <a:spLocks noChangeArrowheads="1"/>
            </p:cNvSpPr>
            <p:nvPr/>
          </p:nvSpPr>
          <p:spPr bwMode="auto">
            <a:xfrm>
              <a:off x="2696971" y="3900488"/>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a:t>
              </a:r>
              <a:r>
                <a:rPr lang="en-US" dirty="0">
                  <a:latin typeface="Consolas" panose="020B0609020204030204" pitchFamily="49" charset="0"/>
                  <a:cs typeface="Consolas" panose="020B0609020204030204" pitchFamily="49" charset="0"/>
                </a:rPr>
                <a:t>leared</a:t>
              </a:r>
            </a:p>
          </p:txBody>
        </p:sp>
        <p:sp>
          <p:nvSpPr>
            <p:cNvPr id="14349" name="Rectangle 12"/>
            <p:cNvSpPr>
              <a:spLocks noChangeArrowheads="1"/>
            </p:cNvSpPr>
            <p:nvPr/>
          </p:nvSpPr>
          <p:spPr bwMode="auto">
            <a:xfrm>
              <a:off x="2696971" y="416560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HI</a:t>
              </a:r>
              <a:r>
                <a:rPr lang="en-US" dirty="0" err="1">
                  <a:latin typeface="Consolas" panose="020B0609020204030204" pitchFamily="49" charset="0"/>
                  <a:cs typeface="Consolas" panose="020B0609020204030204" pitchFamily="49" charset="0"/>
                </a:rPr>
                <a:t>gher</a:t>
              </a:r>
              <a:endParaRPr lang="en-US" dirty="0">
                <a:latin typeface="Consolas" panose="020B0609020204030204" pitchFamily="49" charset="0"/>
                <a:cs typeface="Consolas" panose="020B0609020204030204" pitchFamily="49" charset="0"/>
              </a:endParaRPr>
            </a:p>
          </p:txBody>
        </p:sp>
        <p:sp>
          <p:nvSpPr>
            <p:cNvPr id="14350" name="Rectangle 13"/>
            <p:cNvSpPr>
              <a:spLocks noChangeArrowheads="1"/>
            </p:cNvSpPr>
            <p:nvPr/>
          </p:nvSpPr>
          <p:spPr bwMode="auto">
            <a:xfrm>
              <a:off x="2696971" y="443071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ower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51" name="Rectangle 14"/>
            <p:cNvSpPr>
              <a:spLocks noChangeArrowheads="1"/>
            </p:cNvSpPr>
            <p:nvPr/>
          </p:nvSpPr>
          <p:spPr bwMode="auto">
            <a:xfrm>
              <a:off x="2696971" y="3370263"/>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PL</a:t>
              </a:r>
              <a:r>
                <a:rPr lang="en-US" dirty="0" err="1">
                  <a:latin typeface="Consolas" panose="020B0609020204030204" pitchFamily="49" charset="0"/>
                  <a:cs typeface="Consolas" panose="020B0609020204030204" pitchFamily="49" charset="0"/>
                </a:rPr>
                <a:t>us</a:t>
              </a:r>
              <a:r>
                <a:rPr lang="en-US" dirty="0">
                  <a:latin typeface="Consolas" panose="020B0609020204030204" pitchFamily="49" charset="0"/>
                  <a:cs typeface="Consolas" panose="020B0609020204030204" pitchFamily="49" charset="0"/>
                </a:rPr>
                <a:t> (Positive or Zero)</a:t>
              </a:r>
            </a:p>
          </p:txBody>
        </p:sp>
        <p:sp>
          <p:nvSpPr>
            <p:cNvPr id="14352" name="Rectangle 15"/>
            <p:cNvSpPr>
              <a:spLocks noChangeArrowheads="1"/>
            </p:cNvSpPr>
            <p:nvPr/>
          </p:nvSpPr>
          <p:spPr bwMode="auto">
            <a:xfrm>
              <a:off x="2696971" y="49609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3" name="Rectangle 16"/>
            <p:cNvSpPr>
              <a:spLocks noChangeArrowheads="1"/>
            </p:cNvSpPr>
            <p:nvPr/>
          </p:nvSpPr>
          <p:spPr bwMode="auto">
            <a:xfrm>
              <a:off x="2696971" y="522605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4" name="Rectangle 17"/>
            <p:cNvSpPr>
              <a:spLocks noChangeArrowheads="1"/>
            </p:cNvSpPr>
            <p:nvPr/>
          </p:nvSpPr>
          <p:spPr bwMode="auto">
            <a:xfrm>
              <a:off x="2696971" y="549116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than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5" name="Rectangle 18"/>
            <p:cNvSpPr>
              <a:spLocks noChangeArrowheads="1"/>
            </p:cNvSpPr>
            <p:nvPr/>
          </p:nvSpPr>
          <p:spPr bwMode="auto">
            <a:xfrm>
              <a:off x="2696971" y="5756276"/>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AL</a:t>
              </a:r>
              <a:r>
                <a:rPr lang="en-US" dirty="0" err="1">
                  <a:latin typeface="Consolas" panose="020B0609020204030204" pitchFamily="49" charset="0"/>
                  <a:cs typeface="Consolas" panose="020B0609020204030204" pitchFamily="49" charset="0"/>
                </a:rPr>
                <a:t>ways</a:t>
              </a:r>
              <a:endParaRPr lang="en-US" dirty="0">
                <a:latin typeface="Consolas" panose="020B0609020204030204" pitchFamily="49" charset="0"/>
                <a:cs typeface="Consolas" panose="020B0609020204030204" pitchFamily="49" charset="0"/>
              </a:endParaRPr>
            </a:p>
          </p:txBody>
        </p:sp>
        <p:sp>
          <p:nvSpPr>
            <p:cNvPr id="14356" name="Rectangle 19"/>
            <p:cNvSpPr>
              <a:spLocks noChangeArrowheads="1"/>
            </p:cNvSpPr>
            <p:nvPr/>
          </p:nvSpPr>
          <p:spPr bwMode="auto">
            <a:xfrm>
              <a:off x="2696971" y="46958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7" name="Rectangle 20"/>
            <p:cNvSpPr>
              <a:spLocks noChangeArrowheads="1"/>
            </p:cNvSpPr>
            <p:nvPr/>
          </p:nvSpPr>
          <p:spPr bwMode="auto">
            <a:xfrm>
              <a:off x="1423974" y="20447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23974" y="23098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23974" y="25749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23974" y="28400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23974" y="33702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23974" y="36353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23974" y="41656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23974" y="44307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23974" y="46958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23974" y="49609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23974" y="52260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23974" y="54911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23974" y="57562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23974" y="31051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23974" y="390048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23974" y="1779588"/>
              <a:ext cx="1272997" cy="265113"/>
            </a:xfrm>
            <a:prstGeom prst="rect">
              <a:avLst/>
            </a:prstGeom>
            <a:solidFill>
              <a:schemeClr val="accent1"/>
            </a:solidFill>
            <a:ln w="12700">
              <a:solidFill>
                <a:schemeClr val="tx1"/>
              </a:solidFill>
              <a:miter lim="800000"/>
              <a:headEnd/>
              <a:tailEnd/>
            </a:ln>
          </p:spPr>
          <p:txBody>
            <a:bodyPr wrap="none" anchor="ctr"/>
            <a:lstStyle/>
            <a:p>
              <a:pPr algn="ctr"/>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696971" y="1779588"/>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6132006" y="230981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6132006" y="257492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6132006" y="284003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6132006" y="20447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6132006" y="1779588"/>
              <a:ext cx="1654668"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6132006" y="310515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6132006" y="33702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6132006" y="363537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6132006" y="390048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6132006" y="41656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6132006" y="4430713"/>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6132006" y="4695826"/>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6132006" y="4960938"/>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6132006" y="5226051"/>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6132006" y="54911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6132006" y="5756276"/>
              <a:ext cx="1654668" cy="265113"/>
            </a:xfrm>
            <a:prstGeom prst="rect">
              <a:avLst/>
            </a:prstGeom>
            <a:noFill/>
            <a:ln w="12700">
              <a:solidFill>
                <a:schemeClr val="tx1"/>
              </a:solidFill>
              <a:miter lim="800000"/>
              <a:headEnd/>
              <a:tailEnd/>
            </a:ln>
          </p:spPr>
          <p:txBody>
            <a:bodyPr wrap="none" anchor="ctr"/>
            <a:lstStyle/>
            <a:p>
              <a:endParaRPr lang="en-GB" b="1">
                <a:solidFill>
                  <a:srgbClr val="0000FF"/>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2171254142"/>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569944596"/>
              </p:ext>
            </p:extLst>
          </p:nvPr>
        </p:nvGraphicFramePr>
        <p:xfrm>
          <a:off x="1981200" y="1251568"/>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a:effectLst/>
                        </a:rPr>
                        <a:t>Unconditional Branch</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8299866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Conditionally Executed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998225169"/>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V = 1</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V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C = 1 &amp; Z = 0</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 or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 &amp;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 or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5584148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3396</TotalTime>
  <Words>6733</Words>
  <Application>Microsoft Office PowerPoint</Application>
  <PresentationFormat>Widescreen</PresentationFormat>
  <Paragraphs>1108</Paragraphs>
  <Slides>43</Slides>
  <Notes>14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43</vt:i4>
      </vt:variant>
    </vt:vector>
  </HeadingPairs>
  <TitlesOfParts>
    <vt:vector size="58" baseType="lpstr">
      <vt:lpstr>Arial Unicode MS</vt:lpstr>
      <vt:lpstr>Bookman Old Style (Headings)</vt:lpstr>
      <vt:lpstr>Gill Sans Light</vt:lpstr>
      <vt:lpstr>Arial</vt:lpstr>
      <vt:lpstr>Bookman Old Style</vt:lpstr>
      <vt:lpstr>Calibri</vt:lpstr>
      <vt:lpstr>Cambria Math</vt:lpstr>
      <vt:lpstr>Consolas</vt:lpstr>
      <vt:lpstr>Courier New</vt:lpstr>
      <vt:lpstr>Gill Sans MT</vt:lpstr>
      <vt:lpstr>Tahoma</vt:lpstr>
      <vt:lpstr>Times New Roman</vt:lpstr>
      <vt:lpstr>Wingdings</vt:lpstr>
      <vt:lpstr>Wingdings 3</vt:lpstr>
      <vt:lpstr>Origin</vt:lpstr>
      <vt:lpstr>Z. Gu</vt:lpstr>
      <vt:lpstr>Three Control Structures</vt:lpstr>
      <vt:lpstr>Condition Flags</vt:lpstr>
      <vt:lpstr>Carry and Overflow Flags</vt:lpstr>
      <vt:lpstr>Updating Condition Flags</vt:lpstr>
      <vt:lpstr>Updating Condition Flags</vt:lpstr>
      <vt:lpstr>Example of CMP</vt:lpstr>
      <vt:lpstr>Updating Condition Flags: TST and TEQ</vt:lpstr>
      <vt:lpstr>Example of TEQ</vt:lpstr>
      <vt:lpstr>Unconditional Branch Instructions</vt:lpstr>
      <vt:lpstr>Unconditional Branch Instructions: A Simple Example</vt:lpstr>
      <vt:lpstr>Signed vs. Unsigned Comparison</vt:lpstr>
      <vt:lpstr>Branch Instructions</vt:lpstr>
      <vt:lpstr>Condition Codes </vt:lpstr>
      <vt:lpstr>Unsigned and Signed Compares</vt:lpstr>
      <vt:lpstr>Signed Greater or Equal (N == V)</vt:lpstr>
      <vt:lpstr>Signed Greater or Equal (N == V)</vt:lpstr>
      <vt:lpstr>Signed Greater or Equal (N == V)</vt:lpstr>
      <vt:lpstr>Number Interpretation</vt:lpstr>
      <vt:lpstr>Which is Greater: 0xFFFFFFFF or 0x00000001?</vt:lpstr>
      <vt:lpstr>If-then Statement</vt:lpstr>
      <vt:lpstr>If-then Statement</vt:lpstr>
      <vt:lpstr>Compound Boolean Expression</vt:lpstr>
      <vt:lpstr>If-then-else</vt:lpstr>
      <vt:lpstr>For Loop</vt:lpstr>
      <vt:lpstr>For Loop</vt:lpstr>
      <vt:lpstr>Combined Program Status Registers (xPSR)</vt:lpstr>
      <vt:lpstr>Condition Codes </vt:lpstr>
      <vt:lpstr>Conditional Execution</vt:lpstr>
      <vt:lpstr>Conditional Execution</vt:lpstr>
      <vt:lpstr>Conditional Execution</vt:lpstr>
      <vt:lpstr>Compound Boolean Expression</vt:lpstr>
      <vt:lpstr>Example 1: Greatest Common Divider (GCD)</vt:lpstr>
      <vt:lpstr>Example 2</vt:lpstr>
      <vt:lpstr>Combination</vt:lpstr>
      <vt:lpstr>Break and Continue</vt:lpstr>
      <vt:lpstr>Break and Continue</vt:lpstr>
      <vt:lpstr>Break and Continue</vt:lpstr>
      <vt:lpstr>IT (If-Then) instruction </vt:lpstr>
      <vt:lpstr>IT (If-Then) instruction </vt:lpstr>
      <vt:lpstr>Summary: Condition Codes </vt:lpstr>
      <vt:lpstr>Summary: Branch Instructions</vt:lpstr>
      <vt:lpstr>Summary: Conditionally Executed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229</cp:revision>
  <cp:lastPrinted>2018-02-28T12:51:32Z</cp:lastPrinted>
  <dcterms:created xsi:type="dcterms:W3CDTF">2014-02-09T17:12:51Z</dcterms:created>
  <dcterms:modified xsi:type="dcterms:W3CDTF">2025-10-02T21:50:21Z</dcterms:modified>
</cp:coreProperties>
</file>