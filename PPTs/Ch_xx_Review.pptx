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84" r:id="rId3"/>
    <p:sldId id="258" r:id="rId4"/>
    <p:sldId id="259" r:id="rId5"/>
    <p:sldId id="260" r:id="rId6"/>
    <p:sldId id="310" r:id="rId7"/>
    <p:sldId id="295" r:id="rId8"/>
    <p:sldId id="296" r:id="rId9"/>
    <p:sldId id="303" r:id="rId10"/>
    <p:sldId id="304" r:id="rId11"/>
    <p:sldId id="297" r:id="rId12"/>
    <p:sldId id="305" r:id="rId13"/>
    <p:sldId id="306" r:id="rId14"/>
    <p:sldId id="300" r:id="rId15"/>
    <p:sldId id="28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BE3081-C886-416C-86D6-9DB64DDC56E0}" v="3" dt="2025-12-02T03:57:43.0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delSld modSld">
      <pc:chgData name="Zonghua Gu" userId="9a7e1853e1951ef5" providerId="LiveId" clId="{CF1FAA12-072C-4ED5-BA76-0FFFAEFDB88A}" dt="2025-12-02T03:57:43.002" v="20" actId="20577"/>
      <pc:docMkLst>
        <pc:docMk/>
      </pc:docMkLst>
      <pc:sldChg chg="del">
        <pc:chgData name="Zonghua Gu" userId="9a7e1853e1951ef5" providerId="LiveId" clId="{CF1FAA12-072C-4ED5-BA76-0FFFAEFDB88A}" dt="2025-12-02T03:56:53.490" v="15" actId="47"/>
        <pc:sldMkLst>
          <pc:docMk/>
          <pc:sldMk cId="1004926258" sldId="261"/>
        </pc:sldMkLst>
      </pc:sldChg>
      <pc:sldChg chg="del">
        <pc:chgData name="Zonghua Gu" userId="9a7e1853e1951ef5" providerId="LiveId" clId="{CF1FAA12-072C-4ED5-BA76-0FFFAEFDB88A}" dt="2025-12-02T03:56:53.490" v="15" actId="47"/>
        <pc:sldMkLst>
          <pc:docMk/>
          <pc:sldMk cId="3190395533" sldId="263"/>
        </pc:sldMkLst>
      </pc:sldChg>
      <pc:sldChg chg="del">
        <pc:chgData name="Zonghua Gu" userId="9a7e1853e1951ef5" providerId="LiveId" clId="{CF1FAA12-072C-4ED5-BA76-0FFFAEFDB88A}" dt="2025-12-02T03:56:14.890" v="13" actId="47"/>
        <pc:sldMkLst>
          <pc:docMk/>
          <pc:sldMk cId="3901081122" sldId="266"/>
        </pc:sldMkLst>
      </pc:sldChg>
      <pc:sldChg chg="del">
        <pc:chgData name="Zonghua Gu" userId="9a7e1853e1951ef5" providerId="LiveId" clId="{CF1FAA12-072C-4ED5-BA76-0FFFAEFDB88A}" dt="2025-12-02T03:56:14.890" v="13" actId="47"/>
        <pc:sldMkLst>
          <pc:docMk/>
          <pc:sldMk cId="210484945" sldId="278"/>
        </pc:sldMkLst>
      </pc:sldChg>
      <pc:sldChg chg="del">
        <pc:chgData name="Zonghua Gu" userId="9a7e1853e1951ef5" providerId="LiveId" clId="{CF1FAA12-072C-4ED5-BA76-0FFFAEFDB88A}" dt="2025-12-02T03:56:14.890" v="13" actId="47"/>
        <pc:sldMkLst>
          <pc:docMk/>
          <pc:sldMk cId="3054749938" sldId="279"/>
        </pc:sldMkLst>
      </pc:sldChg>
      <pc:sldChg chg="del">
        <pc:chgData name="Zonghua Gu" userId="9a7e1853e1951ef5" providerId="LiveId" clId="{CF1FAA12-072C-4ED5-BA76-0FFFAEFDB88A}" dt="2025-12-02T03:56:31.288" v="14" actId="47"/>
        <pc:sldMkLst>
          <pc:docMk/>
          <pc:sldMk cId="3034693896" sldId="281"/>
        </pc:sldMkLst>
      </pc:sldChg>
      <pc:sldChg chg="del">
        <pc:chgData name="Zonghua Gu" userId="9a7e1853e1951ef5" providerId="LiveId" clId="{CF1FAA12-072C-4ED5-BA76-0FFFAEFDB88A}" dt="2025-12-02T03:56:31.288" v="14" actId="47"/>
        <pc:sldMkLst>
          <pc:docMk/>
          <pc:sldMk cId="2317993873" sldId="282"/>
        </pc:sldMkLst>
      </pc:sldChg>
      <pc:sldChg chg="del">
        <pc:chgData name="Zonghua Gu" userId="9a7e1853e1951ef5" providerId="LiveId" clId="{CF1FAA12-072C-4ED5-BA76-0FFFAEFDB88A}" dt="2025-12-02T03:56:53.490" v="15" actId="47"/>
        <pc:sldMkLst>
          <pc:docMk/>
          <pc:sldMk cId="1481069427" sldId="292"/>
        </pc:sldMkLst>
      </pc:sldChg>
      <pc:sldChg chg="del">
        <pc:chgData name="Zonghua Gu" userId="9a7e1853e1951ef5" providerId="LiveId" clId="{CF1FAA12-072C-4ED5-BA76-0FFFAEFDB88A}" dt="2025-12-02T03:56:53.490" v="15" actId="47"/>
        <pc:sldMkLst>
          <pc:docMk/>
          <pc:sldMk cId="4243349892" sldId="293"/>
        </pc:sldMkLst>
      </pc:sldChg>
      <pc:sldChg chg="del">
        <pc:chgData name="Zonghua Gu" userId="9a7e1853e1951ef5" providerId="LiveId" clId="{CF1FAA12-072C-4ED5-BA76-0FFFAEFDB88A}" dt="2025-12-02T03:56:53.490" v="15" actId="47"/>
        <pc:sldMkLst>
          <pc:docMk/>
          <pc:sldMk cId="1620139945" sldId="294"/>
        </pc:sldMkLst>
      </pc:sldChg>
      <pc:sldChg chg="del">
        <pc:chgData name="Zonghua Gu" userId="9a7e1853e1951ef5" providerId="LiveId" clId="{CF1FAA12-072C-4ED5-BA76-0FFFAEFDB88A}" dt="2025-12-02T03:56:14.890" v="13" actId="47"/>
        <pc:sldMkLst>
          <pc:docMk/>
          <pc:sldMk cId="3243208761" sldId="298"/>
        </pc:sldMkLst>
      </pc:sldChg>
      <pc:sldChg chg="del">
        <pc:chgData name="Zonghua Gu" userId="9a7e1853e1951ef5" providerId="LiveId" clId="{CF1FAA12-072C-4ED5-BA76-0FFFAEFDB88A}" dt="2025-12-02T03:56:31.288" v="14" actId="47"/>
        <pc:sldMkLst>
          <pc:docMk/>
          <pc:sldMk cId="1895128042" sldId="299"/>
        </pc:sldMkLst>
      </pc:sldChg>
      <pc:sldChg chg="modSp">
        <pc:chgData name="Zonghua Gu" userId="9a7e1853e1951ef5" providerId="LiveId" clId="{CF1FAA12-072C-4ED5-BA76-0FFFAEFDB88A}" dt="2025-12-02T03:57:43.002" v="20" actId="20577"/>
        <pc:sldMkLst>
          <pc:docMk/>
          <pc:sldMk cId="3570882989" sldId="300"/>
        </pc:sldMkLst>
        <pc:spChg chg="mod">
          <ac:chgData name="Zonghua Gu" userId="9a7e1853e1951ef5" providerId="LiveId" clId="{CF1FAA12-072C-4ED5-BA76-0FFFAEFDB88A}" dt="2025-12-02T03:57:43.002" v="20" actId="20577"/>
          <ac:spMkLst>
            <pc:docMk/>
            <pc:sldMk cId="3570882989" sldId="300"/>
            <ac:spMk id="36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12-02T03:56:31.288" v="14" actId="47"/>
        <pc:sldMkLst>
          <pc:docMk/>
          <pc:sldMk cId="1910793822" sldId="301"/>
        </pc:sldMkLst>
      </pc:sldChg>
      <pc:sldChg chg="del">
        <pc:chgData name="Zonghua Gu" userId="9a7e1853e1951ef5" providerId="LiveId" clId="{CF1FAA12-072C-4ED5-BA76-0FFFAEFDB88A}" dt="2025-12-02T03:56:31.288" v="14" actId="47"/>
        <pc:sldMkLst>
          <pc:docMk/>
          <pc:sldMk cId="1849241118" sldId="302"/>
        </pc:sldMkLst>
      </pc:sldChg>
      <pc:sldChg chg="del">
        <pc:chgData name="Zonghua Gu" userId="9a7e1853e1951ef5" providerId="LiveId" clId="{CF1FAA12-072C-4ED5-BA76-0FFFAEFDB88A}" dt="2025-12-02T03:57:02.803" v="16" actId="47"/>
        <pc:sldMkLst>
          <pc:docMk/>
          <pc:sldMk cId="420818316" sldId="307"/>
        </pc:sldMkLst>
      </pc:sldChg>
      <pc:sldChg chg="del">
        <pc:chgData name="Zonghua Gu" userId="9a7e1853e1951ef5" providerId="LiveId" clId="{CF1FAA12-072C-4ED5-BA76-0FFFAEFDB88A}" dt="2025-12-02T03:57:02.803" v="16" actId="47"/>
        <pc:sldMkLst>
          <pc:docMk/>
          <pc:sldMk cId="3665053763" sldId="308"/>
        </pc:sldMkLst>
      </pc:sldChg>
      <pc:sldChg chg="del">
        <pc:chgData name="Zonghua Gu" userId="9a7e1853e1951ef5" providerId="LiveId" clId="{CF1FAA12-072C-4ED5-BA76-0FFFAEFDB88A}" dt="2025-12-02T03:57:25.164" v="17" actId="47"/>
        <pc:sldMkLst>
          <pc:docMk/>
          <pc:sldMk cId="3866271372" sldId="3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A5E3F-0972-45A4-AC9E-F4F032C2257A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F4C3A-4FFF-4769-A3DC-CFCC34F8D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2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5385DBA2-727B-43EE-B61A-7232050E756A}" type="datetime1">
              <a:rPr lang="en-US" smtClean="0"/>
              <a:pPr eaLnBrk="1" latinLnBrk="0" hangingPunct="1"/>
              <a:t>12/1/2025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3CB0AB-D709-47D9-B108-C72463926FD4}" type="datetime1">
              <a:rPr lang="en-US" smtClean="0"/>
              <a:pPr eaLnBrk="1" latinLnBrk="0" hangingPunct="1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A15A26EE-9A10-4DC6-9165-C6231F65734D}" type="datetime1">
              <a:rPr lang="en-US" smtClean="0"/>
              <a:pPr eaLnBrk="1" latinLnBrk="0" hangingPunct="1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38F1204-C368-4730-89D0-2AA4D8D0FAB9}" type="datetime1">
              <a:rPr lang="en-US" smtClean="0"/>
              <a:pPr eaLnBrk="1" latinLnBrk="0" hangingPunct="1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9A52CCE-3D4A-4822-AB92-D51BD1732F26}" type="datetime1">
              <a:rPr lang="en-US" smtClean="0"/>
              <a:pPr eaLnBrk="1" latinLnBrk="0" hangingPunct="1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B10BC51-9A51-4195-AB26-809709A20093}" type="datetime1">
              <a:rPr lang="en-US" smtClean="0"/>
              <a:pPr eaLnBrk="1" latinLnBrk="0" hangingPunct="1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53E6368-F58E-49F3-B7B5-FC7AF9F17FE0}" type="datetime1">
              <a:rPr lang="en-US" smtClean="0"/>
              <a:pPr eaLnBrk="1" latinLnBrk="0" hangingPunct="1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2A515F-6EF2-4223-93EA-CB9BA509637A}" type="datetime1">
              <a:rPr lang="en-US" smtClean="0"/>
              <a:pPr eaLnBrk="1" latinLnBrk="0" hangingPunct="1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F777A1D-A95B-4F83-8E3E-DFE663370841}" type="datetime1">
              <a:rPr lang="en-US" smtClean="0"/>
              <a:pPr eaLnBrk="1" latinLnBrk="0" hangingPunct="1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58F74D6-AB91-42D2-8101-D1947966E076}" type="datetime1">
              <a:rPr lang="en-US" smtClean="0"/>
              <a:pPr eaLnBrk="1" latinLnBrk="0" hangingPunct="1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BC2DAB9-8EA6-4157-980F-5E7CBF565945}" type="datetime1">
              <a:rPr lang="en-US" smtClean="0"/>
              <a:pPr eaLnBrk="1" latinLnBrk="0" hangingPunct="1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EDB75FB9-5078-4BA9-9F83-227F6C9A4C15}" type="datetime1">
              <a:rPr lang="en-US" smtClean="0"/>
              <a:pPr eaLnBrk="1" latinLnBrk="0" hangingPunct="1"/>
              <a:t>12/1/2025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emf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8788" y="1828800"/>
            <a:ext cx="19806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ECE271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Final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String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19882"/>
              </p:ext>
            </p:extLst>
          </p:nvPr>
        </p:nvGraphicFramePr>
        <p:xfrm>
          <a:off x="3810000" y="1875883"/>
          <a:ext cx="4419600" cy="3542116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1897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19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Memory Address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Memory Content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Letter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+ 12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0x00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\0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+ 11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0x79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+ 10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0x6C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+ 9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0x62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+ 8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0x6D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+ 7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0x65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+ 6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0x73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+ 5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0x73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+ 4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0x41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601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+ 3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0x20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space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+ 2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0x4D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0x52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0x41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28600" y="2877372"/>
            <a:ext cx="3181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char </a:t>
            </a:r>
            <a:r>
              <a:rPr lang="en-US" dirty="0" err="1">
                <a:solidFill>
                  <a:srgbClr val="FF0000"/>
                </a:solidFill>
              </a:rPr>
              <a:t>str</a:t>
            </a:r>
            <a:r>
              <a:rPr lang="en-US" dirty="0">
                <a:solidFill>
                  <a:srgbClr val="FF0000"/>
                </a:solidFill>
              </a:rPr>
              <a:t>[13] = “ARM Assembly”;</a:t>
            </a:r>
            <a:endParaRPr lang="en-US" dirty="0">
              <a:solidFill>
                <a:srgbClr val="FF0000"/>
              </a:solidFill>
              <a:latin typeface="Cambria"/>
              <a:ea typeface="Cambri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1431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Integers</a:t>
            </a:r>
          </a:p>
          <a:p>
            <a:pPr lvl="1"/>
            <a:r>
              <a:rPr lang="en-US" dirty="0"/>
              <a:t>Binary in different bases: binary, octal, hex, decimal</a:t>
            </a:r>
          </a:p>
          <a:p>
            <a:pPr lvl="1"/>
            <a:r>
              <a:rPr lang="en-US" dirty="0"/>
              <a:t>Signed Integers</a:t>
            </a:r>
          </a:p>
          <a:p>
            <a:pPr lvl="2"/>
            <a:r>
              <a:rPr lang="en-US" dirty="0"/>
              <a:t>Signed magnitude</a:t>
            </a:r>
          </a:p>
          <a:p>
            <a:pPr lvl="2"/>
            <a:r>
              <a:rPr lang="en-US" dirty="0"/>
              <a:t>One’s complement</a:t>
            </a:r>
          </a:p>
          <a:p>
            <a:pPr lvl="2"/>
            <a:r>
              <a:rPr lang="en-US" dirty="0"/>
              <a:t>Two’s complement</a:t>
            </a:r>
          </a:p>
          <a:p>
            <a:pPr lvl="1"/>
            <a:r>
              <a:rPr lang="en-US" dirty="0"/>
              <a:t>Arithmetic Operations</a:t>
            </a:r>
          </a:p>
          <a:p>
            <a:pPr lvl="2"/>
            <a:r>
              <a:rPr lang="en-US" dirty="0"/>
              <a:t>N, V, C, Z flags</a:t>
            </a:r>
          </a:p>
          <a:p>
            <a:pPr lvl="1"/>
            <a:r>
              <a:rPr lang="en-US" dirty="0"/>
              <a:t>Big Endian </a:t>
            </a:r>
            <a:r>
              <a:rPr lang="en-US" dirty="0" err="1"/>
              <a:t>vs</a:t>
            </a:r>
            <a:r>
              <a:rPr lang="en-US" dirty="0"/>
              <a:t> Little Endian</a:t>
            </a:r>
          </a:p>
          <a:p>
            <a:r>
              <a:rPr lang="en-US" dirty="0"/>
              <a:t>ASCII values</a:t>
            </a:r>
          </a:p>
          <a:p>
            <a:pPr lvl="1"/>
            <a:r>
              <a:rPr lang="en-US" dirty="0"/>
              <a:t>Null-terminated string</a:t>
            </a:r>
          </a:p>
          <a:p>
            <a:pPr lvl="1"/>
            <a:r>
              <a:rPr lang="en-US" dirty="0"/>
              <a:t>Converting between numbers and ASCII</a:t>
            </a:r>
          </a:p>
          <a:p>
            <a:pPr lvl="1"/>
            <a:r>
              <a:rPr lang="en-US" dirty="0"/>
              <a:t>Upper case, lower case</a:t>
            </a:r>
          </a:p>
          <a:p>
            <a:r>
              <a:rPr lang="en-US" dirty="0"/>
              <a:t>Fixed pointer numbers</a:t>
            </a:r>
          </a:p>
          <a:p>
            <a:pPr lvl="1"/>
            <a:r>
              <a:rPr lang="en-US" dirty="0" err="1"/>
              <a:t>Qm.n</a:t>
            </a:r>
            <a:r>
              <a:rPr lang="en-US" dirty="0"/>
              <a:t> format</a:t>
            </a:r>
          </a:p>
          <a:p>
            <a:pPr lvl="1"/>
            <a:r>
              <a:rPr lang="en-US" dirty="0"/>
              <a:t>Addition, subtract, multiplication, division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3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737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Assembly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Load-modify-store sequence</a:t>
            </a:r>
          </a:p>
          <a:p>
            <a:r>
              <a:rPr lang="en-US" dirty="0"/>
              <a:t>Accessing </a:t>
            </a:r>
            <a:r>
              <a:rPr lang="en-US" dirty="0" err="1"/>
              <a:t>nemory</a:t>
            </a:r>
            <a:endParaRPr lang="en-US" dirty="0"/>
          </a:p>
          <a:p>
            <a:pPr lvl="1"/>
            <a:r>
              <a:rPr lang="en-US" dirty="0"/>
              <a:t>Memory addressing mode</a:t>
            </a:r>
          </a:p>
          <a:p>
            <a:pPr lvl="2"/>
            <a:r>
              <a:rPr lang="en-US" dirty="0"/>
              <a:t>Pre-index</a:t>
            </a:r>
          </a:p>
          <a:p>
            <a:pPr lvl="2"/>
            <a:r>
              <a:rPr lang="en-US" dirty="0"/>
              <a:t>Post-index</a:t>
            </a:r>
          </a:p>
          <a:p>
            <a:pPr lvl="2"/>
            <a:r>
              <a:rPr lang="en-US" dirty="0"/>
              <a:t>Pre-index with update</a:t>
            </a:r>
          </a:p>
          <a:p>
            <a:r>
              <a:rPr lang="en-US" dirty="0"/>
              <a:t>Data processing</a:t>
            </a:r>
          </a:p>
          <a:p>
            <a:pPr lvl="1"/>
            <a:r>
              <a:rPr lang="en-US" dirty="0"/>
              <a:t>Arithmetic, Logic, Comparison, Data Movement</a:t>
            </a:r>
          </a:p>
          <a:p>
            <a:pPr lvl="1"/>
            <a:r>
              <a:rPr lang="en-US" dirty="0"/>
              <a:t>Barrel Shifter:  </a:t>
            </a:r>
          </a:p>
          <a:p>
            <a:pPr lvl="2"/>
            <a:r>
              <a:rPr lang="en-US" dirty="0"/>
              <a:t>ADD r1, r0, r0, LSL 2</a:t>
            </a:r>
          </a:p>
          <a:p>
            <a:pPr lvl="1"/>
            <a:r>
              <a:rPr lang="en-US" dirty="0"/>
              <a:t>Bit operations</a:t>
            </a:r>
          </a:p>
          <a:p>
            <a:pPr lvl="2"/>
            <a:r>
              <a:rPr lang="en-US" dirty="0"/>
              <a:t>Set a bit, Reset a bit, Toggle a bit, Check a bit</a:t>
            </a:r>
          </a:p>
          <a:p>
            <a:pPr lvl="1"/>
            <a:r>
              <a:rPr lang="en-US" dirty="0"/>
              <a:t>LSL, LSR, ASR, ROR, RRX</a:t>
            </a:r>
          </a:p>
          <a:p>
            <a:r>
              <a:rPr lang="en-US" dirty="0"/>
              <a:t>Flow control: if, if-then-else, for loop, while loop</a:t>
            </a:r>
          </a:p>
          <a:p>
            <a:pPr lvl="1"/>
            <a:r>
              <a:rPr lang="en-US" dirty="0"/>
              <a:t>Unconditional Branch: B</a:t>
            </a:r>
          </a:p>
          <a:p>
            <a:pPr lvl="1"/>
            <a:r>
              <a:rPr lang="en-US" dirty="0"/>
              <a:t>Conditional Branch: CMP, TEQ,TST, BEQ, BNE, BMI, BLS, BHI, etc.</a:t>
            </a:r>
          </a:p>
          <a:p>
            <a:pPr lvl="1"/>
            <a:r>
              <a:rPr lang="en-US" dirty="0"/>
              <a:t>Conditional Execution: MOVEQ, MOVNE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4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73452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Subroutine Without Floating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Calling Subroutine &amp; Exiting Subroutine</a:t>
            </a:r>
          </a:p>
          <a:p>
            <a:pPr lvl="1"/>
            <a:r>
              <a:rPr lang="en-US" dirty="0"/>
              <a:t>BL and BX</a:t>
            </a:r>
          </a:p>
          <a:p>
            <a:pPr lvl="1"/>
            <a:r>
              <a:rPr lang="en-US" dirty="0"/>
              <a:t>How PC, LR, and SP registers are updated?</a:t>
            </a:r>
          </a:p>
          <a:p>
            <a:r>
              <a:rPr lang="en-US" dirty="0"/>
              <a:t>Embedded application binary interface (EABI) Protocol</a:t>
            </a:r>
          </a:p>
          <a:p>
            <a:pPr lvl="1"/>
            <a:r>
              <a:rPr lang="en-US" dirty="0"/>
              <a:t>Save and restore R4-R11,LR if your subroutine wishes to modify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Parameters passing in registers R0,R1,R2,R3</a:t>
            </a:r>
          </a:p>
          <a:p>
            <a:pPr lvl="1"/>
            <a:r>
              <a:rPr lang="en-US" dirty="0"/>
              <a:t>Extra parameters passing in stack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Return parameter in R0</a:t>
            </a:r>
          </a:p>
          <a:p>
            <a:r>
              <a:rPr lang="en-US" dirty="0"/>
              <a:t>Recursive functions</a:t>
            </a:r>
          </a:p>
          <a:p>
            <a:pPr lvl="1"/>
            <a:r>
              <a:rPr lang="en-US" dirty="0"/>
              <a:t>How does the stack work?</a:t>
            </a:r>
          </a:p>
          <a:p>
            <a:pPr lvl="1"/>
            <a:r>
              <a:rPr lang="en-US" dirty="0"/>
              <a:t>Pay special attention to LR register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5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098443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Subroutine with Float Arguments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4709160"/>
          </a:xfrm>
        </p:spPr>
        <p:txBody>
          <a:bodyPr>
            <a:normAutofit/>
          </a:bodyPr>
          <a:lstStyle/>
          <a:p>
            <a:r>
              <a:rPr lang="en-US" sz="2000" dirty="0"/>
              <a:t>Each number is assigned in turn to the next free register of the corresponding type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Example: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double fun(double a1, float a2, double a3, float a4, float a5, double a6, float a7, double a8)</a:t>
            </a:r>
          </a:p>
          <a:p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612648" y="2967335"/>
            <a:ext cx="80741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20469"/>
            <a:ext cx="8927901" cy="83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634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Unsigned Fixed-point Representation</a:t>
            </a:r>
            <a:br>
              <a:rPr lang="en-US" dirty="0"/>
            </a:br>
            <a:r>
              <a:rPr lang="en-US" b="1" dirty="0" err="1">
                <a:solidFill>
                  <a:srgbClr val="C00000"/>
                </a:solidFill>
              </a:rPr>
              <a:t>UQm.n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029200" y="1734572"/>
                <a:ext cx="27152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𝒇</m:t>
                      </m:r>
                      <m:r>
                        <a:rPr lang="en-US" sz="24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𝒉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𝒍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1734572"/>
                <a:ext cx="2715230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65525"/>
            <a:ext cx="3495675" cy="156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410075" y="4191000"/>
                <a:ext cx="427672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10101.10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2 </m:t>
                          </m:r>
                        </m:sub>
                      </m:sSub>
                      <m:r>
                        <a:rPr lang="en-US" sz="240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075" y="4191000"/>
                <a:ext cx="4276725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165585" y="4719935"/>
                <a:ext cx="229261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=21+5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585" y="4719935"/>
                <a:ext cx="2292615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199765" y="5253335"/>
                <a:ext cx="14964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=21.625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765" y="5253335"/>
                <a:ext cx="1496435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876" y="1295400"/>
            <a:ext cx="4235944" cy="20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938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Signed Fixed-point Representation</a:t>
            </a:r>
            <a:br>
              <a:rPr lang="en-US" dirty="0"/>
            </a:br>
            <a:r>
              <a:rPr lang="en-US" b="1" dirty="0" err="1">
                <a:solidFill>
                  <a:srgbClr val="C00000"/>
                </a:solidFill>
              </a:rPr>
              <a:t>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7733"/>
            <a:ext cx="7206458" cy="1295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752600" y="3168413"/>
                <a:ext cx="5772606" cy="8572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400" b="1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168413"/>
                <a:ext cx="5772606" cy="85722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740408" y="5305999"/>
                <a:ext cx="30950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Palatino Linotype" panose="0204050205050503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408" y="5305999"/>
                <a:ext cx="3095078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315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770888" y="4274588"/>
                <a:ext cx="1185901" cy="7824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888" y="4274588"/>
                <a:ext cx="1185901" cy="78245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71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Multiplication</a:t>
            </a:r>
            <a:br>
              <a:rPr lang="en-US" dirty="0"/>
            </a:br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Q15.16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33400" y="3505200"/>
            <a:ext cx="8229600" cy="27279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r2, r3, r0, r1    ; Unsigned long multiply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; r2 = low word,  r3 = high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LSLS  r3, r3, #16       ; Shift left high word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LSRS  r2, r2, #16       ; Shift right low word  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ORR   r4, r2, r3        ; Pack two halfwords into a word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6" y="1222247"/>
            <a:ext cx="5568696" cy="1843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5181600" y="1256487"/>
            <a:ext cx="40386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r0 = fixed-point number A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r1 = fixed-point number B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r4 = fixed-point product = A × B</a:t>
            </a:r>
          </a:p>
        </p:txBody>
      </p:sp>
    </p:spTree>
    <p:extLst>
      <p:ext uri="{BB962C8B-B14F-4D97-AF65-F5344CB8AC3E}">
        <p14:creationId xmlns:p14="http://schemas.microsoft.com/office/powerpoint/2010/main" val="3601065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Division</a:t>
            </a:r>
            <a:br>
              <a:rPr lang="en-US" dirty="0"/>
            </a:br>
            <a:r>
              <a:rPr lang="en-US" dirty="0"/>
              <a:t>in UQ16.16 or Q15.16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52399" y="3276600"/>
            <a:ext cx="8915401" cy="21945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ASRS  r1, r0, #31          ; r1[31:0] = sign bits of A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LSLS  r1, r1, #16          ; put sign bits in upper half word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ORR   r1, r1, r0, LSR #16    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LSLS  r0, r0, #16          ; [r1:r0] stores sign extended A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ASRS  r3, r2, #31          ; [r4:r3] stores sign extended B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BL    </a:t>
            </a:r>
            <a:r>
              <a:rPr lang="en-US" sz="1800" b="1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division_64_bits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     ; Take four input register (r0:r1, r3:r4)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MOV   r4, r0               ; division_64_bits places result in r0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1408864"/>
            <a:ext cx="5511225" cy="133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5791200" y="1600200"/>
            <a:ext cx="3429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r4 = fixed-point quotient </a:t>
            </a:r>
          </a:p>
          <a:p>
            <a:r>
              <a:rPr lang="en-US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= A ÷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756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490" y="152400"/>
            <a:ext cx="8487310" cy="990600"/>
          </a:xfrm>
        </p:spPr>
        <p:txBody>
          <a:bodyPr/>
          <a:lstStyle/>
          <a:p>
            <a:r>
              <a:rPr lang="en-US" dirty="0"/>
              <a:t>IEEE </a:t>
            </a:r>
            <a:r>
              <a:rPr lang="en-US" dirty="0" err="1"/>
              <a:t>Std</a:t>
            </a:r>
            <a:r>
              <a:rPr lang="en-US" dirty="0"/>
              <a:t> 754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33400" y="4267200"/>
                <a:ext cx="8382000" cy="18585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IEEE 754 value: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×(1+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𝐹𝑟𝑎𝑐𝑡𝑖𝑜𝑛</m:t>
                      </m:r>
                      <m:r>
                        <a:rPr lang="en-US" sz="2400" i="1">
                          <a:latin typeface="Cambria Math"/>
                        </a:rPr>
                        <m:t>)×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𝐵𝑖𝑎𝑠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Bias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127</a:t>
                </a:r>
                <a:r>
                  <a:rPr lang="en-US" dirty="0"/>
                  <a:t> for single precision </a:t>
                </a:r>
              </a:p>
              <a:p>
                <a:r>
                  <a:rPr lang="en-US" dirty="0"/>
                  <a:t>          Bias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1023</a:t>
                </a:r>
                <a:r>
                  <a:rPr lang="en-US" dirty="0"/>
                  <a:t> for double precision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267200"/>
                <a:ext cx="8382000" cy="1858586"/>
              </a:xfrm>
              <a:prstGeom prst="rect">
                <a:avLst/>
              </a:prstGeom>
              <a:blipFill rotWithShape="0">
                <a:blip r:embed="rId2"/>
                <a:stretch>
                  <a:fillRect l="-655" t="-1639" b="-4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3" y="1600200"/>
            <a:ext cx="877146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7597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0xC1FF0000</a:t>
            </a:r>
            <a:r>
              <a:rPr lang="en-US" sz="3600" b="1" dirty="0"/>
              <a:t>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3962400"/>
                <a:ext cx="9144000" cy="22707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𝑓</m:t>
                      </m:r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</m:t>
                          </m:r>
                          <m:r>
                            <a:rPr lang="en-US" sz="2400" i="1">
                              <a:latin typeface="Cambria Math"/>
                            </a:rPr>
                            <m:t>𝐹𝑟𝑎𝑐𝑡𝑖𝑜𝑛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1+0.9921875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131−127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−1×1.9921875×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−31.875</m:t>
                      </m:r>
                    </m:oMath>
                  </m:oMathPara>
                </a14:m>
                <a:endParaRPr lang="en-US" sz="2400" dirty="0"/>
              </a:p>
              <a:p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3962400"/>
                <a:ext cx="9144000" cy="2270760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14448"/>
            <a:ext cx="6705600" cy="193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4724400" y="2590800"/>
            <a:ext cx="152400" cy="6594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67200" y="3250265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0.9921875</a:t>
            </a:r>
          </a:p>
        </p:txBody>
      </p:sp>
    </p:spTree>
    <p:extLst>
      <p:ext uri="{BB962C8B-B14F-4D97-AF65-F5344CB8AC3E}">
        <p14:creationId xmlns:p14="http://schemas.microsoft.com/office/powerpoint/2010/main" val="2582739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Encoding </a:t>
            </a:r>
            <a:r>
              <a:rPr lang="en-US" b="1" dirty="0">
                <a:solidFill>
                  <a:srgbClr val="C00000"/>
                </a:solidFill>
              </a:rPr>
              <a:t>14.5</a:t>
            </a:r>
            <a:r>
              <a:rPr lang="en-US" b="1" dirty="0"/>
              <a:t> into IEEE </a:t>
            </a:r>
            <a:r>
              <a:rPr lang="en-US" b="1" dirty="0" err="1"/>
              <a:t>Std</a:t>
            </a:r>
            <a:r>
              <a:rPr lang="en-US" b="1" dirty="0"/>
              <a:t> 754 Single-Precision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2819400"/>
                <a:ext cx="8229600" cy="3337560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𝑆𝑖𝑔𝑛</m:t>
                    </m:r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𝐸𝑥𝑝𝑜𝑛𝑒𝑛𝑡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3+127=130=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1000010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𝐹𝑟𝑎𝑐𝑡𝑖𝑜𝑛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0.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1101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0.8125×2=1.625=1+0.625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0.625×2=1.25=1+0.25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0.25×2=0.5=0+0.5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0.5×2=1</m:t>
                    </m:r>
                  </m:oMath>
                </a14:m>
                <a:endParaRPr lang="en-US" dirty="0"/>
              </a:p>
              <a:p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14.5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10000010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11010000000000000000000</a:t>
                </a:r>
                <a:r>
                  <a:rPr lang="en-US" dirty="0"/>
                  <a:t> in binary or </a:t>
                </a:r>
                <a:r>
                  <a:rPr lang="en-US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0x41680000</a:t>
                </a:r>
                <a:r>
                  <a:rPr lang="en-US" dirty="0"/>
                  <a:t> in hex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2819400"/>
                <a:ext cx="8229600" cy="3337560"/>
              </a:xfrm>
              <a:blipFill rotWithShape="1">
                <a:blip r:embed="rId2"/>
                <a:stretch>
                  <a:fillRect l="-296" b="-3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981200" y="1524000"/>
                <a:ext cx="4572000" cy="95410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14.5=1.8125×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br>
                  <a:rPr lang="en-US" sz="2800" i="1" dirty="0">
                    <a:latin typeface="Cambria Math"/>
                  </a:rPr>
                </a:br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524000"/>
                <a:ext cx="4572000" cy="95410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1000" y="1211761"/>
            <a:ext cx="2095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Normalization: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398899" y="2118842"/>
                <a:ext cx="342523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(1+0.8125)×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899" y="2118842"/>
                <a:ext cx="3425233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8264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Timer’s Clock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4066391" y="4062569"/>
            <a:ext cx="168897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Current Count</a:t>
            </a: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4019627" y="1768652"/>
            <a:ext cx="1622736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Reload Value</a:t>
            </a: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V="1">
            <a:off x="1571449" y="3201247"/>
            <a:ext cx="257351" cy="1439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830032" y="2812413"/>
            <a:ext cx="2001926" cy="762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TIMx_CNT</a:t>
            </a:r>
            <a:endParaRPr lang="en-US" sz="1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 rot="5400000">
            <a:off x="3793678" y="3071016"/>
            <a:ext cx="311150" cy="23844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863284" y="3574413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>
            <a:off x="4863284" y="2135365"/>
            <a:ext cx="0" cy="67704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25939" y="2729759"/>
            <a:ext cx="8675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i="1" dirty="0" err="1">
                <a:solidFill>
                  <a:srgbClr val="C00000"/>
                </a:solidFill>
                <a:latin typeface="Arial" charset="0"/>
                <a:cs typeface="Arial" charset="0"/>
              </a:rPr>
              <a:t>f</a:t>
            </a:r>
            <a:r>
              <a:rPr lang="en-US" sz="1800" b="1" i="1" baseline="-25000" dirty="0" err="1">
                <a:solidFill>
                  <a:srgbClr val="C00000"/>
                </a:solidFill>
                <a:latin typeface="Arial" charset="0"/>
                <a:cs typeface="Arial" charset="0"/>
              </a:rPr>
              <a:t>CL_PSC</a:t>
            </a:r>
            <a:endParaRPr lang="en-US" sz="1800" b="1" i="1" baseline="-25000" dirty="0">
              <a:solidFill>
                <a:srgbClr val="C00000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6946242" y="2998230"/>
            <a:ext cx="569387" cy="369332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ISR</a:t>
            </a:r>
            <a:endParaRPr lang="en-US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4" name="AutoShape 20"/>
          <p:cNvCxnSpPr>
            <a:cxnSpLocks noChangeShapeType="1"/>
            <a:stCxn id="8" idx="3"/>
            <a:endCxn id="13" idx="1"/>
          </p:cNvCxnSpPr>
          <p:nvPr/>
        </p:nvCxnSpPr>
        <p:spPr bwMode="auto">
          <a:xfrm flipV="1">
            <a:off x="5831958" y="3182896"/>
            <a:ext cx="1114284" cy="10517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21"/>
          <p:cNvCxnSpPr>
            <a:cxnSpLocks noChangeShapeType="1"/>
            <a:stCxn id="13" idx="3"/>
            <a:endCxn id="16" idx="1"/>
          </p:cNvCxnSpPr>
          <p:nvPr/>
        </p:nvCxnSpPr>
        <p:spPr bwMode="auto">
          <a:xfrm>
            <a:off x="7515629" y="3182896"/>
            <a:ext cx="507898" cy="2566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8023527" y="3000796"/>
            <a:ext cx="1043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Resume</a:t>
            </a:r>
          </a:p>
        </p:txBody>
      </p:sp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5831958" y="3201247"/>
            <a:ext cx="1035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Interrupt</a:t>
            </a:r>
          </a:p>
        </p:txBody>
      </p:sp>
      <p:grpSp>
        <p:nvGrpSpPr>
          <p:cNvPr id="18" name="Group 37"/>
          <p:cNvGrpSpPr>
            <a:grpSpLocks/>
          </p:cNvGrpSpPr>
          <p:nvPr/>
        </p:nvGrpSpPr>
        <p:grpSpPr bwMode="auto">
          <a:xfrm>
            <a:off x="38589" y="3124634"/>
            <a:ext cx="1524000" cy="228600"/>
            <a:chOff x="144" y="1440"/>
            <a:chExt cx="960" cy="144"/>
          </a:xfrm>
        </p:grpSpPr>
        <p:sp>
          <p:nvSpPr>
            <p:cNvPr id="19" name="Freeform 27"/>
            <p:cNvSpPr>
              <a:spLocks/>
            </p:cNvSpPr>
            <p:nvPr/>
          </p:nvSpPr>
          <p:spPr bwMode="auto">
            <a:xfrm>
              <a:off x="144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8"/>
            <p:cNvSpPr>
              <a:spLocks/>
            </p:cNvSpPr>
            <p:nvPr/>
          </p:nvSpPr>
          <p:spPr bwMode="auto">
            <a:xfrm>
              <a:off x="240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9"/>
            <p:cNvSpPr>
              <a:spLocks/>
            </p:cNvSpPr>
            <p:nvPr/>
          </p:nvSpPr>
          <p:spPr bwMode="auto">
            <a:xfrm>
              <a:off x="336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0"/>
            <p:cNvSpPr>
              <a:spLocks/>
            </p:cNvSpPr>
            <p:nvPr/>
          </p:nvSpPr>
          <p:spPr bwMode="auto">
            <a:xfrm>
              <a:off x="432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31"/>
            <p:cNvSpPr>
              <a:spLocks/>
            </p:cNvSpPr>
            <p:nvPr/>
          </p:nvSpPr>
          <p:spPr bwMode="auto">
            <a:xfrm>
              <a:off x="528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32"/>
            <p:cNvSpPr>
              <a:spLocks/>
            </p:cNvSpPr>
            <p:nvPr/>
          </p:nvSpPr>
          <p:spPr bwMode="auto">
            <a:xfrm>
              <a:off x="624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33"/>
            <p:cNvSpPr>
              <a:spLocks/>
            </p:cNvSpPr>
            <p:nvPr/>
          </p:nvSpPr>
          <p:spPr bwMode="auto">
            <a:xfrm>
              <a:off x="720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4"/>
            <p:cNvSpPr>
              <a:spLocks/>
            </p:cNvSpPr>
            <p:nvPr/>
          </p:nvSpPr>
          <p:spPr bwMode="auto">
            <a:xfrm>
              <a:off x="816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5"/>
            <p:cNvSpPr>
              <a:spLocks/>
            </p:cNvSpPr>
            <p:nvPr/>
          </p:nvSpPr>
          <p:spPr bwMode="auto">
            <a:xfrm>
              <a:off x="912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6"/>
            <p:cNvSpPr>
              <a:spLocks/>
            </p:cNvSpPr>
            <p:nvPr/>
          </p:nvSpPr>
          <p:spPr bwMode="auto">
            <a:xfrm>
              <a:off x="1008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 Box 41"/>
          <p:cNvSpPr txBox="1">
            <a:spLocks noChangeArrowheads="1"/>
          </p:cNvSpPr>
          <p:nvPr/>
        </p:nvSpPr>
        <p:spPr bwMode="auto">
          <a:xfrm>
            <a:off x="4872711" y="2240809"/>
            <a:ext cx="958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600" i="1" dirty="0">
                <a:latin typeface="Arial" charset="0"/>
                <a:cs typeface="Arial" charset="0"/>
              </a:rPr>
              <a:t>Reload</a:t>
            </a:r>
          </a:p>
        </p:txBody>
      </p:sp>
      <p:sp>
        <p:nvSpPr>
          <p:cNvPr id="30" name="Text Box 17"/>
          <p:cNvSpPr txBox="1">
            <a:spLocks noChangeArrowheads="1"/>
          </p:cNvSpPr>
          <p:nvPr/>
        </p:nvSpPr>
        <p:spPr bwMode="auto">
          <a:xfrm>
            <a:off x="1828800" y="3005571"/>
            <a:ext cx="1313180" cy="369332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TIMx_PSC</a:t>
            </a:r>
            <a:endParaRPr lang="en-US" sz="1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cxnSp>
        <p:nvCxnSpPr>
          <p:cNvPr id="31" name="AutoShape 21"/>
          <p:cNvCxnSpPr>
            <a:cxnSpLocks noChangeShapeType="1"/>
            <a:stCxn id="30" idx="3"/>
            <a:endCxn id="8" idx="1"/>
          </p:cNvCxnSpPr>
          <p:nvPr/>
        </p:nvCxnSpPr>
        <p:spPr bwMode="auto">
          <a:xfrm>
            <a:off x="3141980" y="3190237"/>
            <a:ext cx="688052" cy="3176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Text Box 17"/>
          <p:cNvSpPr txBox="1">
            <a:spLocks noChangeArrowheads="1"/>
          </p:cNvSpPr>
          <p:nvPr/>
        </p:nvSpPr>
        <p:spPr bwMode="auto">
          <a:xfrm>
            <a:off x="6092933" y="1750827"/>
            <a:ext cx="1338828" cy="369332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TIMx_ARR</a:t>
            </a:r>
            <a:endParaRPr lang="en-US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3" name="AutoShape 21"/>
          <p:cNvCxnSpPr>
            <a:cxnSpLocks noChangeShapeType="1"/>
          </p:cNvCxnSpPr>
          <p:nvPr/>
        </p:nvCxnSpPr>
        <p:spPr bwMode="auto">
          <a:xfrm flipV="1">
            <a:off x="6745961" y="2120159"/>
            <a:ext cx="0" cy="1066388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21"/>
          <p:cNvCxnSpPr>
            <a:cxnSpLocks noChangeShapeType="1"/>
            <a:stCxn id="32" idx="1"/>
            <a:endCxn id="6" idx="3"/>
          </p:cNvCxnSpPr>
          <p:nvPr/>
        </p:nvCxnSpPr>
        <p:spPr bwMode="auto">
          <a:xfrm flipH="1">
            <a:off x="5642363" y="1935493"/>
            <a:ext cx="450570" cy="16516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ectangle 35"/>
              <p:cNvSpPr/>
              <p:nvPr/>
            </p:nvSpPr>
            <p:spPr>
              <a:xfrm>
                <a:off x="2672738" y="4876800"/>
                <a:ext cx="4187259" cy="8006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𝐶𝐾</m:t>
                          </m:r>
                          <m:r>
                            <a:rPr lang="en-US" sz="2400" i="1">
                              <a:latin typeface="Cambria Math"/>
                            </a:rPr>
                            <m:t>_</m:t>
                          </m:r>
                          <m:r>
                            <a:rPr lang="en-US" sz="2400" i="1">
                              <a:latin typeface="Cambria Math"/>
                            </a:rPr>
                            <m:t>𝐶𝑁𝑇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𝐶𝐿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𝑃𝑆𝐶</m:t>
                              </m:r>
                            </m:sub>
                          </m:sSub>
                        </m:num>
                        <m:den>
                          <m:r>
                            <a:rPr lang="en-US" sz="2400" i="1" smtClean="0">
                              <a:latin typeface="Cambria Math"/>
                            </a:rPr>
                            <m:t>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𝑆𝐶</m:t>
                          </m:r>
                          <m:r>
                            <a:rPr lang="en-US" sz="2400" i="1">
                              <a:latin typeface="Cambria Math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738" y="4876800"/>
                <a:ext cx="4187259" cy="8006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2216941" y="3554248"/>
            <a:ext cx="103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Prescaler</a:t>
            </a:r>
          </a:p>
        </p:txBody>
      </p:sp>
      <p:sp>
        <p:nvSpPr>
          <p:cNvPr id="38" name="Text Box 7"/>
          <p:cNvSpPr txBox="1">
            <a:spLocks noChangeArrowheads="1"/>
          </p:cNvSpPr>
          <p:nvPr/>
        </p:nvSpPr>
        <p:spPr bwMode="auto">
          <a:xfrm>
            <a:off x="2971800" y="2672522"/>
            <a:ext cx="8675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i="1" dirty="0" err="1">
                <a:solidFill>
                  <a:srgbClr val="C00000"/>
                </a:solidFill>
                <a:latin typeface="Arial" charset="0"/>
                <a:cs typeface="Arial" charset="0"/>
              </a:rPr>
              <a:t>f</a:t>
            </a:r>
            <a:r>
              <a:rPr lang="en-US" sz="1800" b="1" i="1" baseline="-25000" dirty="0" err="1">
                <a:solidFill>
                  <a:srgbClr val="C00000"/>
                </a:solidFill>
                <a:latin typeface="Arial" charset="0"/>
                <a:cs typeface="Arial" charset="0"/>
              </a:rPr>
              <a:t>CL_CNT</a:t>
            </a:r>
            <a:endParaRPr lang="en-US" sz="1800" b="1" i="1" baseline="-25000" dirty="0">
              <a:solidFill>
                <a:srgbClr val="C00000"/>
              </a:solidFill>
              <a:latin typeface="Arial" charset="0"/>
              <a:cs typeface="Arial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62996" y="3429000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clock</a:t>
            </a:r>
          </a:p>
        </p:txBody>
      </p:sp>
    </p:spTree>
    <p:extLst>
      <p:ext uri="{BB962C8B-B14F-4D97-AF65-F5344CB8AC3E}">
        <p14:creationId xmlns:p14="http://schemas.microsoft.com/office/powerpoint/2010/main" val="3570882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PWM Duty Cycle = Ton/Time Period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8" y="1543050"/>
            <a:ext cx="5381625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71600" y="5486400"/>
                <a:ext cx="6705600" cy="6668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𝑑𝑢𝑡𝑦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𝑐𝑦𝑐𝑙𝑒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𝑝𝑢𝑙𝑠𝑒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𝑜𝑛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𝑡𝑖𝑚𝑒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𝑝𝑢𝑙𝑠𝑒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𝑠𝑤𝑖𝑡𝑐h𝑖𝑛𝑔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𝑝𝑒𝑟𝑖𝑜𝑑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×100%=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×100%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:mv="urn:schemas-microsoft-com:mac:vml"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486400"/>
                <a:ext cx="6705600" cy="66684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8785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3785</TotalTime>
  <Words>831</Words>
  <Application>Microsoft Office PowerPoint</Application>
  <PresentationFormat>On-screen Show (4:3)</PresentationFormat>
  <Paragraphs>185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Bookman Old Style</vt:lpstr>
      <vt:lpstr>Calibri</vt:lpstr>
      <vt:lpstr>Cambria</vt:lpstr>
      <vt:lpstr>Cambria Math</vt:lpstr>
      <vt:lpstr>Consolas</vt:lpstr>
      <vt:lpstr>Gill Sans MT</vt:lpstr>
      <vt:lpstr>Palatino Linotype</vt:lpstr>
      <vt:lpstr>Symbol</vt:lpstr>
      <vt:lpstr>Wingdings</vt:lpstr>
      <vt:lpstr>Wingdings 3</vt:lpstr>
      <vt:lpstr>Origin</vt:lpstr>
      <vt:lpstr>Z. Gu</vt:lpstr>
      <vt:lpstr>Character String</vt:lpstr>
      <vt:lpstr>Data Representation</vt:lpstr>
      <vt:lpstr>Basic Assembly Programming</vt:lpstr>
      <vt:lpstr>Subroutine Without Floating Numbers</vt:lpstr>
      <vt:lpstr>Subroutine with Float Arguments</vt:lpstr>
      <vt:lpstr>Unsigned Fixed-point Representation UQm.n</vt:lpstr>
      <vt:lpstr>Signed Fixed-point Representation Qm.n</vt:lpstr>
      <vt:lpstr>Fixed-point Multiplication in Q15.16</vt:lpstr>
      <vt:lpstr>Fixed-point Division in UQ16.16 or Q15.16</vt:lpstr>
      <vt:lpstr>IEEE Std 754</vt:lpstr>
      <vt:lpstr>Decoding 0xC1FF0000  into a floating-point number</vt:lpstr>
      <vt:lpstr>Encoding 14.5 into IEEE Std 754 Single-Precision</vt:lpstr>
      <vt:lpstr>Timer’s Clock</vt:lpstr>
      <vt:lpstr>PWM Duty Cycle = Ton/Time Period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54</cp:revision>
  <dcterms:created xsi:type="dcterms:W3CDTF">2014-05-02T14:59:14Z</dcterms:created>
  <dcterms:modified xsi:type="dcterms:W3CDTF">2025-12-02T03:57:43Z</dcterms:modified>
</cp:coreProperties>
</file>